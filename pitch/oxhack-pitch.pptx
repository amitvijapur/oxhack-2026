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2ca536b167472f" /><Relationship Type="http://schemas.openxmlformats.org/officeDocument/2006/relationships/extended-properties" Target="/docProps/app.xml" Id="Re2e4b145f2fe4a9f" /><Relationship Type="http://schemas.openxmlformats.org/officeDocument/2006/relationships/officeDocument" Target="/ppt/presentation.xml" Id="Rd03e34800d8d426d" /></Relationships>
</file>

<file path=ppt/presentation.xml><?xml version="1.0" encoding="utf-8"?>
<p:presentation xmlns:p="http://schemas.openxmlformats.org/presentationml/2006/main">
  <p:sldMasterIdLst>
    <p:sldMasterId xmlns:r="http://schemas.openxmlformats.org/officeDocument/2006/relationships" id="2147483648" r:id="R45a85a8f434b4d73"/>
  </p:sldMasterIdLst>
  <p:notesMasterIdLst>
    <p:notesMasterId xmlns:r="http://schemas.openxmlformats.org/officeDocument/2006/relationships" r:id="Rad1352d8111e4d85"/>
  </p:notesMasterIdLst>
  <p:sldIdLst>
    <p:sldId xmlns:r="http://schemas.openxmlformats.org/officeDocument/2006/relationships" id="256" r:id="R4a75425e674f412c"/>
    <p:sldId xmlns:r="http://schemas.openxmlformats.org/officeDocument/2006/relationships" id="257" r:id="R1fab54170d2c4c89"/>
    <p:sldId xmlns:r="http://schemas.openxmlformats.org/officeDocument/2006/relationships" id="258" r:id="R50dd9eb7223941c9"/>
    <p:sldId xmlns:r="http://schemas.openxmlformats.org/officeDocument/2006/relationships" id="259" r:id="R785befb3dc194733"/>
    <p:sldId xmlns:r="http://schemas.openxmlformats.org/officeDocument/2006/relationships" id="260" r:id="Ra80960d844ce44fa"/>
    <p:sldId xmlns:r="http://schemas.openxmlformats.org/officeDocument/2006/relationships" id="261" r:id="R35d434461d38476c"/>
    <p:sldId xmlns:r="http://schemas.openxmlformats.org/officeDocument/2006/relationships" id="262" r:id="R45072d88c0e445ec"/>
    <p:sldId xmlns:r="http://schemas.openxmlformats.org/officeDocument/2006/relationships" id="263" r:id="R02d741be15cb43fc"/>
    <p:sldId xmlns:r="http://schemas.openxmlformats.org/officeDocument/2006/relationships" id="264" r:id="Rae33bd63822a41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34a2bde291457b" /><Relationship Type="http://schemas.openxmlformats.org/officeDocument/2006/relationships/slideMaster" Target="/ppt/slideMasters/slideMaster1.xml" Id="R45a85a8f434b4d73" /><Relationship Type="http://schemas.openxmlformats.org/officeDocument/2006/relationships/notesMaster" Target="/ppt/notesMasters/notesMaster1.xml" Id="Rad1352d8111e4d85" /><Relationship Type="http://schemas.openxmlformats.org/officeDocument/2006/relationships/presProps" Target="/ppt/presProps.xml" Id="Rcfaa57d646fc448f" /><Relationship Type="http://schemas.openxmlformats.org/officeDocument/2006/relationships/tableStyles" Target="/ppt/tableStyles.xml" Id="R062e7b7d73bc4173" /><Relationship Type="http://schemas.openxmlformats.org/officeDocument/2006/relationships/slide" Target="/ppt/slides/slide1.xml" Id="R4a75425e674f412c" /><Relationship Type="http://schemas.openxmlformats.org/officeDocument/2006/relationships/slide" Target="/ppt/slides/slide2.xml" Id="R1fab54170d2c4c89" /><Relationship Type="http://schemas.openxmlformats.org/officeDocument/2006/relationships/slide" Target="/ppt/slides/slide3.xml" Id="R50dd9eb7223941c9" /><Relationship Type="http://schemas.openxmlformats.org/officeDocument/2006/relationships/slide" Target="/ppt/slides/slide4.xml" Id="R785befb3dc194733" /><Relationship Type="http://schemas.openxmlformats.org/officeDocument/2006/relationships/slide" Target="/ppt/slides/slide5.xml" Id="Ra80960d844ce44fa" /><Relationship Type="http://schemas.openxmlformats.org/officeDocument/2006/relationships/slide" Target="/ppt/slides/slide6.xml" Id="R35d434461d38476c" /><Relationship Type="http://schemas.openxmlformats.org/officeDocument/2006/relationships/slide" Target="/ppt/slides/slide7.xml" Id="R45072d88c0e445ec" /><Relationship Type="http://schemas.openxmlformats.org/officeDocument/2006/relationships/slide" Target="/ppt/slides/slide8.xml" Id="R02d741be15cb43fc" /><Relationship Type="http://schemas.openxmlformats.org/officeDocument/2006/relationships/slide" Target="/ppt/slides/slide9.xml" Id="Rae33bd63822a41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f3ae98298f43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93070b37df4d62" /><Relationship Type="http://schemas.openxmlformats.org/officeDocument/2006/relationships/notesMaster" Target="/ppt/notesMasters/notesMaster1.xml" Id="R6fd06e4e4aa943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fa44f6c6d2433c" /><Relationship Type="http://schemas.openxmlformats.org/officeDocument/2006/relationships/notesMaster" Target="/ppt/notesMasters/notesMaster1.xml" Id="Rb1c52ee831c346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902361cfa84708" /><Relationship Type="http://schemas.openxmlformats.org/officeDocument/2006/relationships/notesMaster" Target="/ppt/notesMasters/notesMaster1.xml" Id="R473b41e104ce45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945a8334884ce3" /><Relationship Type="http://schemas.openxmlformats.org/officeDocument/2006/relationships/notesMaster" Target="/ppt/notesMasters/notesMaster1.xml" Id="Rfef82b54706d47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b63579c99c4137" /><Relationship Type="http://schemas.openxmlformats.org/officeDocument/2006/relationships/notesMaster" Target="/ppt/notesMasters/notesMaster1.xml" Id="R65a0f627197b48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99d5f1784f4067" /><Relationship Type="http://schemas.openxmlformats.org/officeDocument/2006/relationships/notesMaster" Target="/ppt/notesMasters/notesMaster1.xml" Id="Ra61fe0512aee45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81d3277450464c" /><Relationship Type="http://schemas.openxmlformats.org/officeDocument/2006/relationships/notesMaster" Target="/ppt/notesMasters/notesMaster1.xml" Id="Ra9b0358c415f43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b15c886b4f49b8" /><Relationship Type="http://schemas.openxmlformats.org/officeDocument/2006/relationships/notesMaster" Target="/ppt/notesMasters/notesMaster1.xml" Id="R2ae682d4150544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8938ad53c7400c" /><Relationship Type="http://schemas.openxmlformats.org/officeDocument/2006/relationships/notesMaster" Target="/ppt/notesMasters/notesMaster1.xml" Id="Rc906f588a5a143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Orecast</a:t>
            </a:r>
          </a:p>
          <a:p xmlns:a="http://schemas.openxmlformats.org/drawingml/2006/main">
            <a:r>
              <a:t/>
            </a:r>
          </a:p>
          <a:p xmlns:a="http://schemas.openxmlformats.org/drawingml/2006/main">
            <a:r>
              <a:t>Timing: 20 seconds. Main sequence totals 300 seconds.</a:t>
            </a:r>
          </a:p>
          <a:p xmlns:a="http://schemas.openxmlformats.org/drawingml/2006/main">
            <a:r>
              <a:t/>
            </a:r>
          </a:p>
          <a:p xmlns:a="http://schemas.openxmlformats.org/drawingml/2006/main">
            <a:r>
              <a:t>We are investigating Tok River, Alaska. We built a way to investigate a mineral opportunity and test what could change before you find a buyer. Our prototype brings geological evidence, simulated reactions and exit timing into one decision you can inspect. The project is called Orecast. Our team: Amit built the evidence packs and the app, Salman the decision model, Muhd the stakeholder simulations and Arjin the land and claim data.</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Current explorer design and terrain capture from the local prototype.</a:t>
            </a:r>
          </a:p>
          <a:p xmlns:a="http://schemas.openxmlformats.org/drawingml/2006/main">
            <a:r>
              <a:t/>
            </a:r>
          </a:p>
          <a:p xmlns:a="http://schemas.openxmlformats.org/drawingml/2006/main">
            <a:r>
              <a:t>Satellite terrain is geographic context. Alaska DGGS sediment assays are a separate evidence source.</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a:p xmlns:a="http://schemas.openxmlformats.org/drawingml/2006/main">
            <a:r>
              <a:t/>
            </a:r>
          </a:p>
          <a:p xmlns:a="http://schemas.openxmlformats.org/drawingml/2006/main">
            <a:r>
              <a:t>Design composition reference: Palantir Q2 2021 Business Update, PDF page 1.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The decision has three clocks</a:t>
            </a:r>
          </a:p>
          <a:p xmlns:a="http://schemas.openxmlformats.org/drawingml/2006/main">
            <a:r>
              <a:t/>
            </a:r>
          </a:p>
          <a:p xmlns:a="http://schemas.openxmlformats.org/drawingml/2006/main">
            <a:r>
              <a:t>Timing: 35 seconds. Main sequence totals 300 seconds.</a:t>
            </a:r>
          </a:p>
          <a:p xmlns:a="http://schemas.openxmlformats.org/drawingml/2006/main">
            <a:r>
              <a:t/>
            </a:r>
          </a:p>
          <a:p xmlns:a="http://schemas.openxmlformats.org/drawingml/2006/main">
            <a:r>
              <a:t>Old geological evidence, new events and an eventual buyer arrive on different clocks. Collection happened in June and July 2016; publication followed in November. News changes a hypothetical scenario. A buyer may take 30, 90 or 180 days to arrive. An assignable option is a temporary contractual interest that a holder could transfer to a future buyer under assumed permission and terms. We model assignment, not purchasing a mine or exercising the option.</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https://doi.org/10.14509/29688</a:t>
            </a:r>
          </a:p>
          <a:p xmlns:a="http://schemas.openxmlformats.org/drawingml/2006/main">
            <a:r>
              <a:t/>
            </a:r>
          </a:p>
          <a:p xmlns:a="http://schemas.openxmlformats.org/drawingml/2006/main">
            <a:r>
              <a:t>model/tok-option/workbench.mjs and liquidity.mjs in the current main-integration checkout.</a:t>
            </a:r>
          </a:p>
          <a:p xmlns:a="http://schemas.openxmlformats.org/drawingml/2006/main">
            <a:r>
              <a:t/>
            </a:r>
          </a:p>
          <a:p xmlns:a="http://schemas.openxmlformats.org/drawingml/2006/main">
            <a:r>
              <a:t>Design composition reference: Palantir Q2 2021 Business Update, PDF page 12.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The evidence starts with measured samples</a:t>
            </a:r>
          </a:p>
          <a:p xmlns:a="http://schemas.openxmlformats.org/drawingml/2006/main">
            <a:r>
              <a:t/>
            </a:r>
          </a:p>
          <a:p xmlns:a="http://schemas.openxmlformats.org/drawingml/2006/main">
            <a:r>
              <a:t>Timing: 35 seconds. Main sequence totals 300 seconds.</a:t>
            </a:r>
          </a:p>
          <a:p xmlns:a="http://schemas.openxmlformats.org/drawingml/2006/main">
            <a:r>
              <a:t/>
            </a:r>
          </a:p>
          <a:p xmlns:a="http://schemas.openxmlformats.org/drawingml/2006/main">
            <a:r>
              <a:t>These are 67 measured sediment samples from Alaska DGGS. We preserve their primary assay qualification, retests and provenance. A contains 33 samples, B 34, and both have checked land-source context. The canonical Au screen uses 0.01 ppm, at least ten classified samples and a qualifying lower bound of 50%. A has 25/33 passing; B has 16/34 and fails. The screen does not convert concentration into recoverable ounces. Dots, claim overlaps and illustrative squares do not establish a deposit or available investment. The map’s 57 sampled areas are not tradable listings. Land context: only 2 of A's 33 samples sit inside an active state claim. A was staked in 2011 and 112 of those 114 claims are now closed. B has 20 of 34 samples inside active claims, mostly Contango's. Next to A, Agnico Eagle agreed on 8 September 2026 to sell the 249-claim Delta project to Vizsla Copper. So the stronger gold evidence sits on the less-claimed ground.</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https://doi.org/10.14509/29688</a:t>
            </a:r>
          </a:p>
          <a:p xmlns:a="http://schemas.openxmlformats.org/drawingml/2006/main">
            <a:r>
              <a:t/>
            </a:r>
          </a:p>
          <a:p xmlns:a="http://schemas.openxmlformats.org/drawingml/2006/main">
            <a:r>
              <a:t>https://arcgis.dnr.alaska.gov/arcgis/rest/services/OpenData/NaturalResource_StateMiningClaim/FeatureServer</a:t>
            </a:r>
          </a:p>
          <a:p xmlns:a="http://schemas.openxmlformats.org/drawingml/2006/main">
            <a:r>
              <a:t/>
            </a:r>
          </a:p>
          <a:p xmlns:a="http://schemas.openxmlformats.org/drawingml/2006/main">
            <a:r>
              <a:t>https://github.com/amitvijapur/oxhack-2026/tree/34eaf1d6e87fedd54c46b04dec093b0cc2b18581/research/tok-land</a:t>
            </a:r>
          </a:p>
          <a:p xmlns:a="http://schemas.openxmlformats.org/drawingml/2006/main">
            <a:r>
              <a:t/>
            </a:r>
          </a:p>
          <a:p xmlns:a="http://schemas.openxmlformats.org/drawingml/2006/main">
            <a:r>
              <a:t>Screenshot: current local explorer. Basemap attribution remains separate from DGGS.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a:p xmlns:a="http://schemas.openxmlformats.org/drawingml/2006/main">
            <a:r>
              <a:t/>
            </a:r>
          </a:p>
          <a:p xmlns:a="http://schemas.openxmlformats.org/drawingml/2006/main">
            <a:r>
              <a:t>Design composition reference: Palantir Q2 2021 Business Update, PDF page 5.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One algorithm connects evidence to a cash decision</a:t>
            </a:r>
          </a:p>
          <a:p xmlns:a="http://schemas.openxmlformats.org/drawingml/2006/main">
            <a:r>
              <a:t/>
            </a:r>
          </a:p>
          <a:p xmlns:a="http://schemas.openxmlformats.org/drawingml/2006/main">
            <a:r>
              <a:t>Timing: 55 seconds. Main sequence totals 300 seconds.</a:t>
            </a:r>
          </a:p>
          <a:p xmlns:a="http://schemas.openxmlformats.org/drawingml/2006/main">
            <a:r>
              <a:t/>
            </a:r>
          </a:p>
          <a:p xmlns:a="http://schemas.openxmlformats.org/drawingml/2006/main">
            <a:r>
              <a:t>Read the layers from top to bottom. First, actual assays screen evidence. Next, assumed recoverable resources, prices and contract terms create a baseline option proxy. A scenario contrast can enter an explicitly hypothetical sensitivity transfer capped at plus or minus 7%. That cap limits one price adjustment, not the investment loss. Finally, the engine accounts for sale timing, fees, no sale, expiry, assignability and fund limits. Ounces and success probabilities are separate assumptions, not inferred from sediment concentration. Candidate means the hypothetical opportunity passes those screens. There is no trade execution, exercise, borrowing or reinvestment.</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Canonical engine: model/tok-option/evidence.mjs, valuation.mjs, liquidity.mjs, portfolio.mjs, workbench.mjs and illustrative.mjs.</a:t>
            </a:r>
          </a:p>
          <a:p xmlns:a="http://schemas.openxmlformats.org/drawingml/2006/main">
            <a:r>
              <a:t/>
            </a:r>
          </a:p>
          <a:p xmlns:a="http://schemas.openxmlformats.org/drawingml/2006/main">
            <a:r>
              <a:t>The model uses a 365-day maturity and requires a 15-day closing buffer.</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a:p xmlns:a="http://schemas.openxmlformats.org/drawingml/2006/main">
            <a:r>
              <a:t/>
            </a:r>
          </a:p>
          <a:p xmlns:a="http://schemas.openxmlformats.org/drawingml/2006/main">
            <a:r>
              <a:t>Design composition reference: Palantir Q2 2021 Business Update, PDF page 11.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Recorded simulations make the assumptions inspectable</a:t>
            </a:r>
          </a:p>
          <a:p xmlns:a="http://schemas.openxmlformats.org/drawingml/2006/main">
            <a:r>
              <a:t/>
            </a:r>
          </a:p>
          <a:p xmlns:a="http://schemas.openxmlformats.org/drawingml/2006/main">
            <a:r>
              <a:t>Timing: 50 seconds. Main sequence totals 300 seconds.</a:t>
            </a:r>
          </a:p>
          <a:p xmlns:a="http://schemas.openxmlformats.org/drawingml/2006/main">
            <a:r>
              <a:t/>
            </a:r>
          </a:p>
          <a:p xmlns:a="http://schemas.openxmlformats.org/drawingml/2006/main">
            <a:r>
              <a:t>We aggregate simulated mining-support scores within five groups and weight days equally. The six scored five-day runs include three baseline seeds, one sports placebo and approval and court-blockage runs. In the explicit what-if lane, actual recorded posts are compared with the matching Claude sports-placebo reference over days 3 through 5. Mine approval has a normalized support contrast of minus 0.0251792588; court blockage has plus 0.0307343316. These signs oppose the simple headline narrative, so we expose the result rather than force a direction. The sports run is not an untreated control. Configuration, interview, placebo, grounding and mirror checks fail, and the input knowledge cutoff is unknown. The strict research lane stays blocked. A financial what-if transfer is an assumption, not a learned market effect.</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https://github.com/amitvijapur/oxhack-2026/tree/f2fe2971d9f041a819f7b7ff4a78e10f840884f5/swarm</a:t>
            </a:r>
          </a:p>
          <a:p xmlns:a="http://schemas.openxmlformats.org/drawingml/2006/main">
            <a:r>
              <a:t/>
            </a:r>
          </a:p>
          <a:p xmlns:a="http://schemas.openxmlformats.org/drawingml/2006/main">
            <a:r>
              <a:t>model/tok-option/illustrative.mjs: matching-provider sports-placebo reference.</a:t>
            </a:r>
          </a:p>
          <a:p xmlns:a="http://schemas.openxmlformats.org/drawingml/2006/main">
            <a:r>
              <a:t/>
            </a:r>
          </a:p>
          <a:p xmlns:a="http://schemas.openxmlformats.org/drawingml/2006/main">
            <a:r>
              <a:t>Financial transfer: 0.07 × support contrast, capped by the hypothetical policy.</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a:p xmlns:a="http://schemas.openxmlformats.org/drawingml/2006/main">
            <a:r>
              <a:t/>
            </a:r>
          </a:p>
          <a:p xmlns:a="http://schemas.openxmlformats.org/drawingml/2006/main">
            <a:r>
              <a:t>Design composition reference: Palantir Q2 2021 Business Update, PDF page 13.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Time changes the same hypothetical option</a:t>
            </a:r>
          </a:p>
          <a:p xmlns:a="http://schemas.openxmlformats.org/drawingml/2006/main">
            <a:r>
              <a:t/>
            </a:r>
          </a:p>
          <a:p xmlns:a="http://schemas.openxmlformats.org/drawingml/2006/main">
            <a:r>
              <a:t>Timing: 60 seconds. Main sequence totals 300 seconds.</a:t>
            </a:r>
          </a:p>
          <a:p xmlns:a="http://schemas.openxmlformats.org/drawingml/2006/main">
            <a:r>
              <a:t/>
            </a:r>
          </a:p>
          <a:p xmlns:a="http://schemas.openxmlformats.org/drawingml/2006/main">
            <a:r>
              <a:t>At 30 days, the assumed sale chance is 20% and expected net cash is minus $410. At 90 days, sale chance is 48.8% and expected cash is $7.60. At 180 days, sale chance is 73.7856% and expected cash is $369.8912. We held assignment price fixed and annual growth at zero; more time accumulates opportunities to exit. Focus on 90 days. A positive expectation still coexists with 51.2% no sale and a median cash outcome of minus $700. An unsold contract can remain held, so cash shortfall at the horizon is not necessarily a final realized economic loss. The upfront amount is a $650 premium plus $50 entry fee. A $660 premium changes expected cash to minus $2.40 and the action to skip. Use that flip in the live demo if ready.</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Canonical engine: model/tok-option/workbench.mjs, liquidity.mjs and diagnostics.mjs.</a:t>
            </a:r>
          </a:p>
          <a:p xmlns:a="http://schemas.openxmlformats.org/drawingml/2006/main">
            <a:r>
              <a:t/>
            </a:r>
          </a:p>
          <a:p xmlns:a="http://schemas.openxmlformats.org/drawingml/2006/main">
            <a:r>
              <a:t>Values independently checked by runWorkbench and 0.488 × (1500 − 50) − 700 = 7.60.</a:t>
            </a:r>
          </a:p>
          <a:p xmlns:a="http://schemas.openxmlformats.org/drawingml/2006/main">
            <a:r>
              <a:t/>
            </a:r>
          </a:p>
          <a:p xmlns:a="http://schemas.openxmlformats.org/drawingml/2006/main">
            <a:r>
              <a:t>The 180-day horizon plus the required 15-day closing buffer fits within the assumed 365-day maturity.</a:t>
            </a:r>
          </a:p>
          <a:p xmlns:a="http://schemas.openxmlformats.org/drawingml/2006/main">
            <a:r>
              <a:t/>
            </a:r>
          </a:p>
          <a:p xmlns:a="http://schemas.openxmlformats.org/drawingml/2006/main">
            <a:r>
              <a:t>Design composition reference: Palantir Q2 2021 Business Update, PDF page 20.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The prototype makes each decision traceable</a:t>
            </a:r>
          </a:p>
          <a:p xmlns:a="http://schemas.openxmlformats.org/drawingml/2006/main">
            <a:r>
              <a:t/>
            </a:r>
          </a:p>
          <a:p xmlns:a="http://schemas.openxmlformats.org/drawingml/2006/main">
            <a:r>
              <a:t>Timing: 45 seconds. Main sequence totals 300 seconds.</a:t>
            </a:r>
          </a:p>
          <a:p xmlns:a="http://schemas.openxmlformats.org/drawingml/2006/main">
            <a:r>
              <a:t/>
            </a:r>
          </a:p>
          <a:p xmlns:a="http://schemas.openxmlformats.org/drawingml/2006/main">
            <a:r>
              <a:t>Use up to twenty seconds for a live demonstration, or point to saved slide captures if switching will be slow. In the current local Decision tab, reset Area A to baseline and 90 days. Change the option premium from $650 to $660. Expected cash changes from $7.60 to minus $2.40, and the action changes to skip. Restore the premium. Finish on the takeaway: this working prototype makes the evidence, timing and assumptions visible in a mineral-option decision. Next, test it against dated option prices, completed assignments and unsold cases. Invite questions.</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Current prototype: http://127.0.0.1:3000/</a:t>
            </a:r>
          </a:p>
          <a:p xmlns:a="http://schemas.openxmlformats.org/drawingml/2006/main">
            <a:r>
              <a:t/>
            </a:r>
          </a:p>
          <a:p xmlns:a="http://schemas.openxmlformats.org/drawingml/2006/main">
            <a:r>
              <a:t>Canonical model and hypothetical demo assumptions.</a:t>
            </a:r>
          </a:p>
          <a:p xmlns:a="http://schemas.openxmlformats.org/drawingml/2006/main">
            <a:r>
              <a:t/>
            </a:r>
          </a:p>
          <a:p xmlns:a="http://schemas.openxmlformats.org/drawingml/2006/main">
            <a:r>
              <a:t>The main seven-slide timing totals exactly 300 seconds.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a:p xmlns:a="http://schemas.openxmlformats.org/drawingml/2006/main">
            <a:r>
              <a:t/>
            </a:r>
          </a:p>
          <a:p xmlns:a="http://schemas.openxmlformats.org/drawingml/2006/main">
            <a:r>
              <a:t>Design composition reference: Palantir Q2 2021 Business Update, PDF page 23.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The 90-day cash calculation</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The sale branch yields $1,500 assignment proceeds less a $50 exit fee and $700 upfront commitment, so net cash is plus $750. The no-sale branch has no sale proceeds and $700 committed, so net cash is minus $700. Their probability-weighted average is $7.60. The largest supported branch is no sale, so median cash is minus $700. Break-even premium is $657.60; equality gives zero expected cash and does not pass the strictly positive-cash gate. Default valuation assumptions: 500 recoverable troy ounces at $2,000/oz, zero growth, 50% interest, 2% conversion, 25% geological success, and $4,000 remaining buyer exercise consideration. This gives $1,500 conditional assignment proceeds. Geological success is independent of the sample passing fraction. Maturity is 365 days, closing buffer 15 days.</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model/tok-option/valuation.mjs, liquidity.mjs, diagnostics.mjs, workbench.mjs.</a:t>
            </a:r>
          </a:p>
          <a:p xmlns:a="http://schemas.openxmlformats.org/drawingml/2006/main">
            <a:r>
              <a:t/>
            </a:r>
          </a:p>
          <a:p xmlns:a="http://schemas.openxmlformats.org/drawingml/2006/main">
            <a:r>
              <a:t>0.488 × 750 + 0.512 × (−700) = 7.60.</a:t>
            </a:r>
          </a:p>
          <a:p xmlns:a="http://schemas.openxmlformats.org/drawingml/2006/main">
            <a:r>
              <a:t/>
            </a:r>
          </a:p>
          <a:p xmlns:a="http://schemas.openxmlformats.org/drawingml/2006/main">
            <a:r>
              <a:t>Design composition reference: Palantir Q2 2021 Business Update, PDF page 43.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Evidence, simulations and remaining validation</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Current observed inputs provide measurements and source context. They do not establish available rights, executable option terms, recoverable resources or resale liquidity. The recorded simulated runs test stakeholder-response hypotheses and expose failed checks. Mining support is not buyer willingness. Economic quantities, terms, sale hazard and the price transfer remain assumptions. Empirical validation needs dated real option-price observations and completed and unsold assignment outcomes, evaluated chronologically with a simple baseline. We have not measured investment edge or forecast accuracy.</a:t>
            </a:r>
          </a:p>
          <a:p xmlns:a="http://schemas.openxmlformats.org/drawingml/2006/main">
            <a:r>
              <a:t/>
            </a:r>
          </a:p>
          <a:p xmlns:a="http://schemas.openxmlformats.org/drawingml/2006/main">
            <a:r>
              <a:t>Evidence sources:</a:t>
            </a:r>
          </a:p>
          <a:p xmlns:a="http://schemas.openxmlformats.org/drawingml/2006/main">
            <a:r>
              <a:t/>
            </a:r>
          </a:p>
          <a:p xmlns:a="http://schemas.openxmlformats.org/drawingml/2006/main">
            <a:r>
              <a:t>https://doi.org/10.14509/29688</a:t>
            </a:r>
          </a:p>
          <a:p xmlns:a="http://schemas.openxmlformats.org/drawingml/2006/main">
            <a:r>
              <a:t/>
            </a:r>
          </a:p>
          <a:p xmlns:a="http://schemas.openxmlformats.org/drawingml/2006/main">
            <a:r>
              <a:t>https://github.com/amitvijapur/oxhack-2026/tree/34eaf1d6e87fedd54c46b04dec093b0cc2b18581/research/tok-land</a:t>
            </a:r>
          </a:p>
          <a:p xmlns:a="http://schemas.openxmlformats.org/drawingml/2006/main">
            <a:r>
              <a:t/>
            </a:r>
          </a:p>
          <a:p xmlns:a="http://schemas.openxmlformats.org/drawingml/2006/main">
            <a:r>
              <a:t>https://github.com/amitvijapur/oxhack-2026/tree/f2fe2971d9f041a819f7b7ff4a78e10f840884f5/swarm</a:t>
            </a:r>
          </a:p>
          <a:p xmlns:a="http://schemas.openxmlformats.org/drawingml/2006/main">
            <a:r>
              <a:t/>
            </a:r>
          </a:p>
          <a:p xmlns:a="http://schemas.openxmlformats.org/drawingml/2006/main">
            <a:r>
              <a:t>Design composition reference: Palantir Q2 2021 Business Update, PDF page 44. https://investors.palantir.com/files/Palantir%20Q2%202021%20Business%20Update.pdf . Design reference only; its business claims and branding are not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d853294c3946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eff0b7458740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bad3b5c41945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b4a58eb12642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b17ea866274e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e6062af72f40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6A8BDE-4CB0-4BC0-95CD-963BF818C3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9F11BD-0964-4177-BD33-19B2BAD675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ADF3EF-ACF9-4639-AA18-140A5E32A4D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A1872D-6FAA-4579-8A19-7D622E4DA3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82813B-E3B8-464C-BCD6-72937225AD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E2B303-F68A-430A-B419-8ED5700061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37902D-8124-4E6C-9F9A-73754109EB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561E4B-8453-4079-971A-16EC97BB8A0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7E7B05-8A99-49C4-816D-F7FDBBB8C4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25C071-9929-4BC4-AAC7-4889248F44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28af2d606843ea" /><Relationship Type="http://schemas.openxmlformats.org/officeDocument/2006/relationships/slideLayout" Target="/ppt/slideLayouts/slideLayout1.xml" Id="R934415e2a9134837" /><Relationship Type="http://schemas.openxmlformats.org/officeDocument/2006/relationships/slideLayout" Target="/ppt/slideLayouts/slideLayout2.xml" Id="R42432232763b45eb" /><Relationship Type="http://schemas.openxmlformats.org/officeDocument/2006/relationships/slideLayout" Target="/ppt/slideLayouts/slideLayout3.xml" Id="Reea31a700b164725" /><Relationship Type="http://schemas.openxmlformats.org/officeDocument/2006/relationships/slideLayout" Target="/ppt/slideLayouts/slideLayout4.xml" Id="R3be155568a5f43cf" /><Relationship Type="http://schemas.openxmlformats.org/officeDocument/2006/relationships/slideLayout" Target="/ppt/slideLayouts/slideLayout5.xml" Id="Rb951970f7b62457f" /><Relationship Type="http://schemas.openxmlformats.org/officeDocument/2006/relationships/slideLayout" Target="/ppt/slideLayouts/slideLayout6.xml" Id="Rb8c68acb009040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4415e2a9134837"/>
    <p:sldLayoutId xmlns:r="http://schemas.openxmlformats.org/officeDocument/2006/relationships" id="2147483650" r:id="R42432232763b45eb"/>
    <p:sldLayoutId xmlns:r="http://schemas.openxmlformats.org/officeDocument/2006/relationships" id="2147483651" r:id="Reea31a700b164725"/>
    <p:sldLayoutId xmlns:r="http://schemas.openxmlformats.org/officeDocument/2006/relationships" id="2147483652" r:id="R3be155568a5f43cf"/>
    <p:sldLayoutId xmlns:r="http://schemas.openxmlformats.org/officeDocument/2006/relationships" id="2147483653" r:id="Rb951970f7b62457f"/>
    <p:sldLayoutId xmlns:r="http://schemas.openxmlformats.org/officeDocument/2006/relationships" id="2147483654" r:id="Rb8c68acb009040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af6f0656fb4167" /><Relationship Type="http://schemas.openxmlformats.org/officeDocument/2006/relationships/notesSlide" Target="/ppt/notesSlides/notesSlide1.xml" Id="Radf4e7e62dec40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252a99e61d4aaf" /><Relationship Type="http://schemas.openxmlformats.org/officeDocument/2006/relationships/notesSlide" Target="/ppt/notesSlides/notesSlide2.xml" Id="R6de3a0f0fe374b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5ea75600184ab2" /><Relationship Type="http://schemas.openxmlformats.org/officeDocument/2006/relationships/image" Target="/ppt/media/image.png" Id="R7d8e2ad223034aac" /><Relationship Type="http://schemas.openxmlformats.org/officeDocument/2006/relationships/notesSlide" Target="/ppt/notesSlides/notesSlide3.xml" Id="Rc3d4e21dee904c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d68238a0d84b55" /><Relationship Type="http://schemas.openxmlformats.org/officeDocument/2006/relationships/image" Target="/ppt/media/image2.png" Id="Rfb44dca44a6e4260" /><Relationship Type="http://schemas.openxmlformats.org/officeDocument/2006/relationships/image" Target="/ppt/media/image3.png" Id="R6f05761b08bd4813" /><Relationship Type="http://schemas.openxmlformats.org/officeDocument/2006/relationships/notesSlide" Target="/ppt/notesSlides/notesSlide4.xml" Id="R2e3f036f3c1f45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821728d0a5649c0" /><Relationship Type="http://schemas.openxmlformats.org/officeDocument/2006/relationships/image" Target="/ppt/media/image4.png" Id="Rcb7b1ad1177246ee" /><Relationship Type="http://schemas.openxmlformats.org/officeDocument/2006/relationships/image" Target="/ppt/media/image5.png" Id="R47459cef40af40d7" /><Relationship Type="http://schemas.openxmlformats.org/officeDocument/2006/relationships/image" Target="/ppt/media/image6.png" Id="Rf9ff5f65ed034ff4" /><Relationship Type="http://schemas.openxmlformats.org/officeDocument/2006/relationships/notesSlide" Target="/ppt/notesSlides/notesSlide5.xml" Id="R11c7d629d70944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be5d92b9eb4857" /><Relationship Type="http://schemas.openxmlformats.org/officeDocument/2006/relationships/chart" Target="/ppt/slides/charts/chart1.xml" Id="R10bea1540b2d4d86" /><Relationship Type="http://schemas.openxmlformats.org/officeDocument/2006/relationships/notesSlide" Target="/ppt/notesSlides/notesSlide6.xml" Id="R1b08ab40a6f442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fb49c5b71a746cf" /><Relationship Type="http://schemas.openxmlformats.org/officeDocument/2006/relationships/image" Target="/ppt/media/image7.png" Id="Rc66ccf08debb42e2" /><Relationship Type="http://schemas.openxmlformats.org/officeDocument/2006/relationships/notesSlide" Target="/ppt/notesSlides/notesSlide7.xml" Id="Ra3f51d671dbf4f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f5c732b5b54c0b" /><Relationship Type="http://schemas.openxmlformats.org/officeDocument/2006/relationships/notesSlide" Target="/ppt/notesSlides/notesSlide8.xml" Id="Raf3dad3a5daf46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e0f10855ec48ae" /><Relationship Type="http://schemas.openxmlformats.org/officeDocument/2006/relationships/notesSlide" Target="/ppt/notesSlides/notesSlide9.xml" Id="R45d36c4a597c4e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FAFAFA"/>
                </a:solidFill>
                <a:latin typeface="DM Sans"/>
                <a:ea typeface="DM Sans"/>
                <a:cs typeface="DM Sans"/>
              </a:rPr>
              <a:t>Expected net cash</a:t>
            </a:r>
          </a:p>
        </c:rich>
      </c:tx>
      <c:overlay val="0"/>
      <c:txPr>
        <a:bodyPr xmlns:a="http://schemas.openxmlformats.org/drawingml/2006/main" anchorCtr="1"/>
        <a:lstStyle xmlns:a="http://schemas.openxmlformats.org/drawingml/2006/main"/>
        <a:p xmlns:a="http://schemas.openxmlformats.org/drawingml/2006/main">
          <a:pPr>
            <a:defRPr sz="2100">
              <a:solidFill>
                <a:srgbClr val="FAFAFA"/>
              </a:solidFill>
              <a:latin typeface="DM Sans"/>
              <a:ea typeface="DM Sans"/>
              <a:cs typeface="DM Sans"/>
            </a:defRPr>
          </a:pPr>
        </a:p>
      </c:txPr>
    </c:title>
    <c:plotArea>
      <c:barChart>
        <c:barDir val="col"/>
        <c:grouping val="clustered"/>
        <c:varyColors val="0"/>
        <c:ser>
          <c:idx val="0"/>
          <c:order val="0"/>
          <c:tx>
            <c:v>Hypothetical cash</c:v>
          </c:tx>
          <c:spPr>
            <a:solidFill xmlns:a="http://schemas.openxmlformats.org/drawingml/2006/main">
              <a:srgbClr val="0A0A0A"/>
            </a:solidFill>
            <a:ln xmlns:a="http://schemas.openxmlformats.org/drawingml/2006/main" w="11430">
              <a:solidFill>
                <a:srgbClr val="FAFAFA"/>
              </a:solidFill>
              <a:prstDash val="solid"/>
            </a:ln>
          </c:spPr>
          <c:invertIfNegative val="0"/>
          <c:dPt>
            <c:idx val="0"/>
            <c:invertIfNegative val="0"/>
            <c:spPr>
              <a:solidFill xmlns:a="http://schemas.openxmlformats.org/drawingml/2006/main">
                <a:srgbClr val="0A0A0A"/>
              </a:solidFill>
              <a:ln xmlns:a="http://schemas.openxmlformats.org/drawingml/2006/main" w="11430">
                <a:solidFill>
                  <a:srgbClr val="FAFAFA"/>
                </a:solidFill>
                <a:prstDash val="solid"/>
              </a:ln>
            </c:spPr>
          </c:dPt>
          <c:dPt>
            <c:idx val="1"/>
            <c:invertIfNegative val="0"/>
            <c:spPr>
              <a:solidFill xmlns:a="http://schemas.openxmlformats.org/drawingml/2006/main">
                <a:srgbClr val="22C55E"/>
              </a:solidFill>
              <a:ln xmlns:a="http://schemas.openxmlformats.org/drawingml/2006/main" w="11430">
                <a:solidFill>
                  <a:srgbClr val="22C55E"/>
                </a:solidFill>
                <a:prstDash val="solid"/>
              </a:ln>
            </c:spPr>
          </c:dPt>
          <c:dPt>
            <c:idx val="2"/>
            <c:invertIfNegative val="0"/>
            <c:spPr>
              <a:solidFill xmlns:a="http://schemas.openxmlformats.org/drawingml/2006/main">
                <a:srgbClr val="0A0A0A"/>
              </a:solidFill>
              <a:ln xmlns:a="http://schemas.openxmlformats.org/drawingml/2006/main" w="11430">
                <a:solidFill>
                  <a:srgbClr val="FAFAFA"/>
                </a:solidFill>
                <a:prstDash val="solid"/>
              </a:ln>
            </c:spPr>
          </c:dPt>
          <c:dLbls>
            <c:dLbl>
              <c:idx val="0"/>
              <c:tx>
                <c:rich>
                  <a:bodyPr xmlns:a="http://schemas.openxmlformats.org/drawingml/2006/main"/>
                  <a:lstStyle xmlns:a="http://schemas.openxmlformats.org/drawingml/2006/main"/>
                  <a:p xmlns:a="http://schemas.openxmlformats.org/drawingml/2006/main">
                    <a:r>
                      <a:rPr sz="1275" b="0">
                        <a:solidFill>
                          <a:srgbClr val="FAFAFA"/>
                        </a:solidFill>
                      </a:rPr>
                      <a:t>−$410.00</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inEnd"/>
              <c:showVal val="0"/>
            </c:dLbl>
            <c:dLbl>
              <c:idx val="1"/>
              <c:tx>
                <c:rich>
                  <a:bodyPr xmlns:a="http://schemas.openxmlformats.org/drawingml/2006/main"/>
                  <a:lstStyle xmlns:a="http://schemas.openxmlformats.org/drawingml/2006/main"/>
                  <a:p xmlns:a="http://schemas.openxmlformats.org/drawingml/2006/main">
                    <a:r>
                      <a:rPr sz="1275" b="0">
                        <a:solidFill>
                          <a:srgbClr val="FAFAFA"/>
                        </a:solidFill>
                      </a:rPr>
                      <a:t>$7.60</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b="0">
                        <a:solidFill>
                          <a:srgbClr val="FAFAFA"/>
                        </a:solidFill>
                      </a:rPr>
                      <a:t>$369.89</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outEnd"/>
              <c:showVal val="0"/>
            </c:dLbl>
          </c:dLbls>
          <c:cat>
            <c:strRef>
              <c:f>'Chart Data'!$A$2:$A$4</c:f>
              <c:strCache>
                <c:ptCount val="3"/>
                <c:pt idx="0">
                  <c:v>30 days</c:v>
                </c:pt>
                <c:pt idx="1">
                  <c:v>90 days</c:v>
                </c:pt>
                <c:pt idx="2">
                  <c:v>180 days</c:v>
                </c:pt>
              </c:strCache>
            </c:strRef>
          </c:cat>
          <c:val>
            <c:numRef>
              <c:f>'Chart Data'!$B$2:$B$4</c:f>
              <c:numCache>
                <c:formatCode>$#,##0;-$#,##0</c:formatCode>
                <c:ptCount val="3"/>
                <c:pt idx="0">
                  <c:v>-410</c:v>
                </c:pt>
                <c:pt idx="1">
                  <c:v>7.6</c:v>
                </c:pt>
                <c:pt idx="2">
                  <c:v>369.8912</c:v>
                </c:pt>
              </c:numCache>
            </c:numRef>
          </c:val>
        </c:ser>
        <c:dLbls>
          <c:txPr>
            <a:bodyPr xmlns:a="http://schemas.openxmlformats.org/drawingml/2006/main" anchorCtr="1"/>
            <a:lstStyle xmlns:a="http://schemas.openxmlformats.org/drawingml/2006/main"/>
            <a:p xmlns:a="http://schemas.openxmlformats.org/drawingml/2006/main">
              <a:pPr>
                <a:defRPr sz="1275" b="0">
                  <a:solidFill>
                    <a:srgbClr val="FAFAFA"/>
                  </a:solidFill>
                  <a:latin typeface="DM Sans"/>
                  <a:ea typeface="DM Sans"/>
                  <a:cs typeface="DM Sans"/>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6191">
            <a:solidFill>
              <a:srgbClr val="FAFAFA"/>
            </a:solidFill>
            <a:prstDash val="solid"/>
          </a:ln>
        </c:spPr>
        <c:txPr>
          <a:bodyPr xmlns:a="http://schemas.openxmlformats.org/drawingml/2006/main" anchorCtr="1"/>
          <a:lstStyle xmlns:a="http://schemas.openxmlformats.org/drawingml/2006/main"/>
          <a:p xmlns:a="http://schemas.openxmlformats.org/drawingml/2006/main">
            <a:pPr>
              <a:defRPr sz="1200">
                <a:solidFill>
                  <a:srgbClr val="FAFAFA"/>
                </a:solidFill>
                <a:latin typeface="DM Sans"/>
                <a:ea typeface="DM Sans"/>
                <a:cs typeface="DM Sans"/>
              </a:defRPr>
            </a:pPr>
          </a:p>
        </c:txPr>
        <c:crossAx val="48672768"/>
      </c:catAx>
      <c:valAx>
        <c:axId val="48672768"/>
        <c:scaling>
          <c:orientation val="minMax"/>
          <c:max val="500"/>
          <c:min val="-500"/>
        </c:scaling>
        <c:delete val="0"/>
        <c:axPos val="l"/>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FAFAFA"/>
                </a:solidFill>
                <a:latin typeface="DM Sans"/>
                <a:ea typeface="DM Sans"/>
                <a:cs typeface="DM Sans"/>
              </a:defRPr>
            </a:pPr>
          </a:p>
        </c:txPr>
        <c:crossAx val="48650112"/>
        <c:crossBetween val="between"/>
        <c:majorUnit val="250"/>
      </c:valAx>
      <c:spPr>
        <a:solidFill xmlns:a="http://schemas.openxmlformats.org/drawingml/2006/main">
          <a:srgbClr val="0A0A0A"/>
        </a:solidFill>
        <a:ln xmlns:a="http://schemas.openxmlformats.org/drawingml/2006/main" w="0">
          <a:noFill/>
          <a:prstDash val="solid"/>
        </a:ln>
      </c:spPr>
    </c:plotArea>
    <c:plotVisOnly val="1"/>
  </c:chart>
  <c:spPr>
    <a:solidFill xmlns:a="http://schemas.openxmlformats.org/drawingml/2006/main">
      <a:srgbClr val="0A0A0A"/>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A03D89E-6473-4664-BF51-8EE687887C5C}"/>
              </a:ext>
            </a:extLst>
          </p:cNvPr>
          <p:cNvSpPr>
            <a:spLocks xmlns:a="http://schemas.openxmlformats.org/drawingml/2006/main" noGrp="1"/>
          </p:cNvSpPr>
          <p:nvPr/>
        </p:nvSpPr>
        <p:spPr>
          <a:xfrm xmlns:a="http://schemas.openxmlformats.org/drawingml/2006/main" rot="0">
            <a:off x="400050" y="361950"/>
            <a:ext cx="6953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AFAFA"/>
                </a:solidFill>
                <a:latin typeface="DM Sans"/>
                <a:ea typeface="DM Sans"/>
                <a:cs typeface="DM Sans"/>
              </a:defRPr>
            </a:defPPr>
            <a:lvl1pPr algn="l">
              <a:defRPr sz="2325" b="0">
                <a:solidFill>
                  <a:srgbClr val="FAFAFA"/>
                </a:solidFill>
                <a:latin typeface="DM Sans"/>
                <a:ea typeface="DM Sans"/>
                <a:cs typeface="DM Sans"/>
              </a:defRPr>
            </a:lvl1pPr>
            <a:lvl2pPr algn="l">
              <a:defRPr sz="2325" b="0">
                <a:solidFill>
                  <a:srgbClr val="FAFAFA"/>
                </a:solidFill>
                <a:latin typeface="DM Sans"/>
                <a:ea typeface="DM Sans"/>
                <a:cs typeface="DM Sans"/>
              </a:defRPr>
            </a:lvl2pPr>
            <a:lvl3pPr algn="l">
              <a:defRPr sz="2325" b="0">
                <a:solidFill>
                  <a:srgbClr val="FAFAFA"/>
                </a:solidFill>
                <a:latin typeface="DM Sans"/>
                <a:ea typeface="DM Sans"/>
                <a:cs typeface="DM Sans"/>
              </a:defRPr>
            </a:lvl3pPr>
            <a:lvl4pPr algn="l">
              <a:defRPr sz="2325" b="0">
                <a:solidFill>
                  <a:srgbClr val="FAFAFA"/>
                </a:solidFill>
                <a:latin typeface="DM Sans"/>
                <a:ea typeface="DM Sans"/>
                <a:cs typeface="DM Sans"/>
              </a:defRPr>
            </a:lvl4pPr>
            <a:lvl5pPr algn="l">
              <a:defRPr sz="2325" b="0">
                <a:solidFill>
                  <a:srgbClr val="FAFAFA"/>
                </a:solidFill>
                <a:latin typeface="DM Sans"/>
                <a:ea typeface="DM Sans"/>
                <a:cs typeface="DM Sans"/>
              </a:defRPr>
            </a:lvl5pPr>
            <a:lvl6pPr algn="l">
              <a:defRPr sz="2325" b="0">
                <a:solidFill>
                  <a:srgbClr val="FAFAFA"/>
                </a:solidFill>
                <a:latin typeface="DM Sans"/>
                <a:ea typeface="DM Sans"/>
                <a:cs typeface="DM Sans"/>
              </a:defRPr>
            </a:lvl6pPr>
            <a:lvl7pPr algn="l">
              <a:defRPr sz="2325" b="0">
                <a:solidFill>
                  <a:srgbClr val="FAFAFA"/>
                </a:solidFill>
                <a:latin typeface="DM Sans"/>
                <a:ea typeface="DM Sans"/>
                <a:cs typeface="DM Sans"/>
              </a:defRPr>
            </a:lvl7pPr>
            <a:lvl8pPr algn="l">
              <a:defRPr sz="2325" b="0">
                <a:solidFill>
                  <a:srgbClr val="FAFAFA"/>
                </a:solidFill>
                <a:latin typeface="DM Sans"/>
                <a:ea typeface="DM Sans"/>
                <a:cs typeface="DM Sans"/>
              </a:defRPr>
            </a:lvl8pPr>
            <a:lvl9pPr algn="l">
              <a:defRPr sz="2325" b="0">
                <a:solidFill>
                  <a:srgbClr val="FAFAFA"/>
                </a:solidFill>
                <a:latin typeface="DM Sans"/>
                <a:ea typeface="DM Sans"/>
                <a:cs typeface="DM Sans"/>
              </a:defRPr>
            </a:lvl9pPr>
          </a:lstStyle>
          <a:p xmlns:a="http://schemas.openxmlformats.org/drawingml/2006/main">
            <a:pPr algn="l">
              <a:defRPr sz="2325" b="0">
                <a:solidFill>
                  <a:srgbClr val="FAFAFA"/>
                </a:solidFill>
                <a:latin typeface="DM Sans"/>
                <a:ea typeface="DM Sans"/>
                <a:cs typeface="DM Sans"/>
              </a:defRPr>
            </a:pPr>
            <a:r>
              <a:rPr sz="2325" b="0">
                <a:solidFill>
                  <a:srgbClr val="FAFAFA"/>
                </a:solidFill>
                <a:latin typeface="DM Sans"/>
                <a:ea typeface="DM Sans"/>
                <a:cs typeface="DM Sans"/>
              </a:rPr>
              <a:t>OXHack 2026</a:t>
            </a:r>
          </a:p>
          <a:p xmlns:a="http://schemas.openxmlformats.org/drawingml/2006/main">
            <a:pPr algn="l">
              <a:defRPr sz="2325" b="0">
                <a:solidFill>
                  <a:srgbClr val="FAFAFA"/>
                </a:solidFill>
                <a:latin typeface="DM Sans"/>
                <a:ea typeface="DM Sans"/>
                <a:cs typeface="DM Sans"/>
              </a:defRPr>
            </a:pPr>
            <a:r>
              <a:rPr sz="2325" b="0">
                <a:solidFill>
                  <a:srgbClr val="FAFAFA"/>
                </a:solidFill>
                <a:latin typeface="DM Sans"/>
                <a:ea typeface="DM Sans"/>
                <a:cs typeface="DM Sans"/>
              </a:rPr>
              <a:t>Orecast</a:t>
            </a:r>
          </a:p>
        </p:txBody>
      </p:sp>
      <p:sp>
        <p:nvSpPr>
          <p:cNvPr id="2" name="">
            <a:extLst xmlns:a="http://schemas.openxmlformats.org/drawingml/2006/main">
              <a:ext uri="{FF2B5EF4-FFF2-40B4-BE49-F238E27FC236}">
                <a16:creationId xmlns:a16="http://schemas.microsoft.com/office/drawing/2014/main" id="{87EFF656-1D3D-4932-BC69-893526A47BF8}"/>
              </a:ext>
            </a:extLst>
          </p:cNvPr>
          <p:cNvSpPr>
            <a:spLocks xmlns:a="http://schemas.openxmlformats.org/drawingml/2006/main" noGrp="1"/>
          </p:cNvSpPr>
          <p:nvPr/>
        </p:nvSpPr>
        <p:spPr>
          <a:xfrm xmlns:a="http://schemas.openxmlformats.org/drawingml/2006/main">
            <a:off x="14973" y="3429000"/>
            <a:ext cx="2118627" cy="1371600"/>
          </a:xfrm>
          <a:custGeom xmlns:a="http://schemas.openxmlformats.org/drawingml/2006/main">
            <a:pathLst>
              <a:path w="2118627" h="1371600">
                <a:moveTo>
                  <a:pt x="2118627" y="0"/>
                </a:moveTo>
                <a:lnTo>
                  <a:pt x="2118418" y="23938"/>
                </a:lnTo>
                <a:lnTo>
                  <a:pt x="2117791" y="47868"/>
                </a:lnTo>
                <a:lnTo>
                  <a:pt x="2116747" y="71784"/>
                </a:lnTo>
                <a:lnTo>
                  <a:pt x="2115286" y="95678"/>
                </a:lnTo>
                <a:lnTo>
                  <a:pt x="2113408" y="119543"/>
                </a:lnTo>
                <a:lnTo>
                  <a:pt x="2111113" y="143371"/>
                </a:lnTo>
                <a:lnTo>
                  <a:pt x="2108403" y="167156"/>
                </a:lnTo>
                <a:lnTo>
                  <a:pt x="2105279" y="190890"/>
                </a:lnTo>
                <a:lnTo>
                  <a:pt x="2101740" y="214566"/>
                </a:lnTo>
                <a:lnTo>
                  <a:pt x="2097789" y="238176"/>
                </a:lnTo>
                <a:lnTo>
                  <a:pt x="2093427" y="261714"/>
                </a:lnTo>
                <a:lnTo>
                  <a:pt x="2088654" y="285172"/>
                </a:lnTo>
                <a:lnTo>
                  <a:pt x="2083473" y="308543"/>
                </a:lnTo>
                <a:lnTo>
                  <a:pt x="2077885" y="331820"/>
                </a:lnTo>
                <a:lnTo>
                  <a:pt x="2071891" y="354996"/>
                </a:lnTo>
                <a:lnTo>
                  <a:pt x="2065493" y="378064"/>
                </a:lnTo>
                <a:lnTo>
                  <a:pt x="2058695" y="401017"/>
                </a:lnTo>
                <a:lnTo>
                  <a:pt x="2051496" y="423848"/>
                </a:lnTo>
                <a:lnTo>
                  <a:pt x="2043900" y="446549"/>
                </a:lnTo>
                <a:lnTo>
                  <a:pt x="2035909" y="469115"/>
                </a:lnTo>
                <a:lnTo>
                  <a:pt x="2027526" y="491537"/>
                </a:lnTo>
                <a:lnTo>
                  <a:pt x="2018752" y="513810"/>
                </a:lnTo>
                <a:lnTo>
                  <a:pt x="2009591" y="535927"/>
                </a:lnTo>
                <a:lnTo>
                  <a:pt x="2000046" y="557880"/>
                </a:lnTo>
                <a:lnTo>
                  <a:pt x="1990119" y="579663"/>
                </a:lnTo>
                <a:lnTo>
                  <a:pt x="1979813" y="601270"/>
                </a:lnTo>
                <a:lnTo>
                  <a:pt x="1969131" y="622693"/>
                </a:lnTo>
                <a:lnTo>
                  <a:pt x="1958078" y="643927"/>
                </a:lnTo>
                <a:lnTo>
                  <a:pt x="1946655" y="664965"/>
                </a:lnTo>
                <a:lnTo>
                  <a:pt x="1934867" y="685800"/>
                </a:lnTo>
                <a:lnTo>
                  <a:pt x="1922718" y="706426"/>
                </a:lnTo>
                <a:lnTo>
                  <a:pt x="1910210" y="726837"/>
                </a:lnTo>
                <a:lnTo>
                  <a:pt x="1897347" y="747027"/>
                </a:lnTo>
                <a:lnTo>
                  <a:pt x="1884135" y="766989"/>
                </a:lnTo>
                <a:lnTo>
                  <a:pt x="1870576" y="786717"/>
                </a:lnTo>
                <a:lnTo>
                  <a:pt x="1856675" y="806206"/>
                </a:lnTo>
                <a:lnTo>
                  <a:pt x="1842435" y="825449"/>
                </a:lnTo>
                <a:lnTo>
                  <a:pt x="1827862" y="844441"/>
                </a:lnTo>
                <a:lnTo>
                  <a:pt x="1812960" y="863176"/>
                </a:lnTo>
                <a:lnTo>
                  <a:pt x="1797733" y="881647"/>
                </a:lnTo>
                <a:lnTo>
                  <a:pt x="1782187" y="899851"/>
                </a:lnTo>
                <a:lnTo>
                  <a:pt x="1766324" y="917780"/>
                </a:lnTo>
                <a:lnTo>
                  <a:pt x="1750152" y="935429"/>
                </a:lnTo>
                <a:lnTo>
                  <a:pt x="1733673" y="952793"/>
                </a:lnTo>
                <a:lnTo>
                  <a:pt x="1716895" y="969868"/>
                </a:lnTo>
                <a:lnTo>
                  <a:pt x="1699820" y="986646"/>
                </a:lnTo>
                <a:lnTo>
                  <a:pt x="1682456" y="1003125"/>
                </a:lnTo>
                <a:lnTo>
                  <a:pt x="1664806" y="1019297"/>
                </a:lnTo>
                <a:lnTo>
                  <a:pt x="1646877" y="1035160"/>
                </a:lnTo>
                <a:lnTo>
                  <a:pt x="1628674" y="1050707"/>
                </a:lnTo>
                <a:lnTo>
                  <a:pt x="1610203" y="1065933"/>
                </a:lnTo>
                <a:lnTo>
                  <a:pt x="1591468" y="1080836"/>
                </a:lnTo>
                <a:lnTo>
                  <a:pt x="1572476" y="1095408"/>
                </a:lnTo>
                <a:lnTo>
                  <a:pt x="1553233" y="1109648"/>
                </a:lnTo>
                <a:lnTo>
                  <a:pt x="1533744" y="1123549"/>
                </a:lnTo>
                <a:lnTo>
                  <a:pt x="1514016" y="1137108"/>
                </a:lnTo>
                <a:lnTo>
                  <a:pt x="1494054" y="1150321"/>
                </a:lnTo>
                <a:lnTo>
                  <a:pt x="1473864" y="1163183"/>
                </a:lnTo>
                <a:lnTo>
                  <a:pt x="1453453" y="1175691"/>
                </a:lnTo>
                <a:lnTo>
                  <a:pt x="1432827" y="1187840"/>
                </a:lnTo>
                <a:lnTo>
                  <a:pt x="1411992" y="1199628"/>
                </a:lnTo>
                <a:lnTo>
                  <a:pt x="1390954" y="1211051"/>
                </a:lnTo>
                <a:lnTo>
                  <a:pt x="1369720" y="1222105"/>
                </a:lnTo>
                <a:lnTo>
                  <a:pt x="1348297" y="1232786"/>
                </a:lnTo>
                <a:lnTo>
                  <a:pt x="1326690" y="1243092"/>
                </a:lnTo>
                <a:lnTo>
                  <a:pt x="1304907" y="1253019"/>
                </a:lnTo>
                <a:lnTo>
                  <a:pt x="1282954" y="1262564"/>
                </a:lnTo>
                <a:lnTo>
                  <a:pt x="1260837" y="1271725"/>
                </a:lnTo>
                <a:lnTo>
                  <a:pt x="1238564" y="1280499"/>
                </a:lnTo>
                <a:lnTo>
                  <a:pt x="1216142" y="1288882"/>
                </a:lnTo>
                <a:lnTo>
                  <a:pt x="1193576" y="1296873"/>
                </a:lnTo>
                <a:lnTo>
                  <a:pt x="1170875" y="1304469"/>
                </a:lnTo>
                <a:lnTo>
                  <a:pt x="1148044" y="1311668"/>
                </a:lnTo>
                <a:lnTo>
                  <a:pt x="1125091" y="1318467"/>
                </a:lnTo>
                <a:lnTo>
                  <a:pt x="1102023" y="1324864"/>
                </a:lnTo>
                <a:lnTo>
                  <a:pt x="1078847" y="1330858"/>
                </a:lnTo>
                <a:lnTo>
                  <a:pt x="1055570" y="1336446"/>
                </a:lnTo>
                <a:lnTo>
                  <a:pt x="1032199" y="1341627"/>
                </a:lnTo>
                <a:lnTo>
                  <a:pt x="1008741" y="1346400"/>
                </a:lnTo>
                <a:lnTo>
                  <a:pt x="985203" y="1350762"/>
                </a:lnTo>
                <a:lnTo>
                  <a:pt x="961592" y="1354713"/>
                </a:lnTo>
                <a:lnTo>
                  <a:pt x="937917" y="1358252"/>
                </a:lnTo>
                <a:lnTo>
                  <a:pt x="914183" y="1361376"/>
                </a:lnTo>
                <a:lnTo>
                  <a:pt x="890398" y="1364086"/>
                </a:lnTo>
                <a:lnTo>
                  <a:pt x="866570" y="1366381"/>
                </a:lnTo>
                <a:lnTo>
                  <a:pt x="842705" y="1368259"/>
                </a:lnTo>
                <a:lnTo>
                  <a:pt x="818811" y="1369720"/>
                </a:lnTo>
                <a:lnTo>
                  <a:pt x="794895" y="1370764"/>
                </a:lnTo>
                <a:lnTo>
                  <a:pt x="770965" y="1371391"/>
                </a:lnTo>
                <a:lnTo>
                  <a:pt x="747027" y="1371600"/>
                </a:lnTo>
                <a:lnTo>
                  <a:pt x="723089" y="1371391"/>
                </a:lnTo>
                <a:lnTo>
                  <a:pt x="699159" y="1370764"/>
                </a:lnTo>
                <a:lnTo>
                  <a:pt x="675243" y="1369720"/>
                </a:lnTo>
                <a:lnTo>
                  <a:pt x="651349" y="1368259"/>
                </a:lnTo>
                <a:lnTo>
                  <a:pt x="627484" y="1366381"/>
                </a:lnTo>
                <a:lnTo>
                  <a:pt x="603656" y="1364086"/>
                </a:lnTo>
                <a:lnTo>
                  <a:pt x="579871" y="1361376"/>
                </a:lnTo>
                <a:lnTo>
                  <a:pt x="556137" y="1358252"/>
                </a:lnTo>
                <a:lnTo>
                  <a:pt x="532461" y="1354713"/>
                </a:lnTo>
                <a:lnTo>
                  <a:pt x="508851" y="1350762"/>
                </a:lnTo>
                <a:lnTo>
                  <a:pt x="485313" y="1346400"/>
                </a:lnTo>
                <a:lnTo>
                  <a:pt x="461855" y="1341627"/>
                </a:lnTo>
                <a:lnTo>
                  <a:pt x="438484" y="1336446"/>
                </a:lnTo>
                <a:lnTo>
                  <a:pt x="415207" y="1330858"/>
                </a:lnTo>
                <a:lnTo>
                  <a:pt x="392031" y="1324864"/>
                </a:lnTo>
                <a:lnTo>
                  <a:pt x="368963" y="1318467"/>
                </a:lnTo>
                <a:lnTo>
                  <a:pt x="346010" y="1311668"/>
                </a:lnTo>
                <a:lnTo>
                  <a:pt x="323179" y="1304469"/>
                </a:lnTo>
                <a:lnTo>
                  <a:pt x="300478" y="1296873"/>
                </a:lnTo>
                <a:lnTo>
                  <a:pt x="277912" y="1288882"/>
                </a:lnTo>
                <a:lnTo>
                  <a:pt x="255489" y="1280499"/>
                </a:lnTo>
                <a:lnTo>
                  <a:pt x="233216" y="1271725"/>
                </a:lnTo>
                <a:lnTo>
                  <a:pt x="211100" y="1262564"/>
                </a:lnTo>
                <a:lnTo>
                  <a:pt x="189147" y="1253019"/>
                </a:lnTo>
                <a:lnTo>
                  <a:pt x="167364" y="1243092"/>
                </a:lnTo>
                <a:lnTo>
                  <a:pt x="145757" y="1232786"/>
                </a:lnTo>
                <a:lnTo>
                  <a:pt x="124334" y="1222105"/>
                </a:lnTo>
                <a:lnTo>
                  <a:pt x="103100" y="1211051"/>
                </a:lnTo>
                <a:lnTo>
                  <a:pt x="82062" y="1199628"/>
                </a:lnTo>
                <a:lnTo>
                  <a:pt x="61227" y="1187840"/>
                </a:lnTo>
                <a:lnTo>
                  <a:pt x="40601" y="1175691"/>
                </a:lnTo>
                <a:lnTo>
                  <a:pt x="20190" y="1163183"/>
                </a:lnTo>
                <a:lnTo>
                  <a:pt x="0" y="1150321"/>
                </a:lnTo>
              </a:path>
            </a:pathLst>
          </a:custGeom>
          <a:noFill xmlns:a="http://schemas.openxmlformats.org/drawingml/2006/main"/>
          <a:ln xmlns:a="http://schemas.openxmlformats.org/drawingml/2006/main" w="9525">
            <a:solidFill>
              <a:srgbClr val="FAFAFA">
                <a:alpha val="40000"/>
              </a:srgbClr>
            </a:solidFill>
            <a:prstDash val="solid"/>
          </a:ln>
        </p:spPr>
      </p:sp>
      <p:sp>
        <p:nvSpPr>
          <p:cNvPr id="3" name="">
            <a:extLst xmlns:a="http://schemas.openxmlformats.org/drawingml/2006/main">
              <a:ext uri="{FF2B5EF4-FFF2-40B4-BE49-F238E27FC236}">
                <a16:creationId xmlns:a16="http://schemas.microsoft.com/office/drawing/2014/main" id="{CC6DD151-1234-4DDF-94A4-77E31D432DD0}"/>
              </a:ext>
            </a:extLst>
          </p:cNvPr>
          <p:cNvSpPr>
            <a:spLocks xmlns:a="http://schemas.openxmlformats.org/drawingml/2006/main" noGrp="1"/>
          </p:cNvSpPr>
          <p:nvPr/>
        </p:nvSpPr>
        <p:spPr>
          <a:xfrm xmlns:a="http://schemas.openxmlformats.org/drawingml/2006/main">
            <a:off x="14973" y="2057400"/>
            <a:ext cx="2118627" cy="1371600"/>
          </a:xfrm>
          <a:custGeom xmlns:a="http://schemas.openxmlformats.org/drawingml/2006/main">
            <a:pathLst>
              <a:path w="2118627" h="1371600">
                <a:moveTo>
                  <a:pt x="0" y="221279"/>
                </a:moveTo>
                <a:lnTo>
                  <a:pt x="20190" y="208417"/>
                </a:lnTo>
                <a:lnTo>
                  <a:pt x="40601" y="195909"/>
                </a:lnTo>
                <a:lnTo>
                  <a:pt x="61227" y="183760"/>
                </a:lnTo>
                <a:lnTo>
                  <a:pt x="82062" y="171972"/>
                </a:lnTo>
                <a:lnTo>
                  <a:pt x="103100" y="160549"/>
                </a:lnTo>
                <a:lnTo>
                  <a:pt x="124334" y="149495"/>
                </a:lnTo>
                <a:lnTo>
                  <a:pt x="145757" y="138814"/>
                </a:lnTo>
                <a:lnTo>
                  <a:pt x="167364" y="128508"/>
                </a:lnTo>
                <a:lnTo>
                  <a:pt x="189147" y="118581"/>
                </a:lnTo>
                <a:lnTo>
                  <a:pt x="211100" y="109036"/>
                </a:lnTo>
                <a:lnTo>
                  <a:pt x="233216" y="99875"/>
                </a:lnTo>
                <a:lnTo>
                  <a:pt x="255489" y="91101"/>
                </a:lnTo>
                <a:lnTo>
                  <a:pt x="277912" y="82718"/>
                </a:lnTo>
                <a:lnTo>
                  <a:pt x="300478" y="74727"/>
                </a:lnTo>
                <a:lnTo>
                  <a:pt x="323179" y="67131"/>
                </a:lnTo>
                <a:lnTo>
                  <a:pt x="346010" y="59932"/>
                </a:lnTo>
                <a:lnTo>
                  <a:pt x="368963" y="53133"/>
                </a:lnTo>
                <a:lnTo>
                  <a:pt x="392031" y="46736"/>
                </a:lnTo>
                <a:lnTo>
                  <a:pt x="415207" y="40742"/>
                </a:lnTo>
                <a:lnTo>
                  <a:pt x="438484" y="35154"/>
                </a:lnTo>
                <a:lnTo>
                  <a:pt x="461855" y="29973"/>
                </a:lnTo>
                <a:lnTo>
                  <a:pt x="485313" y="25200"/>
                </a:lnTo>
                <a:lnTo>
                  <a:pt x="508851" y="20838"/>
                </a:lnTo>
                <a:lnTo>
                  <a:pt x="532461" y="16887"/>
                </a:lnTo>
                <a:lnTo>
                  <a:pt x="556137" y="13348"/>
                </a:lnTo>
                <a:lnTo>
                  <a:pt x="579871" y="10224"/>
                </a:lnTo>
                <a:lnTo>
                  <a:pt x="603656" y="7514"/>
                </a:lnTo>
                <a:lnTo>
                  <a:pt x="627484" y="5219"/>
                </a:lnTo>
                <a:lnTo>
                  <a:pt x="651349" y="3341"/>
                </a:lnTo>
                <a:lnTo>
                  <a:pt x="675243" y="1880"/>
                </a:lnTo>
                <a:lnTo>
                  <a:pt x="699159" y="836"/>
                </a:lnTo>
                <a:lnTo>
                  <a:pt x="723089" y="209"/>
                </a:lnTo>
                <a:lnTo>
                  <a:pt x="747027" y="0"/>
                </a:lnTo>
                <a:lnTo>
                  <a:pt x="770965" y="209"/>
                </a:lnTo>
                <a:lnTo>
                  <a:pt x="794895" y="836"/>
                </a:lnTo>
                <a:lnTo>
                  <a:pt x="818811" y="1880"/>
                </a:lnTo>
                <a:lnTo>
                  <a:pt x="842705" y="3341"/>
                </a:lnTo>
                <a:lnTo>
                  <a:pt x="866570" y="5219"/>
                </a:lnTo>
                <a:lnTo>
                  <a:pt x="890398" y="7514"/>
                </a:lnTo>
                <a:lnTo>
                  <a:pt x="914183" y="10224"/>
                </a:lnTo>
                <a:lnTo>
                  <a:pt x="937917" y="13348"/>
                </a:lnTo>
                <a:lnTo>
                  <a:pt x="961592" y="16887"/>
                </a:lnTo>
                <a:lnTo>
                  <a:pt x="985203" y="20838"/>
                </a:lnTo>
                <a:lnTo>
                  <a:pt x="1008741" y="25200"/>
                </a:lnTo>
                <a:lnTo>
                  <a:pt x="1032199" y="29973"/>
                </a:lnTo>
                <a:lnTo>
                  <a:pt x="1055570" y="35154"/>
                </a:lnTo>
                <a:lnTo>
                  <a:pt x="1078847" y="40742"/>
                </a:lnTo>
                <a:lnTo>
                  <a:pt x="1102023" y="46736"/>
                </a:lnTo>
                <a:lnTo>
                  <a:pt x="1125091" y="53133"/>
                </a:lnTo>
                <a:lnTo>
                  <a:pt x="1148044" y="59932"/>
                </a:lnTo>
                <a:lnTo>
                  <a:pt x="1170875" y="67131"/>
                </a:lnTo>
                <a:lnTo>
                  <a:pt x="1193576" y="74727"/>
                </a:lnTo>
                <a:lnTo>
                  <a:pt x="1216142" y="82718"/>
                </a:lnTo>
                <a:lnTo>
                  <a:pt x="1238564" y="91101"/>
                </a:lnTo>
                <a:lnTo>
                  <a:pt x="1260837" y="99875"/>
                </a:lnTo>
                <a:lnTo>
                  <a:pt x="1282954" y="109036"/>
                </a:lnTo>
                <a:lnTo>
                  <a:pt x="1304907" y="118581"/>
                </a:lnTo>
                <a:lnTo>
                  <a:pt x="1326690" y="128508"/>
                </a:lnTo>
                <a:lnTo>
                  <a:pt x="1348297" y="138814"/>
                </a:lnTo>
                <a:lnTo>
                  <a:pt x="1369720" y="149495"/>
                </a:lnTo>
                <a:lnTo>
                  <a:pt x="1390954" y="160549"/>
                </a:lnTo>
                <a:lnTo>
                  <a:pt x="1411992" y="171972"/>
                </a:lnTo>
                <a:lnTo>
                  <a:pt x="1432827" y="183760"/>
                </a:lnTo>
                <a:lnTo>
                  <a:pt x="1453453" y="195909"/>
                </a:lnTo>
                <a:lnTo>
                  <a:pt x="1473864" y="208417"/>
                </a:lnTo>
                <a:lnTo>
                  <a:pt x="1494054" y="221279"/>
                </a:lnTo>
                <a:lnTo>
                  <a:pt x="1514016" y="234492"/>
                </a:lnTo>
                <a:lnTo>
                  <a:pt x="1533744" y="248051"/>
                </a:lnTo>
                <a:lnTo>
                  <a:pt x="1553233" y="261952"/>
                </a:lnTo>
                <a:lnTo>
                  <a:pt x="1572476" y="276192"/>
                </a:lnTo>
                <a:lnTo>
                  <a:pt x="1591468" y="290764"/>
                </a:lnTo>
                <a:lnTo>
                  <a:pt x="1610203" y="305667"/>
                </a:lnTo>
                <a:lnTo>
                  <a:pt x="1628674" y="320893"/>
                </a:lnTo>
                <a:lnTo>
                  <a:pt x="1646877" y="336440"/>
                </a:lnTo>
                <a:lnTo>
                  <a:pt x="1664806" y="352303"/>
                </a:lnTo>
                <a:lnTo>
                  <a:pt x="1682456" y="368475"/>
                </a:lnTo>
                <a:lnTo>
                  <a:pt x="1699820" y="384954"/>
                </a:lnTo>
                <a:lnTo>
                  <a:pt x="1716895" y="401732"/>
                </a:lnTo>
                <a:lnTo>
                  <a:pt x="1733673" y="418807"/>
                </a:lnTo>
                <a:lnTo>
                  <a:pt x="1750152" y="436171"/>
                </a:lnTo>
                <a:lnTo>
                  <a:pt x="1766324" y="453820"/>
                </a:lnTo>
                <a:lnTo>
                  <a:pt x="1782187" y="471749"/>
                </a:lnTo>
                <a:lnTo>
                  <a:pt x="1797733" y="489953"/>
                </a:lnTo>
                <a:lnTo>
                  <a:pt x="1812960" y="508424"/>
                </a:lnTo>
                <a:lnTo>
                  <a:pt x="1827862" y="527159"/>
                </a:lnTo>
                <a:lnTo>
                  <a:pt x="1842435" y="546151"/>
                </a:lnTo>
                <a:lnTo>
                  <a:pt x="1856675" y="565394"/>
                </a:lnTo>
                <a:lnTo>
                  <a:pt x="1870576" y="584883"/>
                </a:lnTo>
                <a:lnTo>
                  <a:pt x="1884135" y="604611"/>
                </a:lnTo>
                <a:lnTo>
                  <a:pt x="1897347" y="624573"/>
                </a:lnTo>
                <a:lnTo>
                  <a:pt x="1910210" y="644763"/>
                </a:lnTo>
                <a:lnTo>
                  <a:pt x="1922718" y="665174"/>
                </a:lnTo>
                <a:lnTo>
                  <a:pt x="1934867" y="685800"/>
                </a:lnTo>
                <a:lnTo>
                  <a:pt x="1946655" y="706635"/>
                </a:lnTo>
                <a:lnTo>
                  <a:pt x="1958078" y="727673"/>
                </a:lnTo>
                <a:lnTo>
                  <a:pt x="1969131" y="748907"/>
                </a:lnTo>
                <a:lnTo>
                  <a:pt x="1979813" y="770330"/>
                </a:lnTo>
                <a:lnTo>
                  <a:pt x="1990119" y="791937"/>
                </a:lnTo>
                <a:lnTo>
                  <a:pt x="2000046" y="813720"/>
                </a:lnTo>
                <a:lnTo>
                  <a:pt x="2009591" y="835673"/>
                </a:lnTo>
                <a:lnTo>
                  <a:pt x="2018752" y="857790"/>
                </a:lnTo>
                <a:lnTo>
                  <a:pt x="2027526" y="880063"/>
                </a:lnTo>
                <a:lnTo>
                  <a:pt x="2035909" y="902485"/>
                </a:lnTo>
                <a:lnTo>
                  <a:pt x="2043900" y="925051"/>
                </a:lnTo>
                <a:lnTo>
                  <a:pt x="2051496" y="947752"/>
                </a:lnTo>
                <a:lnTo>
                  <a:pt x="2058695" y="970583"/>
                </a:lnTo>
                <a:lnTo>
                  <a:pt x="2065493" y="993536"/>
                </a:lnTo>
                <a:lnTo>
                  <a:pt x="2071891" y="1016604"/>
                </a:lnTo>
                <a:lnTo>
                  <a:pt x="2077885" y="1039780"/>
                </a:lnTo>
                <a:lnTo>
                  <a:pt x="2083473" y="1063057"/>
                </a:lnTo>
                <a:lnTo>
                  <a:pt x="2088654" y="1086428"/>
                </a:lnTo>
                <a:lnTo>
                  <a:pt x="2093427" y="1109886"/>
                </a:lnTo>
                <a:lnTo>
                  <a:pt x="2097789" y="1133424"/>
                </a:lnTo>
                <a:lnTo>
                  <a:pt x="2101740" y="1157034"/>
                </a:lnTo>
                <a:lnTo>
                  <a:pt x="2105279" y="1180710"/>
                </a:lnTo>
                <a:lnTo>
                  <a:pt x="2108403" y="1204444"/>
                </a:lnTo>
                <a:lnTo>
                  <a:pt x="2111113" y="1228229"/>
                </a:lnTo>
                <a:lnTo>
                  <a:pt x="2113408" y="1252057"/>
                </a:lnTo>
                <a:lnTo>
                  <a:pt x="2115286" y="1275922"/>
                </a:lnTo>
                <a:lnTo>
                  <a:pt x="2116747" y="1299816"/>
                </a:lnTo>
                <a:lnTo>
                  <a:pt x="2117791" y="1323732"/>
                </a:lnTo>
                <a:lnTo>
                  <a:pt x="2118418" y="1347662"/>
                </a:lnTo>
                <a:lnTo>
                  <a:pt x="2118627" y="1371600"/>
                </a:lnTo>
              </a:path>
            </a:pathLst>
          </a:custGeom>
          <a:noFill xmlns:a="http://schemas.openxmlformats.org/drawingml/2006/main"/>
          <a:ln xmlns:a="http://schemas.openxmlformats.org/drawingml/2006/main" w="9525">
            <a:solidFill>
              <a:srgbClr val="FAFAFA">
                <a:alpha val="40000"/>
              </a:srgbClr>
            </a:solidFill>
            <a:prstDash val="solid"/>
          </a:ln>
        </p:spPr>
      </p:sp>
      <p:sp>
        <p:nvSpPr>
          <p:cNvPr id="4" name="">
            <a:extLst xmlns:a="http://schemas.openxmlformats.org/drawingml/2006/main">
              <a:ext uri="{FF2B5EF4-FFF2-40B4-BE49-F238E27FC236}">
                <a16:creationId xmlns:a16="http://schemas.microsoft.com/office/drawing/2014/main" id="{1C394E47-538D-4233-A809-FB2EB0046AEC}"/>
              </a:ext>
            </a:extLst>
          </p:cNvPr>
          <p:cNvSpPr>
            <a:spLocks xmlns:a="http://schemas.openxmlformats.org/drawingml/2006/main" noGrp="1"/>
          </p:cNvSpPr>
          <p:nvPr/>
        </p:nvSpPr>
        <p:spPr>
          <a:xfrm xmlns:a="http://schemas.openxmlformats.org/drawingml/2006/main">
            <a:off x="2838450" y="2057400"/>
            <a:ext cx="2743200" cy="2743200"/>
          </a:xfrm>
          <a:custGeom xmlns:a="http://schemas.openxmlformats.org/drawingml/2006/main">
            <a:pathLst>
              <a:path w="2743200" h="2743200">
                <a:moveTo>
                  <a:pt x="2743200" y="1371600"/>
                </a:moveTo>
                <a:lnTo>
                  <a:pt x="2742991" y="1395538"/>
                </a:lnTo>
                <a:lnTo>
                  <a:pt x="2742364" y="1419468"/>
                </a:lnTo>
                <a:lnTo>
                  <a:pt x="2741320" y="1443384"/>
                </a:lnTo>
                <a:lnTo>
                  <a:pt x="2739859" y="1467278"/>
                </a:lnTo>
                <a:lnTo>
                  <a:pt x="2737981" y="1491143"/>
                </a:lnTo>
                <a:lnTo>
                  <a:pt x="2735686" y="1514971"/>
                </a:lnTo>
                <a:lnTo>
                  <a:pt x="2732976" y="1538756"/>
                </a:lnTo>
                <a:lnTo>
                  <a:pt x="2729852" y="1562490"/>
                </a:lnTo>
                <a:lnTo>
                  <a:pt x="2726313" y="1586166"/>
                </a:lnTo>
                <a:lnTo>
                  <a:pt x="2722362" y="1609776"/>
                </a:lnTo>
                <a:lnTo>
                  <a:pt x="2718000" y="1633314"/>
                </a:lnTo>
                <a:lnTo>
                  <a:pt x="2713227" y="1656772"/>
                </a:lnTo>
                <a:lnTo>
                  <a:pt x="2708046" y="1680143"/>
                </a:lnTo>
                <a:lnTo>
                  <a:pt x="2702458" y="1703420"/>
                </a:lnTo>
                <a:lnTo>
                  <a:pt x="2696464" y="1726596"/>
                </a:lnTo>
                <a:lnTo>
                  <a:pt x="2690067" y="1749664"/>
                </a:lnTo>
                <a:lnTo>
                  <a:pt x="2683268" y="1772617"/>
                </a:lnTo>
                <a:lnTo>
                  <a:pt x="2676069" y="1795448"/>
                </a:lnTo>
                <a:lnTo>
                  <a:pt x="2668473" y="1818149"/>
                </a:lnTo>
                <a:lnTo>
                  <a:pt x="2660482" y="1840715"/>
                </a:lnTo>
                <a:lnTo>
                  <a:pt x="2652099" y="1863137"/>
                </a:lnTo>
                <a:lnTo>
                  <a:pt x="2643325" y="1885410"/>
                </a:lnTo>
                <a:lnTo>
                  <a:pt x="2634164" y="1907527"/>
                </a:lnTo>
                <a:lnTo>
                  <a:pt x="2624619" y="1929480"/>
                </a:lnTo>
                <a:lnTo>
                  <a:pt x="2614692" y="1951263"/>
                </a:lnTo>
                <a:lnTo>
                  <a:pt x="2604386" y="1972870"/>
                </a:lnTo>
                <a:lnTo>
                  <a:pt x="2593705" y="1994293"/>
                </a:lnTo>
                <a:lnTo>
                  <a:pt x="2582651" y="2015527"/>
                </a:lnTo>
                <a:lnTo>
                  <a:pt x="2571228" y="2036565"/>
                </a:lnTo>
                <a:lnTo>
                  <a:pt x="2559440" y="2057400"/>
                </a:lnTo>
                <a:lnTo>
                  <a:pt x="2547291" y="2078026"/>
                </a:lnTo>
                <a:lnTo>
                  <a:pt x="2534783" y="2098437"/>
                </a:lnTo>
                <a:lnTo>
                  <a:pt x="2521921" y="2118627"/>
                </a:lnTo>
                <a:lnTo>
                  <a:pt x="2508708" y="2138589"/>
                </a:lnTo>
                <a:lnTo>
                  <a:pt x="2495149" y="2158317"/>
                </a:lnTo>
                <a:lnTo>
                  <a:pt x="2481248" y="2177806"/>
                </a:lnTo>
                <a:lnTo>
                  <a:pt x="2467008" y="2197049"/>
                </a:lnTo>
                <a:lnTo>
                  <a:pt x="2452436" y="2216041"/>
                </a:lnTo>
                <a:lnTo>
                  <a:pt x="2437533" y="2234776"/>
                </a:ln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lnTo>
                  <a:pt x="2452436" y="527159"/>
                </a:lnTo>
                <a:lnTo>
                  <a:pt x="2467008" y="546151"/>
                </a:lnTo>
                <a:lnTo>
                  <a:pt x="2481248" y="565394"/>
                </a:lnTo>
                <a:lnTo>
                  <a:pt x="2495149" y="584883"/>
                </a:lnTo>
                <a:lnTo>
                  <a:pt x="2508708" y="604611"/>
                </a:lnTo>
                <a:lnTo>
                  <a:pt x="2521921" y="624573"/>
                </a:lnTo>
                <a:lnTo>
                  <a:pt x="2534783" y="644763"/>
                </a:lnTo>
                <a:lnTo>
                  <a:pt x="2547291" y="665174"/>
                </a:lnTo>
                <a:lnTo>
                  <a:pt x="2559440" y="685800"/>
                </a:lnTo>
                <a:lnTo>
                  <a:pt x="2571228" y="706635"/>
                </a:lnTo>
                <a:lnTo>
                  <a:pt x="2582651" y="727673"/>
                </a:lnTo>
                <a:lnTo>
                  <a:pt x="2593705" y="748907"/>
                </a:lnTo>
                <a:lnTo>
                  <a:pt x="2604386" y="770330"/>
                </a:lnTo>
                <a:lnTo>
                  <a:pt x="2614692" y="791937"/>
                </a:lnTo>
                <a:lnTo>
                  <a:pt x="2624619" y="813720"/>
                </a:lnTo>
                <a:lnTo>
                  <a:pt x="2634164" y="835673"/>
                </a:lnTo>
                <a:lnTo>
                  <a:pt x="2643325" y="857790"/>
                </a:lnTo>
                <a:lnTo>
                  <a:pt x="2652099" y="880063"/>
                </a:lnTo>
                <a:lnTo>
                  <a:pt x="2660482" y="902485"/>
                </a:lnTo>
                <a:lnTo>
                  <a:pt x="2668473" y="925051"/>
                </a:lnTo>
                <a:lnTo>
                  <a:pt x="2676069" y="947752"/>
                </a:lnTo>
                <a:lnTo>
                  <a:pt x="2683268" y="970583"/>
                </a:lnTo>
                <a:lnTo>
                  <a:pt x="2690067" y="993536"/>
                </a:lnTo>
                <a:lnTo>
                  <a:pt x="2696464" y="1016604"/>
                </a:lnTo>
                <a:lnTo>
                  <a:pt x="2702458" y="1039780"/>
                </a:lnTo>
                <a:lnTo>
                  <a:pt x="2708046" y="1063057"/>
                </a:lnTo>
                <a:lnTo>
                  <a:pt x="2713227" y="1086428"/>
                </a:lnTo>
                <a:lnTo>
                  <a:pt x="2718000" y="1109886"/>
                </a:lnTo>
                <a:lnTo>
                  <a:pt x="2722362" y="1133424"/>
                </a:lnTo>
                <a:lnTo>
                  <a:pt x="2726313" y="1157034"/>
                </a:lnTo>
                <a:lnTo>
                  <a:pt x="2729852" y="1180710"/>
                </a:lnTo>
                <a:lnTo>
                  <a:pt x="2732976" y="1204444"/>
                </a:lnTo>
                <a:lnTo>
                  <a:pt x="2735686" y="1228229"/>
                </a:lnTo>
                <a:lnTo>
                  <a:pt x="2737981" y="1252057"/>
                </a:lnTo>
                <a:lnTo>
                  <a:pt x="2739859" y="1275922"/>
                </a:lnTo>
                <a:lnTo>
                  <a:pt x="2741320" y="1299816"/>
                </a:lnTo>
                <a:lnTo>
                  <a:pt x="2742364" y="1323732"/>
                </a:lnTo>
                <a:lnTo>
                  <a:pt x="2742991" y="1347662"/>
                </a:lnTo>
                <a:lnTo>
                  <a:pt x="2743200" y="1371600"/>
                </a:lnTo>
              </a:path>
            </a:pathLst>
          </a:custGeom>
          <a:noFill xmlns:a="http://schemas.openxmlformats.org/drawingml/2006/main"/>
          <a:ln xmlns:a="http://schemas.openxmlformats.org/drawingml/2006/main" w="11430">
            <a:solidFill>
              <a:srgbClr val="FAFAFA"/>
            </a:solidFill>
            <a:prstDash val="solid"/>
          </a:ln>
        </p:spPr>
      </p:sp>
      <p:sp>
        <p:nvSpPr>
          <p:cNvPr id="5" name="">
            <a:extLst xmlns:a="http://schemas.openxmlformats.org/drawingml/2006/main">
              <a:ext uri="{FF2B5EF4-FFF2-40B4-BE49-F238E27FC236}">
                <a16:creationId xmlns:a16="http://schemas.microsoft.com/office/drawing/2014/main" id="{6AE29B02-848E-4C27-9A11-0D02AF98E629}"/>
              </a:ext>
            </a:extLst>
          </p:cNvPr>
          <p:cNvSpPr>
            <a:spLocks xmlns:a="http://schemas.openxmlformats.org/drawingml/2006/main" noGrp="1"/>
          </p:cNvSpPr>
          <p:nvPr/>
        </p:nvSpPr>
        <p:spPr>
          <a:xfrm xmlns:a="http://schemas.openxmlformats.org/drawingml/2006/main">
            <a:off x="6286500" y="2057400"/>
            <a:ext cx="2743200" cy="2743200"/>
          </a:xfrm>
          <a:custGeom xmlns:a="http://schemas.openxmlformats.org/drawingml/2006/main">
            <a:pathLst>
              <a:path w="2743200" h="2743200">
                <a:moveTo>
                  <a:pt x="2743200" y="1371600"/>
                </a:moveTo>
                <a:lnTo>
                  <a:pt x="2742991" y="1395538"/>
                </a:lnTo>
                <a:lnTo>
                  <a:pt x="2742364" y="1419468"/>
                </a:lnTo>
                <a:lnTo>
                  <a:pt x="2741320" y="1443384"/>
                </a:lnTo>
                <a:lnTo>
                  <a:pt x="2739859" y="1467278"/>
                </a:lnTo>
                <a:lnTo>
                  <a:pt x="2737981" y="1491143"/>
                </a:lnTo>
                <a:lnTo>
                  <a:pt x="2735686" y="1514971"/>
                </a:lnTo>
                <a:lnTo>
                  <a:pt x="2732976" y="1538756"/>
                </a:lnTo>
                <a:lnTo>
                  <a:pt x="2729852" y="1562490"/>
                </a:lnTo>
                <a:lnTo>
                  <a:pt x="2726313" y="1586166"/>
                </a:lnTo>
                <a:lnTo>
                  <a:pt x="2722362" y="1609776"/>
                </a:lnTo>
                <a:lnTo>
                  <a:pt x="2718000" y="1633314"/>
                </a:lnTo>
                <a:lnTo>
                  <a:pt x="2713227" y="1656772"/>
                </a:lnTo>
                <a:lnTo>
                  <a:pt x="2708046" y="1680143"/>
                </a:lnTo>
                <a:lnTo>
                  <a:pt x="2702458" y="1703420"/>
                </a:lnTo>
                <a:lnTo>
                  <a:pt x="2696464" y="1726596"/>
                </a:lnTo>
                <a:lnTo>
                  <a:pt x="2690067" y="1749664"/>
                </a:lnTo>
                <a:lnTo>
                  <a:pt x="2683268" y="1772617"/>
                </a:lnTo>
                <a:lnTo>
                  <a:pt x="2676069" y="1795448"/>
                </a:lnTo>
                <a:lnTo>
                  <a:pt x="2668473" y="1818149"/>
                </a:lnTo>
                <a:lnTo>
                  <a:pt x="2660482" y="1840715"/>
                </a:lnTo>
                <a:lnTo>
                  <a:pt x="2652099" y="1863137"/>
                </a:lnTo>
                <a:lnTo>
                  <a:pt x="2643325" y="1885410"/>
                </a:lnTo>
                <a:lnTo>
                  <a:pt x="2634164" y="1907527"/>
                </a:lnTo>
                <a:lnTo>
                  <a:pt x="2624619" y="1929480"/>
                </a:lnTo>
                <a:lnTo>
                  <a:pt x="2614692" y="1951263"/>
                </a:lnTo>
                <a:lnTo>
                  <a:pt x="2604386" y="1972870"/>
                </a:lnTo>
                <a:lnTo>
                  <a:pt x="2593705" y="1994293"/>
                </a:lnTo>
                <a:lnTo>
                  <a:pt x="2582651" y="2015527"/>
                </a:lnTo>
                <a:lnTo>
                  <a:pt x="2571228" y="2036565"/>
                </a:lnTo>
                <a:lnTo>
                  <a:pt x="2559440" y="2057400"/>
                </a:lnTo>
                <a:lnTo>
                  <a:pt x="2547291" y="2078026"/>
                </a:lnTo>
                <a:lnTo>
                  <a:pt x="2534783" y="2098437"/>
                </a:lnTo>
                <a:lnTo>
                  <a:pt x="2521921" y="2118627"/>
                </a:lnTo>
                <a:lnTo>
                  <a:pt x="2508708" y="2138589"/>
                </a:lnTo>
                <a:lnTo>
                  <a:pt x="2495149" y="2158317"/>
                </a:lnTo>
                <a:lnTo>
                  <a:pt x="2481248" y="2177806"/>
                </a:lnTo>
                <a:lnTo>
                  <a:pt x="2467008" y="2197049"/>
                </a:lnTo>
                <a:lnTo>
                  <a:pt x="2452436" y="2216041"/>
                </a:lnTo>
                <a:lnTo>
                  <a:pt x="2437533" y="2234776"/>
                </a:ln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lnTo>
                  <a:pt x="2452436" y="527159"/>
                </a:lnTo>
                <a:lnTo>
                  <a:pt x="2467008" y="546151"/>
                </a:lnTo>
                <a:lnTo>
                  <a:pt x="2481248" y="565394"/>
                </a:lnTo>
                <a:lnTo>
                  <a:pt x="2495149" y="584883"/>
                </a:lnTo>
                <a:lnTo>
                  <a:pt x="2508708" y="604611"/>
                </a:lnTo>
                <a:lnTo>
                  <a:pt x="2521921" y="624573"/>
                </a:lnTo>
                <a:lnTo>
                  <a:pt x="2534783" y="644763"/>
                </a:lnTo>
                <a:lnTo>
                  <a:pt x="2547291" y="665174"/>
                </a:lnTo>
                <a:lnTo>
                  <a:pt x="2559440" y="685800"/>
                </a:lnTo>
                <a:lnTo>
                  <a:pt x="2571228" y="706635"/>
                </a:lnTo>
                <a:lnTo>
                  <a:pt x="2582651" y="727673"/>
                </a:lnTo>
                <a:lnTo>
                  <a:pt x="2593705" y="748907"/>
                </a:lnTo>
                <a:lnTo>
                  <a:pt x="2604386" y="770330"/>
                </a:lnTo>
                <a:lnTo>
                  <a:pt x="2614692" y="791937"/>
                </a:lnTo>
                <a:lnTo>
                  <a:pt x="2624619" y="813720"/>
                </a:lnTo>
                <a:lnTo>
                  <a:pt x="2634164" y="835673"/>
                </a:lnTo>
                <a:lnTo>
                  <a:pt x="2643325" y="857790"/>
                </a:lnTo>
                <a:lnTo>
                  <a:pt x="2652099" y="880063"/>
                </a:lnTo>
                <a:lnTo>
                  <a:pt x="2660482" y="902485"/>
                </a:lnTo>
                <a:lnTo>
                  <a:pt x="2668473" y="925051"/>
                </a:lnTo>
                <a:lnTo>
                  <a:pt x="2676069" y="947752"/>
                </a:lnTo>
                <a:lnTo>
                  <a:pt x="2683268" y="970583"/>
                </a:lnTo>
                <a:lnTo>
                  <a:pt x="2690067" y="993536"/>
                </a:lnTo>
                <a:lnTo>
                  <a:pt x="2696464" y="1016604"/>
                </a:lnTo>
                <a:lnTo>
                  <a:pt x="2702458" y="1039780"/>
                </a:lnTo>
                <a:lnTo>
                  <a:pt x="2708046" y="1063057"/>
                </a:lnTo>
                <a:lnTo>
                  <a:pt x="2713227" y="1086428"/>
                </a:lnTo>
                <a:lnTo>
                  <a:pt x="2718000" y="1109886"/>
                </a:lnTo>
                <a:lnTo>
                  <a:pt x="2722362" y="1133424"/>
                </a:lnTo>
                <a:lnTo>
                  <a:pt x="2726313" y="1157034"/>
                </a:lnTo>
                <a:lnTo>
                  <a:pt x="2729852" y="1180710"/>
                </a:lnTo>
                <a:lnTo>
                  <a:pt x="2732976" y="1204444"/>
                </a:lnTo>
                <a:lnTo>
                  <a:pt x="2735686" y="1228229"/>
                </a:lnTo>
                <a:lnTo>
                  <a:pt x="2737981" y="1252057"/>
                </a:lnTo>
                <a:lnTo>
                  <a:pt x="2739859" y="1275922"/>
                </a:lnTo>
                <a:lnTo>
                  <a:pt x="2741320" y="1299816"/>
                </a:lnTo>
                <a:lnTo>
                  <a:pt x="2742364" y="1323732"/>
                </a:lnTo>
                <a:lnTo>
                  <a:pt x="2742991" y="1347662"/>
                </a:lnTo>
                <a:lnTo>
                  <a:pt x="2743200" y="1371600"/>
                </a:lnTo>
              </a:path>
            </a:pathLst>
          </a:custGeom>
          <a:noFill xmlns:a="http://schemas.openxmlformats.org/drawingml/2006/main"/>
          <a:ln xmlns:a="http://schemas.openxmlformats.org/drawingml/2006/main" w="9525">
            <a:solidFill>
              <a:srgbClr val="FAFAFA">
                <a:alpha val="48000"/>
              </a:srgbClr>
            </a:solidFill>
            <a:prstDash val="solid"/>
          </a:ln>
        </p:spPr>
      </p:sp>
      <p:sp>
        <p:nvSpPr>
          <p:cNvPr id="6" name="">
            <a:extLst xmlns:a="http://schemas.openxmlformats.org/drawingml/2006/main">
              <a:ext uri="{FF2B5EF4-FFF2-40B4-BE49-F238E27FC236}">
                <a16:creationId xmlns:a16="http://schemas.microsoft.com/office/drawing/2014/main" id="{8C8117B4-AB9F-4DF2-A808-0D0ECB3589C9}"/>
              </a:ext>
            </a:extLst>
          </p:cNvPr>
          <p:cNvSpPr>
            <a:spLocks xmlns:a="http://schemas.openxmlformats.org/drawingml/2006/main" noGrp="1"/>
          </p:cNvSpPr>
          <p:nvPr/>
        </p:nvSpPr>
        <p:spPr>
          <a:xfrm xmlns:a="http://schemas.openxmlformats.org/drawingml/2006/main">
            <a:off x="9734550" y="2057400"/>
            <a:ext cx="2437533" cy="2743200"/>
          </a:xfrm>
          <a:custGeom xmlns:a="http://schemas.openxmlformats.org/drawingml/2006/main">
            <a:pathLst>
              <a:path w="2437533" h="2743200">
                <a:moveTo>
                  <a:pt x="2437533" y="2234776"/>
                </a:move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path>
            </a:pathLst>
          </a:custGeom>
          <a:noFill xmlns:a="http://schemas.openxmlformats.org/drawingml/2006/main"/>
          <a:ln xmlns:a="http://schemas.openxmlformats.org/drawingml/2006/main" w="9525">
            <a:solidFill>
              <a:srgbClr val="FAFAFA">
                <a:alpha val="35000"/>
              </a:srgbClr>
            </a:solidFill>
            <a:prstDash val="solid"/>
          </a:ln>
        </p:spPr>
      </p:sp>
      <p:sp>
        <p:nvSpPr>
          <p:cNvPr id="7" name="">
            <a:extLst xmlns:a="http://schemas.openxmlformats.org/drawingml/2006/main">
              <a:ext uri="{FF2B5EF4-FFF2-40B4-BE49-F238E27FC236}">
                <a16:creationId xmlns:a16="http://schemas.microsoft.com/office/drawing/2014/main" id="{C161244D-5307-41DB-B2E7-DCBBA7222382}"/>
              </a:ext>
            </a:extLst>
          </p:cNvPr>
          <p:cNvSpPr>
            <a:spLocks xmlns:a="http://schemas.openxmlformats.org/drawingml/2006/main" noGrp="1"/>
          </p:cNvSpPr>
          <p:nvPr/>
        </p:nvSpPr>
        <p:spPr>
          <a:xfrm xmlns:a="http://schemas.openxmlformats.org/drawingml/2006/main">
            <a:off x="4977039" y="2291892"/>
            <a:ext cx="537480" cy="713260"/>
          </a:xfrm>
          <a:custGeom xmlns:a="http://schemas.openxmlformats.org/drawingml/2006/main">
            <a:pathLst>
              <a:path w="537480" h="713260">
                <a:moveTo>
                  <a:pt x="0" y="0"/>
                </a:moveTo>
                <a:lnTo>
                  <a:pt x="19728" y="13559"/>
                </a:lnTo>
                <a:lnTo>
                  <a:pt x="39217" y="27460"/>
                </a:lnTo>
                <a:lnTo>
                  <a:pt x="58460" y="41699"/>
                </a:lnTo>
                <a:lnTo>
                  <a:pt x="77452" y="56272"/>
                </a:lnTo>
                <a:lnTo>
                  <a:pt x="96187" y="71175"/>
                </a:lnTo>
                <a:lnTo>
                  <a:pt x="114658" y="86401"/>
                </a:lnTo>
                <a:lnTo>
                  <a:pt x="132862" y="101948"/>
                </a:lnTo>
                <a:lnTo>
                  <a:pt x="150791" y="117810"/>
                </a:lnTo>
                <a:lnTo>
                  <a:pt x="168440" y="133983"/>
                </a:lnTo>
                <a:lnTo>
                  <a:pt x="185804" y="150461"/>
                </a:lnTo>
                <a:lnTo>
                  <a:pt x="202879" y="167240"/>
                </a:lnTo>
                <a:lnTo>
                  <a:pt x="219657" y="184315"/>
                </a:lnTo>
                <a:lnTo>
                  <a:pt x="236136" y="201679"/>
                </a:lnTo>
                <a:lnTo>
                  <a:pt x="252308" y="219328"/>
                </a:lnTo>
                <a:lnTo>
                  <a:pt x="268171" y="237257"/>
                </a:lnTo>
                <a:lnTo>
                  <a:pt x="283718" y="255460"/>
                </a:lnTo>
                <a:lnTo>
                  <a:pt x="298944" y="273932"/>
                </a:lnTo>
                <a:lnTo>
                  <a:pt x="313847" y="292667"/>
                </a:lnTo>
                <a:lnTo>
                  <a:pt x="328419" y="311658"/>
                </a:lnTo>
                <a:lnTo>
                  <a:pt x="342659" y="330902"/>
                </a:lnTo>
                <a:lnTo>
                  <a:pt x="356560" y="350390"/>
                </a:lnTo>
                <a:lnTo>
                  <a:pt x="370119" y="370119"/>
                </a:lnTo>
                <a:lnTo>
                  <a:pt x="383332" y="390081"/>
                </a:lnTo>
                <a:lnTo>
                  <a:pt x="396194" y="410271"/>
                </a:lnTo>
                <a:lnTo>
                  <a:pt x="408702" y="430682"/>
                </a:lnTo>
                <a:lnTo>
                  <a:pt x="420851" y="451308"/>
                </a:lnTo>
                <a:lnTo>
                  <a:pt x="432639" y="472143"/>
                </a:lnTo>
                <a:lnTo>
                  <a:pt x="444062" y="493181"/>
                </a:lnTo>
                <a:lnTo>
                  <a:pt x="455116" y="514415"/>
                </a:lnTo>
                <a:lnTo>
                  <a:pt x="465797" y="535838"/>
                </a:lnTo>
                <a:lnTo>
                  <a:pt x="476103" y="557445"/>
                </a:lnTo>
                <a:lnTo>
                  <a:pt x="486030" y="579228"/>
                </a:lnTo>
                <a:lnTo>
                  <a:pt x="495575" y="601181"/>
                </a:lnTo>
                <a:lnTo>
                  <a:pt x="504736" y="623298"/>
                </a:lnTo>
                <a:lnTo>
                  <a:pt x="513510" y="645570"/>
                </a:lnTo>
                <a:lnTo>
                  <a:pt x="521893" y="667993"/>
                </a:lnTo>
                <a:lnTo>
                  <a:pt x="529884" y="690559"/>
                </a:lnTo>
                <a:lnTo>
                  <a:pt x="537480" y="713260"/>
                </a:lnTo>
              </a:path>
            </a:pathLst>
          </a:custGeom>
          <a:noFill xmlns:a="http://schemas.openxmlformats.org/drawingml/2006/main"/>
          <a:ln xmlns:a="http://schemas.openxmlformats.org/drawingml/2006/main" w="20955">
            <a:solidFill>
              <a:srgbClr val="22C55E"/>
            </a:solidFill>
            <a:prstDash val="solid"/>
          </a:ln>
        </p:spPr>
      </p:sp>
      <p:sp>
        <p:nvSpPr>
          <p:cNvPr id="8" name="">
            <a:extLst xmlns:a="http://schemas.openxmlformats.org/drawingml/2006/main">
              <a:ext uri="{FF2B5EF4-FFF2-40B4-BE49-F238E27FC236}">
                <a16:creationId xmlns:a16="http://schemas.microsoft.com/office/drawing/2014/main" id="{CABF2CE8-EF8E-4F69-AA28-C2C9571387D0}"/>
              </a:ext>
            </a:extLst>
          </p:cNvPr>
          <p:cNvSpPr>
            <a:spLocks xmlns:a="http://schemas.openxmlformats.org/drawingml/2006/main" noGrp="1"/>
          </p:cNvSpPr>
          <p:nvPr/>
        </p:nvSpPr>
        <p:spPr>
          <a:xfrm xmlns:a="http://schemas.openxmlformats.org/drawingml/2006/main" rot="0">
            <a:off x="3162300" y="3270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FAFAFA"/>
                </a:solidFill>
                <a:latin typeface="DM Sans"/>
                <a:ea typeface="DM Sans"/>
                <a:cs typeface="DM Sans"/>
              </a:defRPr>
            </a:defPPr>
            <a:lvl1pPr algn="ctr">
              <a:defRPr sz="1950" b="0">
                <a:solidFill>
                  <a:srgbClr val="FAFAFA"/>
                </a:solidFill>
                <a:latin typeface="DM Sans"/>
                <a:ea typeface="DM Sans"/>
                <a:cs typeface="DM Sans"/>
              </a:defRPr>
            </a:lvl1pPr>
            <a:lvl2pPr algn="ctr">
              <a:defRPr sz="1950" b="0">
                <a:solidFill>
                  <a:srgbClr val="FAFAFA"/>
                </a:solidFill>
                <a:latin typeface="DM Sans"/>
                <a:ea typeface="DM Sans"/>
                <a:cs typeface="DM Sans"/>
              </a:defRPr>
            </a:lvl2pPr>
            <a:lvl3pPr algn="ctr">
              <a:defRPr sz="1950" b="0">
                <a:solidFill>
                  <a:srgbClr val="FAFAFA"/>
                </a:solidFill>
                <a:latin typeface="DM Sans"/>
                <a:ea typeface="DM Sans"/>
                <a:cs typeface="DM Sans"/>
              </a:defRPr>
            </a:lvl3pPr>
            <a:lvl4pPr algn="ctr">
              <a:defRPr sz="1950" b="0">
                <a:solidFill>
                  <a:srgbClr val="FAFAFA"/>
                </a:solidFill>
                <a:latin typeface="DM Sans"/>
                <a:ea typeface="DM Sans"/>
                <a:cs typeface="DM Sans"/>
              </a:defRPr>
            </a:lvl4pPr>
            <a:lvl5pPr algn="ctr">
              <a:defRPr sz="1950" b="0">
                <a:solidFill>
                  <a:srgbClr val="FAFAFA"/>
                </a:solidFill>
                <a:latin typeface="DM Sans"/>
                <a:ea typeface="DM Sans"/>
                <a:cs typeface="DM Sans"/>
              </a:defRPr>
            </a:lvl5pPr>
            <a:lvl6pPr algn="ctr">
              <a:defRPr sz="1950" b="0">
                <a:solidFill>
                  <a:srgbClr val="FAFAFA"/>
                </a:solidFill>
                <a:latin typeface="DM Sans"/>
                <a:ea typeface="DM Sans"/>
                <a:cs typeface="DM Sans"/>
              </a:defRPr>
            </a:lvl6pPr>
            <a:lvl7pPr algn="ctr">
              <a:defRPr sz="1950" b="0">
                <a:solidFill>
                  <a:srgbClr val="FAFAFA"/>
                </a:solidFill>
                <a:latin typeface="DM Sans"/>
                <a:ea typeface="DM Sans"/>
                <a:cs typeface="DM Sans"/>
              </a:defRPr>
            </a:lvl7pPr>
            <a:lvl8pPr algn="ctr">
              <a:defRPr sz="1950" b="0">
                <a:solidFill>
                  <a:srgbClr val="FAFAFA"/>
                </a:solidFill>
                <a:latin typeface="DM Sans"/>
                <a:ea typeface="DM Sans"/>
                <a:cs typeface="DM Sans"/>
              </a:defRPr>
            </a:lvl8pPr>
            <a:lvl9pPr algn="ctr">
              <a:defRPr sz="1950" b="0">
                <a:solidFill>
                  <a:srgbClr val="FAFAFA"/>
                </a:solidFill>
                <a:latin typeface="DM Sans"/>
                <a:ea typeface="DM Sans"/>
                <a:cs typeface="DM Sans"/>
              </a:defRPr>
            </a:lvl9pPr>
          </a:lstStyle>
          <a:p xmlns:a="http://schemas.openxmlformats.org/drawingml/2006/main">
            <a:pPr algn="ctr">
              <a:defRPr sz="1950" b="0">
                <a:solidFill>
                  <a:srgbClr val="FAFAFA"/>
                </a:solidFill>
                <a:latin typeface="DM Sans"/>
                <a:ea typeface="DM Sans"/>
                <a:cs typeface="DM Sans"/>
              </a:defRPr>
            </a:pPr>
            <a:r>
              <a:rPr sz="1950" b="0">
                <a:solidFill>
                  <a:srgbClr val="FAFAFA"/>
                </a:solidFill>
                <a:latin typeface="DM Sans"/>
                <a:ea typeface="DM Sans"/>
                <a:cs typeface="DM Sans"/>
              </a:rPr>
              <a:t>Orecast</a:t>
            </a:r>
          </a:p>
        </p:txBody>
      </p:sp>
      <p:sp>
        <p:nvSpPr>
          <p:cNvPr id="9" name="">
            <a:extLst xmlns:a="http://schemas.openxmlformats.org/drawingml/2006/main">
              <a:ext uri="{FF2B5EF4-FFF2-40B4-BE49-F238E27FC236}">
                <a16:creationId xmlns:a16="http://schemas.microsoft.com/office/drawing/2014/main" id="{660447E8-5A34-4449-8959-659A7AC82EFB}"/>
              </a:ext>
            </a:extLst>
          </p:cNvPr>
          <p:cNvSpPr>
            <a:spLocks xmlns:a="http://schemas.openxmlformats.org/drawingml/2006/main" noGrp="1"/>
          </p:cNvSpPr>
          <p:nvPr/>
        </p:nvSpPr>
        <p:spPr>
          <a:xfrm xmlns:a="http://schemas.openxmlformats.org/drawingml/2006/main" rot="0">
            <a:off x="8705850" y="62769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Local prototype</a:t>
            </a:r>
          </a:p>
        </p:txBody>
      </p:sp>
      <p:sp>
        <p:nvSpPr>
          <p:cNvPr id="15" name="">
            <a:extLst xmlns:a="http://schemas.openxmlformats.org/drawingml/2006/main">
              <a:ext uri="{FF2B5EF4-FFF2-40B4-BE49-F238E27FC236}">
                <a16:creationId xmlns:a16="http://schemas.microsoft.com/office/drawing/2014/main" id="{6A1F3C2E-7B4D-4E8A-9C21-5D0B7E3F9A15}"/>
              </a:ext>
            </a:extLst>
          </p:cNvPr>
          <p:cNvSpPr>
            <a:spLocks xmlns:a="http://schemas.openxmlformats.org/drawingml/2006/main" noGrp="1"/>
          </p:cNvSpPr>
          <p:nvPr/>
        </p:nvSpPr>
        <p:spPr>
          <a:xfrm xmlns:a="http://schemas.openxmlformats.org/drawingml/2006/main" rot="0">
            <a:off x="400050" y="6276975"/>
            <a:ext cx="780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Team: Amit (evidence and app) · Salman (decision model) · Muhd (stakeholder simulations) · Arjin (land and claims)</a:t>
            </a:r>
          </a:p>
        </p:txBody>
      </p:sp>
      <p:sp>
        <p:nvSpPr>
          <p:cNvPr id="10" name="">
            <a:extLst xmlns:a="http://schemas.openxmlformats.org/drawingml/2006/main">
              <a:ext uri="{FF2B5EF4-FFF2-40B4-BE49-F238E27FC236}">
                <a16:creationId xmlns:a16="http://schemas.microsoft.com/office/drawing/2014/main" id="{9919B66A-EAB5-464A-830C-275824805816}"/>
              </a:ext>
            </a:extLst>
          </p:cNvPr>
          <p:cNvSpPr>
            <a:spLocks xmlns:a="http://schemas.openxmlformats.org/drawingml/2006/main" noGrp="1"/>
          </p:cNvSpPr>
          <p:nvPr/>
        </p:nvSpPr>
        <p:spPr>
          <a:xfrm xmlns:a="http://schemas.openxmlformats.org/drawingml/2006/main">
            <a:off x="10668000" y="6334125"/>
            <a:ext cx="285750" cy="95"/>
          </a:xfrm>
          <a:custGeom xmlns:a="http://schemas.openxmlformats.org/drawingml/2006/main">
            <a:pathLst>
              <a:path w="285750" h="95">
                <a:moveTo>
                  <a:pt x="0" y="0"/>
                </a:moveTo>
                <a:lnTo>
                  <a:pt x="285750" y="0"/>
                </a:lnTo>
              </a:path>
            </a:pathLst>
          </a:custGeom>
          <a:noFill xmlns:a="http://schemas.openxmlformats.org/drawingml/2006/main"/>
          <a:ln xmlns:a="http://schemas.openxmlformats.org/drawingml/2006/main" w="7144">
            <a:solidFill>
              <a:srgbClr val="FAFAFA"/>
            </a:solidFill>
            <a:prstDash val="solid"/>
          </a:ln>
        </p:spPr>
      </p:sp>
      <p:sp>
        <p:nvSpPr>
          <p:cNvPr id="11" name="">
            <a:extLst xmlns:a="http://schemas.openxmlformats.org/drawingml/2006/main">
              <a:ext uri="{FF2B5EF4-FFF2-40B4-BE49-F238E27FC236}">
                <a16:creationId xmlns:a16="http://schemas.microsoft.com/office/drawing/2014/main" id="{E919554A-672C-4A19-98C3-325CDFF35913}"/>
              </a:ext>
            </a:extLst>
          </p:cNvPr>
          <p:cNvSpPr>
            <a:spLocks xmlns:a="http://schemas.openxmlformats.org/drawingml/2006/main" noGrp="1"/>
          </p:cNvSpPr>
          <p:nvPr/>
        </p:nvSpPr>
        <p:spPr>
          <a:xfrm xmlns:a="http://schemas.openxmlformats.org/drawingml/2006/main">
            <a:off x="10915650" y="6305550"/>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12" name="">
            <a:extLst xmlns:a="http://schemas.openxmlformats.org/drawingml/2006/main">
              <a:ext uri="{FF2B5EF4-FFF2-40B4-BE49-F238E27FC236}">
                <a16:creationId xmlns:a16="http://schemas.microsoft.com/office/drawing/2014/main" id="{1E192BA0-6663-4F4F-857B-F1A36DB688F5}"/>
              </a:ext>
            </a:extLst>
          </p:cNvPr>
          <p:cNvSpPr>
            <a:spLocks xmlns:a="http://schemas.openxmlformats.org/drawingml/2006/main" noGrp="1"/>
          </p:cNvSpPr>
          <p:nvPr/>
        </p:nvSpPr>
        <p:spPr>
          <a:xfrm xmlns:a="http://schemas.openxmlformats.org/drawingml/2006/main">
            <a:off x="10915650" y="6334125"/>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13" name="">
            <a:extLst xmlns:a="http://schemas.openxmlformats.org/drawingml/2006/main">
              <a:ext uri="{FF2B5EF4-FFF2-40B4-BE49-F238E27FC236}">
                <a16:creationId xmlns:a16="http://schemas.microsoft.com/office/drawing/2014/main" id="{35AC5A9A-01C6-4006-8794-9F13D7D7B825}"/>
              </a:ext>
            </a:extLst>
          </p:cNvPr>
          <p:cNvSpPr>
            <a:spLocks xmlns:a="http://schemas.openxmlformats.org/drawingml/2006/main" noGrp="1"/>
          </p:cNvSpPr>
          <p:nvPr/>
        </p:nvSpPr>
        <p:spPr>
          <a:xfrm xmlns:a="http://schemas.openxmlformats.org/drawingml/2006/main" rot="0">
            <a:off x="11163300" y="627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FAFAFA"/>
                </a:solidFill>
                <a:latin typeface="DM Sans"/>
                <a:ea typeface="DM Sans"/>
                <a:cs typeface="DM Sans"/>
              </a:defRPr>
            </a:defPPr>
            <a:lvl1pPr algn="l">
              <a:defRPr sz="675" b="0">
                <a:solidFill>
                  <a:srgbClr val="FAFAFA"/>
                </a:solidFill>
                <a:latin typeface="DM Sans"/>
                <a:ea typeface="DM Sans"/>
                <a:cs typeface="DM Sans"/>
              </a:defRPr>
            </a:lvl1pPr>
            <a:lvl2pPr algn="l">
              <a:defRPr sz="675" b="0">
                <a:solidFill>
                  <a:srgbClr val="FAFAFA"/>
                </a:solidFill>
                <a:latin typeface="DM Sans"/>
                <a:ea typeface="DM Sans"/>
                <a:cs typeface="DM Sans"/>
              </a:defRPr>
            </a:lvl2pPr>
            <a:lvl3pPr algn="l">
              <a:defRPr sz="675" b="0">
                <a:solidFill>
                  <a:srgbClr val="FAFAFA"/>
                </a:solidFill>
                <a:latin typeface="DM Sans"/>
                <a:ea typeface="DM Sans"/>
                <a:cs typeface="DM Sans"/>
              </a:defRPr>
            </a:lvl3pPr>
            <a:lvl4pPr algn="l">
              <a:defRPr sz="675" b="0">
                <a:solidFill>
                  <a:srgbClr val="FAFAFA"/>
                </a:solidFill>
                <a:latin typeface="DM Sans"/>
                <a:ea typeface="DM Sans"/>
                <a:cs typeface="DM Sans"/>
              </a:defRPr>
            </a:lvl4pPr>
            <a:lvl5pPr algn="l">
              <a:defRPr sz="675" b="0">
                <a:solidFill>
                  <a:srgbClr val="FAFAFA"/>
                </a:solidFill>
                <a:latin typeface="DM Sans"/>
                <a:ea typeface="DM Sans"/>
                <a:cs typeface="DM Sans"/>
              </a:defRPr>
            </a:lvl5pPr>
            <a:lvl6pPr algn="l">
              <a:defRPr sz="675" b="0">
                <a:solidFill>
                  <a:srgbClr val="FAFAFA"/>
                </a:solidFill>
                <a:latin typeface="DM Sans"/>
                <a:ea typeface="DM Sans"/>
                <a:cs typeface="DM Sans"/>
              </a:defRPr>
            </a:lvl6pPr>
            <a:lvl7pPr algn="l">
              <a:defRPr sz="675" b="0">
                <a:solidFill>
                  <a:srgbClr val="FAFAFA"/>
                </a:solidFill>
                <a:latin typeface="DM Sans"/>
                <a:ea typeface="DM Sans"/>
                <a:cs typeface="DM Sans"/>
              </a:defRPr>
            </a:lvl7pPr>
            <a:lvl8pPr algn="l">
              <a:defRPr sz="675" b="0">
                <a:solidFill>
                  <a:srgbClr val="FAFAFA"/>
                </a:solidFill>
                <a:latin typeface="DM Sans"/>
                <a:ea typeface="DM Sans"/>
                <a:cs typeface="DM Sans"/>
              </a:defRPr>
            </a:lvl8pPr>
            <a:lvl9pPr algn="l">
              <a:defRPr sz="675" b="0">
                <a:solidFill>
                  <a:srgbClr val="FAFAFA"/>
                </a:solidFill>
                <a:latin typeface="DM Sans"/>
                <a:ea typeface="DM Sans"/>
                <a:cs typeface="DM Sans"/>
              </a:defRPr>
            </a:lvl9pPr>
          </a:lstStyle>
          <a:p xmlns:a="http://schemas.openxmlformats.org/drawingml/2006/main">
            <a:pPr algn="l">
              <a:defRPr sz="675" b="0">
                <a:solidFill>
                  <a:srgbClr val="FAFAFA"/>
                </a:solidFill>
                <a:latin typeface="DM Sans"/>
                <a:ea typeface="DM Sans"/>
                <a:cs typeface="DM Sans"/>
              </a:defRPr>
            </a:pPr>
            <a:r>
              <a:rPr sz="675" b="0">
                <a:solidFill>
                  <a:srgbClr val="FAFAFA"/>
                </a:solidFill>
                <a:latin typeface="DM Sans"/>
                <a:ea typeface="DM Sans"/>
                <a:cs typeface="DM Sans"/>
              </a:rPr>
              <a:t>25 October 2026</a:t>
            </a:r>
          </a:p>
        </p:txBody>
      </p:sp>
    </p:spTree>
    <p:extLst>
      <p:ext uri="{BB962C8B-B14F-4D97-AF65-F5344CB8AC3E}">
        <p14:creationId xmlns:p14="http://schemas.microsoft.com/office/powerpoint/2010/main" val="1469172597"/>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7196EEDE-BC0E-406E-A6EA-C2EB3777C5EA}"/>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C88C2F4C-61F0-480B-9078-EAC18432014A}"/>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29CD5E07-B1C9-4F06-AE32-54E199C99BD2}"/>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E9C44881-E581-4D4E-BE96-F425AB690D02}"/>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34D522A9-A901-4DBC-B949-6B4892F04437}"/>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5E0D334C-FD65-47DC-92B6-B658CA30D1FC}"/>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Time and evidence</a:t>
            </a:r>
          </a:p>
        </p:txBody>
      </p:sp>
      <p:sp>
        <p:nvSpPr>
          <p:cNvPr id="7" name="">
            <a:extLst xmlns:a="http://schemas.openxmlformats.org/drawingml/2006/main">
              <a:ext uri="{FF2B5EF4-FFF2-40B4-BE49-F238E27FC236}">
                <a16:creationId xmlns:a16="http://schemas.microsoft.com/office/drawing/2014/main" id="{2FE24554-5BB8-4C85-BD69-7D4776ADB897}"/>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sp>
        <p:nvSpPr>
          <p:cNvPr id="8" name="">
            <a:extLst xmlns:a="http://schemas.openxmlformats.org/drawingml/2006/main">
              <a:ext uri="{FF2B5EF4-FFF2-40B4-BE49-F238E27FC236}">
                <a16:creationId xmlns:a16="http://schemas.microsoft.com/office/drawing/2014/main" id="{74446A3F-43C1-4B68-8EE9-BA954FCBD865}"/>
              </a:ext>
            </a:extLst>
          </p:cNvPr>
          <p:cNvSpPr>
            <a:spLocks xmlns:a="http://schemas.openxmlformats.org/drawingml/2006/main" noGrp="1"/>
          </p:cNvSpPr>
          <p:nvPr/>
        </p:nvSpPr>
        <p:spPr>
          <a:xfrm xmlns:a="http://schemas.openxmlformats.org/drawingml/2006/main" rot="0">
            <a:off x="400050" y="895350"/>
            <a:ext cx="113823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0A0A0A"/>
                </a:solidFill>
                <a:latin typeface="DM Sans"/>
                <a:ea typeface="DM Sans"/>
                <a:cs typeface="DM Sans"/>
              </a:defRPr>
            </a:defPPr>
            <a:lvl1pPr algn="l">
              <a:defRPr sz="2850" b="0">
                <a:solidFill>
                  <a:srgbClr val="0A0A0A"/>
                </a:solidFill>
                <a:latin typeface="DM Sans"/>
                <a:ea typeface="DM Sans"/>
                <a:cs typeface="DM Sans"/>
              </a:defRPr>
            </a:lvl1pPr>
            <a:lvl2pPr algn="l">
              <a:defRPr sz="2850" b="0">
                <a:solidFill>
                  <a:srgbClr val="0A0A0A"/>
                </a:solidFill>
                <a:latin typeface="DM Sans"/>
                <a:ea typeface="DM Sans"/>
                <a:cs typeface="DM Sans"/>
              </a:defRPr>
            </a:lvl2pPr>
            <a:lvl3pPr algn="l">
              <a:defRPr sz="2850" b="0">
                <a:solidFill>
                  <a:srgbClr val="0A0A0A"/>
                </a:solidFill>
                <a:latin typeface="DM Sans"/>
                <a:ea typeface="DM Sans"/>
                <a:cs typeface="DM Sans"/>
              </a:defRPr>
            </a:lvl3pPr>
            <a:lvl4pPr algn="l">
              <a:defRPr sz="2850" b="0">
                <a:solidFill>
                  <a:srgbClr val="0A0A0A"/>
                </a:solidFill>
                <a:latin typeface="DM Sans"/>
                <a:ea typeface="DM Sans"/>
                <a:cs typeface="DM Sans"/>
              </a:defRPr>
            </a:lvl4pPr>
            <a:lvl5pPr algn="l">
              <a:defRPr sz="2850" b="0">
                <a:solidFill>
                  <a:srgbClr val="0A0A0A"/>
                </a:solidFill>
                <a:latin typeface="DM Sans"/>
                <a:ea typeface="DM Sans"/>
                <a:cs typeface="DM Sans"/>
              </a:defRPr>
            </a:lvl5pPr>
            <a:lvl6pPr algn="l">
              <a:defRPr sz="2850" b="0">
                <a:solidFill>
                  <a:srgbClr val="0A0A0A"/>
                </a:solidFill>
                <a:latin typeface="DM Sans"/>
                <a:ea typeface="DM Sans"/>
                <a:cs typeface="DM Sans"/>
              </a:defRPr>
            </a:lvl6pPr>
            <a:lvl7pPr algn="l">
              <a:defRPr sz="2850" b="0">
                <a:solidFill>
                  <a:srgbClr val="0A0A0A"/>
                </a:solidFill>
                <a:latin typeface="DM Sans"/>
                <a:ea typeface="DM Sans"/>
                <a:cs typeface="DM Sans"/>
              </a:defRPr>
            </a:lvl7pPr>
            <a:lvl8pPr algn="l">
              <a:defRPr sz="2850" b="0">
                <a:solidFill>
                  <a:srgbClr val="0A0A0A"/>
                </a:solidFill>
                <a:latin typeface="DM Sans"/>
                <a:ea typeface="DM Sans"/>
                <a:cs typeface="DM Sans"/>
              </a:defRPr>
            </a:lvl8pPr>
            <a:lvl9pPr algn="l">
              <a:defRPr sz="2850" b="0">
                <a:solidFill>
                  <a:srgbClr val="0A0A0A"/>
                </a:solidFill>
                <a:latin typeface="DM Sans"/>
                <a:ea typeface="DM Sans"/>
                <a:cs typeface="DM Sans"/>
              </a:defRPr>
            </a:lvl9pPr>
          </a:lstStyle>
          <a:p xmlns:a="http://schemas.openxmlformats.org/drawingml/2006/main">
            <a:pPr algn="l">
              <a:defRPr sz="2850" b="0">
                <a:solidFill>
                  <a:srgbClr val="0A0A0A"/>
                </a:solidFill>
                <a:latin typeface="DM Sans"/>
                <a:ea typeface="DM Sans"/>
                <a:cs typeface="DM Sans"/>
              </a:defRPr>
            </a:pPr>
            <a:r>
              <a:rPr sz="2850" b="0">
                <a:solidFill>
                  <a:srgbClr val="0A0A0A"/>
                </a:solidFill>
                <a:latin typeface="DM Sans"/>
                <a:ea typeface="DM Sans"/>
                <a:cs typeface="DM Sans"/>
              </a:rPr>
              <a:t>Mineral evidence, changing conditions and time</a:t>
            </a:r>
          </a:p>
          <a:p xmlns:a="http://schemas.openxmlformats.org/drawingml/2006/main">
            <a:pPr algn="l">
              <a:defRPr sz="2850" b="0">
                <a:solidFill>
                  <a:srgbClr val="0A0A0A"/>
                </a:solidFill>
                <a:latin typeface="DM Sans"/>
                <a:ea typeface="DM Sans"/>
                <a:cs typeface="DM Sans"/>
              </a:defRPr>
            </a:pPr>
            <a:r>
              <a:rPr sz="2850" b="0">
                <a:solidFill>
                  <a:srgbClr val="0A0A0A"/>
                </a:solidFill>
                <a:latin typeface="DM Sans"/>
                <a:ea typeface="DM Sans"/>
                <a:cs typeface="DM Sans"/>
              </a:rPr>
              <a:t>to exit belong in the same decision.</a:t>
            </a:r>
          </a:p>
        </p:txBody>
      </p:sp>
      <p:sp>
        <p:nvSpPr>
          <p:cNvPr id="9" name="">
            <a:extLst xmlns:a="http://schemas.openxmlformats.org/drawingml/2006/main">
              <a:ext uri="{FF2B5EF4-FFF2-40B4-BE49-F238E27FC236}">
                <a16:creationId xmlns:a16="http://schemas.microsoft.com/office/drawing/2014/main" id="{09F95DD8-934A-48A6-99DB-90EBFD48744D}"/>
              </a:ext>
            </a:extLst>
          </p:cNvPr>
          <p:cNvSpPr>
            <a:spLocks xmlns:a="http://schemas.openxmlformats.org/drawingml/2006/main" noGrp="1"/>
          </p:cNvSpPr>
          <p:nvPr/>
        </p:nvSpPr>
        <p:spPr>
          <a:xfrm xmlns:a="http://schemas.openxmlformats.org/drawingml/2006/main" rot="0">
            <a:off x="400050" y="2190750"/>
            <a:ext cx="10858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For an investor holding a mineral option who must find a buyer before it expires,</a:t>
            </a:r>
          </a:p>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our prototype tests whether it can produce cash within the time available.</a:t>
            </a:r>
          </a:p>
        </p:txBody>
      </p:sp>
      <p:sp>
        <p:nvSpPr>
          <p:cNvPr id="10" name="">
            <a:extLst xmlns:a="http://schemas.openxmlformats.org/drawingml/2006/main">
              <a:ext uri="{FF2B5EF4-FFF2-40B4-BE49-F238E27FC236}">
                <a16:creationId xmlns:a16="http://schemas.microsoft.com/office/drawing/2014/main" id="{CCF10465-C10A-45BE-8951-9F712AB019CF}"/>
              </a:ext>
            </a:extLst>
          </p:cNvPr>
          <p:cNvSpPr>
            <a:spLocks xmlns:a="http://schemas.openxmlformats.org/drawingml/2006/main" noGrp="1"/>
          </p:cNvSpPr>
          <p:nvPr/>
        </p:nvSpPr>
        <p:spPr>
          <a:xfrm xmlns:a="http://schemas.openxmlformats.org/drawingml/2006/main">
            <a:off x="152400" y="3771900"/>
            <a:ext cx="11887200" cy="2933700"/>
          </a:xfrm>
          <a:prstGeom xmlns:a="http://schemas.openxmlformats.org/drawingml/2006/main" prst="roundRect">
            <a:avLst>
              <a:gd name="adj" fmla="val 8766"/>
            </a:avLst>
          </a:prstGeom>
          <a:solidFill xmlns:a="http://schemas.openxmlformats.org/drawingml/2006/main">
            <a:srgbClr val="0A0A0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7BAFD0A-A111-4AEC-91F5-49AC19555E0A}"/>
              </a:ext>
            </a:extLst>
          </p:cNvPr>
          <p:cNvSpPr>
            <a:spLocks xmlns:a="http://schemas.openxmlformats.org/drawingml/2006/main" noGrp="1"/>
          </p:cNvSpPr>
          <p:nvPr/>
        </p:nvSpPr>
        <p:spPr>
          <a:xfrm xmlns:a="http://schemas.openxmlformats.org/drawingml/2006/main" rot="0">
            <a:off x="400050" y="4019550"/>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Evidence</a:t>
            </a:r>
          </a:p>
        </p:txBody>
      </p:sp>
      <p:sp>
        <p:nvSpPr>
          <p:cNvPr id="12" name="">
            <a:extLst xmlns:a="http://schemas.openxmlformats.org/drawingml/2006/main">
              <a:ext uri="{FF2B5EF4-FFF2-40B4-BE49-F238E27FC236}">
                <a16:creationId xmlns:a16="http://schemas.microsoft.com/office/drawing/2014/main" id="{DCA764AF-233C-44F6-8457-21E3740F47E0}"/>
              </a:ext>
            </a:extLst>
          </p:cNvPr>
          <p:cNvSpPr>
            <a:spLocks xmlns:a="http://schemas.openxmlformats.org/drawingml/2006/main" noGrp="1"/>
          </p:cNvSpPr>
          <p:nvPr/>
        </p:nvSpPr>
        <p:spPr>
          <a:xfrm xmlns:a="http://schemas.openxmlformats.org/drawingml/2006/main" rot="0">
            <a:off x="2114550" y="39147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COLLECTED</a:t>
            </a:r>
          </a:p>
        </p:txBody>
      </p:sp>
      <p:sp>
        <p:nvSpPr>
          <p:cNvPr id="13" name="">
            <a:extLst xmlns:a="http://schemas.openxmlformats.org/drawingml/2006/main">
              <a:ext uri="{FF2B5EF4-FFF2-40B4-BE49-F238E27FC236}">
                <a16:creationId xmlns:a16="http://schemas.microsoft.com/office/drawing/2014/main" id="{7F311F5D-AAE1-468E-9576-A5BB08A46836}"/>
              </a:ext>
            </a:extLst>
          </p:cNvPr>
          <p:cNvSpPr>
            <a:spLocks xmlns:a="http://schemas.openxmlformats.org/drawingml/2006/main" noGrp="1"/>
          </p:cNvSpPr>
          <p:nvPr/>
        </p:nvSpPr>
        <p:spPr>
          <a:xfrm xmlns:a="http://schemas.openxmlformats.org/drawingml/2006/main" rot="0">
            <a:off x="2114550" y="411480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June–July 2016</a:t>
            </a:r>
          </a:p>
        </p:txBody>
      </p:sp>
      <p:sp>
        <p:nvSpPr>
          <p:cNvPr id="14" name="">
            <a:extLst xmlns:a="http://schemas.openxmlformats.org/drawingml/2006/main">
              <a:ext uri="{FF2B5EF4-FFF2-40B4-BE49-F238E27FC236}">
                <a16:creationId xmlns:a16="http://schemas.microsoft.com/office/drawing/2014/main" id="{AD22D699-C66A-4E2D-804A-863FF2262A42}"/>
              </a:ext>
            </a:extLst>
          </p:cNvPr>
          <p:cNvSpPr>
            <a:spLocks xmlns:a="http://schemas.openxmlformats.org/drawingml/2006/main" noGrp="1"/>
          </p:cNvSpPr>
          <p:nvPr/>
        </p:nvSpPr>
        <p:spPr>
          <a:xfrm xmlns:a="http://schemas.openxmlformats.org/drawingml/2006/main" rot="0">
            <a:off x="6343650" y="39147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PUBLISHED</a:t>
            </a:r>
          </a:p>
        </p:txBody>
      </p:sp>
      <p:sp>
        <p:nvSpPr>
          <p:cNvPr id="15" name="">
            <a:extLst xmlns:a="http://schemas.openxmlformats.org/drawingml/2006/main">
              <a:ext uri="{FF2B5EF4-FFF2-40B4-BE49-F238E27FC236}">
                <a16:creationId xmlns:a16="http://schemas.microsoft.com/office/drawing/2014/main" id="{5120B649-03F5-4EE8-82D0-37F7EC2386F0}"/>
              </a:ext>
            </a:extLst>
          </p:cNvPr>
          <p:cNvSpPr>
            <a:spLocks xmlns:a="http://schemas.openxmlformats.org/drawingml/2006/main" noGrp="1"/>
          </p:cNvSpPr>
          <p:nvPr/>
        </p:nvSpPr>
        <p:spPr>
          <a:xfrm xmlns:a="http://schemas.openxmlformats.org/drawingml/2006/main" rot="0">
            <a:off x="6343650" y="4114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November 2016</a:t>
            </a:r>
          </a:p>
        </p:txBody>
      </p:sp>
      <p:sp>
        <p:nvSpPr>
          <p:cNvPr id="16" name="">
            <a:extLst xmlns:a="http://schemas.openxmlformats.org/drawingml/2006/main">
              <a:ext uri="{FF2B5EF4-FFF2-40B4-BE49-F238E27FC236}">
                <a16:creationId xmlns:a16="http://schemas.microsoft.com/office/drawing/2014/main" id="{150C8673-43F8-4ECF-8859-B87B6D9A8AA2}"/>
              </a:ext>
            </a:extLst>
          </p:cNvPr>
          <p:cNvSpPr>
            <a:spLocks xmlns:a="http://schemas.openxmlformats.org/drawingml/2006/main" noGrp="1"/>
          </p:cNvSpPr>
          <p:nvPr/>
        </p:nvSpPr>
        <p:spPr>
          <a:xfrm xmlns:a="http://schemas.openxmlformats.org/drawingml/2006/main">
            <a:off x="2124075" y="4448175"/>
            <a:ext cx="9477375" cy="95"/>
          </a:xfrm>
          <a:custGeom xmlns:a="http://schemas.openxmlformats.org/drawingml/2006/main">
            <a:pathLst>
              <a:path w="9477375" h="95">
                <a:moveTo>
                  <a:pt x="0" y="0"/>
                </a:moveTo>
                <a:lnTo>
                  <a:pt x="9477375" y="0"/>
                </a:lnTo>
              </a:path>
            </a:pathLst>
          </a:custGeom>
          <a:noFill xmlns:a="http://schemas.openxmlformats.org/drawingml/2006/main"/>
          <a:ln xmlns:a="http://schemas.openxmlformats.org/drawingml/2006/main" w="7620">
            <a:solidFill>
              <a:srgbClr val="FAFAFA">
                <a:alpha val="70000"/>
              </a:srgbClr>
            </a:solidFill>
            <a:prstDash val="solid"/>
          </a:ln>
        </p:spPr>
      </p:sp>
      <p:sp>
        <p:nvSpPr>
          <p:cNvPr id="17" name="">
            <a:extLst xmlns:a="http://schemas.openxmlformats.org/drawingml/2006/main">
              <a:ext uri="{FF2B5EF4-FFF2-40B4-BE49-F238E27FC236}">
                <a16:creationId xmlns:a16="http://schemas.microsoft.com/office/drawing/2014/main" id="{4BAF63E7-3307-4E11-B039-673BD585E6F9}"/>
              </a:ext>
            </a:extLst>
          </p:cNvPr>
          <p:cNvSpPr>
            <a:spLocks xmlns:a="http://schemas.openxmlformats.org/drawingml/2006/main" noGrp="1"/>
          </p:cNvSpPr>
          <p:nvPr/>
        </p:nvSpPr>
        <p:spPr>
          <a:xfrm xmlns:a="http://schemas.openxmlformats.org/drawingml/2006/main">
            <a:off x="2095500" y="4419600"/>
            <a:ext cx="57150" cy="57150"/>
          </a:xfrm>
          <a:prstGeom xmlns:a="http://schemas.openxmlformats.org/drawingml/2006/main" prst="ellipse">
            <a:avLst/>
          </a:prstGeom>
          <a:solidFill xmlns:a="http://schemas.openxmlformats.org/drawingml/2006/main">
            <a:srgbClr val="FAFAFA"/>
          </a:solidFill>
          <a:ln xmlns:a="http://schemas.openxmlformats.org/drawingml/2006/main" w="0">
            <a:solidFill>
              <a:srgbClr val="FAFAFA"/>
            </a:solidFill>
            <a:prstDash val="solid"/>
          </a:ln>
        </p:spPr>
      </p:sp>
      <p:sp>
        <p:nvSpPr>
          <p:cNvPr id="18" name="">
            <a:extLst xmlns:a="http://schemas.openxmlformats.org/drawingml/2006/main">
              <a:ext uri="{FF2B5EF4-FFF2-40B4-BE49-F238E27FC236}">
                <a16:creationId xmlns:a16="http://schemas.microsoft.com/office/drawing/2014/main" id="{10378F96-140E-4097-9FA6-3072D151734A}"/>
              </a:ext>
            </a:extLst>
          </p:cNvPr>
          <p:cNvSpPr>
            <a:spLocks xmlns:a="http://schemas.openxmlformats.org/drawingml/2006/main" noGrp="1"/>
          </p:cNvSpPr>
          <p:nvPr/>
        </p:nvSpPr>
        <p:spPr>
          <a:xfrm xmlns:a="http://schemas.openxmlformats.org/drawingml/2006/main">
            <a:off x="6315075" y="4419600"/>
            <a:ext cx="57150" cy="57150"/>
          </a:xfrm>
          <a:prstGeom xmlns:a="http://schemas.openxmlformats.org/drawingml/2006/main" prst="ellipse">
            <a:avLst/>
          </a:prstGeom>
          <a:solidFill xmlns:a="http://schemas.openxmlformats.org/drawingml/2006/main">
            <a:srgbClr val="FAFAFA"/>
          </a:solidFill>
          <a:ln xmlns:a="http://schemas.openxmlformats.org/drawingml/2006/main" w="0">
            <a:solidFill>
              <a:srgbClr val="FAFAFA"/>
            </a:solidFill>
            <a:prstDash val="solid"/>
          </a:ln>
        </p:spPr>
      </p:sp>
      <p:sp>
        <p:nvSpPr>
          <p:cNvPr id="19" name="">
            <a:extLst xmlns:a="http://schemas.openxmlformats.org/drawingml/2006/main">
              <a:ext uri="{FF2B5EF4-FFF2-40B4-BE49-F238E27FC236}">
                <a16:creationId xmlns:a16="http://schemas.microsoft.com/office/drawing/2014/main" id="{A99D12B1-37F1-4960-AD48-AD012FF60ADA}"/>
              </a:ext>
            </a:extLst>
          </p:cNvPr>
          <p:cNvSpPr>
            <a:spLocks xmlns:a="http://schemas.openxmlformats.org/drawingml/2006/main" noGrp="1"/>
          </p:cNvSpPr>
          <p:nvPr/>
        </p:nvSpPr>
        <p:spPr>
          <a:xfrm xmlns:a="http://schemas.openxmlformats.org/drawingml/2006/main">
            <a:off x="11315700" y="4448175"/>
            <a:ext cx="485775" cy="95"/>
          </a:xfrm>
          <a:custGeom xmlns:a="http://schemas.openxmlformats.org/drawingml/2006/main">
            <a:pathLst>
              <a:path w="485775" h="95">
                <a:moveTo>
                  <a:pt x="0" y="0"/>
                </a:moveTo>
                <a:lnTo>
                  <a:pt x="485775" y="0"/>
                </a:lnTo>
              </a:path>
            </a:pathLst>
          </a:custGeom>
          <a:noFill xmlns:a="http://schemas.openxmlformats.org/drawingml/2006/main"/>
          <a:ln xmlns:a="http://schemas.openxmlformats.org/drawingml/2006/main" w="7144">
            <a:solidFill>
              <a:srgbClr val="FAFAFA"/>
            </a:solidFill>
            <a:prstDash val="solid"/>
          </a:ln>
        </p:spPr>
      </p:sp>
      <p:sp>
        <p:nvSpPr>
          <p:cNvPr id="20" name="">
            <a:extLst xmlns:a="http://schemas.openxmlformats.org/drawingml/2006/main">
              <a:ext uri="{FF2B5EF4-FFF2-40B4-BE49-F238E27FC236}">
                <a16:creationId xmlns:a16="http://schemas.microsoft.com/office/drawing/2014/main" id="{04FF932E-7D45-4CE2-8CCD-96F9FFEC1F2A}"/>
              </a:ext>
            </a:extLst>
          </p:cNvPr>
          <p:cNvSpPr>
            <a:spLocks xmlns:a="http://schemas.openxmlformats.org/drawingml/2006/main" noGrp="1"/>
          </p:cNvSpPr>
          <p:nvPr/>
        </p:nvSpPr>
        <p:spPr>
          <a:xfrm xmlns:a="http://schemas.openxmlformats.org/drawingml/2006/main">
            <a:off x="11763375" y="4419600"/>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21" name="">
            <a:extLst xmlns:a="http://schemas.openxmlformats.org/drawingml/2006/main">
              <a:ext uri="{FF2B5EF4-FFF2-40B4-BE49-F238E27FC236}">
                <a16:creationId xmlns:a16="http://schemas.microsoft.com/office/drawing/2014/main" id="{CD6CE529-AA7A-492B-BA0F-3B8BFBE6603E}"/>
              </a:ext>
            </a:extLst>
          </p:cNvPr>
          <p:cNvSpPr>
            <a:spLocks xmlns:a="http://schemas.openxmlformats.org/drawingml/2006/main" noGrp="1"/>
          </p:cNvSpPr>
          <p:nvPr/>
        </p:nvSpPr>
        <p:spPr>
          <a:xfrm xmlns:a="http://schemas.openxmlformats.org/drawingml/2006/main">
            <a:off x="11763375" y="4448175"/>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22" name="">
            <a:extLst xmlns:a="http://schemas.openxmlformats.org/drawingml/2006/main">
              <a:ext uri="{FF2B5EF4-FFF2-40B4-BE49-F238E27FC236}">
                <a16:creationId xmlns:a16="http://schemas.microsoft.com/office/drawing/2014/main" id="{E1EEB26A-E6CB-4C32-B8F0-851FA60DAD1A}"/>
              </a:ext>
            </a:extLst>
          </p:cNvPr>
          <p:cNvSpPr>
            <a:spLocks xmlns:a="http://schemas.openxmlformats.org/drawingml/2006/main" noGrp="1"/>
          </p:cNvSpPr>
          <p:nvPr/>
        </p:nvSpPr>
        <p:spPr>
          <a:xfrm xmlns:a="http://schemas.openxmlformats.org/drawingml/2006/main" rot="0">
            <a:off x="400050" y="47720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Simulation</a:t>
            </a:r>
          </a:p>
        </p:txBody>
      </p:sp>
      <p:sp>
        <p:nvSpPr>
          <p:cNvPr id="23" name="">
            <a:extLst xmlns:a="http://schemas.openxmlformats.org/drawingml/2006/main">
              <a:ext uri="{FF2B5EF4-FFF2-40B4-BE49-F238E27FC236}">
                <a16:creationId xmlns:a16="http://schemas.microsoft.com/office/drawing/2014/main" id="{DE9A7285-960E-4104-8401-77F30E69FB1E}"/>
              </a:ext>
            </a:extLst>
          </p:cNvPr>
          <p:cNvSpPr>
            <a:spLocks xmlns:a="http://schemas.openxmlformats.org/drawingml/2006/main" noGrp="1"/>
          </p:cNvSpPr>
          <p:nvPr/>
        </p:nvSpPr>
        <p:spPr>
          <a:xfrm xmlns:a="http://schemas.openxmlformats.org/drawingml/2006/main" rot="0">
            <a:off x="2124075" y="4657725"/>
            <a:ext cx="390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Five simulated days</a:t>
            </a:r>
          </a:p>
        </p:txBody>
      </p:sp>
      <p:sp>
        <p:nvSpPr>
          <p:cNvPr id="24" name="">
            <a:extLst xmlns:a="http://schemas.openxmlformats.org/drawingml/2006/main">
              <a:ext uri="{FF2B5EF4-FFF2-40B4-BE49-F238E27FC236}">
                <a16:creationId xmlns:a16="http://schemas.microsoft.com/office/drawing/2014/main" id="{BB284148-CE9D-422D-A229-82DF5A4251CF}"/>
              </a:ext>
            </a:extLst>
          </p:cNvPr>
          <p:cNvSpPr>
            <a:spLocks xmlns:a="http://schemas.openxmlformats.org/drawingml/2006/main" noGrp="1"/>
          </p:cNvSpPr>
          <p:nvPr/>
        </p:nvSpPr>
        <p:spPr>
          <a:xfrm xmlns:a="http://schemas.openxmlformats.org/drawingml/2006/main" rot="0">
            <a:off x="8477250" y="46577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AFAFA"/>
                </a:solidFill>
                <a:latin typeface="DM Sans"/>
                <a:ea typeface="DM Sans"/>
                <a:cs typeface="DM Sans"/>
              </a:defRPr>
            </a:defPPr>
            <a:lvl1pPr algn="l">
              <a:defRPr sz="1050" b="0">
                <a:solidFill>
                  <a:srgbClr val="FAFAFA"/>
                </a:solidFill>
                <a:latin typeface="DM Sans"/>
                <a:ea typeface="DM Sans"/>
                <a:cs typeface="DM Sans"/>
              </a:defRPr>
            </a:lvl1pPr>
            <a:lvl2pPr algn="l">
              <a:defRPr sz="1050" b="0">
                <a:solidFill>
                  <a:srgbClr val="FAFAFA"/>
                </a:solidFill>
                <a:latin typeface="DM Sans"/>
                <a:ea typeface="DM Sans"/>
                <a:cs typeface="DM Sans"/>
              </a:defRPr>
            </a:lvl2pPr>
            <a:lvl3pPr algn="l">
              <a:defRPr sz="1050" b="0">
                <a:solidFill>
                  <a:srgbClr val="FAFAFA"/>
                </a:solidFill>
                <a:latin typeface="DM Sans"/>
                <a:ea typeface="DM Sans"/>
                <a:cs typeface="DM Sans"/>
              </a:defRPr>
            </a:lvl3pPr>
            <a:lvl4pPr algn="l">
              <a:defRPr sz="1050" b="0">
                <a:solidFill>
                  <a:srgbClr val="FAFAFA"/>
                </a:solidFill>
                <a:latin typeface="DM Sans"/>
                <a:ea typeface="DM Sans"/>
                <a:cs typeface="DM Sans"/>
              </a:defRPr>
            </a:lvl4pPr>
            <a:lvl5pPr algn="l">
              <a:defRPr sz="1050" b="0">
                <a:solidFill>
                  <a:srgbClr val="FAFAFA"/>
                </a:solidFill>
                <a:latin typeface="DM Sans"/>
                <a:ea typeface="DM Sans"/>
                <a:cs typeface="DM Sans"/>
              </a:defRPr>
            </a:lvl5pPr>
            <a:lvl6pPr algn="l">
              <a:defRPr sz="1050" b="0">
                <a:solidFill>
                  <a:srgbClr val="FAFAFA"/>
                </a:solidFill>
                <a:latin typeface="DM Sans"/>
                <a:ea typeface="DM Sans"/>
                <a:cs typeface="DM Sans"/>
              </a:defRPr>
            </a:lvl6pPr>
            <a:lvl7pPr algn="l">
              <a:defRPr sz="1050" b="0">
                <a:solidFill>
                  <a:srgbClr val="FAFAFA"/>
                </a:solidFill>
                <a:latin typeface="DM Sans"/>
                <a:ea typeface="DM Sans"/>
                <a:cs typeface="DM Sans"/>
              </a:defRPr>
            </a:lvl7pPr>
            <a:lvl8pPr algn="l">
              <a:defRPr sz="1050" b="0">
                <a:solidFill>
                  <a:srgbClr val="FAFAFA"/>
                </a:solidFill>
                <a:latin typeface="DM Sans"/>
                <a:ea typeface="DM Sans"/>
                <a:cs typeface="DM Sans"/>
              </a:defRPr>
            </a:lvl8pPr>
            <a:lvl9pPr algn="l">
              <a:defRPr sz="1050" b="0">
                <a:solidFill>
                  <a:srgbClr val="FAFAFA"/>
                </a:solidFill>
                <a:latin typeface="DM Sans"/>
                <a:ea typeface="DM Sans"/>
                <a:cs typeface="DM Sans"/>
              </a:defRPr>
            </a:lvl9pPr>
          </a:lstStyle>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News at day 3</a:t>
            </a:r>
          </a:p>
        </p:txBody>
      </p:sp>
      <p:sp>
        <p:nvSpPr>
          <p:cNvPr id="25" name="">
            <a:extLst xmlns:a="http://schemas.openxmlformats.org/drawingml/2006/main">
              <a:ext uri="{FF2B5EF4-FFF2-40B4-BE49-F238E27FC236}">
                <a16:creationId xmlns:a16="http://schemas.microsoft.com/office/drawing/2014/main" id="{9ABCEAAC-D095-4179-AA7F-EECE408F8963}"/>
              </a:ext>
            </a:extLst>
          </p:cNvPr>
          <p:cNvSpPr>
            <a:spLocks xmlns:a="http://schemas.openxmlformats.org/drawingml/2006/main" noGrp="1"/>
          </p:cNvSpPr>
          <p:nvPr/>
        </p:nvSpPr>
        <p:spPr>
          <a:xfrm xmlns:a="http://schemas.openxmlformats.org/drawingml/2006/main">
            <a:off x="2124075" y="5105400"/>
            <a:ext cx="9677400" cy="95"/>
          </a:xfrm>
          <a:custGeom xmlns:a="http://schemas.openxmlformats.org/drawingml/2006/main">
            <a:pathLst>
              <a:path w="9677400" h="95">
                <a:moveTo>
                  <a:pt x="0" y="0"/>
                </a:moveTo>
                <a:lnTo>
                  <a:pt x="9677400" y="0"/>
                </a:lnTo>
              </a:path>
            </a:pathLst>
          </a:custGeom>
          <a:noFill xmlns:a="http://schemas.openxmlformats.org/drawingml/2006/main"/>
          <a:ln xmlns:a="http://schemas.openxmlformats.org/drawingml/2006/main" w="7620">
            <a:solidFill>
              <a:srgbClr val="FAFAFA">
                <a:alpha val="75000"/>
              </a:srgbClr>
            </a:solidFill>
            <a:prstDash val="solid"/>
          </a:ln>
        </p:spPr>
      </p:sp>
      <p:sp>
        <p:nvSpPr>
          <p:cNvPr id="26" name="">
            <a:extLst xmlns:a="http://schemas.openxmlformats.org/drawingml/2006/main">
              <a:ext uri="{FF2B5EF4-FFF2-40B4-BE49-F238E27FC236}">
                <a16:creationId xmlns:a16="http://schemas.microsoft.com/office/drawing/2014/main" id="{588A2BC8-E90E-4411-A197-E666C73FCF75}"/>
              </a:ext>
            </a:extLst>
          </p:cNvPr>
          <p:cNvSpPr>
            <a:spLocks xmlns:a="http://schemas.openxmlformats.org/drawingml/2006/main" noGrp="1"/>
          </p:cNvSpPr>
          <p:nvPr/>
        </p:nvSpPr>
        <p:spPr>
          <a:xfrm xmlns:a="http://schemas.openxmlformats.org/drawingml/2006/main">
            <a:off x="22574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27" name="">
            <a:extLst xmlns:a="http://schemas.openxmlformats.org/drawingml/2006/main">
              <a:ext uri="{FF2B5EF4-FFF2-40B4-BE49-F238E27FC236}">
                <a16:creationId xmlns:a16="http://schemas.microsoft.com/office/drawing/2014/main" id="{458C90A0-1011-4FF4-8A46-8435BEF86EA7}"/>
              </a:ext>
            </a:extLst>
          </p:cNvPr>
          <p:cNvSpPr>
            <a:spLocks xmlns:a="http://schemas.openxmlformats.org/drawingml/2006/main" noGrp="1"/>
          </p:cNvSpPr>
          <p:nvPr/>
        </p:nvSpPr>
        <p:spPr>
          <a:xfrm xmlns:a="http://schemas.openxmlformats.org/drawingml/2006/main" rot="0">
            <a:off x="19431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1</a:t>
            </a:r>
          </a:p>
        </p:txBody>
      </p:sp>
      <p:sp>
        <p:nvSpPr>
          <p:cNvPr id="28" name="">
            <a:extLst xmlns:a="http://schemas.openxmlformats.org/drawingml/2006/main">
              <a:ext uri="{FF2B5EF4-FFF2-40B4-BE49-F238E27FC236}">
                <a16:creationId xmlns:a16="http://schemas.microsoft.com/office/drawing/2014/main" id="{D0A96AD2-3B16-4CA0-8E1F-A0E1DAEEDE04}"/>
              </a:ext>
            </a:extLst>
          </p:cNvPr>
          <p:cNvSpPr>
            <a:spLocks xmlns:a="http://schemas.openxmlformats.org/drawingml/2006/main" noGrp="1"/>
          </p:cNvSpPr>
          <p:nvPr/>
        </p:nvSpPr>
        <p:spPr>
          <a:xfrm xmlns:a="http://schemas.openxmlformats.org/drawingml/2006/main">
            <a:off x="456247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29" name="">
            <a:extLst xmlns:a="http://schemas.openxmlformats.org/drawingml/2006/main">
              <a:ext uri="{FF2B5EF4-FFF2-40B4-BE49-F238E27FC236}">
                <a16:creationId xmlns:a16="http://schemas.microsoft.com/office/drawing/2014/main" id="{67608B67-0E33-456B-981B-2A229A7D92FB}"/>
              </a:ext>
            </a:extLst>
          </p:cNvPr>
          <p:cNvSpPr>
            <a:spLocks xmlns:a="http://schemas.openxmlformats.org/drawingml/2006/main" noGrp="1"/>
          </p:cNvSpPr>
          <p:nvPr/>
        </p:nvSpPr>
        <p:spPr>
          <a:xfrm xmlns:a="http://schemas.openxmlformats.org/drawingml/2006/main" rot="0">
            <a:off x="424815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2</a:t>
            </a:r>
          </a:p>
        </p:txBody>
      </p:sp>
      <p:sp>
        <p:nvSpPr>
          <p:cNvPr id="30" name="">
            <a:extLst xmlns:a="http://schemas.openxmlformats.org/drawingml/2006/main">
              <a:ext uri="{FF2B5EF4-FFF2-40B4-BE49-F238E27FC236}">
                <a16:creationId xmlns:a16="http://schemas.microsoft.com/office/drawing/2014/main" id="{986D74CC-A1BC-4948-935F-30B50EA1AB27}"/>
              </a:ext>
            </a:extLst>
          </p:cNvPr>
          <p:cNvSpPr>
            <a:spLocks xmlns:a="http://schemas.openxmlformats.org/drawingml/2006/main" noGrp="1"/>
          </p:cNvSpPr>
          <p:nvPr/>
        </p:nvSpPr>
        <p:spPr>
          <a:xfrm xmlns:a="http://schemas.openxmlformats.org/drawingml/2006/main">
            <a:off x="68675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1" name="">
            <a:extLst xmlns:a="http://schemas.openxmlformats.org/drawingml/2006/main">
              <a:ext uri="{FF2B5EF4-FFF2-40B4-BE49-F238E27FC236}">
                <a16:creationId xmlns:a16="http://schemas.microsoft.com/office/drawing/2014/main" id="{C5BDEA85-335B-4940-91E2-E9140D467B6C}"/>
              </a:ext>
            </a:extLst>
          </p:cNvPr>
          <p:cNvSpPr>
            <a:spLocks xmlns:a="http://schemas.openxmlformats.org/drawingml/2006/main" noGrp="1"/>
          </p:cNvSpPr>
          <p:nvPr/>
        </p:nvSpPr>
        <p:spPr>
          <a:xfrm xmlns:a="http://schemas.openxmlformats.org/drawingml/2006/main" rot="0">
            <a:off x="65532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22C55E"/>
                </a:solidFill>
                <a:latin typeface="DM Sans"/>
                <a:ea typeface="DM Sans"/>
                <a:cs typeface="DM Sans"/>
              </a:defRPr>
            </a:defPPr>
            <a:lvl1pPr algn="ctr">
              <a:defRPr sz="750" b="0">
                <a:solidFill>
                  <a:srgbClr val="22C55E"/>
                </a:solidFill>
                <a:latin typeface="DM Sans"/>
                <a:ea typeface="DM Sans"/>
                <a:cs typeface="DM Sans"/>
              </a:defRPr>
            </a:lvl1pPr>
            <a:lvl2pPr algn="ctr">
              <a:defRPr sz="750" b="0">
                <a:solidFill>
                  <a:srgbClr val="22C55E"/>
                </a:solidFill>
                <a:latin typeface="DM Sans"/>
                <a:ea typeface="DM Sans"/>
                <a:cs typeface="DM Sans"/>
              </a:defRPr>
            </a:lvl2pPr>
            <a:lvl3pPr algn="ctr">
              <a:defRPr sz="750" b="0">
                <a:solidFill>
                  <a:srgbClr val="22C55E"/>
                </a:solidFill>
                <a:latin typeface="DM Sans"/>
                <a:ea typeface="DM Sans"/>
                <a:cs typeface="DM Sans"/>
              </a:defRPr>
            </a:lvl3pPr>
            <a:lvl4pPr algn="ctr">
              <a:defRPr sz="750" b="0">
                <a:solidFill>
                  <a:srgbClr val="22C55E"/>
                </a:solidFill>
                <a:latin typeface="DM Sans"/>
                <a:ea typeface="DM Sans"/>
                <a:cs typeface="DM Sans"/>
              </a:defRPr>
            </a:lvl4pPr>
            <a:lvl5pPr algn="ctr">
              <a:defRPr sz="750" b="0">
                <a:solidFill>
                  <a:srgbClr val="22C55E"/>
                </a:solidFill>
                <a:latin typeface="DM Sans"/>
                <a:ea typeface="DM Sans"/>
                <a:cs typeface="DM Sans"/>
              </a:defRPr>
            </a:lvl5pPr>
            <a:lvl6pPr algn="ctr">
              <a:defRPr sz="750" b="0">
                <a:solidFill>
                  <a:srgbClr val="22C55E"/>
                </a:solidFill>
                <a:latin typeface="DM Sans"/>
                <a:ea typeface="DM Sans"/>
                <a:cs typeface="DM Sans"/>
              </a:defRPr>
            </a:lvl6pPr>
            <a:lvl7pPr algn="ctr">
              <a:defRPr sz="750" b="0">
                <a:solidFill>
                  <a:srgbClr val="22C55E"/>
                </a:solidFill>
                <a:latin typeface="DM Sans"/>
                <a:ea typeface="DM Sans"/>
                <a:cs typeface="DM Sans"/>
              </a:defRPr>
            </a:lvl7pPr>
            <a:lvl8pPr algn="ctr">
              <a:defRPr sz="750" b="0">
                <a:solidFill>
                  <a:srgbClr val="22C55E"/>
                </a:solidFill>
                <a:latin typeface="DM Sans"/>
                <a:ea typeface="DM Sans"/>
                <a:cs typeface="DM Sans"/>
              </a:defRPr>
            </a:lvl8pPr>
            <a:lvl9pPr algn="ctr">
              <a:defRPr sz="750" b="0">
                <a:solidFill>
                  <a:srgbClr val="22C55E"/>
                </a:solidFill>
                <a:latin typeface="DM Sans"/>
                <a:ea typeface="DM Sans"/>
                <a:cs typeface="DM Sans"/>
              </a:defRPr>
            </a:lvl9pPr>
          </a:lstStyle>
          <a:p xmlns:a="http://schemas.openxmlformats.org/drawingml/2006/main">
            <a:pPr algn="ctr">
              <a:defRPr sz="750" b="0">
                <a:solidFill>
                  <a:srgbClr val="22C55E"/>
                </a:solidFill>
                <a:latin typeface="DM Sans"/>
                <a:ea typeface="DM Sans"/>
                <a:cs typeface="DM Sans"/>
              </a:defRPr>
            </a:pPr>
            <a:r>
              <a:rPr sz="750" b="0">
                <a:solidFill>
                  <a:srgbClr val="22C55E"/>
                </a:solidFill>
                <a:latin typeface="DM Sans"/>
                <a:ea typeface="DM Sans"/>
                <a:cs typeface="DM Sans"/>
              </a:rPr>
              <a:t>DAY 3</a:t>
            </a:r>
          </a:p>
        </p:txBody>
      </p:sp>
      <p:sp>
        <p:nvSpPr>
          <p:cNvPr id="32" name="">
            <a:extLst xmlns:a="http://schemas.openxmlformats.org/drawingml/2006/main">
              <a:ext uri="{FF2B5EF4-FFF2-40B4-BE49-F238E27FC236}">
                <a16:creationId xmlns:a16="http://schemas.microsoft.com/office/drawing/2014/main" id="{0F0F02DA-7FC3-41EF-A728-C6281D5BCB57}"/>
              </a:ext>
            </a:extLst>
          </p:cNvPr>
          <p:cNvSpPr>
            <a:spLocks xmlns:a="http://schemas.openxmlformats.org/drawingml/2006/main" noGrp="1"/>
          </p:cNvSpPr>
          <p:nvPr/>
        </p:nvSpPr>
        <p:spPr>
          <a:xfrm xmlns:a="http://schemas.openxmlformats.org/drawingml/2006/main">
            <a:off x="917257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3" name="">
            <a:extLst xmlns:a="http://schemas.openxmlformats.org/drawingml/2006/main">
              <a:ext uri="{FF2B5EF4-FFF2-40B4-BE49-F238E27FC236}">
                <a16:creationId xmlns:a16="http://schemas.microsoft.com/office/drawing/2014/main" id="{BD70C4A9-A871-4382-93FE-885C316EC286}"/>
              </a:ext>
            </a:extLst>
          </p:cNvPr>
          <p:cNvSpPr>
            <a:spLocks xmlns:a="http://schemas.openxmlformats.org/drawingml/2006/main" noGrp="1"/>
          </p:cNvSpPr>
          <p:nvPr/>
        </p:nvSpPr>
        <p:spPr>
          <a:xfrm xmlns:a="http://schemas.openxmlformats.org/drawingml/2006/main" rot="0">
            <a:off x="885825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4</a:t>
            </a:r>
          </a:p>
        </p:txBody>
      </p:sp>
      <p:sp>
        <p:nvSpPr>
          <p:cNvPr id="34" name="">
            <a:extLst xmlns:a="http://schemas.openxmlformats.org/drawingml/2006/main">
              <a:ext uri="{FF2B5EF4-FFF2-40B4-BE49-F238E27FC236}">
                <a16:creationId xmlns:a16="http://schemas.microsoft.com/office/drawing/2014/main" id="{01639D50-7B97-4B17-8AE0-0F03A4B31A9E}"/>
              </a:ext>
            </a:extLst>
          </p:cNvPr>
          <p:cNvSpPr>
            <a:spLocks xmlns:a="http://schemas.openxmlformats.org/drawingml/2006/main" noGrp="1"/>
          </p:cNvSpPr>
          <p:nvPr/>
        </p:nvSpPr>
        <p:spPr>
          <a:xfrm xmlns:a="http://schemas.openxmlformats.org/drawingml/2006/main">
            <a:off x="114776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5" name="">
            <a:extLst xmlns:a="http://schemas.openxmlformats.org/drawingml/2006/main">
              <a:ext uri="{FF2B5EF4-FFF2-40B4-BE49-F238E27FC236}">
                <a16:creationId xmlns:a16="http://schemas.microsoft.com/office/drawing/2014/main" id="{B443CC5E-A17F-479F-952D-4D8DBB5E6668}"/>
              </a:ext>
            </a:extLst>
          </p:cNvPr>
          <p:cNvSpPr>
            <a:spLocks xmlns:a="http://schemas.openxmlformats.org/drawingml/2006/main" noGrp="1"/>
          </p:cNvSpPr>
          <p:nvPr/>
        </p:nvSpPr>
        <p:spPr>
          <a:xfrm xmlns:a="http://schemas.openxmlformats.org/drawingml/2006/main" rot="0">
            <a:off x="111633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5</a:t>
            </a:r>
          </a:p>
        </p:txBody>
      </p:sp>
      <p:sp>
        <p:nvSpPr>
          <p:cNvPr id="36" name="">
            <a:extLst xmlns:a="http://schemas.openxmlformats.org/drawingml/2006/main">
              <a:ext uri="{FF2B5EF4-FFF2-40B4-BE49-F238E27FC236}">
                <a16:creationId xmlns:a16="http://schemas.microsoft.com/office/drawing/2014/main" id="{4E2A8268-AB99-4807-A076-2F53E77DE1E3}"/>
              </a:ext>
            </a:extLst>
          </p:cNvPr>
          <p:cNvSpPr>
            <a:spLocks xmlns:a="http://schemas.openxmlformats.org/drawingml/2006/main" noGrp="1"/>
          </p:cNvSpPr>
          <p:nvPr/>
        </p:nvSpPr>
        <p:spPr>
          <a:xfrm xmlns:a="http://schemas.openxmlformats.org/drawingml/2006/main" rot="0">
            <a:off x="400050" y="5753100"/>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Assignment</a:t>
            </a:r>
          </a:p>
        </p:txBody>
      </p:sp>
      <p:sp>
        <p:nvSpPr>
          <p:cNvPr id="37" name="">
            <a:extLst xmlns:a="http://schemas.openxmlformats.org/drawingml/2006/main">
              <a:ext uri="{FF2B5EF4-FFF2-40B4-BE49-F238E27FC236}">
                <a16:creationId xmlns:a16="http://schemas.microsoft.com/office/drawing/2014/main" id="{A53CAB4A-5739-4DD0-BADE-F2529C1FBDC0}"/>
              </a:ext>
            </a:extLst>
          </p:cNvPr>
          <p:cNvSpPr>
            <a:spLocks xmlns:a="http://schemas.openxmlformats.org/drawingml/2006/main" noGrp="1"/>
          </p:cNvSpPr>
          <p:nvPr/>
        </p:nvSpPr>
        <p:spPr>
          <a:xfrm xmlns:a="http://schemas.openxmlformats.org/drawingml/2006/main" rot="0">
            <a:off x="2124075" y="56007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HOLDING PERIOD</a:t>
            </a:r>
          </a:p>
        </p:txBody>
      </p:sp>
      <p:sp>
        <p:nvSpPr>
          <p:cNvPr id="38" name="">
            <a:extLst xmlns:a="http://schemas.openxmlformats.org/drawingml/2006/main">
              <a:ext uri="{FF2B5EF4-FFF2-40B4-BE49-F238E27FC236}">
                <a16:creationId xmlns:a16="http://schemas.microsoft.com/office/drawing/2014/main" id="{5206F95B-C82E-458D-AE0C-F67C1498519E}"/>
              </a:ext>
            </a:extLst>
          </p:cNvPr>
          <p:cNvSpPr>
            <a:spLocks xmlns:a="http://schemas.openxmlformats.org/drawingml/2006/main" noGrp="1"/>
          </p:cNvSpPr>
          <p:nvPr/>
        </p:nvSpPr>
        <p:spPr>
          <a:xfrm xmlns:a="http://schemas.openxmlformats.org/drawingml/2006/main">
            <a:off x="2124075" y="5962650"/>
            <a:ext cx="9677400" cy="95"/>
          </a:xfrm>
          <a:custGeom xmlns:a="http://schemas.openxmlformats.org/drawingml/2006/main">
            <a:pathLst>
              <a:path w="9677400" h="95">
                <a:moveTo>
                  <a:pt x="0" y="0"/>
                </a:moveTo>
                <a:lnTo>
                  <a:pt x="9677400" y="0"/>
                </a:lnTo>
              </a:path>
            </a:pathLst>
          </a:custGeom>
          <a:noFill xmlns:a="http://schemas.openxmlformats.org/drawingml/2006/main"/>
          <a:ln xmlns:a="http://schemas.openxmlformats.org/drawingml/2006/main" w="7620">
            <a:solidFill>
              <a:srgbClr val="FAFAFA">
                <a:alpha val="75000"/>
              </a:srgbClr>
            </a:solidFill>
            <a:prstDash val="solid"/>
          </a:ln>
        </p:spPr>
      </p:sp>
      <p:sp>
        <p:nvSpPr>
          <p:cNvPr id="39" name="">
            <a:extLst xmlns:a="http://schemas.openxmlformats.org/drawingml/2006/main">
              <a:ext uri="{FF2B5EF4-FFF2-40B4-BE49-F238E27FC236}">
                <a16:creationId xmlns:a16="http://schemas.microsoft.com/office/drawing/2014/main" id="{F28C8CCE-AAFF-4A61-ADD9-BFE0247F78D2}"/>
              </a:ext>
            </a:extLst>
          </p:cNvPr>
          <p:cNvSpPr>
            <a:spLocks xmlns:a="http://schemas.openxmlformats.org/drawingml/2006/main" noGrp="1"/>
          </p:cNvSpPr>
          <p:nvPr/>
        </p:nvSpPr>
        <p:spPr>
          <a:xfrm xmlns:a="http://schemas.openxmlformats.org/drawingml/2006/main">
            <a:off x="3733800"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0" name="">
            <a:extLst xmlns:a="http://schemas.openxmlformats.org/drawingml/2006/main">
              <a:ext uri="{FF2B5EF4-FFF2-40B4-BE49-F238E27FC236}">
                <a16:creationId xmlns:a16="http://schemas.microsoft.com/office/drawing/2014/main" id="{07D2D12B-7CD4-4206-8C80-22A52C1A69D8}"/>
              </a:ext>
            </a:extLst>
          </p:cNvPr>
          <p:cNvSpPr>
            <a:spLocks xmlns:a="http://schemas.openxmlformats.org/drawingml/2006/main" noGrp="1"/>
          </p:cNvSpPr>
          <p:nvPr/>
        </p:nvSpPr>
        <p:spPr>
          <a:xfrm xmlns:a="http://schemas.openxmlformats.org/drawingml/2006/main" rot="0">
            <a:off x="3295650"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FAFAFA"/>
                </a:solidFill>
                <a:latin typeface="DM Sans"/>
                <a:ea typeface="DM Sans"/>
                <a:cs typeface="DM Sans"/>
              </a:defRPr>
            </a:defPPr>
            <a:lvl1pPr algn="ctr">
              <a:defRPr sz="900" b="0">
                <a:solidFill>
                  <a:srgbClr val="FAFAFA"/>
                </a:solidFill>
                <a:latin typeface="DM Sans"/>
                <a:ea typeface="DM Sans"/>
                <a:cs typeface="DM Sans"/>
              </a:defRPr>
            </a:lvl1pPr>
            <a:lvl2pPr algn="ctr">
              <a:defRPr sz="900" b="0">
                <a:solidFill>
                  <a:srgbClr val="FAFAFA"/>
                </a:solidFill>
                <a:latin typeface="DM Sans"/>
                <a:ea typeface="DM Sans"/>
                <a:cs typeface="DM Sans"/>
              </a:defRPr>
            </a:lvl2pPr>
            <a:lvl3pPr algn="ctr">
              <a:defRPr sz="900" b="0">
                <a:solidFill>
                  <a:srgbClr val="FAFAFA"/>
                </a:solidFill>
                <a:latin typeface="DM Sans"/>
                <a:ea typeface="DM Sans"/>
                <a:cs typeface="DM Sans"/>
              </a:defRPr>
            </a:lvl3pPr>
            <a:lvl4pPr algn="ctr">
              <a:defRPr sz="900" b="0">
                <a:solidFill>
                  <a:srgbClr val="FAFAFA"/>
                </a:solidFill>
                <a:latin typeface="DM Sans"/>
                <a:ea typeface="DM Sans"/>
                <a:cs typeface="DM Sans"/>
              </a:defRPr>
            </a:lvl4pPr>
            <a:lvl5pPr algn="ctr">
              <a:defRPr sz="900" b="0">
                <a:solidFill>
                  <a:srgbClr val="FAFAFA"/>
                </a:solidFill>
                <a:latin typeface="DM Sans"/>
                <a:ea typeface="DM Sans"/>
                <a:cs typeface="DM Sans"/>
              </a:defRPr>
            </a:lvl5pPr>
            <a:lvl6pPr algn="ctr">
              <a:defRPr sz="900" b="0">
                <a:solidFill>
                  <a:srgbClr val="FAFAFA"/>
                </a:solidFill>
                <a:latin typeface="DM Sans"/>
                <a:ea typeface="DM Sans"/>
                <a:cs typeface="DM Sans"/>
              </a:defRPr>
            </a:lvl6pPr>
            <a:lvl7pPr algn="ctr">
              <a:defRPr sz="900" b="0">
                <a:solidFill>
                  <a:srgbClr val="FAFAFA"/>
                </a:solidFill>
                <a:latin typeface="DM Sans"/>
                <a:ea typeface="DM Sans"/>
                <a:cs typeface="DM Sans"/>
              </a:defRPr>
            </a:lvl7pPr>
            <a:lvl8pPr algn="ctr">
              <a:defRPr sz="900" b="0">
                <a:solidFill>
                  <a:srgbClr val="FAFAFA"/>
                </a:solidFill>
                <a:latin typeface="DM Sans"/>
                <a:ea typeface="DM Sans"/>
                <a:cs typeface="DM Sans"/>
              </a:defRPr>
            </a:lvl8pPr>
            <a:lvl9pPr algn="ctr">
              <a:defRPr sz="900" b="0">
                <a:solidFill>
                  <a:srgbClr val="FAFAFA"/>
                </a:solidFill>
                <a:latin typeface="DM Sans"/>
                <a:ea typeface="DM Sans"/>
                <a:cs typeface="DM Sans"/>
              </a:defRPr>
            </a:lvl9pPr>
          </a:lstStyle>
          <a:p xmlns:a="http://schemas.openxmlformats.org/drawingml/2006/main">
            <a:pPr algn="ctr">
              <a:defRPr sz="900" b="0">
                <a:solidFill>
                  <a:srgbClr val="FAFAFA"/>
                </a:solidFill>
                <a:latin typeface="DM Sans"/>
                <a:ea typeface="DM Sans"/>
                <a:cs typeface="DM Sans"/>
              </a:defRPr>
            </a:pPr>
            <a:r>
              <a:rPr sz="900" b="0">
                <a:solidFill>
                  <a:srgbClr val="FAFAFA"/>
                </a:solidFill>
                <a:latin typeface="DM Sans"/>
                <a:ea typeface="DM Sans"/>
                <a:cs typeface="DM Sans"/>
              </a:rPr>
              <a:t>30 DAYS</a:t>
            </a:r>
          </a:p>
        </p:txBody>
      </p:sp>
      <p:sp>
        <p:nvSpPr>
          <p:cNvPr id="41" name="">
            <a:extLst xmlns:a="http://schemas.openxmlformats.org/drawingml/2006/main">
              <a:ext uri="{FF2B5EF4-FFF2-40B4-BE49-F238E27FC236}">
                <a16:creationId xmlns:a16="http://schemas.microsoft.com/office/drawing/2014/main" id="{CA2F5D89-A5A8-4723-8EFF-9E2C19B322C0}"/>
              </a:ext>
            </a:extLst>
          </p:cNvPr>
          <p:cNvSpPr>
            <a:spLocks xmlns:a="http://schemas.openxmlformats.org/drawingml/2006/main" noGrp="1"/>
          </p:cNvSpPr>
          <p:nvPr/>
        </p:nvSpPr>
        <p:spPr>
          <a:xfrm xmlns:a="http://schemas.openxmlformats.org/drawingml/2006/main">
            <a:off x="6962775"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2" name="">
            <a:extLst xmlns:a="http://schemas.openxmlformats.org/drawingml/2006/main">
              <a:ext uri="{FF2B5EF4-FFF2-40B4-BE49-F238E27FC236}">
                <a16:creationId xmlns:a16="http://schemas.microsoft.com/office/drawing/2014/main" id="{5FB0418C-9067-4DE0-B830-0C389A8AF8A8}"/>
              </a:ext>
            </a:extLst>
          </p:cNvPr>
          <p:cNvSpPr>
            <a:spLocks xmlns:a="http://schemas.openxmlformats.org/drawingml/2006/main" noGrp="1"/>
          </p:cNvSpPr>
          <p:nvPr/>
        </p:nvSpPr>
        <p:spPr>
          <a:xfrm xmlns:a="http://schemas.openxmlformats.org/drawingml/2006/main" rot="0">
            <a:off x="6524625"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22C55E"/>
                </a:solidFill>
                <a:latin typeface="DM Sans"/>
                <a:ea typeface="DM Sans"/>
                <a:cs typeface="DM Sans"/>
              </a:defRPr>
            </a:defPPr>
            <a:lvl1pPr algn="ctr">
              <a:defRPr sz="900" b="0">
                <a:solidFill>
                  <a:srgbClr val="22C55E"/>
                </a:solidFill>
                <a:latin typeface="DM Sans"/>
                <a:ea typeface="DM Sans"/>
                <a:cs typeface="DM Sans"/>
              </a:defRPr>
            </a:lvl1pPr>
            <a:lvl2pPr algn="ctr">
              <a:defRPr sz="900" b="0">
                <a:solidFill>
                  <a:srgbClr val="22C55E"/>
                </a:solidFill>
                <a:latin typeface="DM Sans"/>
                <a:ea typeface="DM Sans"/>
                <a:cs typeface="DM Sans"/>
              </a:defRPr>
            </a:lvl2pPr>
            <a:lvl3pPr algn="ctr">
              <a:defRPr sz="900" b="0">
                <a:solidFill>
                  <a:srgbClr val="22C55E"/>
                </a:solidFill>
                <a:latin typeface="DM Sans"/>
                <a:ea typeface="DM Sans"/>
                <a:cs typeface="DM Sans"/>
              </a:defRPr>
            </a:lvl3pPr>
            <a:lvl4pPr algn="ctr">
              <a:defRPr sz="900" b="0">
                <a:solidFill>
                  <a:srgbClr val="22C55E"/>
                </a:solidFill>
                <a:latin typeface="DM Sans"/>
                <a:ea typeface="DM Sans"/>
                <a:cs typeface="DM Sans"/>
              </a:defRPr>
            </a:lvl4pPr>
            <a:lvl5pPr algn="ctr">
              <a:defRPr sz="900" b="0">
                <a:solidFill>
                  <a:srgbClr val="22C55E"/>
                </a:solidFill>
                <a:latin typeface="DM Sans"/>
                <a:ea typeface="DM Sans"/>
                <a:cs typeface="DM Sans"/>
              </a:defRPr>
            </a:lvl5pPr>
            <a:lvl6pPr algn="ctr">
              <a:defRPr sz="900" b="0">
                <a:solidFill>
                  <a:srgbClr val="22C55E"/>
                </a:solidFill>
                <a:latin typeface="DM Sans"/>
                <a:ea typeface="DM Sans"/>
                <a:cs typeface="DM Sans"/>
              </a:defRPr>
            </a:lvl6pPr>
            <a:lvl7pPr algn="ctr">
              <a:defRPr sz="900" b="0">
                <a:solidFill>
                  <a:srgbClr val="22C55E"/>
                </a:solidFill>
                <a:latin typeface="DM Sans"/>
                <a:ea typeface="DM Sans"/>
                <a:cs typeface="DM Sans"/>
              </a:defRPr>
            </a:lvl7pPr>
            <a:lvl8pPr algn="ctr">
              <a:defRPr sz="900" b="0">
                <a:solidFill>
                  <a:srgbClr val="22C55E"/>
                </a:solidFill>
                <a:latin typeface="DM Sans"/>
                <a:ea typeface="DM Sans"/>
                <a:cs typeface="DM Sans"/>
              </a:defRPr>
            </a:lvl8pPr>
            <a:lvl9pPr algn="ctr">
              <a:defRPr sz="900" b="0">
                <a:solidFill>
                  <a:srgbClr val="22C55E"/>
                </a:solidFill>
                <a:latin typeface="DM Sans"/>
                <a:ea typeface="DM Sans"/>
                <a:cs typeface="DM Sans"/>
              </a:defRPr>
            </a:lvl9pPr>
          </a:lstStyle>
          <a:p xmlns:a="http://schemas.openxmlformats.org/drawingml/2006/main">
            <a:pPr algn="ctr">
              <a:defRPr sz="900" b="0">
                <a:solidFill>
                  <a:srgbClr val="22C55E"/>
                </a:solidFill>
                <a:latin typeface="DM Sans"/>
                <a:ea typeface="DM Sans"/>
                <a:cs typeface="DM Sans"/>
              </a:defRPr>
            </a:pPr>
            <a:r>
              <a:rPr sz="900" b="0">
                <a:solidFill>
                  <a:srgbClr val="22C55E"/>
                </a:solidFill>
                <a:latin typeface="DM Sans"/>
                <a:ea typeface="DM Sans"/>
                <a:cs typeface="DM Sans"/>
              </a:rPr>
              <a:t>90 DAYS</a:t>
            </a:r>
          </a:p>
        </p:txBody>
      </p:sp>
      <p:sp>
        <p:nvSpPr>
          <p:cNvPr id="43" name="">
            <a:extLst xmlns:a="http://schemas.openxmlformats.org/drawingml/2006/main">
              <a:ext uri="{FF2B5EF4-FFF2-40B4-BE49-F238E27FC236}">
                <a16:creationId xmlns:a16="http://schemas.microsoft.com/office/drawing/2014/main" id="{0831BFAA-D084-44BD-B6BF-569F456472C9}"/>
              </a:ext>
            </a:extLst>
          </p:cNvPr>
          <p:cNvSpPr>
            <a:spLocks xmlns:a="http://schemas.openxmlformats.org/drawingml/2006/main" noGrp="1"/>
          </p:cNvSpPr>
          <p:nvPr/>
        </p:nvSpPr>
        <p:spPr>
          <a:xfrm xmlns:a="http://schemas.openxmlformats.org/drawingml/2006/main">
            <a:off x="11525250"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4" name="">
            <a:extLst xmlns:a="http://schemas.openxmlformats.org/drawingml/2006/main">
              <a:ext uri="{FF2B5EF4-FFF2-40B4-BE49-F238E27FC236}">
                <a16:creationId xmlns:a16="http://schemas.microsoft.com/office/drawing/2014/main" id="{FB956D24-F929-4644-8DF9-5F9F1E60CCBB}"/>
              </a:ext>
            </a:extLst>
          </p:cNvPr>
          <p:cNvSpPr>
            <a:spLocks xmlns:a="http://schemas.openxmlformats.org/drawingml/2006/main" noGrp="1"/>
          </p:cNvSpPr>
          <p:nvPr/>
        </p:nvSpPr>
        <p:spPr>
          <a:xfrm xmlns:a="http://schemas.openxmlformats.org/drawingml/2006/main" rot="0">
            <a:off x="11087100"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FAFAFA"/>
                </a:solidFill>
                <a:latin typeface="DM Sans"/>
                <a:ea typeface="DM Sans"/>
                <a:cs typeface="DM Sans"/>
              </a:defRPr>
            </a:defPPr>
            <a:lvl1pPr algn="ctr">
              <a:defRPr sz="900" b="0">
                <a:solidFill>
                  <a:srgbClr val="FAFAFA"/>
                </a:solidFill>
                <a:latin typeface="DM Sans"/>
                <a:ea typeface="DM Sans"/>
                <a:cs typeface="DM Sans"/>
              </a:defRPr>
            </a:lvl1pPr>
            <a:lvl2pPr algn="ctr">
              <a:defRPr sz="900" b="0">
                <a:solidFill>
                  <a:srgbClr val="FAFAFA"/>
                </a:solidFill>
                <a:latin typeface="DM Sans"/>
                <a:ea typeface="DM Sans"/>
                <a:cs typeface="DM Sans"/>
              </a:defRPr>
            </a:lvl2pPr>
            <a:lvl3pPr algn="ctr">
              <a:defRPr sz="900" b="0">
                <a:solidFill>
                  <a:srgbClr val="FAFAFA"/>
                </a:solidFill>
                <a:latin typeface="DM Sans"/>
                <a:ea typeface="DM Sans"/>
                <a:cs typeface="DM Sans"/>
              </a:defRPr>
            </a:lvl3pPr>
            <a:lvl4pPr algn="ctr">
              <a:defRPr sz="900" b="0">
                <a:solidFill>
                  <a:srgbClr val="FAFAFA"/>
                </a:solidFill>
                <a:latin typeface="DM Sans"/>
                <a:ea typeface="DM Sans"/>
                <a:cs typeface="DM Sans"/>
              </a:defRPr>
            </a:lvl4pPr>
            <a:lvl5pPr algn="ctr">
              <a:defRPr sz="900" b="0">
                <a:solidFill>
                  <a:srgbClr val="FAFAFA"/>
                </a:solidFill>
                <a:latin typeface="DM Sans"/>
                <a:ea typeface="DM Sans"/>
                <a:cs typeface="DM Sans"/>
              </a:defRPr>
            </a:lvl5pPr>
            <a:lvl6pPr algn="ctr">
              <a:defRPr sz="900" b="0">
                <a:solidFill>
                  <a:srgbClr val="FAFAFA"/>
                </a:solidFill>
                <a:latin typeface="DM Sans"/>
                <a:ea typeface="DM Sans"/>
                <a:cs typeface="DM Sans"/>
              </a:defRPr>
            </a:lvl6pPr>
            <a:lvl7pPr algn="ctr">
              <a:defRPr sz="900" b="0">
                <a:solidFill>
                  <a:srgbClr val="FAFAFA"/>
                </a:solidFill>
                <a:latin typeface="DM Sans"/>
                <a:ea typeface="DM Sans"/>
                <a:cs typeface="DM Sans"/>
              </a:defRPr>
            </a:lvl7pPr>
            <a:lvl8pPr algn="ctr">
              <a:defRPr sz="900" b="0">
                <a:solidFill>
                  <a:srgbClr val="FAFAFA"/>
                </a:solidFill>
                <a:latin typeface="DM Sans"/>
                <a:ea typeface="DM Sans"/>
                <a:cs typeface="DM Sans"/>
              </a:defRPr>
            </a:lvl8pPr>
            <a:lvl9pPr algn="ctr">
              <a:defRPr sz="900" b="0">
                <a:solidFill>
                  <a:srgbClr val="FAFAFA"/>
                </a:solidFill>
                <a:latin typeface="DM Sans"/>
                <a:ea typeface="DM Sans"/>
                <a:cs typeface="DM Sans"/>
              </a:defRPr>
            </a:lvl9pPr>
          </a:lstStyle>
          <a:p xmlns:a="http://schemas.openxmlformats.org/drawingml/2006/main">
            <a:pPr algn="ctr">
              <a:defRPr sz="900" b="0">
                <a:solidFill>
                  <a:srgbClr val="FAFAFA"/>
                </a:solidFill>
                <a:latin typeface="DM Sans"/>
                <a:ea typeface="DM Sans"/>
                <a:cs typeface="DM Sans"/>
              </a:defRPr>
            </a:pPr>
            <a:r>
              <a:rPr sz="900" b="0">
                <a:solidFill>
                  <a:srgbClr val="FAFAFA"/>
                </a:solidFill>
                <a:latin typeface="DM Sans"/>
                <a:ea typeface="DM Sans"/>
                <a:cs typeface="DM Sans"/>
              </a:rPr>
              <a:t>180 DAYS</a:t>
            </a:r>
          </a:p>
        </p:txBody>
      </p:sp>
      <p:sp>
        <p:nvSpPr>
          <p:cNvPr id="45" name="">
            <a:extLst xmlns:a="http://schemas.openxmlformats.org/drawingml/2006/main">
              <a:ext uri="{FF2B5EF4-FFF2-40B4-BE49-F238E27FC236}">
                <a16:creationId xmlns:a16="http://schemas.microsoft.com/office/drawing/2014/main" id="{BC9AFAC2-ABC0-48E0-8136-7D733359F7BB}"/>
              </a:ext>
            </a:extLst>
          </p:cNvPr>
          <p:cNvSpPr>
            <a:spLocks xmlns:a="http://schemas.openxmlformats.org/drawingml/2006/main" noGrp="1"/>
          </p:cNvSpPr>
          <p:nvPr/>
        </p:nvSpPr>
        <p:spPr>
          <a:xfrm xmlns:a="http://schemas.openxmlformats.org/drawingml/2006/main" rot="0">
            <a:off x="400050" y="6486525"/>
            <a:ext cx="10953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A3A3A3"/>
                </a:solidFill>
                <a:latin typeface="DM Sans"/>
                <a:ea typeface="DM Sans"/>
                <a:cs typeface="DM Sans"/>
              </a:defRPr>
            </a:defPPr>
            <a:lvl1pPr algn="l">
              <a:defRPr sz="750" b="0">
                <a:solidFill>
                  <a:srgbClr val="A3A3A3"/>
                </a:solidFill>
                <a:latin typeface="DM Sans"/>
                <a:ea typeface="DM Sans"/>
                <a:cs typeface="DM Sans"/>
              </a:defRPr>
            </a:lvl1pPr>
            <a:lvl2pPr algn="l">
              <a:defRPr sz="750" b="0">
                <a:solidFill>
                  <a:srgbClr val="A3A3A3"/>
                </a:solidFill>
                <a:latin typeface="DM Sans"/>
                <a:ea typeface="DM Sans"/>
                <a:cs typeface="DM Sans"/>
              </a:defRPr>
            </a:lvl2pPr>
            <a:lvl3pPr algn="l">
              <a:defRPr sz="750" b="0">
                <a:solidFill>
                  <a:srgbClr val="A3A3A3"/>
                </a:solidFill>
                <a:latin typeface="DM Sans"/>
                <a:ea typeface="DM Sans"/>
                <a:cs typeface="DM Sans"/>
              </a:defRPr>
            </a:lvl3pPr>
            <a:lvl4pPr algn="l">
              <a:defRPr sz="750" b="0">
                <a:solidFill>
                  <a:srgbClr val="A3A3A3"/>
                </a:solidFill>
                <a:latin typeface="DM Sans"/>
                <a:ea typeface="DM Sans"/>
                <a:cs typeface="DM Sans"/>
              </a:defRPr>
            </a:lvl4pPr>
            <a:lvl5pPr algn="l">
              <a:defRPr sz="750" b="0">
                <a:solidFill>
                  <a:srgbClr val="A3A3A3"/>
                </a:solidFill>
                <a:latin typeface="DM Sans"/>
                <a:ea typeface="DM Sans"/>
                <a:cs typeface="DM Sans"/>
              </a:defRPr>
            </a:lvl5pPr>
            <a:lvl6pPr algn="l">
              <a:defRPr sz="750" b="0">
                <a:solidFill>
                  <a:srgbClr val="A3A3A3"/>
                </a:solidFill>
                <a:latin typeface="DM Sans"/>
                <a:ea typeface="DM Sans"/>
                <a:cs typeface="DM Sans"/>
              </a:defRPr>
            </a:lvl6pPr>
            <a:lvl7pPr algn="l">
              <a:defRPr sz="750" b="0">
                <a:solidFill>
                  <a:srgbClr val="A3A3A3"/>
                </a:solidFill>
                <a:latin typeface="DM Sans"/>
                <a:ea typeface="DM Sans"/>
                <a:cs typeface="DM Sans"/>
              </a:defRPr>
            </a:lvl7pPr>
            <a:lvl8pPr algn="l">
              <a:defRPr sz="750" b="0">
                <a:solidFill>
                  <a:srgbClr val="A3A3A3"/>
                </a:solidFill>
                <a:latin typeface="DM Sans"/>
                <a:ea typeface="DM Sans"/>
                <a:cs typeface="DM Sans"/>
              </a:defRPr>
            </a:lvl8pPr>
            <a:lvl9pPr algn="l">
              <a:defRPr sz="750" b="0">
                <a:solidFill>
                  <a:srgbClr val="A3A3A3"/>
                </a:solidFill>
                <a:latin typeface="DM Sans"/>
                <a:ea typeface="DM Sans"/>
                <a:cs typeface="DM Sans"/>
              </a:defRPr>
            </a:lvl9pPr>
          </a:lstStyle>
          <a:p xmlns:a="http://schemas.openxmlformats.org/drawingml/2006/main">
            <a:pPr algn="l">
              <a:defRPr sz="750" b="0">
                <a:solidFill>
                  <a:srgbClr val="A3A3A3"/>
                </a:solidFill>
                <a:latin typeface="DM Sans"/>
                <a:ea typeface="DM Sans"/>
                <a:cs typeface="DM Sans"/>
              </a:defRPr>
            </a:pPr>
            <a:r>
              <a:rPr sz="750" b="0">
                <a:solidFill>
                  <a:srgbClr val="A3A3A3"/>
                </a:solidFill>
                <a:latin typeface="DM Sans"/>
                <a:ea typeface="DM Sans"/>
                <a:cs typeface="DM Sans"/>
              </a:rPr>
              <a:t>Timelines are illustrative. The holding period and closing buffer must fit before expiry.</a:t>
            </a:r>
          </a:p>
        </p:txBody>
      </p:sp>
    </p:spTree>
    <p:extLst>
      <p:ext uri="{BB962C8B-B14F-4D97-AF65-F5344CB8AC3E}">
        <p14:creationId xmlns:p14="http://schemas.microsoft.com/office/powerpoint/2010/main" val="1143613270"/>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33FF82C-67D0-4D8B-8E7E-3F6331281782}"/>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D01139B8-D03F-436F-BC49-C311E8CFD0FE}"/>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0ABA5BA7-F429-469E-A752-CA3247370AEA}"/>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0075C0AE-D02D-4504-AC1D-9AC245A8C0C0}"/>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A55B5808-8831-42C5-80C1-6B3324528C89}"/>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C31CC816-1266-482E-AA98-C7684FE400FE}"/>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Observed evidence</a:t>
            </a:r>
          </a:p>
        </p:txBody>
      </p:sp>
      <p:sp>
        <p:nvSpPr>
          <p:cNvPr id="7" name="">
            <a:extLst xmlns:a="http://schemas.openxmlformats.org/drawingml/2006/main">
              <a:ext uri="{FF2B5EF4-FFF2-40B4-BE49-F238E27FC236}">
                <a16:creationId xmlns:a16="http://schemas.microsoft.com/office/drawing/2014/main" id="{6C2F8B6B-C890-4D32-9D59-E9DAA52EAA8C}"/>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sp>
        <p:nvSpPr>
          <p:cNvPr id="8" name="">
            <a:extLst xmlns:a="http://schemas.openxmlformats.org/drawingml/2006/main">
              <a:ext uri="{FF2B5EF4-FFF2-40B4-BE49-F238E27FC236}">
                <a16:creationId xmlns:a16="http://schemas.microsoft.com/office/drawing/2014/main" id="{83D81CE7-C81A-4DD9-8963-3FB592010481}"/>
              </a:ext>
            </a:extLst>
          </p:cNvPr>
          <p:cNvSpPr>
            <a:spLocks xmlns:a="http://schemas.openxmlformats.org/drawingml/2006/main" noGrp="1"/>
          </p:cNvSpPr>
          <p:nvPr/>
        </p:nvSpPr>
        <p:spPr>
          <a:xfrm xmlns:a="http://schemas.openxmlformats.org/drawingml/2006/main" rot="0">
            <a:off x="400050" y="18573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We begin with</a:t>
            </a:r>
          </a:p>
        </p:txBody>
      </p:sp>
      <p:sp>
        <p:nvSpPr>
          <p:cNvPr id="9" name="">
            <a:extLst xmlns:a="http://schemas.openxmlformats.org/drawingml/2006/main">
              <a:ext uri="{FF2B5EF4-FFF2-40B4-BE49-F238E27FC236}">
                <a16:creationId xmlns:a16="http://schemas.microsoft.com/office/drawing/2014/main" id="{1138F983-9ED8-49E3-B83F-BA6475AEDC5E}"/>
              </a:ext>
            </a:extLst>
          </p:cNvPr>
          <p:cNvSpPr>
            <a:spLocks xmlns:a="http://schemas.openxmlformats.org/drawingml/2006/main" noGrp="1"/>
          </p:cNvSpPr>
          <p:nvPr/>
        </p:nvSpPr>
        <p:spPr>
          <a:xfrm xmlns:a="http://schemas.openxmlformats.org/drawingml/2006/main" rot="0">
            <a:off x="400050" y="2314575"/>
            <a:ext cx="2571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475" b="0">
                <a:solidFill>
                  <a:srgbClr val="0A0A0A"/>
                </a:solidFill>
                <a:latin typeface="DM Sans Light"/>
                <a:ea typeface="DM Sans Light"/>
                <a:cs typeface="DM Sans Light"/>
              </a:defRPr>
            </a:defPPr>
            <a:lvl1pPr algn="l">
              <a:defRPr sz="8475" b="0">
                <a:solidFill>
                  <a:srgbClr val="0A0A0A"/>
                </a:solidFill>
                <a:latin typeface="DM Sans Light"/>
                <a:ea typeface="DM Sans Light"/>
                <a:cs typeface="DM Sans Light"/>
              </a:defRPr>
            </a:lvl1pPr>
            <a:lvl2pPr algn="l">
              <a:defRPr sz="8475" b="0">
                <a:solidFill>
                  <a:srgbClr val="0A0A0A"/>
                </a:solidFill>
                <a:latin typeface="DM Sans Light"/>
                <a:ea typeface="DM Sans Light"/>
                <a:cs typeface="DM Sans Light"/>
              </a:defRPr>
            </a:lvl2pPr>
            <a:lvl3pPr algn="l">
              <a:defRPr sz="8475" b="0">
                <a:solidFill>
                  <a:srgbClr val="0A0A0A"/>
                </a:solidFill>
                <a:latin typeface="DM Sans Light"/>
                <a:ea typeface="DM Sans Light"/>
                <a:cs typeface="DM Sans Light"/>
              </a:defRPr>
            </a:lvl3pPr>
            <a:lvl4pPr algn="l">
              <a:defRPr sz="8475" b="0">
                <a:solidFill>
                  <a:srgbClr val="0A0A0A"/>
                </a:solidFill>
                <a:latin typeface="DM Sans Light"/>
                <a:ea typeface="DM Sans Light"/>
                <a:cs typeface="DM Sans Light"/>
              </a:defRPr>
            </a:lvl4pPr>
            <a:lvl5pPr algn="l">
              <a:defRPr sz="8475" b="0">
                <a:solidFill>
                  <a:srgbClr val="0A0A0A"/>
                </a:solidFill>
                <a:latin typeface="DM Sans Light"/>
                <a:ea typeface="DM Sans Light"/>
                <a:cs typeface="DM Sans Light"/>
              </a:defRPr>
            </a:lvl5pPr>
            <a:lvl6pPr algn="l">
              <a:defRPr sz="8475" b="0">
                <a:solidFill>
                  <a:srgbClr val="0A0A0A"/>
                </a:solidFill>
                <a:latin typeface="DM Sans Light"/>
                <a:ea typeface="DM Sans Light"/>
                <a:cs typeface="DM Sans Light"/>
              </a:defRPr>
            </a:lvl6pPr>
            <a:lvl7pPr algn="l">
              <a:defRPr sz="8475" b="0">
                <a:solidFill>
                  <a:srgbClr val="0A0A0A"/>
                </a:solidFill>
                <a:latin typeface="DM Sans Light"/>
                <a:ea typeface="DM Sans Light"/>
                <a:cs typeface="DM Sans Light"/>
              </a:defRPr>
            </a:lvl7pPr>
            <a:lvl8pPr algn="l">
              <a:defRPr sz="8475" b="0">
                <a:solidFill>
                  <a:srgbClr val="0A0A0A"/>
                </a:solidFill>
                <a:latin typeface="DM Sans Light"/>
                <a:ea typeface="DM Sans Light"/>
                <a:cs typeface="DM Sans Light"/>
              </a:defRPr>
            </a:lvl8pPr>
            <a:lvl9pPr algn="l">
              <a:defRPr sz="8475" b="0">
                <a:solidFill>
                  <a:srgbClr val="0A0A0A"/>
                </a:solidFill>
                <a:latin typeface="DM Sans Light"/>
                <a:ea typeface="DM Sans Light"/>
                <a:cs typeface="DM Sans Light"/>
              </a:defRPr>
            </a:lvl9pPr>
          </a:lstStyle>
          <a:p xmlns:a="http://schemas.openxmlformats.org/drawingml/2006/main">
            <a:pPr algn="l">
              <a:defRPr sz="8475" b="0">
                <a:solidFill>
                  <a:srgbClr val="0A0A0A"/>
                </a:solidFill>
                <a:latin typeface="DM Sans Light"/>
                <a:ea typeface="DM Sans Light"/>
                <a:cs typeface="DM Sans Light"/>
              </a:defRPr>
            </a:pPr>
            <a:r>
              <a:rPr sz="8475" b="0">
                <a:solidFill>
                  <a:srgbClr val="0A0A0A"/>
                </a:solidFill>
                <a:latin typeface="DM Sans Light"/>
                <a:ea typeface="DM Sans Light"/>
                <a:cs typeface="DM Sans Light"/>
              </a:rPr>
              <a:t>67</a:t>
            </a:r>
          </a:p>
        </p:txBody>
      </p:sp>
      <p:sp>
        <p:nvSpPr>
          <p:cNvPr id="10" name="">
            <a:extLst xmlns:a="http://schemas.openxmlformats.org/drawingml/2006/main">
              <a:ext uri="{FF2B5EF4-FFF2-40B4-BE49-F238E27FC236}">
                <a16:creationId xmlns:a16="http://schemas.microsoft.com/office/drawing/2014/main" id="{30A92570-A3E2-486D-BD10-A278799CC326}"/>
              </a:ext>
            </a:extLst>
          </p:cNvPr>
          <p:cNvSpPr>
            <a:spLocks xmlns:a="http://schemas.openxmlformats.org/drawingml/2006/main" noGrp="1"/>
          </p:cNvSpPr>
          <p:nvPr/>
        </p:nvSpPr>
        <p:spPr>
          <a:xfrm xmlns:a="http://schemas.openxmlformats.org/drawingml/2006/main">
            <a:off x="447675" y="3609975"/>
            <a:ext cx="1381125" cy="95"/>
          </a:xfrm>
          <a:custGeom xmlns:a="http://schemas.openxmlformats.org/drawingml/2006/main">
            <a:pathLst>
              <a:path w="1381125" h="95">
                <a:moveTo>
                  <a:pt x="0" y="0"/>
                </a:moveTo>
                <a:lnTo>
                  <a:pt x="1381125" y="0"/>
                </a:lnTo>
              </a:path>
            </a:pathLst>
          </a:custGeom>
          <a:noFill xmlns:a="http://schemas.openxmlformats.org/drawingml/2006/main"/>
          <a:ln xmlns:a="http://schemas.openxmlformats.org/drawingml/2006/main" w="17145">
            <a:solidFill>
              <a:srgbClr val="0A0A0A"/>
            </a:solidFill>
            <a:prstDash val="solid"/>
          </a:ln>
        </p:spPr>
      </p:sp>
      <p:sp>
        <p:nvSpPr>
          <p:cNvPr id="11" name="">
            <a:extLst xmlns:a="http://schemas.openxmlformats.org/drawingml/2006/main">
              <a:ext uri="{FF2B5EF4-FFF2-40B4-BE49-F238E27FC236}">
                <a16:creationId xmlns:a16="http://schemas.microsoft.com/office/drawing/2014/main" id="{C1FDAA18-A8D6-4D76-A1F5-90FBE257C39D}"/>
              </a:ext>
            </a:extLst>
          </p:cNvPr>
          <p:cNvSpPr>
            <a:spLocks xmlns:a="http://schemas.openxmlformats.org/drawingml/2006/main" noGrp="1"/>
          </p:cNvSpPr>
          <p:nvPr/>
        </p:nvSpPr>
        <p:spPr>
          <a:xfrm xmlns:a="http://schemas.openxmlformats.org/drawingml/2006/main" rot="0">
            <a:off x="400050" y="384810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measured sediment samples</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from Tok River, Alaska.</a:t>
            </a:r>
          </a:p>
        </p:txBody>
      </p:sp>
      <p:sp>
        <p:nvSpPr>
          <p:cNvPr id="12" name="">
            <a:extLst xmlns:a="http://schemas.openxmlformats.org/drawingml/2006/main">
              <a:ext uri="{FF2B5EF4-FFF2-40B4-BE49-F238E27FC236}">
                <a16:creationId xmlns:a16="http://schemas.microsoft.com/office/drawing/2014/main" id="{0328E9E4-BEA1-4A4A-94BB-480C862F590E}"/>
              </a:ext>
            </a:extLst>
          </p:cNvPr>
          <p:cNvSpPr>
            <a:spLocks xmlns:a="http://schemas.openxmlformats.org/drawingml/2006/main" noGrp="1"/>
          </p:cNvSpPr>
          <p:nvPr/>
        </p:nvSpPr>
        <p:spPr>
          <a:xfrm xmlns:a="http://schemas.openxmlformats.org/drawingml/2006/main" rot="0">
            <a:off x="400050" y="4991100"/>
            <a:ext cx="590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A0A0A"/>
                </a:solidFill>
                <a:latin typeface="DM Sans"/>
                <a:ea typeface="DM Sans"/>
                <a:cs typeface="DM Sans"/>
              </a:defRPr>
            </a:defPPr>
            <a:lvl1pPr algn="l">
              <a:defRPr sz="1725" b="0">
                <a:solidFill>
                  <a:srgbClr val="0A0A0A"/>
                </a:solidFill>
                <a:latin typeface="DM Sans"/>
                <a:ea typeface="DM Sans"/>
                <a:cs typeface="DM Sans"/>
              </a:defRPr>
            </a:lvl1pPr>
            <a:lvl2pPr algn="l">
              <a:defRPr sz="1725" b="0">
                <a:solidFill>
                  <a:srgbClr val="0A0A0A"/>
                </a:solidFill>
                <a:latin typeface="DM Sans"/>
                <a:ea typeface="DM Sans"/>
                <a:cs typeface="DM Sans"/>
              </a:defRPr>
            </a:lvl2pPr>
            <a:lvl3pPr algn="l">
              <a:defRPr sz="1725" b="0">
                <a:solidFill>
                  <a:srgbClr val="0A0A0A"/>
                </a:solidFill>
                <a:latin typeface="DM Sans"/>
                <a:ea typeface="DM Sans"/>
                <a:cs typeface="DM Sans"/>
              </a:defRPr>
            </a:lvl3pPr>
            <a:lvl4pPr algn="l">
              <a:defRPr sz="1725" b="0">
                <a:solidFill>
                  <a:srgbClr val="0A0A0A"/>
                </a:solidFill>
                <a:latin typeface="DM Sans"/>
                <a:ea typeface="DM Sans"/>
                <a:cs typeface="DM Sans"/>
              </a:defRPr>
            </a:lvl4pPr>
            <a:lvl5pPr algn="l">
              <a:defRPr sz="1725" b="0">
                <a:solidFill>
                  <a:srgbClr val="0A0A0A"/>
                </a:solidFill>
                <a:latin typeface="DM Sans"/>
                <a:ea typeface="DM Sans"/>
                <a:cs typeface="DM Sans"/>
              </a:defRPr>
            </a:lvl5pPr>
            <a:lvl6pPr algn="l">
              <a:defRPr sz="1725" b="0">
                <a:solidFill>
                  <a:srgbClr val="0A0A0A"/>
                </a:solidFill>
                <a:latin typeface="DM Sans"/>
                <a:ea typeface="DM Sans"/>
                <a:cs typeface="DM Sans"/>
              </a:defRPr>
            </a:lvl6pPr>
            <a:lvl7pPr algn="l">
              <a:defRPr sz="1725" b="0">
                <a:solidFill>
                  <a:srgbClr val="0A0A0A"/>
                </a:solidFill>
                <a:latin typeface="DM Sans"/>
                <a:ea typeface="DM Sans"/>
                <a:cs typeface="DM Sans"/>
              </a:defRPr>
            </a:lvl7pPr>
            <a:lvl8pPr algn="l">
              <a:defRPr sz="1725" b="0">
                <a:solidFill>
                  <a:srgbClr val="0A0A0A"/>
                </a:solidFill>
                <a:latin typeface="DM Sans"/>
                <a:ea typeface="DM Sans"/>
                <a:cs typeface="DM Sans"/>
              </a:defRPr>
            </a:lvl8pPr>
            <a:lvl9pPr algn="l">
              <a:defRPr sz="1725" b="0">
                <a:solidFill>
                  <a:srgbClr val="0A0A0A"/>
                </a:solidFill>
                <a:latin typeface="DM Sans"/>
                <a:ea typeface="DM Sans"/>
                <a:cs typeface="DM Sans"/>
              </a:defRPr>
            </a:lvl9pPr>
          </a:lstStyle>
          <a:p xmlns:a="http://schemas.openxmlformats.org/drawingml/2006/main">
            <a:pPr algn="l">
              <a:defRPr sz="1725" b="0">
                <a:solidFill>
                  <a:srgbClr val="0A0A0A"/>
                </a:solidFill>
                <a:latin typeface="DM Sans"/>
                <a:ea typeface="DM Sans"/>
                <a:cs typeface="DM Sans"/>
              </a:defRPr>
            </a:pPr>
            <a:r>
              <a:rPr sz="1725" b="0">
                <a:solidFill>
                  <a:srgbClr val="0A0A0A"/>
                </a:solidFill>
                <a:latin typeface="DM Sans"/>
                <a:ea typeface="DM Sans"/>
                <a:cs typeface="DM Sans"/>
              </a:rPr>
              <a:t>A: 25/33 pass the gold screen; 2 in active claims.</a:t>
            </a:r>
          </a:p>
          <a:p xmlns:a="http://schemas.openxmlformats.org/drawingml/2006/main">
            <a:pPr algn="l">
              <a:defRPr sz="1725" b="0">
                <a:solidFill>
                  <a:srgbClr val="0A0A0A"/>
                </a:solidFill>
                <a:latin typeface="DM Sans"/>
                <a:ea typeface="DM Sans"/>
                <a:cs typeface="DM Sans"/>
              </a:defRPr>
            </a:pPr>
            <a:r>
              <a:rPr sz="1725" b="0">
                <a:solidFill>
                  <a:srgbClr val="0A0A0A"/>
                </a:solidFill>
                <a:latin typeface="DM Sans"/>
                <a:ea typeface="DM Sans"/>
                <a:cs typeface="DM Sans"/>
              </a:rPr>
              <a:t>B: 16/34 pass; 20 in active claims.</a:t>
            </a:r>
          </a:p>
        </p:txBody>
      </p:sp>
      <p:sp>
        <p:nvSpPr>
          <p:cNvPr id="13" name="">
            <a:extLst xmlns:a="http://schemas.openxmlformats.org/drawingml/2006/main">
              <a:ext uri="{FF2B5EF4-FFF2-40B4-BE49-F238E27FC236}">
                <a16:creationId xmlns:a16="http://schemas.microsoft.com/office/drawing/2014/main" id="{D301EF4A-2532-4562-8420-11EBC7407C48}"/>
              </a:ext>
            </a:extLst>
          </p:cNvPr>
          <p:cNvSpPr>
            <a:spLocks xmlns:a="http://schemas.openxmlformats.org/drawingml/2006/main" noGrp="1"/>
          </p:cNvSpPr>
          <p:nvPr/>
        </p:nvSpPr>
        <p:spPr>
          <a:xfrm xmlns:a="http://schemas.openxmlformats.org/drawingml/2006/main" rot="0">
            <a:off x="400050" y="5791200"/>
            <a:ext cx="5334000" cy="7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Land: Alaska DNR state claims, 24 Oct 2026. A was staked in 2011 and mostly dropped; Delta, a 249-claim block beside A, was agreed for sale in September 2026. Recoverable ounces remain a separate assumption.</a:t>
            </a:r>
          </a:p>
        </p:txBody>
      </p:sp>
      <p:sp>
        <p:nvSpPr>
          <p:cNvPr id="14" name="">
            <a:extLst xmlns:a="http://schemas.openxmlformats.org/drawingml/2006/main">
              <a:ext uri="{FF2B5EF4-FFF2-40B4-BE49-F238E27FC236}">
                <a16:creationId xmlns:a16="http://schemas.microsoft.com/office/drawing/2014/main" id="{D9B0BE76-DB8C-4053-8BA0-AE6FF4EF0094}"/>
              </a:ext>
            </a:extLst>
          </p:cNvPr>
          <p:cNvSpPr>
            <a:spLocks xmlns:a="http://schemas.openxmlformats.org/drawingml/2006/main" noGrp="1"/>
          </p:cNvSpPr>
          <p:nvPr/>
        </p:nvSpPr>
        <p:spPr>
          <a:xfrm xmlns:a="http://schemas.openxmlformats.org/drawingml/2006/main">
            <a:off x="6172200" y="152400"/>
            <a:ext cx="5867400" cy="6553200"/>
          </a:xfrm>
          <a:prstGeom xmlns:a="http://schemas.openxmlformats.org/drawingml/2006/main" prst="roundRect">
            <a:avLst>
              <a:gd name="adj" fmla="val 4058"/>
            </a:avLst>
          </a:prstGeom>
          <a:solidFill xmlns:a="http://schemas.openxmlformats.org/drawingml/2006/main">
            <a:srgbClr val="0A0A0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103F16F-36E6-4BC1-AF1F-D295C62F760D}"/>
              </a:ext>
            </a:extLst>
          </p:cNvPr>
          <p:cNvSpPr>
            <a:spLocks xmlns:a="http://schemas.openxmlformats.org/drawingml/2006/main" noGrp="1"/>
          </p:cNvSpPr>
          <p:nvPr/>
        </p:nvSpPr>
        <p:spPr>
          <a:xfrm xmlns:a="http://schemas.openxmlformats.org/drawingml/2006/main" rot="0">
            <a:off x="6438900" y="4095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AFAFA"/>
                </a:solidFill>
                <a:latin typeface="DM Sans"/>
                <a:ea typeface="DM Sans"/>
                <a:cs typeface="DM Sans"/>
              </a:defRPr>
            </a:defPPr>
            <a:lvl1pPr algn="l">
              <a:defRPr sz="2175" b="0">
                <a:solidFill>
                  <a:srgbClr val="FAFAFA"/>
                </a:solidFill>
                <a:latin typeface="DM Sans"/>
                <a:ea typeface="DM Sans"/>
                <a:cs typeface="DM Sans"/>
              </a:defRPr>
            </a:lvl1pPr>
            <a:lvl2pPr algn="l">
              <a:defRPr sz="2175" b="0">
                <a:solidFill>
                  <a:srgbClr val="FAFAFA"/>
                </a:solidFill>
                <a:latin typeface="DM Sans"/>
                <a:ea typeface="DM Sans"/>
                <a:cs typeface="DM Sans"/>
              </a:defRPr>
            </a:lvl2pPr>
            <a:lvl3pPr algn="l">
              <a:defRPr sz="2175" b="0">
                <a:solidFill>
                  <a:srgbClr val="FAFAFA"/>
                </a:solidFill>
                <a:latin typeface="DM Sans"/>
                <a:ea typeface="DM Sans"/>
                <a:cs typeface="DM Sans"/>
              </a:defRPr>
            </a:lvl3pPr>
            <a:lvl4pPr algn="l">
              <a:defRPr sz="2175" b="0">
                <a:solidFill>
                  <a:srgbClr val="FAFAFA"/>
                </a:solidFill>
                <a:latin typeface="DM Sans"/>
                <a:ea typeface="DM Sans"/>
                <a:cs typeface="DM Sans"/>
              </a:defRPr>
            </a:lvl4pPr>
            <a:lvl5pPr algn="l">
              <a:defRPr sz="2175" b="0">
                <a:solidFill>
                  <a:srgbClr val="FAFAFA"/>
                </a:solidFill>
                <a:latin typeface="DM Sans"/>
                <a:ea typeface="DM Sans"/>
                <a:cs typeface="DM Sans"/>
              </a:defRPr>
            </a:lvl5pPr>
            <a:lvl6pPr algn="l">
              <a:defRPr sz="2175" b="0">
                <a:solidFill>
                  <a:srgbClr val="FAFAFA"/>
                </a:solidFill>
                <a:latin typeface="DM Sans"/>
                <a:ea typeface="DM Sans"/>
                <a:cs typeface="DM Sans"/>
              </a:defRPr>
            </a:lvl6pPr>
            <a:lvl7pPr algn="l">
              <a:defRPr sz="2175" b="0">
                <a:solidFill>
                  <a:srgbClr val="FAFAFA"/>
                </a:solidFill>
                <a:latin typeface="DM Sans"/>
                <a:ea typeface="DM Sans"/>
                <a:cs typeface="DM Sans"/>
              </a:defRPr>
            </a:lvl7pPr>
            <a:lvl8pPr algn="l">
              <a:defRPr sz="2175" b="0">
                <a:solidFill>
                  <a:srgbClr val="FAFAFA"/>
                </a:solidFill>
                <a:latin typeface="DM Sans"/>
                <a:ea typeface="DM Sans"/>
                <a:cs typeface="DM Sans"/>
              </a:defRPr>
            </a:lvl8pPr>
            <a:lvl9pPr algn="l">
              <a:defRPr sz="2175" b="0">
                <a:solidFill>
                  <a:srgbClr val="FAFAFA"/>
                </a:solidFill>
                <a:latin typeface="DM Sans"/>
                <a:ea typeface="DM Sans"/>
                <a:cs typeface="DM Sans"/>
              </a:defRPr>
            </a:lvl9pPr>
          </a:lstStyle>
          <a:p xmlns:a="http://schemas.openxmlformats.org/drawingml/2006/main">
            <a:pPr algn="l">
              <a:defRPr sz="2175" b="0">
                <a:solidFill>
                  <a:srgbClr val="FAFAFA"/>
                </a:solidFill>
                <a:latin typeface="DM Sans"/>
                <a:ea typeface="DM Sans"/>
                <a:cs typeface="DM Sans"/>
              </a:defRPr>
            </a:pPr>
            <a:r>
              <a:rPr sz="2175" b="0">
                <a:solidFill>
                  <a:srgbClr val="FAFAFA"/>
                </a:solidFill>
                <a:latin typeface="DM Sans"/>
                <a:ea typeface="DM Sans"/>
                <a:cs typeface="DM Sans"/>
              </a:rPr>
              <a:t>The evidence explorer</a:t>
            </a:r>
          </a:p>
        </p:txBody>
      </p:sp>
      <p:pic>
        <p:nvPicPr>
          <p:cNvPr id="16" name="">
            <a:extLst xmlns:a="http://schemas.openxmlformats.org/drawingml/2006/main">
              <a:ext uri="{FF2B5EF4-FFF2-40B4-BE49-F238E27FC236}">
                <a16:creationId xmlns:a16="http://schemas.microsoft.com/office/drawing/2014/main" id="{C86FFF3B-7CDD-4E07-A93F-48204C95A662}"/>
              </a:ext>
            </a:extLst>
          </p:cNvPr>
          <p:cNvPicPr>
            <a:picLocks xmlns:a="http://schemas.openxmlformats.org/drawingml/2006/main" noChangeAspect="1"/>
          </p:cNvPicPr>
          <p:nvPr/>
        </p:nvPicPr>
        <p:blipFill>
          <a:blip xmlns:r="http://schemas.openxmlformats.org/officeDocument/2006/relationships" xmlns:a="http://schemas.openxmlformats.org/drawingml/2006/main" r:embed="R7d8e2ad223034aac"/>
          <a:srcRect xmlns:a="http://schemas.openxmlformats.org/drawingml/2006/main" l="11057" t="0" r="11057" b="0"/>
          <a:stretch xmlns:a="http://schemas.openxmlformats.org/drawingml/2006/main">
            <a:fillRect l="0" t="0" r="0" b="0"/>
          </a:stretch>
        </p:blipFill>
        <p:spPr>
          <a:xfrm xmlns:a="http://schemas.openxmlformats.org/drawingml/2006/main">
            <a:off x="6381750" y="1066800"/>
            <a:ext cx="5448300" cy="4857750"/>
          </a:xfrm>
          <a:prstGeom xmlns:a="http://schemas.openxmlformats.org/drawingml/2006/main" prst="roundRect">
            <a:avLst>
              <a:gd name="adj" fmla="val 3137"/>
            </a:avLst>
          </a:prstGeom>
        </p:spPr>
      </p:pic>
      <p:sp>
        <p:nvSpPr>
          <p:cNvPr id="17" name="">
            <a:extLst xmlns:a="http://schemas.openxmlformats.org/drawingml/2006/main">
              <a:ext uri="{FF2B5EF4-FFF2-40B4-BE49-F238E27FC236}">
                <a16:creationId xmlns:a16="http://schemas.microsoft.com/office/drawing/2014/main" id="{91F04F54-3953-4B3F-BC03-68E6C4C67D4D}"/>
              </a:ext>
            </a:extLst>
          </p:cNvPr>
          <p:cNvSpPr>
            <a:spLocks xmlns:a="http://schemas.openxmlformats.org/drawingml/2006/main" noGrp="1"/>
          </p:cNvSpPr>
          <p:nvPr/>
        </p:nvSpPr>
        <p:spPr>
          <a:xfrm xmlns:a="http://schemas.openxmlformats.org/drawingml/2006/main" rot="0">
            <a:off x="6438900" y="6219825"/>
            <a:ext cx="523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Alaska DGGS RDF 2016-10. Comparison areas, not available listings.</a:t>
            </a:r>
          </a:p>
        </p:txBody>
      </p:sp>
    </p:spTree>
    <p:extLst>
      <p:ext uri="{BB962C8B-B14F-4D97-AF65-F5344CB8AC3E}">
        <p14:creationId xmlns:p14="http://schemas.microsoft.com/office/powerpoint/2010/main" val="1988756681"/>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4" name="">
            <a:extLst xmlns:a="http://schemas.openxmlformats.org/drawingml/2006/main">
              <a:ext uri="{FF2B5EF4-FFF2-40B4-BE49-F238E27FC236}">
                <a16:creationId xmlns:a16="http://schemas.microsoft.com/office/drawing/2014/main" id="{A64C25DE-49A3-41AF-8343-0D55A80B41FB}"/>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3915E8BF-59FB-43A5-86AF-C76CADEE5EE8}"/>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6BC857E8-5DB2-4514-9F57-051EE57F3B49}"/>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5F0AB5AF-E330-4256-A000-FD1664BD1F45}"/>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C803BFA5-7D76-47E0-B24C-3DDD677E75E4}"/>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A6364EAD-3F29-45F2-A90D-C1EFC51E0E40}"/>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Algorithm</a:t>
            </a:r>
          </a:p>
        </p:txBody>
      </p:sp>
      <p:sp>
        <p:nvSpPr>
          <p:cNvPr id="7" name="">
            <a:extLst xmlns:a="http://schemas.openxmlformats.org/drawingml/2006/main">
              <a:ext uri="{FF2B5EF4-FFF2-40B4-BE49-F238E27FC236}">
                <a16:creationId xmlns:a16="http://schemas.microsoft.com/office/drawing/2014/main" id="{DD7AD0AA-0197-47AF-8807-6B2C5D64CC52}"/>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pic>
        <p:nvPicPr>
          <p:cNvPr id="8" name="">
            <a:extLst xmlns:a="http://schemas.openxmlformats.org/drawingml/2006/main">
              <a:ext uri="{FF2B5EF4-FFF2-40B4-BE49-F238E27FC236}">
                <a16:creationId xmlns:a16="http://schemas.microsoft.com/office/drawing/2014/main" id="{86E261C0-4507-4810-82FC-5BE1F1946B4F}"/>
              </a:ext>
            </a:extLst>
          </p:cNvPr>
          <p:cNvPicPr>
            <a:picLocks xmlns:a="http://schemas.openxmlformats.org/drawingml/2006/main" noChangeAspect="1"/>
          </p:cNvPicPr>
          <p:nvPr/>
        </p:nvPicPr>
        <p:blipFill>
          <a:blip xmlns:r="http://schemas.openxmlformats.org/officeDocument/2006/relationships" xmlns:a="http://schemas.openxmlformats.org/drawingml/2006/main" r:embed="Rfb44dca44a6e4260"/>
          <a:srcRect xmlns:a="http://schemas.openxmlformats.org/drawingml/2006/main" l="0" t="17874" r="0" b="17874"/>
          <a:stretch xmlns:a="http://schemas.openxmlformats.org/drawingml/2006/main">
            <a:fillRect l="0" t="0" r="0" b="0"/>
          </a:stretch>
        </p:blipFill>
        <p:spPr>
          <a:xfrm xmlns:a="http://schemas.openxmlformats.org/drawingml/2006/main">
            <a:off x="2552700" y="0"/>
            <a:ext cx="2647950" cy="1438275"/>
          </a:xfrm>
          <a:prstGeom xmlns:a="http://schemas.openxmlformats.org/drawingml/2006/main" prst="roundRect">
            <a:avLst>
              <a:gd name="adj" fmla="val 15894"/>
            </a:avLst>
          </a:prstGeom>
        </p:spPr>
      </p:pic>
      <p:sp>
        <p:nvSpPr>
          <p:cNvPr id="9" name="">
            <a:extLst xmlns:a="http://schemas.openxmlformats.org/drawingml/2006/main">
              <a:ext uri="{FF2B5EF4-FFF2-40B4-BE49-F238E27FC236}">
                <a16:creationId xmlns:a16="http://schemas.microsoft.com/office/drawing/2014/main" id="{14683B3B-FE94-4CE9-9E9E-669AE88F3D32}"/>
              </a:ext>
            </a:extLst>
          </p:cNvPr>
          <p:cNvSpPr>
            <a:spLocks xmlns:a="http://schemas.openxmlformats.org/drawingml/2006/main" noGrp="1"/>
          </p:cNvSpPr>
          <p:nvPr/>
        </p:nvSpPr>
        <p:spPr>
          <a:xfrm xmlns:a="http://schemas.openxmlformats.org/drawingml/2006/main" rot="0">
            <a:off x="400050" y="2038350"/>
            <a:ext cx="4476750" cy="2200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The algorithm connects</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mineral evidence and</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explicit assumptions</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to an assignment</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decision.</a:t>
            </a:r>
          </a:p>
        </p:txBody>
      </p:sp>
      <p:sp>
        <p:nvSpPr>
          <p:cNvPr id="10" name="">
            <a:extLst xmlns:a="http://schemas.openxmlformats.org/drawingml/2006/main">
              <a:ext uri="{FF2B5EF4-FFF2-40B4-BE49-F238E27FC236}">
                <a16:creationId xmlns:a16="http://schemas.microsoft.com/office/drawing/2014/main" id="{0300F748-1F56-43B8-8E91-D085C54DD96E}"/>
              </a:ext>
            </a:extLst>
          </p:cNvPr>
          <p:cNvSpPr>
            <a:spLocks xmlns:a="http://schemas.openxmlformats.org/drawingml/2006/main" noGrp="1"/>
          </p:cNvSpPr>
          <p:nvPr/>
        </p:nvSpPr>
        <p:spPr>
          <a:xfrm xmlns:a="http://schemas.openxmlformats.org/drawingml/2006/main" rot="0">
            <a:off x="400050" y="4819650"/>
            <a:ext cx="4381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Observations screen evidence.</a:t>
            </a:r>
          </a:p>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Simulations test reactions.</a:t>
            </a:r>
          </a:p>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Economics remain assumed.</a:t>
            </a:r>
          </a:p>
        </p:txBody>
      </p:sp>
      <p:sp>
        <p:nvSpPr>
          <p:cNvPr id="11" name="">
            <a:extLst xmlns:a="http://schemas.openxmlformats.org/drawingml/2006/main">
              <a:ext uri="{FF2B5EF4-FFF2-40B4-BE49-F238E27FC236}">
                <a16:creationId xmlns:a16="http://schemas.microsoft.com/office/drawing/2014/main" id="{C1E688AA-1214-4985-9189-B478687E6A42}"/>
              </a:ext>
            </a:extLst>
          </p:cNvPr>
          <p:cNvSpPr>
            <a:spLocks xmlns:a="http://schemas.openxmlformats.org/drawingml/2006/main" noGrp="1"/>
          </p:cNvSpPr>
          <p:nvPr/>
        </p:nvSpPr>
        <p:spPr>
          <a:xfrm xmlns:a="http://schemas.openxmlformats.org/drawingml/2006/main">
            <a:off x="5581650" y="4419600"/>
            <a:ext cx="4895850" cy="1866900"/>
          </a:xfrm>
          <a:custGeom xmlns:a="http://schemas.openxmlformats.org/drawingml/2006/main">
            <a:pathLst>
              <a:path w="4895850" h="1866900">
                <a:moveTo>
                  <a:pt x="2447925" y="0"/>
                </a:moveTo>
                <a:lnTo>
                  <a:pt x="4895850" y="933450"/>
                </a:lnTo>
                <a:lnTo>
                  <a:pt x="2447925" y="1866900"/>
                </a:lnTo>
                <a:lnTo>
                  <a:pt x="0" y="933450"/>
                </a:lnTo>
                <a:close/>
              </a:path>
            </a:pathLst>
          </a:custGeom>
          <a:solidFill xmlns:a="http://schemas.openxmlformats.org/drawingml/2006/main">
            <a:srgbClr val="FAFAFA"/>
          </a:solidFill>
          <a:ln xmlns:a="http://schemas.openxmlformats.org/drawingml/2006/main" w="7144">
            <a:solidFill>
              <a:srgbClr val="0A0A0A"/>
            </a:solidFill>
            <a:prstDash val="solid"/>
          </a:ln>
        </p:spPr>
      </p:sp>
      <p:sp>
        <p:nvSpPr>
          <p:cNvPr id="12" name="">
            <a:extLst xmlns:a="http://schemas.openxmlformats.org/drawingml/2006/main">
              <a:ext uri="{FF2B5EF4-FFF2-40B4-BE49-F238E27FC236}">
                <a16:creationId xmlns:a16="http://schemas.microsoft.com/office/drawing/2014/main" id="{8A4DEBF8-FF93-43F3-A84A-2F1B333402C9}"/>
              </a:ext>
            </a:extLst>
          </p:cNvPr>
          <p:cNvSpPr>
            <a:spLocks xmlns:a="http://schemas.openxmlformats.org/drawingml/2006/main" noGrp="1"/>
          </p:cNvSpPr>
          <p:nvPr/>
        </p:nvSpPr>
        <p:spPr>
          <a:xfrm xmlns:a="http://schemas.openxmlformats.org/drawingml/2006/main">
            <a:off x="7539990" y="460629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3" name="">
            <a:extLst xmlns:a="http://schemas.openxmlformats.org/drawingml/2006/main">
              <a:ext uri="{FF2B5EF4-FFF2-40B4-BE49-F238E27FC236}">
                <a16:creationId xmlns:a16="http://schemas.microsoft.com/office/drawing/2014/main" id="{EEE5956B-6C2C-4CB4-9969-BEE4961CCB87}"/>
              </a:ext>
            </a:extLst>
          </p:cNvPr>
          <p:cNvSpPr>
            <a:spLocks xmlns:a="http://schemas.openxmlformats.org/drawingml/2006/main" noGrp="1"/>
          </p:cNvSpPr>
          <p:nvPr/>
        </p:nvSpPr>
        <p:spPr>
          <a:xfrm xmlns:a="http://schemas.openxmlformats.org/drawingml/2006/main">
            <a:off x="6071235" y="460629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4" name="">
            <a:extLst xmlns:a="http://schemas.openxmlformats.org/drawingml/2006/main">
              <a:ext uri="{FF2B5EF4-FFF2-40B4-BE49-F238E27FC236}">
                <a16:creationId xmlns:a16="http://schemas.microsoft.com/office/drawing/2014/main" id="{27758274-3412-41C3-88EB-D65334EFA735}"/>
              </a:ext>
            </a:extLst>
          </p:cNvPr>
          <p:cNvSpPr>
            <a:spLocks xmlns:a="http://schemas.openxmlformats.org/drawingml/2006/main" noGrp="1"/>
          </p:cNvSpPr>
          <p:nvPr/>
        </p:nvSpPr>
        <p:spPr>
          <a:xfrm xmlns:a="http://schemas.openxmlformats.org/drawingml/2006/main">
            <a:off x="7050405" y="479298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5" name="">
            <a:extLst xmlns:a="http://schemas.openxmlformats.org/drawingml/2006/main">
              <a:ext uri="{FF2B5EF4-FFF2-40B4-BE49-F238E27FC236}">
                <a16:creationId xmlns:a16="http://schemas.microsoft.com/office/drawing/2014/main" id="{4EA7A6AD-A807-4559-AA5D-2CA7EAEDFABC}"/>
              </a:ext>
            </a:extLst>
          </p:cNvPr>
          <p:cNvSpPr>
            <a:spLocks xmlns:a="http://schemas.openxmlformats.org/drawingml/2006/main" noGrp="1"/>
          </p:cNvSpPr>
          <p:nvPr/>
        </p:nvSpPr>
        <p:spPr>
          <a:xfrm xmlns:a="http://schemas.openxmlformats.org/drawingml/2006/main">
            <a:off x="6560820" y="479298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6" name="">
            <a:extLst xmlns:a="http://schemas.openxmlformats.org/drawingml/2006/main">
              <a:ext uri="{FF2B5EF4-FFF2-40B4-BE49-F238E27FC236}">
                <a16:creationId xmlns:a16="http://schemas.microsoft.com/office/drawing/2014/main" id="{B7F5CFCD-7B7C-478A-98B0-6A3CB32CCB8A}"/>
              </a:ext>
            </a:extLst>
          </p:cNvPr>
          <p:cNvSpPr>
            <a:spLocks xmlns:a="http://schemas.openxmlformats.org/drawingml/2006/main" noGrp="1"/>
          </p:cNvSpPr>
          <p:nvPr/>
        </p:nvSpPr>
        <p:spPr>
          <a:xfrm xmlns:a="http://schemas.openxmlformats.org/drawingml/2006/main">
            <a:off x="6560820" y="497967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7" name="">
            <a:extLst xmlns:a="http://schemas.openxmlformats.org/drawingml/2006/main">
              <a:ext uri="{FF2B5EF4-FFF2-40B4-BE49-F238E27FC236}">
                <a16:creationId xmlns:a16="http://schemas.microsoft.com/office/drawing/2014/main" id="{6300EEC5-8BA1-4C58-B682-39A04E9E9DCA}"/>
              </a:ext>
            </a:extLst>
          </p:cNvPr>
          <p:cNvSpPr>
            <a:spLocks xmlns:a="http://schemas.openxmlformats.org/drawingml/2006/main" noGrp="1"/>
          </p:cNvSpPr>
          <p:nvPr/>
        </p:nvSpPr>
        <p:spPr>
          <a:xfrm xmlns:a="http://schemas.openxmlformats.org/drawingml/2006/main">
            <a:off x="7050405" y="497967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8" name="">
            <a:extLst xmlns:a="http://schemas.openxmlformats.org/drawingml/2006/main">
              <a:ext uri="{FF2B5EF4-FFF2-40B4-BE49-F238E27FC236}">
                <a16:creationId xmlns:a16="http://schemas.microsoft.com/office/drawing/2014/main" id="{FFA281AC-1C13-4BF9-AACC-445B20767F9D}"/>
              </a:ext>
            </a:extLst>
          </p:cNvPr>
          <p:cNvSpPr>
            <a:spLocks xmlns:a="http://schemas.openxmlformats.org/drawingml/2006/main" noGrp="1"/>
          </p:cNvSpPr>
          <p:nvPr/>
        </p:nvSpPr>
        <p:spPr>
          <a:xfrm xmlns:a="http://schemas.openxmlformats.org/drawingml/2006/main">
            <a:off x="6071235" y="516636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9" name="">
            <a:extLst xmlns:a="http://schemas.openxmlformats.org/drawingml/2006/main">
              <a:ext uri="{FF2B5EF4-FFF2-40B4-BE49-F238E27FC236}">
                <a16:creationId xmlns:a16="http://schemas.microsoft.com/office/drawing/2014/main" id="{82EA3CDC-670B-4F9F-BDBD-2EBDB072C1A1}"/>
              </a:ext>
            </a:extLst>
          </p:cNvPr>
          <p:cNvSpPr>
            <a:spLocks xmlns:a="http://schemas.openxmlformats.org/drawingml/2006/main" noGrp="1"/>
          </p:cNvSpPr>
          <p:nvPr/>
        </p:nvSpPr>
        <p:spPr>
          <a:xfrm xmlns:a="http://schemas.openxmlformats.org/drawingml/2006/main">
            <a:off x="7539990" y="516636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20" name="">
            <a:extLst xmlns:a="http://schemas.openxmlformats.org/drawingml/2006/main">
              <a:ext uri="{FF2B5EF4-FFF2-40B4-BE49-F238E27FC236}">
                <a16:creationId xmlns:a16="http://schemas.microsoft.com/office/drawing/2014/main" id="{C1B97A13-8625-4EAB-9C8D-A344C593CCB1}"/>
              </a:ext>
            </a:extLst>
          </p:cNvPr>
          <p:cNvSpPr>
            <a:spLocks xmlns:a="http://schemas.openxmlformats.org/drawingml/2006/main" noGrp="1"/>
          </p:cNvSpPr>
          <p:nvPr/>
        </p:nvSpPr>
        <p:spPr>
          <a:xfrm xmlns:a="http://schemas.openxmlformats.org/drawingml/2006/main">
            <a:off x="7784783" y="4893945"/>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1" name="">
            <a:extLst xmlns:a="http://schemas.openxmlformats.org/drawingml/2006/main">
              <a:ext uri="{FF2B5EF4-FFF2-40B4-BE49-F238E27FC236}">
                <a16:creationId xmlns:a16="http://schemas.microsoft.com/office/drawing/2014/main" id="{2391F70C-0FB0-4797-9F95-4B3905993319}"/>
              </a:ext>
            </a:extLst>
          </p:cNvPr>
          <p:cNvSpPr>
            <a:spLocks xmlns:a="http://schemas.openxmlformats.org/drawingml/2006/main" noGrp="1"/>
          </p:cNvSpPr>
          <p:nvPr/>
        </p:nvSpPr>
        <p:spPr>
          <a:xfrm xmlns:a="http://schemas.openxmlformats.org/drawingml/2006/main">
            <a:off x="7784783" y="4979670"/>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2" name="">
            <a:extLst xmlns:a="http://schemas.openxmlformats.org/drawingml/2006/main">
              <a:ext uri="{FF2B5EF4-FFF2-40B4-BE49-F238E27FC236}">
                <a16:creationId xmlns:a16="http://schemas.microsoft.com/office/drawing/2014/main" id="{B229DB17-4868-4FD6-B838-DECABB24AB85}"/>
              </a:ext>
            </a:extLst>
          </p:cNvPr>
          <p:cNvSpPr>
            <a:spLocks xmlns:a="http://schemas.openxmlformats.org/drawingml/2006/main" noGrp="1"/>
          </p:cNvSpPr>
          <p:nvPr/>
        </p:nvSpPr>
        <p:spPr>
          <a:xfrm xmlns:a="http://schemas.openxmlformats.org/drawingml/2006/main">
            <a:off x="7956233" y="4979670"/>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3" name="">
            <a:extLst xmlns:a="http://schemas.openxmlformats.org/drawingml/2006/main">
              <a:ext uri="{FF2B5EF4-FFF2-40B4-BE49-F238E27FC236}">
                <a16:creationId xmlns:a16="http://schemas.microsoft.com/office/drawing/2014/main" id="{590544AD-075A-48BB-B265-D4541555011E}"/>
              </a:ext>
            </a:extLst>
          </p:cNvPr>
          <p:cNvSpPr>
            <a:spLocks xmlns:a="http://schemas.openxmlformats.org/drawingml/2006/main" noGrp="1"/>
          </p:cNvSpPr>
          <p:nvPr/>
        </p:nvSpPr>
        <p:spPr>
          <a:xfrm xmlns:a="http://schemas.openxmlformats.org/drawingml/2006/main">
            <a:off x="8249888" y="5295328"/>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4" name="">
            <a:extLst xmlns:a="http://schemas.openxmlformats.org/drawingml/2006/main">
              <a:ext uri="{FF2B5EF4-FFF2-40B4-BE49-F238E27FC236}">
                <a16:creationId xmlns:a16="http://schemas.microsoft.com/office/drawing/2014/main" id="{74E92EB0-24E5-44E5-974D-4F9FB92FA0C5}"/>
              </a:ext>
            </a:extLst>
          </p:cNvPr>
          <p:cNvSpPr>
            <a:spLocks xmlns:a="http://schemas.openxmlformats.org/drawingml/2006/main" noGrp="1"/>
          </p:cNvSpPr>
          <p:nvPr/>
        </p:nvSpPr>
        <p:spPr>
          <a:xfrm xmlns:a="http://schemas.openxmlformats.org/drawingml/2006/main">
            <a:off x="8249888" y="5381053"/>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5" name="">
            <a:extLst xmlns:a="http://schemas.openxmlformats.org/drawingml/2006/main">
              <a:ext uri="{FF2B5EF4-FFF2-40B4-BE49-F238E27FC236}">
                <a16:creationId xmlns:a16="http://schemas.microsoft.com/office/drawing/2014/main" id="{1B047D32-A1D7-4671-B741-E33A0B2C1E2E}"/>
              </a:ext>
            </a:extLst>
          </p:cNvPr>
          <p:cNvSpPr>
            <a:spLocks xmlns:a="http://schemas.openxmlformats.org/drawingml/2006/main" noGrp="1"/>
          </p:cNvSpPr>
          <p:nvPr/>
        </p:nvSpPr>
        <p:spPr>
          <a:xfrm xmlns:a="http://schemas.openxmlformats.org/drawingml/2006/main">
            <a:off x="8421338" y="5381053"/>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6" name="">
            <a:extLst xmlns:a="http://schemas.openxmlformats.org/drawingml/2006/main">
              <a:ext uri="{FF2B5EF4-FFF2-40B4-BE49-F238E27FC236}">
                <a16:creationId xmlns:a16="http://schemas.microsoft.com/office/drawing/2014/main" id="{C67D12E7-2E80-4A3A-96D1-946E98D1401A}"/>
              </a:ext>
            </a:extLst>
          </p:cNvPr>
          <p:cNvSpPr>
            <a:spLocks xmlns:a="http://schemas.openxmlformats.org/drawingml/2006/main" noGrp="1"/>
          </p:cNvSpPr>
          <p:nvPr/>
        </p:nvSpPr>
        <p:spPr>
          <a:xfrm xmlns:a="http://schemas.openxmlformats.org/drawingml/2006/main">
            <a:off x="10306050" y="5353050"/>
            <a:ext cx="76200" cy="95"/>
          </a:xfrm>
          <a:custGeom xmlns:a="http://schemas.openxmlformats.org/drawingml/2006/main">
            <a:pathLst>
              <a:path w="76200" h="95">
                <a:moveTo>
                  <a:pt x="76200" y="0"/>
                </a:moveTo>
                <a:lnTo>
                  <a:pt x="0" y="0"/>
                </a:lnTo>
              </a:path>
            </a:pathLst>
          </a:custGeom>
          <a:noFill xmlns:a="http://schemas.openxmlformats.org/drawingml/2006/main"/>
          <a:ln xmlns:a="http://schemas.openxmlformats.org/drawingml/2006/main" w="5715">
            <a:solidFill>
              <a:srgbClr val="0A0A0A"/>
            </a:solidFill>
            <a:prstDash val="solid"/>
          </a:ln>
        </p:spPr>
      </p:sp>
      <p:sp>
        <p:nvSpPr>
          <p:cNvPr id="27" name="">
            <a:extLst xmlns:a="http://schemas.openxmlformats.org/drawingml/2006/main">
              <a:ext uri="{FF2B5EF4-FFF2-40B4-BE49-F238E27FC236}">
                <a16:creationId xmlns:a16="http://schemas.microsoft.com/office/drawing/2014/main" id="{7B37064A-73B7-497F-A884-52DE9568B5AC}"/>
              </a:ext>
            </a:extLst>
          </p:cNvPr>
          <p:cNvSpPr>
            <a:spLocks xmlns:a="http://schemas.openxmlformats.org/drawingml/2006/main" noGrp="1"/>
          </p:cNvSpPr>
          <p:nvPr/>
        </p:nvSpPr>
        <p:spPr>
          <a:xfrm xmlns:a="http://schemas.openxmlformats.org/drawingml/2006/main" rot="0">
            <a:off x="10382250" y="4838700"/>
            <a:ext cx="1562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Exit model</a:t>
            </a:r>
          </a:p>
        </p:txBody>
      </p:sp>
      <p:sp>
        <p:nvSpPr>
          <p:cNvPr id="28" name="">
            <a:extLst xmlns:a="http://schemas.openxmlformats.org/drawingml/2006/main">
              <a:ext uri="{FF2B5EF4-FFF2-40B4-BE49-F238E27FC236}">
                <a16:creationId xmlns:a16="http://schemas.microsoft.com/office/drawing/2014/main" id="{BD490356-0430-4D06-A6CE-E2BB56613DB6}"/>
              </a:ext>
            </a:extLst>
          </p:cNvPr>
          <p:cNvSpPr>
            <a:spLocks xmlns:a="http://schemas.openxmlformats.org/drawingml/2006/main" noGrp="1"/>
          </p:cNvSpPr>
          <p:nvPr/>
        </p:nvSpPr>
        <p:spPr>
          <a:xfrm xmlns:a="http://schemas.openxmlformats.org/drawingml/2006/main" rot="0">
            <a:off x="10382250" y="510540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Assumed</a:t>
            </a:r>
          </a:p>
        </p:txBody>
      </p:sp>
      <p:sp>
        <p:nvSpPr>
          <p:cNvPr id="29" name="">
            <a:extLst xmlns:a="http://schemas.openxmlformats.org/drawingml/2006/main">
              <a:ext uri="{FF2B5EF4-FFF2-40B4-BE49-F238E27FC236}">
                <a16:creationId xmlns:a16="http://schemas.microsoft.com/office/drawing/2014/main" id="{56CF3C27-DCAB-4759-BE0E-B78A01C11C82}"/>
              </a:ext>
            </a:extLst>
          </p:cNvPr>
          <p:cNvSpPr>
            <a:spLocks xmlns:a="http://schemas.openxmlformats.org/drawingml/2006/main" noGrp="1"/>
          </p:cNvSpPr>
          <p:nvPr/>
        </p:nvSpPr>
        <p:spPr>
          <a:xfrm xmlns:a="http://schemas.openxmlformats.org/drawingml/2006/main">
            <a:off x="5876925" y="29051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22C55E"/>
            </a:solidFill>
            <a:prstDash val="solid"/>
          </a:ln>
        </p:spPr>
      </p:sp>
      <p:sp>
        <p:nvSpPr>
          <p:cNvPr id="30" name="">
            <a:extLst xmlns:a="http://schemas.openxmlformats.org/drawingml/2006/main">
              <a:ext uri="{FF2B5EF4-FFF2-40B4-BE49-F238E27FC236}">
                <a16:creationId xmlns:a16="http://schemas.microsoft.com/office/drawing/2014/main" id="{6709FB7F-7AE4-44F1-8620-A2D45DBAFFA0}"/>
              </a:ext>
            </a:extLst>
          </p:cNvPr>
          <p:cNvSpPr>
            <a:spLocks xmlns:a="http://schemas.openxmlformats.org/drawingml/2006/main" noGrp="1"/>
          </p:cNvSpPr>
          <p:nvPr/>
        </p:nvSpPr>
        <p:spPr>
          <a:xfrm xmlns:a="http://schemas.openxmlformats.org/drawingml/2006/main">
            <a:off x="7599045" y="30680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1" name="">
            <a:extLst xmlns:a="http://schemas.openxmlformats.org/drawingml/2006/main">
              <a:ext uri="{FF2B5EF4-FFF2-40B4-BE49-F238E27FC236}">
                <a16:creationId xmlns:a16="http://schemas.microsoft.com/office/drawing/2014/main" id="{2DE621D3-8AE0-4EF8-8B89-F0F42B23E3E9}"/>
              </a:ext>
            </a:extLst>
          </p:cNvPr>
          <p:cNvSpPr>
            <a:spLocks xmlns:a="http://schemas.openxmlformats.org/drawingml/2006/main" noGrp="1"/>
          </p:cNvSpPr>
          <p:nvPr/>
        </p:nvSpPr>
        <p:spPr>
          <a:xfrm xmlns:a="http://schemas.openxmlformats.org/drawingml/2006/main">
            <a:off x="6307455" y="30680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2" name="">
            <a:extLst xmlns:a="http://schemas.openxmlformats.org/drawingml/2006/main">
              <a:ext uri="{FF2B5EF4-FFF2-40B4-BE49-F238E27FC236}">
                <a16:creationId xmlns:a16="http://schemas.microsoft.com/office/drawing/2014/main" id="{797DBDE1-CA8E-4873-AD24-7DB4354B51F5}"/>
              </a:ext>
            </a:extLst>
          </p:cNvPr>
          <p:cNvSpPr>
            <a:spLocks xmlns:a="http://schemas.openxmlformats.org/drawingml/2006/main" noGrp="1"/>
          </p:cNvSpPr>
          <p:nvPr/>
        </p:nvSpPr>
        <p:spPr>
          <a:xfrm xmlns:a="http://schemas.openxmlformats.org/drawingml/2006/main">
            <a:off x="7168515" y="3230880"/>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3" name="">
            <a:extLst xmlns:a="http://schemas.openxmlformats.org/drawingml/2006/main">
              <a:ext uri="{FF2B5EF4-FFF2-40B4-BE49-F238E27FC236}">
                <a16:creationId xmlns:a16="http://schemas.microsoft.com/office/drawing/2014/main" id="{EB545A17-D255-425C-835B-7C60D4B002F4}"/>
              </a:ext>
            </a:extLst>
          </p:cNvPr>
          <p:cNvSpPr>
            <a:spLocks xmlns:a="http://schemas.openxmlformats.org/drawingml/2006/main" noGrp="1"/>
          </p:cNvSpPr>
          <p:nvPr/>
        </p:nvSpPr>
        <p:spPr>
          <a:xfrm xmlns:a="http://schemas.openxmlformats.org/drawingml/2006/main">
            <a:off x="6737985" y="3230880"/>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4" name="">
            <a:extLst xmlns:a="http://schemas.openxmlformats.org/drawingml/2006/main">
              <a:ext uri="{FF2B5EF4-FFF2-40B4-BE49-F238E27FC236}">
                <a16:creationId xmlns:a16="http://schemas.microsoft.com/office/drawing/2014/main" id="{0948CFDF-B9F4-413C-B05A-3428E78A793A}"/>
              </a:ext>
            </a:extLst>
          </p:cNvPr>
          <p:cNvSpPr>
            <a:spLocks xmlns:a="http://schemas.openxmlformats.org/drawingml/2006/main" noGrp="1"/>
          </p:cNvSpPr>
          <p:nvPr/>
        </p:nvSpPr>
        <p:spPr>
          <a:xfrm xmlns:a="http://schemas.openxmlformats.org/drawingml/2006/main">
            <a:off x="6737985" y="33937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5" name="">
            <a:extLst xmlns:a="http://schemas.openxmlformats.org/drawingml/2006/main">
              <a:ext uri="{FF2B5EF4-FFF2-40B4-BE49-F238E27FC236}">
                <a16:creationId xmlns:a16="http://schemas.microsoft.com/office/drawing/2014/main" id="{171BFC4B-E6A0-4F3D-9D1A-3AF2A0C25057}"/>
              </a:ext>
            </a:extLst>
          </p:cNvPr>
          <p:cNvSpPr>
            <a:spLocks xmlns:a="http://schemas.openxmlformats.org/drawingml/2006/main" noGrp="1"/>
          </p:cNvSpPr>
          <p:nvPr/>
        </p:nvSpPr>
        <p:spPr>
          <a:xfrm xmlns:a="http://schemas.openxmlformats.org/drawingml/2006/main">
            <a:off x="7168515" y="33937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6" name="">
            <a:extLst xmlns:a="http://schemas.openxmlformats.org/drawingml/2006/main">
              <a:ext uri="{FF2B5EF4-FFF2-40B4-BE49-F238E27FC236}">
                <a16:creationId xmlns:a16="http://schemas.microsoft.com/office/drawing/2014/main" id="{3E7B7386-8BEE-4DB2-8E0E-2404D342B506}"/>
              </a:ext>
            </a:extLst>
          </p:cNvPr>
          <p:cNvSpPr>
            <a:spLocks xmlns:a="http://schemas.openxmlformats.org/drawingml/2006/main" noGrp="1"/>
          </p:cNvSpPr>
          <p:nvPr/>
        </p:nvSpPr>
        <p:spPr>
          <a:xfrm xmlns:a="http://schemas.openxmlformats.org/drawingml/2006/main">
            <a:off x="6307455" y="3556635"/>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7" name="">
            <a:extLst xmlns:a="http://schemas.openxmlformats.org/drawingml/2006/main">
              <a:ext uri="{FF2B5EF4-FFF2-40B4-BE49-F238E27FC236}">
                <a16:creationId xmlns:a16="http://schemas.microsoft.com/office/drawing/2014/main" id="{2CB5F173-A4D7-4EE7-86EA-6E2970788988}"/>
              </a:ext>
            </a:extLst>
          </p:cNvPr>
          <p:cNvSpPr>
            <a:spLocks xmlns:a="http://schemas.openxmlformats.org/drawingml/2006/main" noGrp="1"/>
          </p:cNvSpPr>
          <p:nvPr/>
        </p:nvSpPr>
        <p:spPr>
          <a:xfrm xmlns:a="http://schemas.openxmlformats.org/drawingml/2006/main">
            <a:off x="7599045" y="3556635"/>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8" name="">
            <a:extLst xmlns:a="http://schemas.openxmlformats.org/drawingml/2006/main">
              <a:ext uri="{FF2B5EF4-FFF2-40B4-BE49-F238E27FC236}">
                <a16:creationId xmlns:a16="http://schemas.microsoft.com/office/drawing/2014/main" id="{B422BEBD-FD20-416A-9344-9F18D9CD90E2}"/>
              </a:ext>
            </a:extLst>
          </p:cNvPr>
          <p:cNvSpPr>
            <a:spLocks xmlns:a="http://schemas.openxmlformats.org/drawingml/2006/main" noGrp="1"/>
          </p:cNvSpPr>
          <p:nvPr/>
        </p:nvSpPr>
        <p:spPr>
          <a:xfrm xmlns:a="http://schemas.openxmlformats.org/drawingml/2006/main">
            <a:off x="7835837" y="31858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39" name="">
            <a:extLst xmlns:a="http://schemas.openxmlformats.org/drawingml/2006/main">
              <a:ext uri="{FF2B5EF4-FFF2-40B4-BE49-F238E27FC236}">
                <a16:creationId xmlns:a16="http://schemas.microsoft.com/office/drawing/2014/main" id="{5E9A5A88-B610-47D4-970C-70B50436689C}"/>
              </a:ext>
            </a:extLst>
          </p:cNvPr>
          <p:cNvSpPr>
            <a:spLocks xmlns:a="http://schemas.openxmlformats.org/drawingml/2006/main" noGrp="1"/>
          </p:cNvSpPr>
          <p:nvPr/>
        </p:nvSpPr>
        <p:spPr>
          <a:xfrm xmlns:a="http://schemas.openxmlformats.org/drawingml/2006/main">
            <a:off x="7835837" y="32715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0" name="">
            <a:extLst xmlns:a="http://schemas.openxmlformats.org/drawingml/2006/main">
              <a:ext uri="{FF2B5EF4-FFF2-40B4-BE49-F238E27FC236}">
                <a16:creationId xmlns:a16="http://schemas.microsoft.com/office/drawing/2014/main" id="{1AE9312B-9524-4752-B661-0762B0D4747F}"/>
              </a:ext>
            </a:extLst>
          </p:cNvPr>
          <p:cNvSpPr>
            <a:spLocks xmlns:a="http://schemas.openxmlformats.org/drawingml/2006/main" noGrp="1"/>
          </p:cNvSpPr>
          <p:nvPr/>
        </p:nvSpPr>
        <p:spPr>
          <a:xfrm xmlns:a="http://schemas.openxmlformats.org/drawingml/2006/main">
            <a:off x="8007287" y="32715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1" name="">
            <a:extLst xmlns:a="http://schemas.openxmlformats.org/drawingml/2006/main">
              <a:ext uri="{FF2B5EF4-FFF2-40B4-BE49-F238E27FC236}">
                <a16:creationId xmlns:a16="http://schemas.microsoft.com/office/drawing/2014/main" id="{CACF50D2-E42A-4D1E-BA9F-143AA8FC8371}"/>
              </a:ext>
            </a:extLst>
          </p:cNvPr>
          <p:cNvSpPr>
            <a:spLocks xmlns:a="http://schemas.openxmlformats.org/drawingml/2006/main" noGrp="1"/>
          </p:cNvSpPr>
          <p:nvPr/>
        </p:nvSpPr>
        <p:spPr>
          <a:xfrm xmlns:a="http://schemas.openxmlformats.org/drawingml/2006/main">
            <a:off x="8460105" y="34057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2" name="">
            <a:extLst xmlns:a="http://schemas.openxmlformats.org/drawingml/2006/main">
              <a:ext uri="{FF2B5EF4-FFF2-40B4-BE49-F238E27FC236}">
                <a16:creationId xmlns:a16="http://schemas.microsoft.com/office/drawing/2014/main" id="{5C34DE27-05AE-4EEA-85E9-55E03580758D}"/>
              </a:ext>
            </a:extLst>
          </p:cNvPr>
          <p:cNvSpPr>
            <a:spLocks xmlns:a="http://schemas.openxmlformats.org/drawingml/2006/main" noGrp="1"/>
          </p:cNvSpPr>
          <p:nvPr/>
        </p:nvSpPr>
        <p:spPr>
          <a:xfrm xmlns:a="http://schemas.openxmlformats.org/drawingml/2006/main">
            <a:off x="8460105" y="34914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3" name="">
            <a:extLst xmlns:a="http://schemas.openxmlformats.org/drawingml/2006/main">
              <a:ext uri="{FF2B5EF4-FFF2-40B4-BE49-F238E27FC236}">
                <a16:creationId xmlns:a16="http://schemas.microsoft.com/office/drawing/2014/main" id="{D54586B9-A83C-4C3A-8B7E-989656D2B9C4}"/>
              </a:ext>
            </a:extLst>
          </p:cNvPr>
          <p:cNvSpPr>
            <a:spLocks xmlns:a="http://schemas.openxmlformats.org/drawingml/2006/main" noGrp="1"/>
          </p:cNvSpPr>
          <p:nvPr/>
        </p:nvSpPr>
        <p:spPr>
          <a:xfrm xmlns:a="http://schemas.openxmlformats.org/drawingml/2006/main">
            <a:off x="8631555" y="34914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4" name="">
            <a:extLst xmlns:a="http://schemas.openxmlformats.org/drawingml/2006/main">
              <a:ext uri="{FF2B5EF4-FFF2-40B4-BE49-F238E27FC236}">
                <a16:creationId xmlns:a16="http://schemas.microsoft.com/office/drawing/2014/main" id="{561E54A1-FE90-415A-800C-8CB650BEF350}"/>
              </a:ext>
            </a:extLst>
          </p:cNvPr>
          <p:cNvSpPr>
            <a:spLocks xmlns:a="http://schemas.openxmlformats.org/drawingml/2006/main" noGrp="1"/>
          </p:cNvSpPr>
          <p:nvPr/>
        </p:nvSpPr>
        <p:spPr>
          <a:xfrm xmlns:a="http://schemas.openxmlformats.org/drawingml/2006/main">
            <a:off x="8266367" y="37559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5" name="">
            <a:extLst xmlns:a="http://schemas.openxmlformats.org/drawingml/2006/main">
              <a:ext uri="{FF2B5EF4-FFF2-40B4-BE49-F238E27FC236}">
                <a16:creationId xmlns:a16="http://schemas.microsoft.com/office/drawing/2014/main" id="{A5DAB0BC-4D5F-440A-98BF-041B88212F17}"/>
              </a:ext>
            </a:extLst>
          </p:cNvPr>
          <p:cNvSpPr>
            <a:spLocks xmlns:a="http://schemas.openxmlformats.org/drawingml/2006/main" noGrp="1"/>
          </p:cNvSpPr>
          <p:nvPr/>
        </p:nvSpPr>
        <p:spPr>
          <a:xfrm xmlns:a="http://schemas.openxmlformats.org/drawingml/2006/main">
            <a:off x="8266367" y="38416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6" name="">
            <a:extLst xmlns:a="http://schemas.openxmlformats.org/drawingml/2006/main">
              <a:ext uri="{FF2B5EF4-FFF2-40B4-BE49-F238E27FC236}">
                <a16:creationId xmlns:a16="http://schemas.microsoft.com/office/drawing/2014/main" id="{D5C6653F-1D66-483D-A4A1-20E0EE094ADC}"/>
              </a:ext>
            </a:extLst>
          </p:cNvPr>
          <p:cNvSpPr>
            <a:spLocks xmlns:a="http://schemas.openxmlformats.org/drawingml/2006/main" noGrp="1"/>
          </p:cNvSpPr>
          <p:nvPr/>
        </p:nvSpPr>
        <p:spPr>
          <a:xfrm xmlns:a="http://schemas.openxmlformats.org/drawingml/2006/main">
            <a:off x="8437817" y="38416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7" name="">
            <a:extLst xmlns:a="http://schemas.openxmlformats.org/drawingml/2006/main">
              <a:ext uri="{FF2B5EF4-FFF2-40B4-BE49-F238E27FC236}">
                <a16:creationId xmlns:a16="http://schemas.microsoft.com/office/drawing/2014/main" id="{7641B8BD-CBD3-45F8-9708-447C6D078674}"/>
              </a:ext>
            </a:extLst>
          </p:cNvPr>
          <p:cNvSpPr>
            <a:spLocks xmlns:a="http://schemas.openxmlformats.org/drawingml/2006/main" noGrp="1"/>
          </p:cNvSpPr>
          <p:nvPr/>
        </p:nvSpPr>
        <p:spPr>
          <a:xfrm xmlns:a="http://schemas.openxmlformats.org/drawingml/2006/main">
            <a:off x="7319201" y="36093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8" name="">
            <a:extLst xmlns:a="http://schemas.openxmlformats.org/drawingml/2006/main">
              <a:ext uri="{FF2B5EF4-FFF2-40B4-BE49-F238E27FC236}">
                <a16:creationId xmlns:a16="http://schemas.microsoft.com/office/drawing/2014/main" id="{C23F7179-D9A2-44B4-9CF4-B621A74AF7F3}"/>
              </a:ext>
            </a:extLst>
          </p:cNvPr>
          <p:cNvSpPr>
            <a:spLocks xmlns:a="http://schemas.openxmlformats.org/drawingml/2006/main" noGrp="1"/>
          </p:cNvSpPr>
          <p:nvPr/>
        </p:nvSpPr>
        <p:spPr>
          <a:xfrm xmlns:a="http://schemas.openxmlformats.org/drawingml/2006/main">
            <a:off x="7319201" y="36950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9" name="">
            <a:extLst xmlns:a="http://schemas.openxmlformats.org/drawingml/2006/main">
              <a:ext uri="{FF2B5EF4-FFF2-40B4-BE49-F238E27FC236}">
                <a16:creationId xmlns:a16="http://schemas.microsoft.com/office/drawing/2014/main" id="{317DF9B3-3188-44FB-A06E-B5C0E06DFFC8}"/>
              </a:ext>
            </a:extLst>
          </p:cNvPr>
          <p:cNvSpPr>
            <a:spLocks xmlns:a="http://schemas.openxmlformats.org/drawingml/2006/main" noGrp="1"/>
          </p:cNvSpPr>
          <p:nvPr/>
        </p:nvSpPr>
        <p:spPr>
          <a:xfrm xmlns:a="http://schemas.openxmlformats.org/drawingml/2006/main">
            <a:off x="7490651" y="36950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50" name="">
            <a:extLst xmlns:a="http://schemas.openxmlformats.org/drawingml/2006/main">
              <a:ext uri="{FF2B5EF4-FFF2-40B4-BE49-F238E27FC236}">
                <a16:creationId xmlns:a16="http://schemas.microsoft.com/office/drawing/2014/main" id="{83CBA30D-0746-4AD2-A666-F311F0B78F02}"/>
              </a:ext>
            </a:extLst>
          </p:cNvPr>
          <p:cNvSpPr>
            <a:spLocks xmlns:a="http://schemas.openxmlformats.org/drawingml/2006/main" noGrp="1"/>
          </p:cNvSpPr>
          <p:nvPr/>
        </p:nvSpPr>
        <p:spPr>
          <a:xfrm xmlns:a="http://schemas.openxmlformats.org/drawingml/2006/main">
            <a:off x="10086975" y="37195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22C55E"/>
            </a:solidFill>
            <a:prstDash val="solid"/>
          </a:ln>
        </p:spPr>
      </p:sp>
      <p:sp>
        <p:nvSpPr>
          <p:cNvPr id="51" name="">
            <a:extLst xmlns:a="http://schemas.openxmlformats.org/drawingml/2006/main">
              <a:ext uri="{FF2B5EF4-FFF2-40B4-BE49-F238E27FC236}">
                <a16:creationId xmlns:a16="http://schemas.microsoft.com/office/drawing/2014/main" id="{EB174100-9E24-43A5-8CA5-840459B8EEF0}"/>
              </a:ext>
            </a:extLst>
          </p:cNvPr>
          <p:cNvSpPr>
            <a:spLocks xmlns:a="http://schemas.openxmlformats.org/drawingml/2006/main" noGrp="1"/>
          </p:cNvSpPr>
          <p:nvPr/>
        </p:nvSpPr>
        <p:spPr>
          <a:xfrm xmlns:a="http://schemas.openxmlformats.org/drawingml/2006/main" rot="0">
            <a:off x="10382250" y="3529013"/>
            <a:ext cx="1562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Scenario</a:t>
            </a:r>
          </a:p>
        </p:txBody>
      </p:sp>
      <p:sp>
        <p:nvSpPr>
          <p:cNvPr id="52" name="">
            <a:extLst xmlns:a="http://schemas.openxmlformats.org/drawingml/2006/main">
              <a:ext uri="{FF2B5EF4-FFF2-40B4-BE49-F238E27FC236}">
                <a16:creationId xmlns:a16="http://schemas.microsoft.com/office/drawing/2014/main" id="{AF8E587B-90CF-416B-9B06-CF4329E2F5F6}"/>
              </a:ext>
            </a:extLst>
          </p:cNvPr>
          <p:cNvSpPr>
            <a:spLocks xmlns:a="http://schemas.openxmlformats.org/drawingml/2006/main" noGrp="1"/>
          </p:cNvSpPr>
          <p:nvPr/>
        </p:nvSpPr>
        <p:spPr>
          <a:xfrm xmlns:a="http://schemas.openxmlformats.org/drawingml/2006/main" rot="0">
            <a:off x="10382250" y="37957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Simulated</a:t>
            </a:r>
          </a:p>
        </p:txBody>
      </p:sp>
      <p:sp>
        <p:nvSpPr>
          <p:cNvPr id="53" name="">
            <a:extLst xmlns:a="http://schemas.openxmlformats.org/drawingml/2006/main">
              <a:ext uri="{FF2B5EF4-FFF2-40B4-BE49-F238E27FC236}">
                <a16:creationId xmlns:a16="http://schemas.microsoft.com/office/drawing/2014/main" id="{FACC505F-06EF-4EAC-ACC3-642CEDFB2F0B}"/>
              </a:ext>
            </a:extLst>
          </p:cNvPr>
          <p:cNvSpPr>
            <a:spLocks xmlns:a="http://schemas.openxmlformats.org/drawingml/2006/main" noGrp="1"/>
          </p:cNvSpPr>
          <p:nvPr/>
        </p:nvSpPr>
        <p:spPr>
          <a:xfrm xmlns:a="http://schemas.openxmlformats.org/drawingml/2006/main">
            <a:off x="5876925" y="16859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B6B6B6"/>
            </a:solidFill>
            <a:prstDash val="solid"/>
          </a:ln>
        </p:spPr>
      </p:sp>
      <p:sp>
        <p:nvSpPr>
          <p:cNvPr id="54" name="">
            <a:extLst xmlns:a="http://schemas.openxmlformats.org/drawingml/2006/main">
              <a:ext uri="{FF2B5EF4-FFF2-40B4-BE49-F238E27FC236}">
                <a16:creationId xmlns:a16="http://schemas.microsoft.com/office/drawing/2014/main" id="{B7327C90-C16A-4926-B472-A74253627B4A}"/>
              </a:ext>
            </a:extLst>
          </p:cNvPr>
          <p:cNvSpPr>
            <a:spLocks xmlns:a="http://schemas.openxmlformats.org/drawingml/2006/main" noGrp="1"/>
          </p:cNvSpPr>
          <p:nvPr/>
        </p:nvSpPr>
        <p:spPr>
          <a:xfrm xmlns:a="http://schemas.openxmlformats.org/drawingml/2006/main">
            <a:off x="7599045" y="18488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5" name="">
            <a:extLst xmlns:a="http://schemas.openxmlformats.org/drawingml/2006/main">
              <a:ext uri="{FF2B5EF4-FFF2-40B4-BE49-F238E27FC236}">
                <a16:creationId xmlns:a16="http://schemas.microsoft.com/office/drawing/2014/main" id="{3DC79CEF-197F-4FC5-BB1C-E02E77C3BEDD}"/>
              </a:ext>
            </a:extLst>
          </p:cNvPr>
          <p:cNvSpPr>
            <a:spLocks xmlns:a="http://schemas.openxmlformats.org/drawingml/2006/main" noGrp="1"/>
          </p:cNvSpPr>
          <p:nvPr/>
        </p:nvSpPr>
        <p:spPr>
          <a:xfrm xmlns:a="http://schemas.openxmlformats.org/drawingml/2006/main">
            <a:off x="6307455" y="18488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56" name="">
            <a:extLst xmlns:a="http://schemas.openxmlformats.org/drawingml/2006/main">
              <a:ext uri="{FF2B5EF4-FFF2-40B4-BE49-F238E27FC236}">
                <a16:creationId xmlns:a16="http://schemas.microsoft.com/office/drawing/2014/main" id="{6045C019-83C3-4938-AC33-FC1CD441B3B6}"/>
              </a:ext>
            </a:extLst>
          </p:cNvPr>
          <p:cNvSpPr>
            <a:spLocks xmlns:a="http://schemas.openxmlformats.org/drawingml/2006/main" noGrp="1"/>
          </p:cNvSpPr>
          <p:nvPr/>
        </p:nvSpPr>
        <p:spPr>
          <a:xfrm xmlns:a="http://schemas.openxmlformats.org/drawingml/2006/main">
            <a:off x="7168515" y="2011680"/>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7" name="">
            <a:extLst xmlns:a="http://schemas.openxmlformats.org/drawingml/2006/main">
              <a:ext uri="{FF2B5EF4-FFF2-40B4-BE49-F238E27FC236}">
                <a16:creationId xmlns:a16="http://schemas.microsoft.com/office/drawing/2014/main" id="{B79691F3-8D8E-40B3-95C8-52C94CC7AFE8}"/>
              </a:ext>
            </a:extLst>
          </p:cNvPr>
          <p:cNvSpPr>
            <a:spLocks xmlns:a="http://schemas.openxmlformats.org/drawingml/2006/main" noGrp="1"/>
          </p:cNvSpPr>
          <p:nvPr/>
        </p:nvSpPr>
        <p:spPr>
          <a:xfrm xmlns:a="http://schemas.openxmlformats.org/drawingml/2006/main">
            <a:off x="6737985" y="2011680"/>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58" name="">
            <a:extLst xmlns:a="http://schemas.openxmlformats.org/drawingml/2006/main">
              <a:ext uri="{FF2B5EF4-FFF2-40B4-BE49-F238E27FC236}">
                <a16:creationId xmlns:a16="http://schemas.microsoft.com/office/drawing/2014/main" id="{4706D1EA-F686-44BF-98E0-B6D35FBD8374}"/>
              </a:ext>
            </a:extLst>
          </p:cNvPr>
          <p:cNvSpPr>
            <a:spLocks xmlns:a="http://schemas.openxmlformats.org/drawingml/2006/main" noGrp="1"/>
          </p:cNvSpPr>
          <p:nvPr/>
        </p:nvSpPr>
        <p:spPr>
          <a:xfrm xmlns:a="http://schemas.openxmlformats.org/drawingml/2006/main">
            <a:off x="6737985" y="21745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9" name="">
            <a:extLst xmlns:a="http://schemas.openxmlformats.org/drawingml/2006/main">
              <a:ext uri="{FF2B5EF4-FFF2-40B4-BE49-F238E27FC236}">
                <a16:creationId xmlns:a16="http://schemas.microsoft.com/office/drawing/2014/main" id="{C995FBA3-38C1-4D03-8222-5C54699BD302}"/>
              </a:ext>
            </a:extLst>
          </p:cNvPr>
          <p:cNvSpPr>
            <a:spLocks xmlns:a="http://schemas.openxmlformats.org/drawingml/2006/main" noGrp="1"/>
          </p:cNvSpPr>
          <p:nvPr/>
        </p:nvSpPr>
        <p:spPr>
          <a:xfrm xmlns:a="http://schemas.openxmlformats.org/drawingml/2006/main">
            <a:off x="7168515" y="21745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60" name="">
            <a:extLst xmlns:a="http://schemas.openxmlformats.org/drawingml/2006/main">
              <a:ext uri="{FF2B5EF4-FFF2-40B4-BE49-F238E27FC236}">
                <a16:creationId xmlns:a16="http://schemas.microsoft.com/office/drawing/2014/main" id="{65698841-5B84-4D53-A2D0-686AE0E7E2D7}"/>
              </a:ext>
            </a:extLst>
          </p:cNvPr>
          <p:cNvSpPr>
            <a:spLocks xmlns:a="http://schemas.openxmlformats.org/drawingml/2006/main" noGrp="1"/>
          </p:cNvSpPr>
          <p:nvPr/>
        </p:nvSpPr>
        <p:spPr>
          <a:xfrm xmlns:a="http://schemas.openxmlformats.org/drawingml/2006/main">
            <a:off x="6307455" y="2337435"/>
            <a:ext cx="2152650" cy="814387"/>
          </a:xfrm>
          <a:custGeom xmlns:a="http://schemas.openxmlformats.org/drawingml/2006/main">
            <a:pathLst>
              <a:path w="2152650" h="814387">
                <a:moveTo>
                  <a:pt x="0" y="0"/>
                </a:moveTo>
                <a:lnTo>
                  <a:pt x="2152650" y="814387"/>
                </a:lnTo>
              </a:path>
            </a:pathLst>
          </a:custGeom>
          <a:noFill xmlns:a="http://schemas.openxmlformats.org/drawingml/2006/main"/>
          <a:ln xmlns:a="http://schemas.openxmlformats.org/drawingml/2006/main" w="3334">
            <a:solidFill>
              <a:srgbClr val="B6B6B6"/>
            </a:solidFill>
            <a:prstDash val="solid"/>
          </a:ln>
        </p:spPr>
      </p:sp>
      <p:sp>
        <p:nvSpPr>
          <p:cNvPr id="61" name="">
            <a:extLst xmlns:a="http://schemas.openxmlformats.org/drawingml/2006/main">
              <a:ext uri="{FF2B5EF4-FFF2-40B4-BE49-F238E27FC236}">
                <a16:creationId xmlns:a16="http://schemas.microsoft.com/office/drawing/2014/main" id="{D7E4FBD2-C8C5-4305-83B3-18078E552EDC}"/>
              </a:ext>
            </a:extLst>
          </p:cNvPr>
          <p:cNvSpPr>
            <a:spLocks xmlns:a="http://schemas.openxmlformats.org/drawingml/2006/main" noGrp="1"/>
          </p:cNvSpPr>
          <p:nvPr/>
        </p:nvSpPr>
        <p:spPr>
          <a:xfrm xmlns:a="http://schemas.openxmlformats.org/drawingml/2006/main">
            <a:off x="7599045" y="2337435"/>
            <a:ext cx="2152650" cy="814387"/>
          </a:xfrm>
          <a:custGeom xmlns:a="http://schemas.openxmlformats.org/drawingml/2006/main">
            <a:pathLst>
              <a:path w="2152650" h="814387">
                <a:moveTo>
                  <a:pt x="2152650" y="0"/>
                </a:moveTo>
                <a:lnTo>
                  <a:pt x="0" y="814387"/>
                </a:lnTo>
              </a:path>
            </a:pathLst>
          </a:custGeom>
          <a:noFill xmlns:a="http://schemas.openxmlformats.org/drawingml/2006/main"/>
          <a:ln xmlns:a="http://schemas.openxmlformats.org/drawingml/2006/main" w="3334">
            <a:solidFill>
              <a:srgbClr val="B6B6B6"/>
            </a:solidFill>
            <a:prstDash val="solid"/>
          </a:ln>
        </p:spPr>
      </p:sp>
      <p:sp>
        <p:nvSpPr>
          <p:cNvPr id="62" name="">
            <a:extLst xmlns:a="http://schemas.openxmlformats.org/drawingml/2006/main">
              <a:ext uri="{FF2B5EF4-FFF2-40B4-BE49-F238E27FC236}">
                <a16:creationId xmlns:a16="http://schemas.microsoft.com/office/drawing/2014/main" id="{5671B275-7EF8-474B-B37D-E14E7B34B50B}"/>
              </a:ext>
            </a:extLst>
          </p:cNvPr>
          <p:cNvSpPr>
            <a:spLocks xmlns:a="http://schemas.openxmlformats.org/drawingml/2006/main" noGrp="1"/>
          </p:cNvSpPr>
          <p:nvPr/>
        </p:nvSpPr>
        <p:spPr>
          <a:xfrm xmlns:a="http://schemas.openxmlformats.org/drawingml/2006/main">
            <a:off x="7835837" y="19666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3" name="">
            <a:extLst xmlns:a="http://schemas.openxmlformats.org/drawingml/2006/main">
              <a:ext uri="{FF2B5EF4-FFF2-40B4-BE49-F238E27FC236}">
                <a16:creationId xmlns:a16="http://schemas.microsoft.com/office/drawing/2014/main" id="{44F5BAEF-EA12-4D78-93FD-F407B6ACDEFE}"/>
              </a:ext>
            </a:extLst>
          </p:cNvPr>
          <p:cNvSpPr>
            <a:spLocks xmlns:a="http://schemas.openxmlformats.org/drawingml/2006/main" noGrp="1"/>
          </p:cNvSpPr>
          <p:nvPr/>
        </p:nvSpPr>
        <p:spPr>
          <a:xfrm xmlns:a="http://schemas.openxmlformats.org/drawingml/2006/main">
            <a:off x="7835837" y="20523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4" name="">
            <a:extLst xmlns:a="http://schemas.openxmlformats.org/drawingml/2006/main">
              <a:ext uri="{FF2B5EF4-FFF2-40B4-BE49-F238E27FC236}">
                <a16:creationId xmlns:a16="http://schemas.microsoft.com/office/drawing/2014/main" id="{377D35ED-0091-412A-9A5C-AFA0EEB2D020}"/>
              </a:ext>
            </a:extLst>
          </p:cNvPr>
          <p:cNvSpPr>
            <a:spLocks xmlns:a="http://schemas.openxmlformats.org/drawingml/2006/main" noGrp="1"/>
          </p:cNvSpPr>
          <p:nvPr/>
        </p:nvSpPr>
        <p:spPr>
          <a:xfrm xmlns:a="http://schemas.openxmlformats.org/drawingml/2006/main">
            <a:off x="8007287" y="20523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5" name="">
            <a:extLst xmlns:a="http://schemas.openxmlformats.org/drawingml/2006/main">
              <a:ext uri="{FF2B5EF4-FFF2-40B4-BE49-F238E27FC236}">
                <a16:creationId xmlns:a16="http://schemas.microsoft.com/office/drawing/2014/main" id="{D21BC7DD-CDB0-4E30-BBDB-EA520A9E519F}"/>
              </a:ext>
            </a:extLst>
          </p:cNvPr>
          <p:cNvSpPr>
            <a:spLocks xmlns:a="http://schemas.openxmlformats.org/drawingml/2006/main" noGrp="1"/>
          </p:cNvSpPr>
          <p:nvPr/>
        </p:nvSpPr>
        <p:spPr>
          <a:xfrm xmlns:a="http://schemas.openxmlformats.org/drawingml/2006/main">
            <a:off x="8460105" y="21865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6" name="">
            <a:extLst xmlns:a="http://schemas.openxmlformats.org/drawingml/2006/main">
              <a:ext uri="{FF2B5EF4-FFF2-40B4-BE49-F238E27FC236}">
                <a16:creationId xmlns:a16="http://schemas.microsoft.com/office/drawing/2014/main" id="{D3866433-DEC7-435C-A4D1-354819995ED0}"/>
              </a:ext>
            </a:extLst>
          </p:cNvPr>
          <p:cNvSpPr>
            <a:spLocks xmlns:a="http://schemas.openxmlformats.org/drawingml/2006/main" noGrp="1"/>
          </p:cNvSpPr>
          <p:nvPr/>
        </p:nvSpPr>
        <p:spPr>
          <a:xfrm xmlns:a="http://schemas.openxmlformats.org/drawingml/2006/main">
            <a:off x="8460105" y="22722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7" name="">
            <a:extLst xmlns:a="http://schemas.openxmlformats.org/drawingml/2006/main">
              <a:ext uri="{FF2B5EF4-FFF2-40B4-BE49-F238E27FC236}">
                <a16:creationId xmlns:a16="http://schemas.microsoft.com/office/drawing/2014/main" id="{DB53145B-30BE-4E5F-BA68-C9F779C2B4C6}"/>
              </a:ext>
            </a:extLst>
          </p:cNvPr>
          <p:cNvSpPr>
            <a:spLocks xmlns:a="http://schemas.openxmlformats.org/drawingml/2006/main" noGrp="1"/>
          </p:cNvSpPr>
          <p:nvPr/>
        </p:nvSpPr>
        <p:spPr>
          <a:xfrm xmlns:a="http://schemas.openxmlformats.org/drawingml/2006/main">
            <a:off x="8631555" y="22722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8" name="">
            <a:extLst xmlns:a="http://schemas.openxmlformats.org/drawingml/2006/main">
              <a:ext uri="{FF2B5EF4-FFF2-40B4-BE49-F238E27FC236}">
                <a16:creationId xmlns:a16="http://schemas.microsoft.com/office/drawing/2014/main" id="{99A4DA50-0585-428A-B0E8-962493038B2B}"/>
              </a:ext>
            </a:extLst>
          </p:cNvPr>
          <p:cNvSpPr>
            <a:spLocks xmlns:a="http://schemas.openxmlformats.org/drawingml/2006/main" noGrp="1"/>
          </p:cNvSpPr>
          <p:nvPr/>
        </p:nvSpPr>
        <p:spPr>
          <a:xfrm xmlns:a="http://schemas.openxmlformats.org/drawingml/2006/main">
            <a:off x="8266367" y="25367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9" name="">
            <a:extLst xmlns:a="http://schemas.openxmlformats.org/drawingml/2006/main">
              <a:ext uri="{FF2B5EF4-FFF2-40B4-BE49-F238E27FC236}">
                <a16:creationId xmlns:a16="http://schemas.microsoft.com/office/drawing/2014/main" id="{7F269F5D-78A9-4198-892E-B83E6C9DC72A}"/>
              </a:ext>
            </a:extLst>
          </p:cNvPr>
          <p:cNvSpPr>
            <a:spLocks xmlns:a="http://schemas.openxmlformats.org/drawingml/2006/main" noGrp="1"/>
          </p:cNvSpPr>
          <p:nvPr/>
        </p:nvSpPr>
        <p:spPr>
          <a:xfrm xmlns:a="http://schemas.openxmlformats.org/drawingml/2006/main">
            <a:off x="8266367" y="26224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0" name="">
            <a:extLst xmlns:a="http://schemas.openxmlformats.org/drawingml/2006/main">
              <a:ext uri="{FF2B5EF4-FFF2-40B4-BE49-F238E27FC236}">
                <a16:creationId xmlns:a16="http://schemas.microsoft.com/office/drawing/2014/main" id="{18771344-8C7B-4C76-99E7-A34CAAC43331}"/>
              </a:ext>
            </a:extLst>
          </p:cNvPr>
          <p:cNvSpPr>
            <a:spLocks xmlns:a="http://schemas.openxmlformats.org/drawingml/2006/main" noGrp="1"/>
          </p:cNvSpPr>
          <p:nvPr/>
        </p:nvSpPr>
        <p:spPr>
          <a:xfrm xmlns:a="http://schemas.openxmlformats.org/drawingml/2006/main">
            <a:off x="8437817" y="26224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1" name="">
            <a:extLst xmlns:a="http://schemas.openxmlformats.org/drawingml/2006/main">
              <a:ext uri="{FF2B5EF4-FFF2-40B4-BE49-F238E27FC236}">
                <a16:creationId xmlns:a16="http://schemas.microsoft.com/office/drawing/2014/main" id="{330A435F-7035-4366-A7D0-F9C99A2F94B8}"/>
              </a:ext>
            </a:extLst>
          </p:cNvPr>
          <p:cNvSpPr>
            <a:spLocks xmlns:a="http://schemas.openxmlformats.org/drawingml/2006/main" noGrp="1"/>
          </p:cNvSpPr>
          <p:nvPr/>
        </p:nvSpPr>
        <p:spPr>
          <a:xfrm xmlns:a="http://schemas.openxmlformats.org/drawingml/2006/main">
            <a:off x="7319201" y="23901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2" name="">
            <a:extLst xmlns:a="http://schemas.openxmlformats.org/drawingml/2006/main">
              <a:ext uri="{FF2B5EF4-FFF2-40B4-BE49-F238E27FC236}">
                <a16:creationId xmlns:a16="http://schemas.microsoft.com/office/drawing/2014/main" id="{8004EA27-39DA-4367-83EA-10FAE75CBD5D}"/>
              </a:ext>
            </a:extLst>
          </p:cNvPr>
          <p:cNvSpPr>
            <a:spLocks xmlns:a="http://schemas.openxmlformats.org/drawingml/2006/main" noGrp="1"/>
          </p:cNvSpPr>
          <p:nvPr/>
        </p:nvSpPr>
        <p:spPr>
          <a:xfrm xmlns:a="http://schemas.openxmlformats.org/drawingml/2006/main">
            <a:off x="7319201" y="24758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3" name="">
            <a:extLst xmlns:a="http://schemas.openxmlformats.org/drawingml/2006/main">
              <a:ext uri="{FF2B5EF4-FFF2-40B4-BE49-F238E27FC236}">
                <a16:creationId xmlns:a16="http://schemas.microsoft.com/office/drawing/2014/main" id="{9A61A38F-6D48-472D-9F4D-64C626560D92}"/>
              </a:ext>
            </a:extLst>
          </p:cNvPr>
          <p:cNvSpPr>
            <a:spLocks xmlns:a="http://schemas.openxmlformats.org/drawingml/2006/main" noGrp="1"/>
          </p:cNvSpPr>
          <p:nvPr/>
        </p:nvSpPr>
        <p:spPr>
          <a:xfrm xmlns:a="http://schemas.openxmlformats.org/drawingml/2006/main">
            <a:off x="7490651" y="24758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4" name="">
            <a:extLst xmlns:a="http://schemas.openxmlformats.org/drawingml/2006/main">
              <a:ext uri="{FF2B5EF4-FFF2-40B4-BE49-F238E27FC236}">
                <a16:creationId xmlns:a16="http://schemas.microsoft.com/office/drawing/2014/main" id="{F502CE3D-FE11-4E0D-86AB-95353D418062}"/>
              </a:ext>
            </a:extLst>
          </p:cNvPr>
          <p:cNvSpPr>
            <a:spLocks xmlns:a="http://schemas.openxmlformats.org/drawingml/2006/main" noGrp="1"/>
          </p:cNvSpPr>
          <p:nvPr/>
        </p:nvSpPr>
        <p:spPr>
          <a:xfrm xmlns:a="http://schemas.openxmlformats.org/drawingml/2006/main">
            <a:off x="10086975" y="25003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B6B6B6"/>
            </a:solidFill>
            <a:prstDash val="solid"/>
          </a:ln>
        </p:spPr>
      </p:sp>
      <p:sp>
        <p:nvSpPr>
          <p:cNvPr id="75" name="">
            <a:extLst xmlns:a="http://schemas.openxmlformats.org/drawingml/2006/main">
              <a:ext uri="{FF2B5EF4-FFF2-40B4-BE49-F238E27FC236}">
                <a16:creationId xmlns:a16="http://schemas.microsoft.com/office/drawing/2014/main" id="{5AC3D1D4-F7E4-44AD-939F-76AF49C54679}"/>
              </a:ext>
            </a:extLst>
          </p:cNvPr>
          <p:cNvSpPr>
            <a:spLocks xmlns:a="http://schemas.openxmlformats.org/drawingml/2006/main" noGrp="1"/>
          </p:cNvSpPr>
          <p:nvPr/>
        </p:nvSpPr>
        <p:spPr>
          <a:xfrm xmlns:a="http://schemas.openxmlformats.org/drawingml/2006/main" rot="0">
            <a:off x="10382250" y="2309813"/>
            <a:ext cx="1562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Assumed option</a:t>
            </a:r>
          </a:p>
        </p:txBody>
      </p:sp>
      <p:sp>
        <p:nvSpPr>
          <p:cNvPr id="76" name="">
            <a:extLst xmlns:a="http://schemas.openxmlformats.org/drawingml/2006/main">
              <a:ext uri="{FF2B5EF4-FFF2-40B4-BE49-F238E27FC236}">
                <a16:creationId xmlns:a16="http://schemas.microsoft.com/office/drawing/2014/main" id="{8B21F22F-2035-4763-9024-AB28FC1A1091}"/>
              </a:ext>
            </a:extLst>
          </p:cNvPr>
          <p:cNvSpPr>
            <a:spLocks xmlns:a="http://schemas.openxmlformats.org/drawingml/2006/main" noGrp="1"/>
          </p:cNvSpPr>
          <p:nvPr/>
        </p:nvSpPr>
        <p:spPr>
          <a:xfrm xmlns:a="http://schemas.openxmlformats.org/drawingml/2006/main" rot="0">
            <a:off x="10382250" y="25765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Assumed</a:t>
            </a:r>
          </a:p>
        </p:txBody>
      </p:sp>
      <p:sp>
        <p:nvSpPr>
          <p:cNvPr id="77" name="">
            <a:extLst xmlns:a="http://schemas.openxmlformats.org/drawingml/2006/main">
              <a:ext uri="{FF2B5EF4-FFF2-40B4-BE49-F238E27FC236}">
                <a16:creationId xmlns:a16="http://schemas.microsoft.com/office/drawing/2014/main" id="{814C301F-A989-4420-AAA5-D9F21DDAF9C9}"/>
              </a:ext>
            </a:extLst>
          </p:cNvPr>
          <p:cNvSpPr>
            <a:spLocks xmlns:a="http://schemas.openxmlformats.org/drawingml/2006/main" noGrp="1"/>
          </p:cNvSpPr>
          <p:nvPr/>
        </p:nvSpPr>
        <p:spPr>
          <a:xfrm xmlns:a="http://schemas.openxmlformats.org/drawingml/2006/main">
            <a:off x="5876925" y="4667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B6B6B6"/>
            </a:solidFill>
            <a:prstDash val="solid"/>
          </a:ln>
        </p:spPr>
      </p:sp>
      <p:sp>
        <p:nvSpPr>
          <p:cNvPr id="78" name="">
            <a:extLst xmlns:a="http://schemas.openxmlformats.org/drawingml/2006/main">
              <a:ext uri="{FF2B5EF4-FFF2-40B4-BE49-F238E27FC236}">
                <a16:creationId xmlns:a16="http://schemas.microsoft.com/office/drawing/2014/main" id="{612BA35D-DCFC-4FA7-AF96-A8B0012E49E3}"/>
              </a:ext>
            </a:extLst>
          </p:cNvPr>
          <p:cNvSpPr>
            <a:spLocks xmlns:a="http://schemas.openxmlformats.org/drawingml/2006/main" noGrp="1"/>
          </p:cNvSpPr>
          <p:nvPr/>
        </p:nvSpPr>
        <p:spPr>
          <a:xfrm xmlns:a="http://schemas.openxmlformats.org/drawingml/2006/main">
            <a:off x="7599045" y="6296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79" name="">
            <a:extLst xmlns:a="http://schemas.openxmlformats.org/drawingml/2006/main">
              <a:ext uri="{FF2B5EF4-FFF2-40B4-BE49-F238E27FC236}">
                <a16:creationId xmlns:a16="http://schemas.microsoft.com/office/drawing/2014/main" id="{F8EEFE86-D7A0-47B0-9816-571C03B3152C}"/>
              </a:ext>
            </a:extLst>
          </p:cNvPr>
          <p:cNvSpPr>
            <a:spLocks xmlns:a="http://schemas.openxmlformats.org/drawingml/2006/main" noGrp="1"/>
          </p:cNvSpPr>
          <p:nvPr/>
        </p:nvSpPr>
        <p:spPr>
          <a:xfrm xmlns:a="http://schemas.openxmlformats.org/drawingml/2006/main">
            <a:off x="6307455" y="6296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0" name="">
            <a:extLst xmlns:a="http://schemas.openxmlformats.org/drawingml/2006/main">
              <a:ext uri="{FF2B5EF4-FFF2-40B4-BE49-F238E27FC236}">
                <a16:creationId xmlns:a16="http://schemas.microsoft.com/office/drawing/2014/main" id="{CC142120-6FF4-4388-88D8-4F127C779103}"/>
              </a:ext>
            </a:extLst>
          </p:cNvPr>
          <p:cNvSpPr>
            <a:spLocks xmlns:a="http://schemas.openxmlformats.org/drawingml/2006/main" noGrp="1"/>
          </p:cNvSpPr>
          <p:nvPr/>
        </p:nvSpPr>
        <p:spPr>
          <a:xfrm xmlns:a="http://schemas.openxmlformats.org/drawingml/2006/main">
            <a:off x="7168515" y="792480"/>
            <a:ext cx="2152650" cy="814387"/>
          </a:xfrm>
          <a:custGeom xmlns:a="http://schemas.openxmlformats.org/drawingml/2006/main">
            <a:pathLst>
              <a:path w="2152650" h="814387">
                <a:moveTo>
                  <a:pt x="0" y="0"/>
                </a:moveTo>
                <a:lnTo>
                  <a:pt x="2152650" y="814387"/>
                </a:lnTo>
              </a:path>
            </a:pathLst>
          </a:custGeom>
          <a:noFill xmlns:a="http://schemas.openxmlformats.org/drawingml/2006/main"/>
          <a:ln xmlns:a="http://schemas.openxmlformats.org/drawingml/2006/main" w="3334">
            <a:solidFill>
              <a:srgbClr val="B6B6B6"/>
            </a:solidFill>
            <a:prstDash val="solid"/>
          </a:ln>
        </p:spPr>
      </p:sp>
      <p:sp>
        <p:nvSpPr>
          <p:cNvPr id="81" name="">
            <a:extLst xmlns:a="http://schemas.openxmlformats.org/drawingml/2006/main">
              <a:ext uri="{FF2B5EF4-FFF2-40B4-BE49-F238E27FC236}">
                <a16:creationId xmlns:a16="http://schemas.microsoft.com/office/drawing/2014/main" id="{478482A4-75CF-4C8C-9480-BD03828E052A}"/>
              </a:ext>
            </a:extLst>
          </p:cNvPr>
          <p:cNvSpPr>
            <a:spLocks xmlns:a="http://schemas.openxmlformats.org/drawingml/2006/main" noGrp="1"/>
          </p:cNvSpPr>
          <p:nvPr/>
        </p:nvSpPr>
        <p:spPr>
          <a:xfrm xmlns:a="http://schemas.openxmlformats.org/drawingml/2006/main">
            <a:off x="6737985" y="792480"/>
            <a:ext cx="2152650" cy="814387"/>
          </a:xfrm>
          <a:custGeom xmlns:a="http://schemas.openxmlformats.org/drawingml/2006/main">
            <a:pathLst>
              <a:path w="2152650" h="814387">
                <a:moveTo>
                  <a:pt x="2152650" y="0"/>
                </a:moveTo>
                <a:lnTo>
                  <a:pt x="0" y="814387"/>
                </a:lnTo>
              </a:path>
            </a:pathLst>
          </a:custGeom>
          <a:noFill xmlns:a="http://schemas.openxmlformats.org/drawingml/2006/main"/>
          <a:ln xmlns:a="http://schemas.openxmlformats.org/drawingml/2006/main" w="3334">
            <a:solidFill>
              <a:srgbClr val="B6B6B6"/>
            </a:solidFill>
            <a:prstDash val="solid"/>
          </a:ln>
        </p:spPr>
      </p:sp>
      <p:sp>
        <p:nvSpPr>
          <p:cNvPr id="82" name="">
            <a:extLst xmlns:a="http://schemas.openxmlformats.org/drawingml/2006/main">
              <a:ext uri="{FF2B5EF4-FFF2-40B4-BE49-F238E27FC236}">
                <a16:creationId xmlns:a16="http://schemas.microsoft.com/office/drawing/2014/main" id="{85A68BB5-9B8C-49AE-B14F-9B1AE65F7BB4}"/>
              </a:ext>
            </a:extLst>
          </p:cNvPr>
          <p:cNvSpPr>
            <a:spLocks xmlns:a="http://schemas.openxmlformats.org/drawingml/2006/main" noGrp="1"/>
          </p:cNvSpPr>
          <p:nvPr/>
        </p:nvSpPr>
        <p:spPr>
          <a:xfrm xmlns:a="http://schemas.openxmlformats.org/drawingml/2006/main">
            <a:off x="6737985" y="9553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83" name="">
            <a:extLst xmlns:a="http://schemas.openxmlformats.org/drawingml/2006/main">
              <a:ext uri="{FF2B5EF4-FFF2-40B4-BE49-F238E27FC236}">
                <a16:creationId xmlns:a16="http://schemas.microsoft.com/office/drawing/2014/main" id="{A46BFC1A-519E-45D8-9C85-63056ACF0EC6}"/>
              </a:ext>
            </a:extLst>
          </p:cNvPr>
          <p:cNvSpPr>
            <a:spLocks xmlns:a="http://schemas.openxmlformats.org/drawingml/2006/main" noGrp="1"/>
          </p:cNvSpPr>
          <p:nvPr/>
        </p:nvSpPr>
        <p:spPr>
          <a:xfrm xmlns:a="http://schemas.openxmlformats.org/drawingml/2006/main">
            <a:off x="7168515" y="9553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4" name="">
            <a:extLst xmlns:a="http://schemas.openxmlformats.org/drawingml/2006/main">
              <a:ext uri="{FF2B5EF4-FFF2-40B4-BE49-F238E27FC236}">
                <a16:creationId xmlns:a16="http://schemas.microsoft.com/office/drawing/2014/main" id="{4F79F8F7-5E59-4CFF-AEC2-AADC49FB72AB}"/>
              </a:ext>
            </a:extLst>
          </p:cNvPr>
          <p:cNvSpPr>
            <a:spLocks xmlns:a="http://schemas.openxmlformats.org/drawingml/2006/main" noGrp="1"/>
          </p:cNvSpPr>
          <p:nvPr/>
        </p:nvSpPr>
        <p:spPr>
          <a:xfrm xmlns:a="http://schemas.openxmlformats.org/drawingml/2006/main">
            <a:off x="6307455" y="1118235"/>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85" name="">
            <a:extLst xmlns:a="http://schemas.openxmlformats.org/drawingml/2006/main">
              <a:ext uri="{FF2B5EF4-FFF2-40B4-BE49-F238E27FC236}">
                <a16:creationId xmlns:a16="http://schemas.microsoft.com/office/drawing/2014/main" id="{7A2E2CBF-65C6-4338-B88D-8E6C2314D50D}"/>
              </a:ext>
            </a:extLst>
          </p:cNvPr>
          <p:cNvSpPr>
            <a:spLocks xmlns:a="http://schemas.openxmlformats.org/drawingml/2006/main" noGrp="1"/>
          </p:cNvSpPr>
          <p:nvPr/>
        </p:nvSpPr>
        <p:spPr>
          <a:xfrm xmlns:a="http://schemas.openxmlformats.org/drawingml/2006/main">
            <a:off x="7599045" y="1118235"/>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6" name="">
            <a:extLst xmlns:a="http://schemas.openxmlformats.org/drawingml/2006/main">
              <a:ext uri="{FF2B5EF4-FFF2-40B4-BE49-F238E27FC236}">
                <a16:creationId xmlns:a16="http://schemas.microsoft.com/office/drawing/2014/main" id="{00F23B30-C713-4118-8AF5-AEBAEB069E5C}"/>
              </a:ext>
            </a:extLst>
          </p:cNvPr>
          <p:cNvSpPr>
            <a:spLocks xmlns:a="http://schemas.openxmlformats.org/drawingml/2006/main" noGrp="1"/>
          </p:cNvSpPr>
          <p:nvPr/>
        </p:nvSpPr>
        <p:spPr>
          <a:xfrm xmlns:a="http://schemas.openxmlformats.org/drawingml/2006/main">
            <a:off x="7835837" y="7474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7" name="">
            <a:extLst xmlns:a="http://schemas.openxmlformats.org/drawingml/2006/main">
              <a:ext uri="{FF2B5EF4-FFF2-40B4-BE49-F238E27FC236}">
                <a16:creationId xmlns:a16="http://schemas.microsoft.com/office/drawing/2014/main" id="{1E8E6BEC-DD2B-4801-9B7F-F98380137C17}"/>
              </a:ext>
            </a:extLst>
          </p:cNvPr>
          <p:cNvSpPr>
            <a:spLocks xmlns:a="http://schemas.openxmlformats.org/drawingml/2006/main" noGrp="1"/>
          </p:cNvSpPr>
          <p:nvPr/>
        </p:nvSpPr>
        <p:spPr>
          <a:xfrm xmlns:a="http://schemas.openxmlformats.org/drawingml/2006/main">
            <a:off x="7835837" y="8331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8" name="">
            <a:extLst xmlns:a="http://schemas.openxmlformats.org/drawingml/2006/main">
              <a:ext uri="{FF2B5EF4-FFF2-40B4-BE49-F238E27FC236}">
                <a16:creationId xmlns:a16="http://schemas.microsoft.com/office/drawing/2014/main" id="{7721C08F-8E83-459C-A45A-E8CCC43C3258}"/>
              </a:ext>
            </a:extLst>
          </p:cNvPr>
          <p:cNvSpPr>
            <a:spLocks xmlns:a="http://schemas.openxmlformats.org/drawingml/2006/main" noGrp="1"/>
          </p:cNvSpPr>
          <p:nvPr/>
        </p:nvSpPr>
        <p:spPr>
          <a:xfrm xmlns:a="http://schemas.openxmlformats.org/drawingml/2006/main">
            <a:off x="8007287" y="8331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9" name="">
            <a:extLst xmlns:a="http://schemas.openxmlformats.org/drawingml/2006/main">
              <a:ext uri="{FF2B5EF4-FFF2-40B4-BE49-F238E27FC236}">
                <a16:creationId xmlns:a16="http://schemas.microsoft.com/office/drawing/2014/main" id="{1ECBB690-0B8A-4BC8-95B5-5B119595F982}"/>
              </a:ext>
            </a:extLst>
          </p:cNvPr>
          <p:cNvSpPr>
            <a:spLocks xmlns:a="http://schemas.openxmlformats.org/drawingml/2006/main" noGrp="1"/>
          </p:cNvSpPr>
          <p:nvPr/>
        </p:nvSpPr>
        <p:spPr>
          <a:xfrm xmlns:a="http://schemas.openxmlformats.org/drawingml/2006/main">
            <a:off x="8460105" y="9673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0" name="">
            <a:extLst xmlns:a="http://schemas.openxmlformats.org/drawingml/2006/main">
              <a:ext uri="{FF2B5EF4-FFF2-40B4-BE49-F238E27FC236}">
                <a16:creationId xmlns:a16="http://schemas.microsoft.com/office/drawing/2014/main" id="{4F8586B8-E403-4917-A3C8-C750F895E838}"/>
              </a:ext>
            </a:extLst>
          </p:cNvPr>
          <p:cNvSpPr>
            <a:spLocks xmlns:a="http://schemas.openxmlformats.org/drawingml/2006/main" noGrp="1"/>
          </p:cNvSpPr>
          <p:nvPr/>
        </p:nvSpPr>
        <p:spPr>
          <a:xfrm xmlns:a="http://schemas.openxmlformats.org/drawingml/2006/main">
            <a:off x="8460105" y="10530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1" name="">
            <a:extLst xmlns:a="http://schemas.openxmlformats.org/drawingml/2006/main">
              <a:ext uri="{FF2B5EF4-FFF2-40B4-BE49-F238E27FC236}">
                <a16:creationId xmlns:a16="http://schemas.microsoft.com/office/drawing/2014/main" id="{3632479F-0B33-4BB5-8834-385C864A2094}"/>
              </a:ext>
            </a:extLst>
          </p:cNvPr>
          <p:cNvSpPr>
            <a:spLocks xmlns:a="http://schemas.openxmlformats.org/drawingml/2006/main" noGrp="1"/>
          </p:cNvSpPr>
          <p:nvPr/>
        </p:nvSpPr>
        <p:spPr>
          <a:xfrm xmlns:a="http://schemas.openxmlformats.org/drawingml/2006/main">
            <a:off x="8631555" y="10530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2" name="">
            <a:extLst xmlns:a="http://schemas.openxmlformats.org/drawingml/2006/main">
              <a:ext uri="{FF2B5EF4-FFF2-40B4-BE49-F238E27FC236}">
                <a16:creationId xmlns:a16="http://schemas.microsoft.com/office/drawing/2014/main" id="{A4F4F6CF-DBFA-46A6-8661-7B9E20F19BA7}"/>
              </a:ext>
            </a:extLst>
          </p:cNvPr>
          <p:cNvSpPr>
            <a:spLocks xmlns:a="http://schemas.openxmlformats.org/drawingml/2006/main" noGrp="1"/>
          </p:cNvSpPr>
          <p:nvPr/>
        </p:nvSpPr>
        <p:spPr>
          <a:xfrm xmlns:a="http://schemas.openxmlformats.org/drawingml/2006/main">
            <a:off x="8266367" y="13175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3" name="">
            <a:extLst xmlns:a="http://schemas.openxmlformats.org/drawingml/2006/main">
              <a:ext uri="{FF2B5EF4-FFF2-40B4-BE49-F238E27FC236}">
                <a16:creationId xmlns:a16="http://schemas.microsoft.com/office/drawing/2014/main" id="{6A3A7BBD-45F8-49BE-B46A-E76AA76C0B64}"/>
              </a:ext>
            </a:extLst>
          </p:cNvPr>
          <p:cNvSpPr>
            <a:spLocks xmlns:a="http://schemas.openxmlformats.org/drawingml/2006/main" noGrp="1"/>
          </p:cNvSpPr>
          <p:nvPr/>
        </p:nvSpPr>
        <p:spPr>
          <a:xfrm xmlns:a="http://schemas.openxmlformats.org/drawingml/2006/main">
            <a:off x="8266367" y="14032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4" name="">
            <a:extLst xmlns:a="http://schemas.openxmlformats.org/drawingml/2006/main">
              <a:ext uri="{FF2B5EF4-FFF2-40B4-BE49-F238E27FC236}">
                <a16:creationId xmlns:a16="http://schemas.microsoft.com/office/drawing/2014/main" id="{646611D2-F408-40FD-A921-E296BC48625A}"/>
              </a:ext>
            </a:extLst>
          </p:cNvPr>
          <p:cNvSpPr>
            <a:spLocks xmlns:a="http://schemas.openxmlformats.org/drawingml/2006/main" noGrp="1"/>
          </p:cNvSpPr>
          <p:nvPr/>
        </p:nvSpPr>
        <p:spPr>
          <a:xfrm xmlns:a="http://schemas.openxmlformats.org/drawingml/2006/main">
            <a:off x="8437817" y="14032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5" name="">
            <a:extLst xmlns:a="http://schemas.openxmlformats.org/drawingml/2006/main">
              <a:ext uri="{FF2B5EF4-FFF2-40B4-BE49-F238E27FC236}">
                <a16:creationId xmlns:a16="http://schemas.microsoft.com/office/drawing/2014/main" id="{0BE90539-95CA-4610-BE71-D3A4EC789285}"/>
              </a:ext>
            </a:extLst>
          </p:cNvPr>
          <p:cNvSpPr>
            <a:spLocks xmlns:a="http://schemas.openxmlformats.org/drawingml/2006/main" noGrp="1"/>
          </p:cNvSpPr>
          <p:nvPr/>
        </p:nvSpPr>
        <p:spPr>
          <a:xfrm xmlns:a="http://schemas.openxmlformats.org/drawingml/2006/main">
            <a:off x="7319201" y="11709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6" name="">
            <a:extLst xmlns:a="http://schemas.openxmlformats.org/drawingml/2006/main">
              <a:ext uri="{FF2B5EF4-FFF2-40B4-BE49-F238E27FC236}">
                <a16:creationId xmlns:a16="http://schemas.microsoft.com/office/drawing/2014/main" id="{843A56BB-E320-4087-810A-BA7B0D9C8AB9}"/>
              </a:ext>
            </a:extLst>
          </p:cNvPr>
          <p:cNvSpPr>
            <a:spLocks xmlns:a="http://schemas.openxmlformats.org/drawingml/2006/main" noGrp="1"/>
          </p:cNvSpPr>
          <p:nvPr/>
        </p:nvSpPr>
        <p:spPr>
          <a:xfrm xmlns:a="http://schemas.openxmlformats.org/drawingml/2006/main">
            <a:off x="7319201" y="12566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7" name="">
            <a:extLst xmlns:a="http://schemas.openxmlformats.org/drawingml/2006/main">
              <a:ext uri="{FF2B5EF4-FFF2-40B4-BE49-F238E27FC236}">
                <a16:creationId xmlns:a16="http://schemas.microsoft.com/office/drawing/2014/main" id="{57E0DE92-5041-47D3-8087-B59A11C16B4F}"/>
              </a:ext>
            </a:extLst>
          </p:cNvPr>
          <p:cNvSpPr>
            <a:spLocks xmlns:a="http://schemas.openxmlformats.org/drawingml/2006/main" noGrp="1"/>
          </p:cNvSpPr>
          <p:nvPr/>
        </p:nvSpPr>
        <p:spPr>
          <a:xfrm xmlns:a="http://schemas.openxmlformats.org/drawingml/2006/main">
            <a:off x="7490651" y="12566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8" name="">
            <a:extLst xmlns:a="http://schemas.openxmlformats.org/drawingml/2006/main">
              <a:ext uri="{FF2B5EF4-FFF2-40B4-BE49-F238E27FC236}">
                <a16:creationId xmlns:a16="http://schemas.microsoft.com/office/drawing/2014/main" id="{E44B483D-6C76-4209-B6BE-532AFE01331C}"/>
              </a:ext>
            </a:extLst>
          </p:cNvPr>
          <p:cNvSpPr>
            <a:spLocks xmlns:a="http://schemas.openxmlformats.org/drawingml/2006/main" noGrp="1"/>
          </p:cNvSpPr>
          <p:nvPr/>
        </p:nvSpPr>
        <p:spPr>
          <a:xfrm xmlns:a="http://schemas.openxmlformats.org/drawingml/2006/main">
            <a:off x="10086975" y="12811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B6B6B6"/>
            </a:solidFill>
            <a:prstDash val="solid"/>
          </a:ln>
        </p:spPr>
      </p:sp>
      <p:sp>
        <p:nvSpPr>
          <p:cNvPr id="99" name="">
            <a:extLst xmlns:a="http://schemas.openxmlformats.org/drawingml/2006/main">
              <a:ext uri="{FF2B5EF4-FFF2-40B4-BE49-F238E27FC236}">
                <a16:creationId xmlns:a16="http://schemas.microsoft.com/office/drawing/2014/main" id="{B834D054-DDDF-4C64-910A-EA7AB0551A0B}"/>
              </a:ext>
            </a:extLst>
          </p:cNvPr>
          <p:cNvSpPr>
            <a:spLocks xmlns:a="http://schemas.openxmlformats.org/drawingml/2006/main" noGrp="1"/>
          </p:cNvSpPr>
          <p:nvPr/>
        </p:nvSpPr>
        <p:spPr>
          <a:xfrm xmlns:a="http://schemas.openxmlformats.org/drawingml/2006/main" rot="0">
            <a:off x="10382250" y="1090613"/>
            <a:ext cx="1562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Evidence</a:t>
            </a:r>
          </a:p>
        </p:txBody>
      </p:sp>
      <p:sp>
        <p:nvSpPr>
          <p:cNvPr id="100" name="">
            <a:extLst xmlns:a="http://schemas.openxmlformats.org/drawingml/2006/main">
              <a:ext uri="{FF2B5EF4-FFF2-40B4-BE49-F238E27FC236}">
                <a16:creationId xmlns:a16="http://schemas.microsoft.com/office/drawing/2014/main" id="{C6F8371B-92FF-4EB8-B076-FBBC21611D81}"/>
              </a:ext>
            </a:extLst>
          </p:cNvPr>
          <p:cNvSpPr>
            <a:spLocks xmlns:a="http://schemas.openxmlformats.org/drawingml/2006/main" noGrp="1"/>
          </p:cNvSpPr>
          <p:nvPr/>
        </p:nvSpPr>
        <p:spPr>
          <a:xfrm xmlns:a="http://schemas.openxmlformats.org/drawingml/2006/main" rot="0">
            <a:off x="10382250" y="13573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Observed</a:t>
            </a:r>
          </a:p>
        </p:txBody>
      </p:sp>
      <p:pic>
        <p:nvPicPr>
          <p:cNvPr id="101" name="">
            <a:extLst xmlns:a="http://schemas.openxmlformats.org/drawingml/2006/main">
              <a:ext uri="{FF2B5EF4-FFF2-40B4-BE49-F238E27FC236}">
                <a16:creationId xmlns:a16="http://schemas.microsoft.com/office/drawing/2014/main" id="{25CD78E1-3324-486E-8BC6-5C807E837856}"/>
              </a:ext>
            </a:extLst>
          </p:cNvPr>
          <p:cNvPicPr>
            <a:picLocks xmlns:a="http://schemas.openxmlformats.org/drawingml/2006/main" noChangeAspect="1"/>
          </p:cNvPicPr>
          <p:nvPr/>
        </p:nvPicPr>
        <p:blipFill>
          <a:blip xmlns:r="http://schemas.openxmlformats.org/officeDocument/2006/relationships" xmlns:a="http://schemas.openxmlformats.org/drawingml/2006/main" r:embed="R6f05761b08bd4813"/>
          <a:srcRect xmlns:a="http://schemas.openxmlformats.org/drawingml/2006/main" l="0" t="29551" r="0" b="29551"/>
          <a:stretch xmlns:a="http://schemas.openxmlformats.org/drawingml/2006/main">
            <a:fillRect l="0" t="0" r="0" b="0"/>
          </a:stretch>
        </p:blipFill>
        <p:spPr>
          <a:xfrm xmlns:a="http://schemas.openxmlformats.org/drawingml/2006/main">
            <a:off x="9906000" y="5476875"/>
            <a:ext cx="2286000" cy="1381125"/>
          </a:xfrm>
          <a:prstGeom xmlns:a="http://schemas.openxmlformats.org/drawingml/2006/main" prst="roundRect">
            <a:avLst>
              <a:gd name="adj" fmla="val 16552"/>
            </a:avLst>
          </a:prstGeom>
        </p:spPr>
      </p:pic>
      <p:sp>
        <p:nvSpPr>
          <p:cNvPr id="102" name="">
            <a:extLst xmlns:a="http://schemas.openxmlformats.org/drawingml/2006/main">
              <a:ext uri="{FF2B5EF4-FFF2-40B4-BE49-F238E27FC236}">
                <a16:creationId xmlns:a16="http://schemas.microsoft.com/office/drawing/2014/main" id="{257C6C98-06C7-437B-96E2-D18745D44897}"/>
              </a:ext>
            </a:extLst>
          </p:cNvPr>
          <p:cNvSpPr>
            <a:spLocks xmlns:a="http://schemas.openxmlformats.org/drawingml/2006/main" noGrp="1"/>
          </p:cNvSpPr>
          <p:nvPr/>
        </p:nvSpPr>
        <p:spPr>
          <a:xfrm xmlns:a="http://schemas.openxmlformats.org/drawingml/2006/main">
            <a:off x="5857875" y="1285875"/>
            <a:ext cx="95" cy="2428875"/>
          </a:xfrm>
          <a:custGeom xmlns:a="http://schemas.openxmlformats.org/drawingml/2006/main">
            <a:pathLst>
              <a:path w="95" h="2428875">
                <a:moveTo>
                  <a:pt x="0" y="0"/>
                </a:moveTo>
                <a:lnTo>
                  <a:pt x="0" y="2428875"/>
                </a:lnTo>
              </a:path>
            </a:pathLst>
          </a:custGeom>
          <a:noFill xmlns:a="http://schemas.openxmlformats.org/drawingml/2006/main"/>
          <a:ln xmlns:a="http://schemas.openxmlformats.org/drawingml/2006/main" w="4763">
            <a:solidFill>
              <a:srgbClr val="B6B6B6"/>
            </a:solidFill>
            <a:prstDash val="dot"/>
          </a:ln>
        </p:spPr>
      </p:sp>
      <p:sp>
        <p:nvSpPr>
          <p:cNvPr id="103" name="">
            <a:extLst xmlns:a="http://schemas.openxmlformats.org/drawingml/2006/main">
              <a:ext uri="{FF2B5EF4-FFF2-40B4-BE49-F238E27FC236}">
                <a16:creationId xmlns:a16="http://schemas.microsoft.com/office/drawing/2014/main" id="{D08876B4-0455-4115-89DB-3F2A5BE34A32}"/>
              </a:ext>
            </a:extLst>
          </p:cNvPr>
          <p:cNvSpPr>
            <a:spLocks xmlns:a="http://schemas.openxmlformats.org/drawingml/2006/main" noGrp="1"/>
          </p:cNvSpPr>
          <p:nvPr/>
        </p:nvSpPr>
        <p:spPr>
          <a:xfrm xmlns:a="http://schemas.openxmlformats.org/drawingml/2006/main">
            <a:off x="10201275" y="1285875"/>
            <a:ext cx="95" cy="2428875"/>
          </a:xfrm>
          <a:custGeom xmlns:a="http://schemas.openxmlformats.org/drawingml/2006/main">
            <a:pathLst>
              <a:path w="95" h="2428875">
                <a:moveTo>
                  <a:pt x="0" y="0"/>
                </a:moveTo>
                <a:lnTo>
                  <a:pt x="0" y="2428875"/>
                </a:lnTo>
              </a:path>
            </a:pathLst>
          </a:custGeom>
          <a:noFill xmlns:a="http://schemas.openxmlformats.org/drawingml/2006/main"/>
          <a:ln xmlns:a="http://schemas.openxmlformats.org/drawingml/2006/main" w="4763">
            <a:solidFill>
              <a:srgbClr val="B6B6B6"/>
            </a:solidFill>
            <a:prstDash val="dot"/>
          </a:ln>
        </p:spPr>
      </p:sp>
    </p:spTree>
    <p:extLst>
      <p:ext uri="{BB962C8B-B14F-4D97-AF65-F5344CB8AC3E}">
        <p14:creationId xmlns:p14="http://schemas.microsoft.com/office/powerpoint/2010/main" val="368846158"/>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5A8A3D-FD77-49E2-B3A7-AE35FDE01A85}"/>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4D480873-867D-47A5-84E5-8EB6145CFBB6}"/>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04</a:t>
            </a:r>
          </a:p>
        </p:txBody>
      </p:sp>
      <p:sp>
        <p:nvSpPr>
          <p:cNvPr id="3" name="">
            <a:extLst xmlns:a="http://schemas.openxmlformats.org/drawingml/2006/main">
              <a:ext uri="{FF2B5EF4-FFF2-40B4-BE49-F238E27FC236}">
                <a16:creationId xmlns:a16="http://schemas.microsoft.com/office/drawing/2014/main" id="{D5542209-840F-488D-B729-C77E5067F598}"/>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6AA233FC-D72C-4373-B6A4-7D63A2F0A2D5}"/>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6EDC1855-652C-412C-8F2B-820AABB0DA28}"/>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AEFEAB20-3135-4604-99F0-CB012358D96E}"/>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Recorded simulations</a:t>
            </a:r>
          </a:p>
        </p:txBody>
      </p:sp>
      <p:sp>
        <p:nvSpPr>
          <p:cNvPr id="7" name="">
            <a:extLst xmlns:a="http://schemas.openxmlformats.org/drawingml/2006/main">
              <a:ext uri="{FF2B5EF4-FFF2-40B4-BE49-F238E27FC236}">
                <a16:creationId xmlns:a16="http://schemas.microsoft.com/office/drawing/2014/main" id="{5CF84706-0038-4EFE-86EC-937B9498F257}"/>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sp>
        <p:nvSpPr>
          <p:cNvPr id="8" name="">
            <a:extLst xmlns:a="http://schemas.openxmlformats.org/drawingml/2006/main">
              <a:ext uri="{FF2B5EF4-FFF2-40B4-BE49-F238E27FC236}">
                <a16:creationId xmlns:a16="http://schemas.microsoft.com/office/drawing/2014/main" id="{DDB7ED64-19D4-49CB-AC50-6F41B099845D}"/>
              </a:ext>
            </a:extLst>
          </p:cNvPr>
          <p:cNvSpPr>
            <a:spLocks xmlns:a="http://schemas.openxmlformats.org/drawingml/2006/main" noGrp="1"/>
          </p:cNvSpPr>
          <p:nvPr/>
        </p:nvSpPr>
        <p:spPr>
          <a:xfrm xmlns:a="http://schemas.openxmlformats.org/drawingml/2006/main" rot="0">
            <a:off x="400050" y="895350"/>
            <a:ext cx="1128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Recorded stakeholder reactions let us inspect how</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a news scenario changes the model.</a:t>
            </a:r>
          </a:p>
        </p:txBody>
      </p:sp>
      <p:sp>
        <p:nvSpPr>
          <p:cNvPr id="9" name="">
            <a:extLst xmlns:a="http://schemas.openxmlformats.org/drawingml/2006/main">
              <a:ext uri="{FF2B5EF4-FFF2-40B4-BE49-F238E27FC236}">
                <a16:creationId xmlns:a16="http://schemas.microsoft.com/office/drawing/2014/main" id="{BC011535-DA61-4C96-8C54-1A61AF59E42A}"/>
              </a:ext>
            </a:extLst>
          </p:cNvPr>
          <p:cNvSpPr>
            <a:spLocks xmlns:a="http://schemas.openxmlformats.org/drawingml/2006/main" noGrp="1"/>
          </p:cNvSpPr>
          <p:nvPr/>
        </p:nvSpPr>
        <p:spPr>
          <a:xfrm xmlns:a="http://schemas.openxmlformats.org/drawingml/2006/main" rot="0">
            <a:off x="400050" y="2009775"/>
            <a:ext cx="5238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Mine approval</a:t>
            </a:r>
          </a:p>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−0.0252 support contrast</a:t>
            </a:r>
          </a:p>
        </p:txBody>
      </p:sp>
      <p:sp>
        <p:nvSpPr>
          <p:cNvPr id="10" name="">
            <a:extLst xmlns:a="http://schemas.openxmlformats.org/drawingml/2006/main">
              <a:ext uri="{FF2B5EF4-FFF2-40B4-BE49-F238E27FC236}">
                <a16:creationId xmlns:a16="http://schemas.microsoft.com/office/drawing/2014/main" id="{2857690B-21F7-48E8-A617-9BC9343B3100}"/>
              </a:ext>
            </a:extLst>
          </p:cNvPr>
          <p:cNvSpPr>
            <a:spLocks xmlns:a="http://schemas.openxmlformats.org/drawingml/2006/main" noGrp="1"/>
          </p:cNvSpPr>
          <p:nvPr/>
        </p:nvSpPr>
        <p:spPr>
          <a:xfrm xmlns:a="http://schemas.openxmlformats.org/drawingml/2006/main" rot="0">
            <a:off x="6286500" y="2009775"/>
            <a:ext cx="5429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Court blockage</a:t>
            </a:r>
          </a:p>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+0.0307 support contrast</a:t>
            </a:r>
          </a:p>
        </p:txBody>
      </p:sp>
      <p:pic>
        <p:nvPicPr>
          <p:cNvPr id="11" name="">
            <a:extLst xmlns:a="http://schemas.openxmlformats.org/drawingml/2006/main">
              <a:ext uri="{FF2B5EF4-FFF2-40B4-BE49-F238E27FC236}">
                <a16:creationId xmlns:a16="http://schemas.microsoft.com/office/drawing/2014/main" id="{429F89DE-2449-4F5B-AF6D-379D30ACD859}"/>
              </a:ext>
            </a:extLst>
          </p:cNvPr>
          <p:cNvPicPr>
            <a:picLocks xmlns:a="http://schemas.openxmlformats.org/drawingml/2006/main" noChangeAspect="1"/>
          </p:cNvPicPr>
          <p:nvPr/>
        </p:nvPicPr>
        <p:blipFill>
          <a:blip xmlns:r="http://schemas.openxmlformats.org/officeDocument/2006/relationships" xmlns:a="http://schemas.openxmlformats.org/drawingml/2006/main" r:embed="Rcb7b1ad1177246ee"/>
          <a:srcRect xmlns:a="http://schemas.openxmlformats.org/drawingml/2006/main" l="0" t="2537" r="0" b="2537"/>
          <a:stretch xmlns:a="http://schemas.openxmlformats.org/drawingml/2006/main">
            <a:fillRect l="0" t="0" r="0" b="0"/>
          </a:stretch>
        </p:blipFill>
        <p:spPr>
          <a:xfrm xmlns:a="http://schemas.openxmlformats.org/drawingml/2006/main">
            <a:off x="406400" y="3648075"/>
            <a:ext cx="2195830" cy="1762091"/>
          </a:xfrm>
          <a:prstGeom xmlns:a="http://schemas.openxmlformats.org/drawingml/2006/main" prst="roundRect">
            <a:avLst>
              <a:gd name="adj" fmla="val 12308"/>
            </a:avLst>
          </a:prstGeom>
        </p:spPr>
      </p:pic>
      <p:pic>
        <p:nvPicPr>
          <p:cNvPr id="12" name="">
            <a:extLst xmlns:a="http://schemas.openxmlformats.org/drawingml/2006/main">
              <a:ext uri="{FF2B5EF4-FFF2-40B4-BE49-F238E27FC236}">
                <a16:creationId xmlns:a16="http://schemas.microsoft.com/office/drawing/2014/main" id="{998003EC-31C7-4BE8-A711-1FE8EB4C9266}"/>
              </a:ext>
            </a:extLst>
          </p:cNvPr>
          <p:cNvPicPr>
            <a:picLocks xmlns:a="http://schemas.openxmlformats.org/drawingml/2006/main" noChangeAspect="1"/>
          </p:cNvPicPr>
          <p:nvPr/>
        </p:nvPicPr>
        <p:blipFill>
          <a:blip xmlns:r="http://schemas.openxmlformats.org/officeDocument/2006/relationships" xmlns:a="http://schemas.openxmlformats.org/drawingml/2006/main" r:embed="R47459cef40af40d7"/>
          <a:srcRect xmlns:a="http://schemas.openxmlformats.org/drawingml/2006/main" l="0" t="27636" r="0" b="27636"/>
          <a:stretch xmlns:a="http://schemas.openxmlformats.org/drawingml/2006/main">
            <a:fillRect l="0" t="0" r="0" b="0"/>
          </a:stretch>
        </p:blipFill>
        <p:spPr>
          <a:xfrm xmlns:a="http://schemas.openxmlformats.org/drawingml/2006/main">
            <a:off x="2876550" y="4371975"/>
            <a:ext cx="3762375" cy="2486025"/>
          </a:xfrm>
          <a:prstGeom xmlns:a="http://schemas.openxmlformats.org/drawingml/2006/main" prst="roundRect">
            <a:avLst>
              <a:gd name="adj" fmla="val 9195"/>
            </a:avLst>
          </a:prstGeom>
        </p:spPr>
      </p:pic>
      <p:pic>
        <p:nvPicPr>
          <p:cNvPr id="13" name="">
            <a:extLst xmlns:a="http://schemas.openxmlformats.org/drawingml/2006/main">
              <a:ext uri="{FF2B5EF4-FFF2-40B4-BE49-F238E27FC236}">
                <a16:creationId xmlns:a16="http://schemas.microsoft.com/office/drawing/2014/main" id="{7A5B0763-111E-4CDB-AB64-6E0F05A5608C}"/>
              </a:ext>
            </a:extLst>
          </p:cNvPr>
          <p:cNvPicPr>
            <a:picLocks xmlns:a="http://schemas.openxmlformats.org/drawingml/2006/main" noChangeAspect="1"/>
          </p:cNvPicPr>
          <p:nvPr/>
        </p:nvPicPr>
        <p:blipFill>
          <a:blip xmlns:r="http://schemas.openxmlformats.org/officeDocument/2006/relationships" xmlns:a="http://schemas.openxmlformats.org/drawingml/2006/main" r:embed="Rf9ff5f65ed034ff4"/>
          <a:srcRect xmlns:a="http://schemas.openxmlformats.org/drawingml/2006/main" l="0" t="0" r="0" b="0"/>
          <a:stretch xmlns:a="http://schemas.openxmlformats.org/drawingml/2006/main">
            <a:fillRect l="0" t="0" r="0" b="0"/>
          </a:stretch>
        </p:blipFill>
        <p:spPr>
          <a:xfrm xmlns:a="http://schemas.openxmlformats.org/drawingml/2006/main">
            <a:off x="7200900" y="3458766"/>
            <a:ext cx="4448175" cy="2780109"/>
          </a:xfrm>
          <a:prstGeom xmlns:a="http://schemas.openxmlformats.org/drawingml/2006/main" prst="roundRect">
            <a:avLst>
              <a:gd name="adj" fmla="val 6977"/>
            </a:avLst>
          </a:prstGeom>
        </p:spPr>
      </p:pic>
      <p:sp>
        <p:nvSpPr>
          <p:cNvPr id="14" name="">
            <a:extLst xmlns:a="http://schemas.openxmlformats.org/drawingml/2006/main">
              <a:ext uri="{FF2B5EF4-FFF2-40B4-BE49-F238E27FC236}">
                <a16:creationId xmlns:a16="http://schemas.microsoft.com/office/drawing/2014/main" id="{93DC21E8-34B0-4A02-A37E-69868178F23D}"/>
              </a:ext>
            </a:extLst>
          </p:cNvPr>
          <p:cNvSpPr>
            <a:spLocks xmlns:a="http://schemas.openxmlformats.org/drawingml/2006/main" noGrp="1"/>
          </p:cNvSpPr>
          <p:nvPr/>
        </p:nvSpPr>
        <p:spPr>
          <a:xfrm xmlns:a="http://schemas.openxmlformats.org/drawingml/2006/main" rot="0">
            <a:off x="400050" y="31623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737373"/>
                </a:solidFill>
                <a:latin typeface="DM Sans"/>
                <a:ea typeface="DM Sans"/>
                <a:cs typeface="DM Sans"/>
              </a:defRPr>
            </a:defPPr>
            <a:lvl1pPr algn="l">
              <a:defRPr sz="1125" b="0">
                <a:solidFill>
                  <a:srgbClr val="737373"/>
                </a:solidFill>
                <a:latin typeface="DM Sans"/>
                <a:ea typeface="DM Sans"/>
                <a:cs typeface="DM Sans"/>
              </a:defRPr>
            </a:lvl1pPr>
            <a:lvl2pPr algn="l">
              <a:defRPr sz="1125" b="0">
                <a:solidFill>
                  <a:srgbClr val="737373"/>
                </a:solidFill>
                <a:latin typeface="DM Sans"/>
                <a:ea typeface="DM Sans"/>
                <a:cs typeface="DM Sans"/>
              </a:defRPr>
            </a:lvl2pPr>
            <a:lvl3pPr algn="l">
              <a:defRPr sz="1125" b="0">
                <a:solidFill>
                  <a:srgbClr val="737373"/>
                </a:solidFill>
                <a:latin typeface="DM Sans"/>
                <a:ea typeface="DM Sans"/>
                <a:cs typeface="DM Sans"/>
              </a:defRPr>
            </a:lvl3pPr>
            <a:lvl4pPr algn="l">
              <a:defRPr sz="1125" b="0">
                <a:solidFill>
                  <a:srgbClr val="737373"/>
                </a:solidFill>
                <a:latin typeface="DM Sans"/>
                <a:ea typeface="DM Sans"/>
                <a:cs typeface="DM Sans"/>
              </a:defRPr>
            </a:lvl4pPr>
            <a:lvl5pPr algn="l">
              <a:defRPr sz="1125" b="0">
                <a:solidFill>
                  <a:srgbClr val="737373"/>
                </a:solidFill>
                <a:latin typeface="DM Sans"/>
                <a:ea typeface="DM Sans"/>
                <a:cs typeface="DM Sans"/>
              </a:defRPr>
            </a:lvl5pPr>
            <a:lvl6pPr algn="l">
              <a:defRPr sz="1125" b="0">
                <a:solidFill>
                  <a:srgbClr val="737373"/>
                </a:solidFill>
                <a:latin typeface="DM Sans"/>
                <a:ea typeface="DM Sans"/>
                <a:cs typeface="DM Sans"/>
              </a:defRPr>
            </a:lvl6pPr>
            <a:lvl7pPr algn="l">
              <a:defRPr sz="1125" b="0">
                <a:solidFill>
                  <a:srgbClr val="737373"/>
                </a:solidFill>
                <a:latin typeface="DM Sans"/>
                <a:ea typeface="DM Sans"/>
                <a:cs typeface="DM Sans"/>
              </a:defRPr>
            </a:lvl7pPr>
            <a:lvl8pPr algn="l">
              <a:defRPr sz="1125" b="0">
                <a:solidFill>
                  <a:srgbClr val="737373"/>
                </a:solidFill>
                <a:latin typeface="DM Sans"/>
                <a:ea typeface="DM Sans"/>
                <a:cs typeface="DM Sans"/>
              </a:defRPr>
            </a:lvl8pPr>
            <a:lvl9pPr algn="l">
              <a:defRPr sz="1125" b="0">
                <a:solidFill>
                  <a:srgbClr val="737373"/>
                </a:solidFill>
                <a:latin typeface="DM Sans"/>
                <a:ea typeface="DM Sans"/>
                <a:cs typeface="DM Sans"/>
              </a:defRPr>
            </a:lvl9pPr>
          </a:lstStyle>
          <a:p xmlns:a="http://schemas.openxmlformats.org/drawingml/2006/main">
            <a:pPr algn="l">
              <a:defRPr sz="1125" b="0">
                <a:solidFill>
                  <a:srgbClr val="737373"/>
                </a:solidFill>
                <a:latin typeface="DM Sans"/>
                <a:ea typeface="DM Sans"/>
                <a:cs typeface="DM Sans"/>
              </a:defRPr>
            </a:pPr>
            <a:r>
              <a:rPr sz="1125" b="0">
                <a:solidFill>
                  <a:srgbClr val="737373"/>
                </a:solidFill>
                <a:latin typeface="DM Sans"/>
                <a:ea typeface="DM Sans"/>
                <a:cs typeface="DM Sans"/>
              </a:rPr>
              <a:t>6 of 9 planned runs scored</a:t>
            </a:r>
          </a:p>
        </p:txBody>
      </p:sp>
      <p:sp>
        <p:nvSpPr>
          <p:cNvPr id="15" name="">
            <a:extLst xmlns:a="http://schemas.openxmlformats.org/drawingml/2006/main">
              <a:ext uri="{FF2B5EF4-FFF2-40B4-BE49-F238E27FC236}">
                <a16:creationId xmlns:a16="http://schemas.microsoft.com/office/drawing/2014/main" id="{C1047C4B-3F6D-4BA4-9B7E-452BE6F23127}"/>
              </a:ext>
            </a:extLst>
          </p:cNvPr>
          <p:cNvSpPr>
            <a:spLocks xmlns:a="http://schemas.openxmlformats.org/drawingml/2006/main" noGrp="1"/>
          </p:cNvSpPr>
          <p:nvPr/>
        </p:nvSpPr>
        <p:spPr>
          <a:xfrm xmlns:a="http://schemas.openxmlformats.org/drawingml/2006/main" rot="0">
            <a:off x="400050" y="5762625"/>
            <a:ext cx="2324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Matching Claude sports-placebo reference, days 3–5.</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Normalized support scale −1 to +1.</a:t>
            </a:r>
          </a:p>
        </p:txBody>
      </p:sp>
      <p:sp>
        <p:nvSpPr>
          <p:cNvPr id="16" name="">
            <a:extLst xmlns:a="http://schemas.openxmlformats.org/drawingml/2006/main">
              <a:ext uri="{FF2B5EF4-FFF2-40B4-BE49-F238E27FC236}">
                <a16:creationId xmlns:a16="http://schemas.microsoft.com/office/drawing/2014/main" id="{45BD8210-4E3C-4C78-B8A8-2A6A800555DE}"/>
              </a:ext>
            </a:extLst>
          </p:cNvPr>
          <p:cNvSpPr>
            <a:spLocks xmlns:a="http://schemas.openxmlformats.org/drawingml/2006/main" noGrp="1"/>
          </p:cNvSpPr>
          <p:nvPr/>
        </p:nvSpPr>
        <p:spPr>
          <a:xfrm xmlns:a="http://schemas.openxmlformats.org/drawingml/2006/main" rot="0">
            <a:off x="7239000" y="63912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Recorded research context. Checks failed.</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Financial mapping is illustrative.</a:t>
            </a:r>
          </a:p>
        </p:txBody>
      </p:sp>
    </p:spTree>
    <p:extLst>
      <p:ext uri="{BB962C8B-B14F-4D97-AF65-F5344CB8AC3E}">
        <p14:creationId xmlns:p14="http://schemas.microsoft.com/office/powerpoint/2010/main" val="576226434"/>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A625CE5-402D-403F-8342-862EC0CACF01}"/>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9AE60BA5-8302-45F6-A69F-32E070F04A0C}"/>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05</a:t>
            </a:r>
          </a:p>
        </p:txBody>
      </p:sp>
      <p:sp>
        <p:nvSpPr>
          <p:cNvPr id="3" name="">
            <a:extLst xmlns:a="http://schemas.openxmlformats.org/drawingml/2006/main">
              <a:ext uri="{FF2B5EF4-FFF2-40B4-BE49-F238E27FC236}">
                <a16:creationId xmlns:a16="http://schemas.microsoft.com/office/drawing/2014/main" id="{7A9578D2-E664-42F4-A1A4-F5EEAC1E8304}"/>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9CD630A8-4083-4C0D-A48B-D39A6864768D}"/>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B9BC1121-25A1-4931-9F2B-5226E605B766}"/>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DC0AA3CF-0B5E-40D1-8E4A-DD3A39E56A13}"/>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Time and cash</a:t>
            </a:r>
          </a:p>
        </p:txBody>
      </p:sp>
      <p:sp>
        <p:nvSpPr>
          <p:cNvPr id="7" name="">
            <a:extLst xmlns:a="http://schemas.openxmlformats.org/drawingml/2006/main">
              <a:ext uri="{FF2B5EF4-FFF2-40B4-BE49-F238E27FC236}">
                <a16:creationId xmlns:a16="http://schemas.microsoft.com/office/drawing/2014/main" id="{13D04B74-6AE1-4128-86DA-D58718220872}"/>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sp>
        <p:nvSpPr>
          <p:cNvPr id="8" name="">
            <a:extLst xmlns:a="http://schemas.openxmlformats.org/drawingml/2006/main">
              <a:ext uri="{FF2B5EF4-FFF2-40B4-BE49-F238E27FC236}">
                <a16:creationId xmlns:a16="http://schemas.microsoft.com/office/drawing/2014/main" id="{B34FB5A6-2808-45A1-9240-EB94C7B366AA}"/>
              </a:ext>
            </a:extLst>
          </p:cNvPr>
          <p:cNvSpPr>
            <a:spLocks xmlns:a="http://schemas.openxmlformats.org/drawingml/2006/main" noGrp="1"/>
          </p:cNvSpPr>
          <p:nvPr/>
        </p:nvSpPr>
        <p:spPr>
          <a:xfrm xmlns:a="http://schemas.openxmlformats.org/drawingml/2006/main" rot="0">
            <a:off x="400050" y="1304925"/>
            <a:ext cx="53816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A0A0A"/>
                </a:solidFill>
                <a:latin typeface="DM Sans"/>
                <a:ea typeface="DM Sans"/>
                <a:cs typeface="DM Sans"/>
              </a:defRPr>
            </a:defPPr>
            <a:lvl1pPr algn="l">
              <a:defRPr sz="2625" b="0">
                <a:solidFill>
                  <a:srgbClr val="0A0A0A"/>
                </a:solidFill>
                <a:latin typeface="DM Sans"/>
                <a:ea typeface="DM Sans"/>
                <a:cs typeface="DM Sans"/>
              </a:defRPr>
            </a:lvl1pPr>
            <a:lvl2pPr algn="l">
              <a:defRPr sz="2625" b="0">
                <a:solidFill>
                  <a:srgbClr val="0A0A0A"/>
                </a:solidFill>
                <a:latin typeface="DM Sans"/>
                <a:ea typeface="DM Sans"/>
                <a:cs typeface="DM Sans"/>
              </a:defRPr>
            </a:lvl2pPr>
            <a:lvl3pPr algn="l">
              <a:defRPr sz="2625" b="0">
                <a:solidFill>
                  <a:srgbClr val="0A0A0A"/>
                </a:solidFill>
                <a:latin typeface="DM Sans"/>
                <a:ea typeface="DM Sans"/>
                <a:cs typeface="DM Sans"/>
              </a:defRPr>
            </a:lvl3pPr>
            <a:lvl4pPr algn="l">
              <a:defRPr sz="2625" b="0">
                <a:solidFill>
                  <a:srgbClr val="0A0A0A"/>
                </a:solidFill>
                <a:latin typeface="DM Sans"/>
                <a:ea typeface="DM Sans"/>
                <a:cs typeface="DM Sans"/>
              </a:defRPr>
            </a:lvl4pPr>
            <a:lvl5pPr algn="l">
              <a:defRPr sz="2625" b="0">
                <a:solidFill>
                  <a:srgbClr val="0A0A0A"/>
                </a:solidFill>
                <a:latin typeface="DM Sans"/>
                <a:ea typeface="DM Sans"/>
                <a:cs typeface="DM Sans"/>
              </a:defRPr>
            </a:lvl5pPr>
            <a:lvl6pPr algn="l">
              <a:defRPr sz="2625" b="0">
                <a:solidFill>
                  <a:srgbClr val="0A0A0A"/>
                </a:solidFill>
                <a:latin typeface="DM Sans"/>
                <a:ea typeface="DM Sans"/>
                <a:cs typeface="DM Sans"/>
              </a:defRPr>
            </a:lvl6pPr>
            <a:lvl7pPr algn="l">
              <a:defRPr sz="2625" b="0">
                <a:solidFill>
                  <a:srgbClr val="0A0A0A"/>
                </a:solidFill>
                <a:latin typeface="DM Sans"/>
                <a:ea typeface="DM Sans"/>
                <a:cs typeface="DM Sans"/>
              </a:defRPr>
            </a:lvl7pPr>
            <a:lvl8pPr algn="l">
              <a:defRPr sz="2625" b="0">
                <a:solidFill>
                  <a:srgbClr val="0A0A0A"/>
                </a:solidFill>
                <a:latin typeface="DM Sans"/>
                <a:ea typeface="DM Sans"/>
                <a:cs typeface="DM Sans"/>
              </a:defRPr>
            </a:lvl8pPr>
            <a:lvl9pPr algn="l">
              <a:defRPr sz="2625" b="0">
                <a:solidFill>
                  <a:srgbClr val="0A0A0A"/>
                </a:solidFill>
                <a:latin typeface="DM Sans"/>
                <a:ea typeface="DM Sans"/>
                <a:cs typeface="DM Sans"/>
              </a:defRPr>
            </a:lvl9pPr>
          </a:lstStyle>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At 90 days, the same</a:t>
            </a:r>
          </a:p>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hypothetical option has</a:t>
            </a:r>
          </a:p>
        </p:txBody>
      </p:sp>
      <p:sp>
        <p:nvSpPr>
          <p:cNvPr id="9" name="">
            <a:extLst xmlns:a="http://schemas.openxmlformats.org/drawingml/2006/main">
              <a:ext uri="{FF2B5EF4-FFF2-40B4-BE49-F238E27FC236}">
                <a16:creationId xmlns:a16="http://schemas.microsoft.com/office/drawing/2014/main" id="{ABE18777-E266-4736-AA78-5ED8905F76A5}"/>
              </a:ext>
            </a:extLst>
          </p:cNvPr>
          <p:cNvSpPr>
            <a:spLocks xmlns:a="http://schemas.openxmlformats.org/drawingml/2006/main" noGrp="1"/>
          </p:cNvSpPr>
          <p:nvPr/>
        </p:nvSpPr>
        <p:spPr>
          <a:xfrm xmlns:a="http://schemas.openxmlformats.org/drawingml/2006/main" rot="0">
            <a:off x="400050" y="2171700"/>
            <a:ext cx="5191125"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325" b="0">
                <a:solidFill>
                  <a:srgbClr val="0A0A0A"/>
                </a:solidFill>
                <a:latin typeface="DM Sans Light"/>
                <a:ea typeface="DM Sans Light"/>
                <a:cs typeface="DM Sans Light"/>
              </a:defRPr>
            </a:defPPr>
            <a:lvl1pPr algn="l">
              <a:defRPr sz="8325" b="0">
                <a:solidFill>
                  <a:srgbClr val="0A0A0A"/>
                </a:solidFill>
                <a:latin typeface="DM Sans Light"/>
                <a:ea typeface="DM Sans Light"/>
                <a:cs typeface="DM Sans Light"/>
              </a:defRPr>
            </a:lvl1pPr>
            <a:lvl2pPr algn="l">
              <a:defRPr sz="8325" b="0">
                <a:solidFill>
                  <a:srgbClr val="0A0A0A"/>
                </a:solidFill>
                <a:latin typeface="DM Sans Light"/>
                <a:ea typeface="DM Sans Light"/>
                <a:cs typeface="DM Sans Light"/>
              </a:defRPr>
            </a:lvl2pPr>
            <a:lvl3pPr algn="l">
              <a:defRPr sz="8325" b="0">
                <a:solidFill>
                  <a:srgbClr val="0A0A0A"/>
                </a:solidFill>
                <a:latin typeface="DM Sans Light"/>
                <a:ea typeface="DM Sans Light"/>
                <a:cs typeface="DM Sans Light"/>
              </a:defRPr>
            </a:lvl3pPr>
            <a:lvl4pPr algn="l">
              <a:defRPr sz="8325" b="0">
                <a:solidFill>
                  <a:srgbClr val="0A0A0A"/>
                </a:solidFill>
                <a:latin typeface="DM Sans Light"/>
                <a:ea typeface="DM Sans Light"/>
                <a:cs typeface="DM Sans Light"/>
              </a:defRPr>
            </a:lvl4pPr>
            <a:lvl5pPr algn="l">
              <a:defRPr sz="8325" b="0">
                <a:solidFill>
                  <a:srgbClr val="0A0A0A"/>
                </a:solidFill>
                <a:latin typeface="DM Sans Light"/>
                <a:ea typeface="DM Sans Light"/>
                <a:cs typeface="DM Sans Light"/>
              </a:defRPr>
            </a:lvl5pPr>
            <a:lvl6pPr algn="l">
              <a:defRPr sz="8325" b="0">
                <a:solidFill>
                  <a:srgbClr val="0A0A0A"/>
                </a:solidFill>
                <a:latin typeface="DM Sans Light"/>
                <a:ea typeface="DM Sans Light"/>
                <a:cs typeface="DM Sans Light"/>
              </a:defRPr>
            </a:lvl6pPr>
            <a:lvl7pPr algn="l">
              <a:defRPr sz="8325" b="0">
                <a:solidFill>
                  <a:srgbClr val="0A0A0A"/>
                </a:solidFill>
                <a:latin typeface="DM Sans Light"/>
                <a:ea typeface="DM Sans Light"/>
                <a:cs typeface="DM Sans Light"/>
              </a:defRPr>
            </a:lvl7pPr>
            <a:lvl8pPr algn="l">
              <a:defRPr sz="8325" b="0">
                <a:solidFill>
                  <a:srgbClr val="0A0A0A"/>
                </a:solidFill>
                <a:latin typeface="DM Sans Light"/>
                <a:ea typeface="DM Sans Light"/>
                <a:cs typeface="DM Sans Light"/>
              </a:defRPr>
            </a:lvl8pPr>
            <a:lvl9pPr algn="l">
              <a:defRPr sz="8325" b="0">
                <a:solidFill>
                  <a:srgbClr val="0A0A0A"/>
                </a:solidFill>
                <a:latin typeface="DM Sans Light"/>
                <a:ea typeface="DM Sans Light"/>
                <a:cs typeface="DM Sans Light"/>
              </a:defRPr>
            </a:lvl9pPr>
          </a:lstStyle>
          <a:p xmlns:a="http://schemas.openxmlformats.org/drawingml/2006/main">
            <a:pPr algn="l">
              <a:defRPr sz="8325" b="0">
                <a:solidFill>
                  <a:srgbClr val="0A0A0A"/>
                </a:solidFill>
                <a:latin typeface="DM Sans Light"/>
                <a:ea typeface="DM Sans Light"/>
                <a:cs typeface="DM Sans Light"/>
              </a:defRPr>
            </a:pPr>
            <a:r>
              <a:rPr sz="8325" b="0">
                <a:solidFill>
                  <a:srgbClr val="0A0A0A"/>
                </a:solidFill>
                <a:latin typeface="DM Sans Light"/>
                <a:ea typeface="DM Sans Light"/>
                <a:cs typeface="DM Sans Light"/>
              </a:rPr>
              <a:t>$7.60</a:t>
            </a:r>
          </a:p>
        </p:txBody>
      </p:sp>
      <p:sp>
        <p:nvSpPr>
          <p:cNvPr id="10" name="">
            <a:extLst xmlns:a="http://schemas.openxmlformats.org/drawingml/2006/main">
              <a:ext uri="{FF2B5EF4-FFF2-40B4-BE49-F238E27FC236}">
                <a16:creationId xmlns:a16="http://schemas.microsoft.com/office/drawing/2014/main" id="{DEFC66DB-8EAA-46B7-9147-34BBCEFC22C0}"/>
              </a:ext>
            </a:extLst>
          </p:cNvPr>
          <p:cNvSpPr>
            <a:spLocks xmlns:a="http://schemas.openxmlformats.org/drawingml/2006/main" noGrp="1"/>
          </p:cNvSpPr>
          <p:nvPr/>
        </p:nvSpPr>
        <p:spPr>
          <a:xfrm xmlns:a="http://schemas.openxmlformats.org/drawingml/2006/main">
            <a:off x="447675" y="3419475"/>
            <a:ext cx="2914650" cy="95"/>
          </a:xfrm>
          <a:custGeom xmlns:a="http://schemas.openxmlformats.org/drawingml/2006/main">
            <a:pathLst>
              <a:path w="2914650" h="95">
                <a:moveTo>
                  <a:pt x="0" y="0"/>
                </a:moveTo>
                <a:lnTo>
                  <a:pt x="2914650" y="0"/>
                </a:lnTo>
              </a:path>
            </a:pathLst>
          </a:custGeom>
          <a:noFill xmlns:a="http://schemas.openxmlformats.org/drawingml/2006/main"/>
          <a:ln xmlns:a="http://schemas.openxmlformats.org/drawingml/2006/main" w="17145">
            <a:solidFill>
              <a:srgbClr val="0A0A0A"/>
            </a:solidFill>
            <a:prstDash val="solid"/>
          </a:ln>
        </p:spPr>
      </p:sp>
      <p:sp>
        <p:nvSpPr>
          <p:cNvPr id="11" name="">
            <a:extLst xmlns:a="http://schemas.openxmlformats.org/drawingml/2006/main">
              <a:ext uri="{FF2B5EF4-FFF2-40B4-BE49-F238E27FC236}">
                <a16:creationId xmlns:a16="http://schemas.microsoft.com/office/drawing/2014/main" id="{B72DD793-5F9B-4E6C-9A5A-38E70D4A9F8D}"/>
              </a:ext>
            </a:extLst>
          </p:cNvPr>
          <p:cNvSpPr>
            <a:spLocks xmlns:a="http://schemas.openxmlformats.org/drawingml/2006/main" noGrp="1"/>
          </p:cNvSpPr>
          <p:nvPr/>
        </p:nvSpPr>
        <p:spPr>
          <a:xfrm xmlns:a="http://schemas.openxmlformats.org/drawingml/2006/main" rot="0">
            <a:off x="400050" y="36385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A0A0A"/>
                </a:solidFill>
                <a:latin typeface="DM Sans"/>
                <a:ea typeface="DM Sans"/>
                <a:cs typeface="DM Sans"/>
              </a:defRPr>
            </a:defPPr>
            <a:lvl1pPr algn="l">
              <a:defRPr sz="2625" b="0">
                <a:solidFill>
                  <a:srgbClr val="0A0A0A"/>
                </a:solidFill>
                <a:latin typeface="DM Sans"/>
                <a:ea typeface="DM Sans"/>
                <a:cs typeface="DM Sans"/>
              </a:defRPr>
            </a:lvl1pPr>
            <a:lvl2pPr algn="l">
              <a:defRPr sz="2625" b="0">
                <a:solidFill>
                  <a:srgbClr val="0A0A0A"/>
                </a:solidFill>
                <a:latin typeface="DM Sans"/>
                <a:ea typeface="DM Sans"/>
                <a:cs typeface="DM Sans"/>
              </a:defRPr>
            </a:lvl2pPr>
            <a:lvl3pPr algn="l">
              <a:defRPr sz="2625" b="0">
                <a:solidFill>
                  <a:srgbClr val="0A0A0A"/>
                </a:solidFill>
                <a:latin typeface="DM Sans"/>
                <a:ea typeface="DM Sans"/>
                <a:cs typeface="DM Sans"/>
              </a:defRPr>
            </a:lvl3pPr>
            <a:lvl4pPr algn="l">
              <a:defRPr sz="2625" b="0">
                <a:solidFill>
                  <a:srgbClr val="0A0A0A"/>
                </a:solidFill>
                <a:latin typeface="DM Sans"/>
                <a:ea typeface="DM Sans"/>
                <a:cs typeface="DM Sans"/>
              </a:defRPr>
            </a:lvl4pPr>
            <a:lvl5pPr algn="l">
              <a:defRPr sz="2625" b="0">
                <a:solidFill>
                  <a:srgbClr val="0A0A0A"/>
                </a:solidFill>
                <a:latin typeface="DM Sans"/>
                <a:ea typeface="DM Sans"/>
                <a:cs typeface="DM Sans"/>
              </a:defRPr>
            </a:lvl5pPr>
            <a:lvl6pPr algn="l">
              <a:defRPr sz="2625" b="0">
                <a:solidFill>
                  <a:srgbClr val="0A0A0A"/>
                </a:solidFill>
                <a:latin typeface="DM Sans"/>
                <a:ea typeface="DM Sans"/>
                <a:cs typeface="DM Sans"/>
              </a:defRPr>
            </a:lvl6pPr>
            <a:lvl7pPr algn="l">
              <a:defRPr sz="2625" b="0">
                <a:solidFill>
                  <a:srgbClr val="0A0A0A"/>
                </a:solidFill>
                <a:latin typeface="DM Sans"/>
                <a:ea typeface="DM Sans"/>
                <a:cs typeface="DM Sans"/>
              </a:defRPr>
            </a:lvl7pPr>
            <a:lvl8pPr algn="l">
              <a:defRPr sz="2625" b="0">
                <a:solidFill>
                  <a:srgbClr val="0A0A0A"/>
                </a:solidFill>
                <a:latin typeface="DM Sans"/>
                <a:ea typeface="DM Sans"/>
                <a:cs typeface="DM Sans"/>
              </a:defRPr>
            </a:lvl8pPr>
            <a:lvl9pPr algn="l">
              <a:defRPr sz="2625" b="0">
                <a:solidFill>
                  <a:srgbClr val="0A0A0A"/>
                </a:solidFill>
                <a:latin typeface="DM Sans"/>
                <a:ea typeface="DM Sans"/>
                <a:cs typeface="DM Sans"/>
              </a:defRPr>
            </a:lvl9pPr>
          </a:lstStyle>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expected net cash, while</a:t>
            </a:r>
          </a:p>
        </p:txBody>
      </p:sp>
      <p:sp>
        <p:nvSpPr>
          <p:cNvPr id="12" name="">
            <a:extLst xmlns:a="http://schemas.openxmlformats.org/drawingml/2006/main">
              <a:ext uri="{FF2B5EF4-FFF2-40B4-BE49-F238E27FC236}">
                <a16:creationId xmlns:a16="http://schemas.microsoft.com/office/drawing/2014/main" id="{386B7033-18C6-46E9-8EC2-50FBA14FE0FF}"/>
              </a:ext>
            </a:extLst>
          </p:cNvPr>
          <p:cNvSpPr>
            <a:spLocks xmlns:a="http://schemas.openxmlformats.org/drawingml/2006/main" noGrp="1"/>
          </p:cNvSpPr>
          <p:nvPr/>
        </p:nvSpPr>
        <p:spPr>
          <a:xfrm xmlns:a="http://schemas.openxmlformats.org/drawingml/2006/main" rot="0">
            <a:off x="400050" y="4105275"/>
            <a:ext cx="5238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75" b="0">
                <a:solidFill>
                  <a:srgbClr val="0A0A0A"/>
                </a:solidFill>
                <a:latin typeface="DM Sans Light"/>
                <a:ea typeface="DM Sans Light"/>
                <a:cs typeface="DM Sans Light"/>
              </a:defRPr>
            </a:defPPr>
            <a:lvl1pPr algn="l">
              <a:defRPr sz="7875" b="0">
                <a:solidFill>
                  <a:srgbClr val="0A0A0A"/>
                </a:solidFill>
                <a:latin typeface="DM Sans Light"/>
                <a:ea typeface="DM Sans Light"/>
                <a:cs typeface="DM Sans Light"/>
              </a:defRPr>
            </a:lvl1pPr>
            <a:lvl2pPr algn="l">
              <a:defRPr sz="7875" b="0">
                <a:solidFill>
                  <a:srgbClr val="0A0A0A"/>
                </a:solidFill>
                <a:latin typeface="DM Sans Light"/>
                <a:ea typeface="DM Sans Light"/>
                <a:cs typeface="DM Sans Light"/>
              </a:defRPr>
            </a:lvl2pPr>
            <a:lvl3pPr algn="l">
              <a:defRPr sz="7875" b="0">
                <a:solidFill>
                  <a:srgbClr val="0A0A0A"/>
                </a:solidFill>
                <a:latin typeface="DM Sans Light"/>
                <a:ea typeface="DM Sans Light"/>
                <a:cs typeface="DM Sans Light"/>
              </a:defRPr>
            </a:lvl3pPr>
            <a:lvl4pPr algn="l">
              <a:defRPr sz="7875" b="0">
                <a:solidFill>
                  <a:srgbClr val="0A0A0A"/>
                </a:solidFill>
                <a:latin typeface="DM Sans Light"/>
                <a:ea typeface="DM Sans Light"/>
                <a:cs typeface="DM Sans Light"/>
              </a:defRPr>
            </a:lvl4pPr>
            <a:lvl5pPr algn="l">
              <a:defRPr sz="7875" b="0">
                <a:solidFill>
                  <a:srgbClr val="0A0A0A"/>
                </a:solidFill>
                <a:latin typeface="DM Sans Light"/>
                <a:ea typeface="DM Sans Light"/>
                <a:cs typeface="DM Sans Light"/>
              </a:defRPr>
            </a:lvl5pPr>
            <a:lvl6pPr algn="l">
              <a:defRPr sz="7875" b="0">
                <a:solidFill>
                  <a:srgbClr val="0A0A0A"/>
                </a:solidFill>
                <a:latin typeface="DM Sans Light"/>
                <a:ea typeface="DM Sans Light"/>
                <a:cs typeface="DM Sans Light"/>
              </a:defRPr>
            </a:lvl6pPr>
            <a:lvl7pPr algn="l">
              <a:defRPr sz="7875" b="0">
                <a:solidFill>
                  <a:srgbClr val="0A0A0A"/>
                </a:solidFill>
                <a:latin typeface="DM Sans Light"/>
                <a:ea typeface="DM Sans Light"/>
                <a:cs typeface="DM Sans Light"/>
              </a:defRPr>
            </a:lvl7pPr>
            <a:lvl8pPr algn="l">
              <a:defRPr sz="7875" b="0">
                <a:solidFill>
                  <a:srgbClr val="0A0A0A"/>
                </a:solidFill>
                <a:latin typeface="DM Sans Light"/>
                <a:ea typeface="DM Sans Light"/>
                <a:cs typeface="DM Sans Light"/>
              </a:defRPr>
            </a:lvl8pPr>
            <a:lvl9pPr algn="l">
              <a:defRPr sz="7875" b="0">
                <a:solidFill>
                  <a:srgbClr val="0A0A0A"/>
                </a:solidFill>
                <a:latin typeface="DM Sans Light"/>
                <a:ea typeface="DM Sans Light"/>
                <a:cs typeface="DM Sans Light"/>
              </a:defRPr>
            </a:lvl9pPr>
          </a:lstStyle>
          <a:p xmlns:a="http://schemas.openxmlformats.org/drawingml/2006/main">
            <a:pPr algn="l">
              <a:defRPr sz="7875" b="0">
                <a:solidFill>
                  <a:srgbClr val="0A0A0A"/>
                </a:solidFill>
                <a:latin typeface="DM Sans Light"/>
                <a:ea typeface="DM Sans Light"/>
                <a:cs typeface="DM Sans Light"/>
              </a:defRPr>
            </a:pPr>
            <a:r>
              <a:rPr sz="7875" b="0">
                <a:solidFill>
                  <a:srgbClr val="0A0A0A"/>
                </a:solidFill>
                <a:latin typeface="DM Sans Light"/>
                <a:ea typeface="DM Sans Light"/>
                <a:cs typeface="DM Sans Light"/>
              </a:rPr>
              <a:t>51.2%</a:t>
            </a:r>
          </a:p>
        </p:txBody>
      </p:sp>
      <p:sp>
        <p:nvSpPr>
          <p:cNvPr id="13" name="">
            <a:extLst xmlns:a="http://schemas.openxmlformats.org/drawingml/2006/main">
              <a:ext uri="{FF2B5EF4-FFF2-40B4-BE49-F238E27FC236}">
                <a16:creationId xmlns:a16="http://schemas.microsoft.com/office/drawing/2014/main" id="{90903CCC-C146-478F-93F3-0A9ACCBDEE20}"/>
              </a:ext>
            </a:extLst>
          </p:cNvPr>
          <p:cNvSpPr>
            <a:spLocks xmlns:a="http://schemas.openxmlformats.org/drawingml/2006/main" noGrp="1"/>
          </p:cNvSpPr>
          <p:nvPr/>
        </p:nvSpPr>
        <p:spPr>
          <a:xfrm xmlns:a="http://schemas.openxmlformats.org/drawingml/2006/main">
            <a:off x="447675" y="5305425"/>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17145">
            <a:solidFill>
              <a:srgbClr val="0A0A0A"/>
            </a:solidFill>
            <a:prstDash val="solid"/>
          </a:ln>
        </p:spPr>
      </p:sp>
      <p:sp>
        <p:nvSpPr>
          <p:cNvPr id="14" name="">
            <a:extLst xmlns:a="http://schemas.openxmlformats.org/drawingml/2006/main">
              <a:ext uri="{FF2B5EF4-FFF2-40B4-BE49-F238E27FC236}">
                <a16:creationId xmlns:a16="http://schemas.microsoft.com/office/drawing/2014/main" id="{A372BC28-6F83-41DF-80DD-44EB4B3411B5}"/>
              </a:ext>
            </a:extLst>
          </p:cNvPr>
          <p:cNvSpPr>
            <a:spLocks xmlns:a="http://schemas.openxmlformats.org/drawingml/2006/main" noGrp="1"/>
          </p:cNvSpPr>
          <p:nvPr/>
        </p:nvSpPr>
        <p:spPr>
          <a:xfrm xmlns:a="http://schemas.openxmlformats.org/drawingml/2006/main" rot="0">
            <a:off x="400050" y="5476875"/>
            <a:ext cx="542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0A0A0A"/>
                </a:solidFill>
                <a:latin typeface="DM Sans"/>
                <a:ea typeface="DM Sans"/>
                <a:cs typeface="DM Sans"/>
              </a:defRPr>
            </a:defPPr>
            <a:lvl1pPr algn="l">
              <a:defRPr sz="2625" b="0">
                <a:solidFill>
                  <a:srgbClr val="0A0A0A"/>
                </a:solidFill>
                <a:latin typeface="DM Sans"/>
                <a:ea typeface="DM Sans"/>
                <a:cs typeface="DM Sans"/>
              </a:defRPr>
            </a:lvl1pPr>
            <a:lvl2pPr algn="l">
              <a:defRPr sz="2625" b="0">
                <a:solidFill>
                  <a:srgbClr val="0A0A0A"/>
                </a:solidFill>
                <a:latin typeface="DM Sans"/>
                <a:ea typeface="DM Sans"/>
                <a:cs typeface="DM Sans"/>
              </a:defRPr>
            </a:lvl2pPr>
            <a:lvl3pPr algn="l">
              <a:defRPr sz="2625" b="0">
                <a:solidFill>
                  <a:srgbClr val="0A0A0A"/>
                </a:solidFill>
                <a:latin typeface="DM Sans"/>
                <a:ea typeface="DM Sans"/>
                <a:cs typeface="DM Sans"/>
              </a:defRPr>
            </a:lvl3pPr>
            <a:lvl4pPr algn="l">
              <a:defRPr sz="2625" b="0">
                <a:solidFill>
                  <a:srgbClr val="0A0A0A"/>
                </a:solidFill>
                <a:latin typeface="DM Sans"/>
                <a:ea typeface="DM Sans"/>
                <a:cs typeface="DM Sans"/>
              </a:defRPr>
            </a:lvl4pPr>
            <a:lvl5pPr algn="l">
              <a:defRPr sz="2625" b="0">
                <a:solidFill>
                  <a:srgbClr val="0A0A0A"/>
                </a:solidFill>
                <a:latin typeface="DM Sans"/>
                <a:ea typeface="DM Sans"/>
                <a:cs typeface="DM Sans"/>
              </a:defRPr>
            </a:lvl5pPr>
            <a:lvl6pPr algn="l">
              <a:defRPr sz="2625" b="0">
                <a:solidFill>
                  <a:srgbClr val="0A0A0A"/>
                </a:solidFill>
                <a:latin typeface="DM Sans"/>
                <a:ea typeface="DM Sans"/>
                <a:cs typeface="DM Sans"/>
              </a:defRPr>
            </a:lvl6pPr>
            <a:lvl7pPr algn="l">
              <a:defRPr sz="2625" b="0">
                <a:solidFill>
                  <a:srgbClr val="0A0A0A"/>
                </a:solidFill>
                <a:latin typeface="DM Sans"/>
                <a:ea typeface="DM Sans"/>
                <a:cs typeface="DM Sans"/>
              </a:defRPr>
            </a:lvl7pPr>
            <a:lvl8pPr algn="l">
              <a:defRPr sz="2625" b="0">
                <a:solidFill>
                  <a:srgbClr val="0A0A0A"/>
                </a:solidFill>
                <a:latin typeface="DM Sans"/>
                <a:ea typeface="DM Sans"/>
                <a:cs typeface="DM Sans"/>
              </a:defRPr>
            </a:lvl8pPr>
            <a:lvl9pPr algn="l">
              <a:defRPr sz="2625" b="0">
                <a:solidFill>
                  <a:srgbClr val="0A0A0A"/>
                </a:solidFill>
                <a:latin typeface="DM Sans"/>
                <a:ea typeface="DM Sans"/>
                <a:cs typeface="DM Sans"/>
              </a:defRPr>
            </a:lvl9pPr>
          </a:lstStyle>
          <a:p xmlns:a="http://schemas.openxmlformats.org/drawingml/2006/main">
            <a:pPr algn="l">
              <a:defRPr sz="2625" b="0">
                <a:solidFill>
                  <a:srgbClr val="0A0A0A"/>
                </a:solidFill>
                <a:latin typeface="DM Sans"/>
                <a:ea typeface="DM Sans"/>
                <a:cs typeface="DM Sans"/>
              </a:defRPr>
            </a:pPr>
            <a:r>
              <a:rPr sz="2625" b="0">
                <a:solidFill>
                  <a:srgbClr val="0A0A0A"/>
                </a:solidFill>
                <a:latin typeface="DM Sans"/>
                <a:ea typeface="DM Sans"/>
                <a:cs typeface="DM Sans"/>
              </a:rPr>
              <a:t>of paths have no sale.</a:t>
            </a:r>
          </a:p>
        </p:txBody>
      </p:sp>
      <p:sp>
        <p:nvSpPr>
          <p:cNvPr id="15" name="">
            <a:extLst xmlns:a="http://schemas.openxmlformats.org/drawingml/2006/main">
              <a:ext uri="{FF2B5EF4-FFF2-40B4-BE49-F238E27FC236}">
                <a16:creationId xmlns:a16="http://schemas.microsoft.com/office/drawing/2014/main" id="{F5426EE5-FB38-4065-95E9-6329D3AAF7F1}"/>
              </a:ext>
            </a:extLst>
          </p:cNvPr>
          <p:cNvSpPr>
            <a:spLocks xmlns:a="http://schemas.openxmlformats.org/drawingml/2006/main" noGrp="1"/>
          </p:cNvSpPr>
          <p:nvPr/>
        </p:nvSpPr>
        <p:spPr>
          <a:xfrm xmlns:a="http://schemas.openxmlformats.org/drawingml/2006/main" rot="0">
            <a:off x="400050" y="6181725"/>
            <a:ext cx="54387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$700 upfront. Cash if unsold: −$700.</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20% assumed conditional sale chance per 30 days.</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Fixed assignment price. All amounts USD.</a:t>
            </a:r>
          </a:p>
        </p:txBody>
      </p:sp>
      <p:sp>
        <p:nvSpPr>
          <p:cNvPr id="16" name="">
            <a:extLst xmlns:a="http://schemas.openxmlformats.org/drawingml/2006/main">
              <a:ext uri="{FF2B5EF4-FFF2-40B4-BE49-F238E27FC236}">
                <a16:creationId xmlns:a16="http://schemas.microsoft.com/office/drawing/2014/main" id="{0D733E18-08CF-42F6-AC08-67769B6BBA0D}"/>
              </a:ext>
            </a:extLst>
          </p:cNvPr>
          <p:cNvSpPr>
            <a:spLocks xmlns:a="http://schemas.openxmlformats.org/drawingml/2006/main" noGrp="1"/>
          </p:cNvSpPr>
          <p:nvPr/>
        </p:nvSpPr>
        <p:spPr>
          <a:xfrm xmlns:a="http://schemas.openxmlformats.org/drawingml/2006/main">
            <a:off x="6172200" y="152400"/>
            <a:ext cx="5867400" cy="6553200"/>
          </a:xfrm>
          <a:prstGeom xmlns:a="http://schemas.openxmlformats.org/drawingml/2006/main" prst="roundRect">
            <a:avLst>
              <a:gd name="adj" fmla="val 4058"/>
            </a:avLst>
          </a:prstGeom>
          <a:solidFill xmlns:a="http://schemas.openxmlformats.org/drawingml/2006/main">
            <a:srgbClr val="0A0A0A"/>
          </a:solidFill>
          <a:ln xmlns:a="http://schemas.openxmlformats.org/drawingml/2006/main" w="0">
            <a:noFill/>
            <a:prstDash val="solid"/>
          </a:ln>
        </p:spPr>
      </p:sp>
      <p:graphicFrame>
        <p:nvGraphicFramePr>
          <p:cNvPr id="17" name="Chart">
            <a:extLst xmlns:a="http://schemas.openxmlformats.org/drawingml/2006/main">
              <a:ext uri="{FF2B5EF4-FFF2-40B4-BE49-F238E27FC236}">
                <a16:creationId xmlns:a16="http://schemas.microsoft.com/office/drawing/2014/main" id="{09F46B84-E05F-4FF6-90E6-B30299953CAE}"/>
              </a:ext>
            </a:extLst>
          </p:cNvPr>
          <p:cNvGraphicFramePr/>
          <p:nvPr/>
        </p:nvGraphicFramePr>
        <p:xfrm>
          <a:off xmlns:a="http://schemas.openxmlformats.org/drawingml/2006/main" x="6334125" y="361950"/>
          <a:ext xmlns:a="http://schemas.openxmlformats.org/drawingml/2006/main" cx="5543550" cy="5743575"/>
        </p:xfrm>
        <a:graphic xmlns:a="http://schemas.openxmlformats.org/drawingml/2006/main">
          <a:graphicData uri="http://schemas.openxmlformats.org/drawingml/2006/chart">
            <c:chart xmlns:r="http://schemas.openxmlformats.org/officeDocument/2006/relationships" xmlns:c="http://schemas.openxmlformats.org/drawingml/2006/chart" r:id="R10bea1540b2d4d86"/>
          </a:graphicData>
        </a:graphic>
      </p:graphicFrame>
      <p:sp>
        <p:nvSpPr>
          <p:cNvPr id="18" name="">
            <a:extLst xmlns:a="http://schemas.openxmlformats.org/drawingml/2006/main">
              <a:ext uri="{FF2B5EF4-FFF2-40B4-BE49-F238E27FC236}">
                <a16:creationId xmlns:a16="http://schemas.microsoft.com/office/drawing/2014/main" id="{A6E73D9B-967C-4953-A1D7-847D51F54AD3}"/>
              </a:ext>
            </a:extLst>
          </p:cNvPr>
          <p:cNvSpPr>
            <a:spLocks xmlns:a="http://schemas.openxmlformats.org/drawingml/2006/main" noGrp="1"/>
          </p:cNvSpPr>
          <p:nvPr/>
        </p:nvSpPr>
        <p:spPr>
          <a:xfrm xmlns:a="http://schemas.openxmlformats.org/drawingml/2006/main" rot="0">
            <a:off x="6467475" y="6200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Sale chance</a:t>
            </a:r>
          </a:p>
        </p:txBody>
      </p:sp>
      <p:sp>
        <p:nvSpPr>
          <p:cNvPr id="19" name="">
            <a:extLst xmlns:a="http://schemas.openxmlformats.org/drawingml/2006/main">
              <a:ext uri="{FF2B5EF4-FFF2-40B4-BE49-F238E27FC236}">
                <a16:creationId xmlns:a16="http://schemas.microsoft.com/office/drawing/2014/main" id="{07ECAAFE-4E19-4225-9A89-711AC7EFA8E2}"/>
              </a:ext>
            </a:extLst>
          </p:cNvPr>
          <p:cNvSpPr>
            <a:spLocks xmlns:a="http://schemas.openxmlformats.org/drawingml/2006/main" noGrp="1"/>
          </p:cNvSpPr>
          <p:nvPr/>
        </p:nvSpPr>
        <p:spPr>
          <a:xfrm xmlns:a="http://schemas.openxmlformats.org/drawingml/2006/main" rot="0">
            <a:off x="7115175"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20.0%</a:t>
            </a:r>
          </a:p>
        </p:txBody>
      </p:sp>
      <p:sp>
        <p:nvSpPr>
          <p:cNvPr id="20" name="">
            <a:extLst xmlns:a="http://schemas.openxmlformats.org/drawingml/2006/main">
              <a:ext uri="{FF2B5EF4-FFF2-40B4-BE49-F238E27FC236}">
                <a16:creationId xmlns:a16="http://schemas.microsoft.com/office/drawing/2014/main" id="{130865DF-E943-4943-9F5C-DFA960DA4CA9}"/>
              </a:ext>
            </a:extLst>
          </p:cNvPr>
          <p:cNvSpPr>
            <a:spLocks xmlns:a="http://schemas.openxmlformats.org/drawingml/2006/main" noGrp="1"/>
          </p:cNvSpPr>
          <p:nvPr/>
        </p:nvSpPr>
        <p:spPr>
          <a:xfrm xmlns:a="http://schemas.openxmlformats.org/drawingml/2006/main" rot="0">
            <a:off x="8772525"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48.8%</a:t>
            </a:r>
          </a:p>
        </p:txBody>
      </p:sp>
      <p:sp>
        <p:nvSpPr>
          <p:cNvPr id="21" name="">
            <a:extLst xmlns:a="http://schemas.openxmlformats.org/drawingml/2006/main">
              <a:ext uri="{FF2B5EF4-FFF2-40B4-BE49-F238E27FC236}">
                <a16:creationId xmlns:a16="http://schemas.microsoft.com/office/drawing/2014/main" id="{11CB3401-3D69-4758-8B10-35520E25D67E}"/>
              </a:ext>
            </a:extLst>
          </p:cNvPr>
          <p:cNvSpPr>
            <a:spLocks xmlns:a="http://schemas.openxmlformats.org/drawingml/2006/main" noGrp="1"/>
          </p:cNvSpPr>
          <p:nvPr/>
        </p:nvSpPr>
        <p:spPr>
          <a:xfrm xmlns:a="http://schemas.openxmlformats.org/drawingml/2006/main" rot="0">
            <a:off x="10420350"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73.8%</a:t>
            </a:r>
          </a:p>
        </p:txBody>
      </p:sp>
      <p:sp>
        <p:nvSpPr>
          <p:cNvPr id="22" name="">
            <a:extLst xmlns:a="http://schemas.openxmlformats.org/drawingml/2006/main">
              <a:ext uri="{FF2B5EF4-FFF2-40B4-BE49-F238E27FC236}">
                <a16:creationId xmlns:a16="http://schemas.microsoft.com/office/drawing/2014/main" id="{6277725F-0A4D-4599-AC3B-E5B352E19192}"/>
              </a:ext>
            </a:extLst>
          </p:cNvPr>
          <p:cNvSpPr>
            <a:spLocks xmlns:a="http://schemas.openxmlformats.org/drawingml/2006/main" noGrp="1"/>
          </p:cNvSpPr>
          <p:nvPr/>
        </p:nvSpPr>
        <p:spPr>
          <a:xfrm xmlns:a="http://schemas.openxmlformats.org/drawingml/2006/main" rot="0">
            <a:off x="6467475" y="6505575"/>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A3A3A3"/>
                </a:solidFill>
                <a:latin typeface="DM Sans"/>
                <a:ea typeface="DM Sans"/>
                <a:cs typeface="DM Sans"/>
              </a:defRPr>
            </a:defPPr>
            <a:lvl1pPr algn="l">
              <a:defRPr sz="750" b="0">
                <a:solidFill>
                  <a:srgbClr val="A3A3A3"/>
                </a:solidFill>
                <a:latin typeface="DM Sans"/>
                <a:ea typeface="DM Sans"/>
                <a:cs typeface="DM Sans"/>
              </a:defRPr>
            </a:lvl1pPr>
            <a:lvl2pPr algn="l">
              <a:defRPr sz="750" b="0">
                <a:solidFill>
                  <a:srgbClr val="A3A3A3"/>
                </a:solidFill>
                <a:latin typeface="DM Sans"/>
                <a:ea typeface="DM Sans"/>
                <a:cs typeface="DM Sans"/>
              </a:defRPr>
            </a:lvl2pPr>
            <a:lvl3pPr algn="l">
              <a:defRPr sz="750" b="0">
                <a:solidFill>
                  <a:srgbClr val="A3A3A3"/>
                </a:solidFill>
                <a:latin typeface="DM Sans"/>
                <a:ea typeface="DM Sans"/>
                <a:cs typeface="DM Sans"/>
              </a:defRPr>
            </a:lvl3pPr>
            <a:lvl4pPr algn="l">
              <a:defRPr sz="750" b="0">
                <a:solidFill>
                  <a:srgbClr val="A3A3A3"/>
                </a:solidFill>
                <a:latin typeface="DM Sans"/>
                <a:ea typeface="DM Sans"/>
                <a:cs typeface="DM Sans"/>
              </a:defRPr>
            </a:lvl4pPr>
            <a:lvl5pPr algn="l">
              <a:defRPr sz="750" b="0">
                <a:solidFill>
                  <a:srgbClr val="A3A3A3"/>
                </a:solidFill>
                <a:latin typeface="DM Sans"/>
                <a:ea typeface="DM Sans"/>
                <a:cs typeface="DM Sans"/>
              </a:defRPr>
            </a:lvl5pPr>
            <a:lvl6pPr algn="l">
              <a:defRPr sz="750" b="0">
                <a:solidFill>
                  <a:srgbClr val="A3A3A3"/>
                </a:solidFill>
                <a:latin typeface="DM Sans"/>
                <a:ea typeface="DM Sans"/>
                <a:cs typeface="DM Sans"/>
              </a:defRPr>
            </a:lvl6pPr>
            <a:lvl7pPr algn="l">
              <a:defRPr sz="750" b="0">
                <a:solidFill>
                  <a:srgbClr val="A3A3A3"/>
                </a:solidFill>
                <a:latin typeface="DM Sans"/>
                <a:ea typeface="DM Sans"/>
                <a:cs typeface="DM Sans"/>
              </a:defRPr>
            </a:lvl7pPr>
            <a:lvl8pPr algn="l">
              <a:defRPr sz="750" b="0">
                <a:solidFill>
                  <a:srgbClr val="A3A3A3"/>
                </a:solidFill>
                <a:latin typeface="DM Sans"/>
                <a:ea typeface="DM Sans"/>
                <a:cs typeface="DM Sans"/>
              </a:defRPr>
            </a:lvl8pPr>
            <a:lvl9pPr algn="l">
              <a:defRPr sz="750" b="0">
                <a:solidFill>
                  <a:srgbClr val="A3A3A3"/>
                </a:solidFill>
                <a:latin typeface="DM Sans"/>
                <a:ea typeface="DM Sans"/>
                <a:cs typeface="DM Sans"/>
              </a:defRPr>
            </a:lvl9pPr>
          </a:lstStyle>
          <a:p xmlns:a="http://schemas.openxmlformats.org/drawingml/2006/main">
            <a:pPr algn="l">
              <a:defRPr sz="750" b="0">
                <a:solidFill>
                  <a:srgbClr val="A3A3A3"/>
                </a:solidFill>
                <a:latin typeface="DM Sans"/>
                <a:ea typeface="DM Sans"/>
                <a:cs typeface="DM Sans"/>
              </a:defRPr>
            </a:pPr>
            <a:r>
              <a:rPr sz="750" b="0">
                <a:solidFill>
                  <a:srgbClr val="A3A3A3"/>
                </a:solidFill>
                <a:latin typeface="DM Sans"/>
                <a:ea typeface="DM Sans"/>
                <a:cs typeface="DM Sans"/>
              </a:rPr>
              <a:t>Hypothetical baseline</a:t>
            </a:r>
          </a:p>
        </p:txBody>
      </p:sp>
    </p:spTree>
    <p:extLst>
      <p:ext uri="{BB962C8B-B14F-4D97-AF65-F5344CB8AC3E}">
        <p14:creationId xmlns:p14="http://schemas.microsoft.com/office/powerpoint/2010/main" val="572875818"/>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A8A8159-19FB-4297-BB66-9D1810D56A4F}"/>
              </a:ext>
            </a:extLst>
          </p:cNvPr>
          <p:cNvPicPr>
            <a:picLocks xmlns:a="http://schemas.openxmlformats.org/drawingml/2006/main" noChangeAspect="1"/>
          </p:cNvPicPr>
          <p:nvPr/>
        </p:nvPicPr>
        <p:blipFill>
          <a:blip xmlns:r="http://schemas.openxmlformats.org/officeDocument/2006/relationships" xmlns:a="http://schemas.openxmlformats.org/drawingml/2006/main" r:embed="Rc66ccf08debb42e2"/>
          <a:srcRect xmlns:a="http://schemas.openxmlformats.org/drawingml/2006/main" l="0" t="17394" r="0" b="17394"/>
          <a:stretch xmlns:a="http://schemas.openxmlformats.org/drawingml/2006/main">
            <a:fillRect l="0" t="0" r="0" b="0"/>
          </a:stretch>
        </p:blipFill>
        <p:spPr>
          <a:xfrm xmlns:a="http://schemas.openxmlformats.org/drawingml/2006/main">
            <a:off x="152400" y="152400"/>
            <a:ext cx="11887200" cy="6553200"/>
          </a:xfrm>
          <a:prstGeom xmlns:a="http://schemas.openxmlformats.org/drawingml/2006/main" prst="roundRect">
            <a:avLst>
              <a:gd name="adj" fmla="val 3634"/>
            </a:avLst>
          </a:prstGeom>
        </p:spPr>
      </p:pic>
      <p:sp>
        <p:nvSpPr>
          <p:cNvPr id="2" name="">
            <a:extLst xmlns:a="http://schemas.openxmlformats.org/drawingml/2006/main">
              <a:ext uri="{FF2B5EF4-FFF2-40B4-BE49-F238E27FC236}">
                <a16:creationId xmlns:a16="http://schemas.microsoft.com/office/drawing/2014/main" id="{669293FA-90D2-4259-8400-ECC69A326D92}"/>
              </a:ext>
            </a:extLst>
          </p:cNvPr>
          <p:cNvSpPr>
            <a:spLocks xmlns:a="http://schemas.openxmlformats.org/drawingml/2006/main" noGrp="1"/>
          </p:cNvSpPr>
          <p:nvPr/>
        </p:nvSpPr>
        <p:spPr>
          <a:xfrm xmlns:a="http://schemas.openxmlformats.org/drawingml/2006/main">
            <a:off x="152400" y="152400"/>
            <a:ext cx="11887200" cy="6553200"/>
          </a:xfrm>
          <a:prstGeom xmlns:a="http://schemas.openxmlformats.org/drawingml/2006/main" prst="roundRect">
            <a:avLst>
              <a:gd name="adj" fmla="val 3634"/>
            </a:avLst>
          </a:prstGeom>
          <a:solidFill xmlns:a="http://schemas.openxmlformats.org/drawingml/2006/main">
            <a:srgbClr val="0A0A0A">
              <a:alpha val="5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26B057-5633-4C38-B77B-71A8B23D4CB6}"/>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FAFAFA"/>
            </a:solidFill>
            <a:prstDash val="solid"/>
          </a:ln>
        </p:spPr>
      </p:sp>
      <p:sp>
        <p:nvSpPr>
          <p:cNvPr id="4" name="">
            <a:extLst xmlns:a="http://schemas.openxmlformats.org/drawingml/2006/main">
              <a:ext uri="{FF2B5EF4-FFF2-40B4-BE49-F238E27FC236}">
                <a16:creationId xmlns:a16="http://schemas.microsoft.com/office/drawing/2014/main" id="{A55621AA-9808-4C3F-8EFE-F65F7374715E}"/>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06</a:t>
            </a:r>
          </a:p>
        </p:txBody>
      </p:sp>
      <p:sp>
        <p:nvSpPr>
          <p:cNvPr id="5" name="">
            <a:extLst xmlns:a="http://schemas.openxmlformats.org/drawingml/2006/main">
              <a:ext uri="{FF2B5EF4-FFF2-40B4-BE49-F238E27FC236}">
                <a16:creationId xmlns:a16="http://schemas.microsoft.com/office/drawing/2014/main" id="{7B34A848-4200-4552-BB19-609FD2C5BB74}"/>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FAFAFA"/>
            </a:solidFill>
            <a:prstDash val="solid"/>
          </a:ln>
        </p:spPr>
      </p:sp>
      <p:sp>
        <p:nvSpPr>
          <p:cNvPr id="6" name="">
            <a:extLst xmlns:a="http://schemas.openxmlformats.org/drawingml/2006/main">
              <a:ext uri="{FF2B5EF4-FFF2-40B4-BE49-F238E27FC236}">
                <a16:creationId xmlns:a16="http://schemas.microsoft.com/office/drawing/2014/main" id="{786E9522-9A57-4A19-8AFA-AEDC2730B5E9}"/>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7" name="">
            <a:extLst xmlns:a="http://schemas.openxmlformats.org/drawingml/2006/main">
              <a:ext uri="{FF2B5EF4-FFF2-40B4-BE49-F238E27FC236}">
                <a16:creationId xmlns:a16="http://schemas.microsoft.com/office/drawing/2014/main" id="{36D7C824-D67E-45FA-9568-1A70C5D183FF}"/>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8" name="">
            <a:extLst xmlns:a="http://schemas.openxmlformats.org/drawingml/2006/main">
              <a:ext uri="{FF2B5EF4-FFF2-40B4-BE49-F238E27FC236}">
                <a16:creationId xmlns:a16="http://schemas.microsoft.com/office/drawing/2014/main" id="{775D6289-9AD9-43A1-9599-1C0036F6D3D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Live demonstration</a:t>
            </a:r>
          </a:p>
        </p:txBody>
      </p:sp>
      <p:sp>
        <p:nvSpPr>
          <p:cNvPr id="9" name="">
            <a:extLst xmlns:a="http://schemas.openxmlformats.org/drawingml/2006/main">
              <a:ext uri="{FF2B5EF4-FFF2-40B4-BE49-F238E27FC236}">
                <a16:creationId xmlns:a16="http://schemas.microsoft.com/office/drawing/2014/main" id="{563A3674-3EC7-48EA-BFCA-580FE87F57DE}"/>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FAFAFA"/>
                </a:solidFill>
                <a:latin typeface="DM Sans"/>
                <a:ea typeface="DM Sans"/>
                <a:cs typeface="DM Sans"/>
              </a:defRPr>
            </a:defPPr>
            <a:lvl1pPr algn="r">
              <a:defRPr sz="750" b="0">
                <a:solidFill>
                  <a:srgbClr val="FAFAFA"/>
                </a:solidFill>
                <a:latin typeface="DM Sans"/>
                <a:ea typeface="DM Sans"/>
                <a:cs typeface="DM Sans"/>
              </a:defRPr>
            </a:lvl1pPr>
            <a:lvl2pPr algn="r">
              <a:defRPr sz="750" b="0">
                <a:solidFill>
                  <a:srgbClr val="FAFAFA"/>
                </a:solidFill>
                <a:latin typeface="DM Sans"/>
                <a:ea typeface="DM Sans"/>
                <a:cs typeface="DM Sans"/>
              </a:defRPr>
            </a:lvl2pPr>
            <a:lvl3pPr algn="r">
              <a:defRPr sz="750" b="0">
                <a:solidFill>
                  <a:srgbClr val="FAFAFA"/>
                </a:solidFill>
                <a:latin typeface="DM Sans"/>
                <a:ea typeface="DM Sans"/>
                <a:cs typeface="DM Sans"/>
              </a:defRPr>
            </a:lvl3pPr>
            <a:lvl4pPr algn="r">
              <a:defRPr sz="750" b="0">
                <a:solidFill>
                  <a:srgbClr val="FAFAFA"/>
                </a:solidFill>
                <a:latin typeface="DM Sans"/>
                <a:ea typeface="DM Sans"/>
                <a:cs typeface="DM Sans"/>
              </a:defRPr>
            </a:lvl4pPr>
            <a:lvl5pPr algn="r">
              <a:defRPr sz="750" b="0">
                <a:solidFill>
                  <a:srgbClr val="FAFAFA"/>
                </a:solidFill>
                <a:latin typeface="DM Sans"/>
                <a:ea typeface="DM Sans"/>
                <a:cs typeface="DM Sans"/>
              </a:defRPr>
            </a:lvl5pPr>
            <a:lvl6pPr algn="r">
              <a:defRPr sz="750" b="0">
                <a:solidFill>
                  <a:srgbClr val="FAFAFA"/>
                </a:solidFill>
                <a:latin typeface="DM Sans"/>
                <a:ea typeface="DM Sans"/>
                <a:cs typeface="DM Sans"/>
              </a:defRPr>
            </a:lvl6pPr>
            <a:lvl7pPr algn="r">
              <a:defRPr sz="750" b="0">
                <a:solidFill>
                  <a:srgbClr val="FAFAFA"/>
                </a:solidFill>
                <a:latin typeface="DM Sans"/>
                <a:ea typeface="DM Sans"/>
                <a:cs typeface="DM Sans"/>
              </a:defRPr>
            </a:lvl7pPr>
            <a:lvl8pPr algn="r">
              <a:defRPr sz="750" b="0">
                <a:solidFill>
                  <a:srgbClr val="FAFAFA"/>
                </a:solidFill>
                <a:latin typeface="DM Sans"/>
                <a:ea typeface="DM Sans"/>
                <a:cs typeface="DM Sans"/>
              </a:defRPr>
            </a:lvl8pPr>
            <a:lvl9pPr algn="r">
              <a:defRPr sz="750" b="0">
                <a:solidFill>
                  <a:srgbClr val="FAFAFA"/>
                </a:solidFill>
                <a:latin typeface="DM Sans"/>
                <a:ea typeface="DM Sans"/>
                <a:cs typeface="DM Sans"/>
              </a:defRPr>
            </a:lvl9pPr>
          </a:lstStyle>
          <a:p xmlns:a="http://schemas.openxmlformats.org/drawingml/2006/main">
            <a:pPr algn="r">
              <a:defRPr sz="750" b="0">
                <a:solidFill>
                  <a:srgbClr val="FAFAFA"/>
                </a:solidFill>
                <a:latin typeface="DM Sans"/>
                <a:ea typeface="DM Sans"/>
                <a:cs typeface="DM Sans"/>
              </a:defRPr>
            </a:pPr>
            <a:r>
              <a:rPr sz="750" b="0">
                <a:solidFill>
                  <a:srgbClr val="FAFAFA"/>
                </a:solidFill>
                <a:latin typeface="DM Sans"/>
                <a:ea typeface="DM Sans"/>
                <a:cs typeface="DM Sans"/>
              </a:rPr>
              <a:t>OXHack</a:t>
            </a:r>
          </a:p>
        </p:txBody>
      </p:sp>
      <p:sp>
        <p:nvSpPr>
          <p:cNvPr id="10" name="">
            <a:extLst xmlns:a="http://schemas.openxmlformats.org/drawingml/2006/main">
              <a:ext uri="{FF2B5EF4-FFF2-40B4-BE49-F238E27FC236}">
                <a16:creationId xmlns:a16="http://schemas.microsoft.com/office/drawing/2014/main" id="{EDA77183-C401-4BEE-9501-465285621DF8}"/>
              </a:ext>
            </a:extLst>
          </p:cNvPr>
          <p:cNvSpPr>
            <a:spLocks xmlns:a="http://schemas.openxmlformats.org/drawingml/2006/main" noGrp="1"/>
          </p:cNvSpPr>
          <p:nvPr/>
        </p:nvSpPr>
        <p:spPr>
          <a:xfrm xmlns:a="http://schemas.openxmlformats.org/drawingml/2006/main" rot="0">
            <a:off x="400050" y="1724025"/>
            <a:ext cx="5857875"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FAFAFA"/>
                </a:solidFill>
                <a:latin typeface="DM Sans"/>
                <a:ea typeface="DM Sans"/>
                <a:cs typeface="DM Sans"/>
              </a:defRPr>
            </a:defPPr>
            <a:lvl1pPr algn="l">
              <a:defRPr sz="2850" b="0">
                <a:solidFill>
                  <a:srgbClr val="FAFAFA"/>
                </a:solidFill>
                <a:latin typeface="DM Sans"/>
                <a:ea typeface="DM Sans"/>
                <a:cs typeface="DM Sans"/>
              </a:defRPr>
            </a:lvl1pPr>
            <a:lvl2pPr algn="l">
              <a:defRPr sz="2850" b="0">
                <a:solidFill>
                  <a:srgbClr val="FAFAFA"/>
                </a:solidFill>
                <a:latin typeface="DM Sans"/>
                <a:ea typeface="DM Sans"/>
                <a:cs typeface="DM Sans"/>
              </a:defRPr>
            </a:lvl2pPr>
            <a:lvl3pPr algn="l">
              <a:defRPr sz="2850" b="0">
                <a:solidFill>
                  <a:srgbClr val="FAFAFA"/>
                </a:solidFill>
                <a:latin typeface="DM Sans"/>
                <a:ea typeface="DM Sans"/>
                <a:cs typeface="DM Sans"/>
              </a:defRPr>
            </a:lvl3pPr>
            <a:lvl4pPr algn="l">
              <a:defRPr sz="2850" b="0">
                <a:solidFill>
                  <a:srgbClr val="FAFAFA"/>
                </a:solidFill>
                <a:latin typeface="DM Sans"/>
                <a:ea typeface="DM Sans"/>
                <a:cs typeface="DM Sans"/>
              </a:defRPr>
            </a:lvl4pPr>
            <a:lvl5pPr algn="l">
              <a:defRPr sz="2850" b="0">
                <a:solidFill>
                  <a:srgbClr val="FAFAFA"/>
                </a:solidFill>
                <a:latin typeface="DM Sans"/>
                <a:ea typeface="DM Sans"/>
                <a:cs typeface="DM Sans"/>
              </a:defRPr>
            </a:lvl5pPr>
            <a:lvl6pPr algn="l">
              <a:defRPr sz="2850" b="0">
                <a:solidFill>
                  <a:srgbClr val="FAFAFA"/>
                </a:solidFill>
                <a:latin typeface="DM Sans"/>
                <a:ea typeface="DM Sans"/>
                <a:cs typeface="DM Sans"/>
              </a:defRPr>
            </a:lvl6pPr>
            <a:lvl7pPr algn="l">
              <a:defRPr sz="2850" b="0">
                <a:solidFill>
                  <a:srgbClr val="FAFAFA"/>
                </a:solidFill>
                <a:latin typeface="DM Sans"/>
                <a:ea typeface="DM Sans"/>
                <a:cs typeface="DM Sans"/>
              </a:defRPr>
            </a:lvl7pPr>
            <a:lvl8pPr algn="l">
              <a:defRPr sz="2850" b="0">
                <a:solidFill>
                  <a:srgbClr val="FAFAFA"/>
                </a:solidFill>
                <a:latin typeface="DM Sans"/>
                <a:ea typeface="DM Sans"/>
                <a:cs typeface="DM Sans"/>
              </a:defRPr>
            </a:lvl8pPr>
            <a:lvl9pPr algn="l">
              <a:defRPr sz="2850" b="0">
                <a:solidFill>
                  <a:srgbClr val="FAFAFA"/>
                </a:solidFill>
                <a:latin typeface="DM Sans"/>
                <a:ea typeface="DM Sans"/>
                <a:cs typeface="DM Sans"/>
              </a:defRPr>
            </a:lvl9pPr>
          </a:lstStyle>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Every decision can be</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traced to its evidence,</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scenario and timing</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assumptions.</a:t>
            </a:r>
          </a:p>
        </p:txBody>
      </p:sp>
      <p:sp>
        <p:nvSpPr>
          <p:cNvPr id="11" name="">
            <a:extLst xmlns:a="http://schemas.openxmlformats.org/drawingml/2006/main">
              <a:ext uri="{FF2B5EF4-FFF2-40B4-BE49-F238E27FC236}">
                <a16:creationId xmlns:a16="http://schemas.microsoft.com/office/drawing/2014/main" id="{34177921-0297-41EA-920D-64F48B8E8FC3}"/>
              </a:ext>
            </a:extLst>
          </p:cNvPr>
          <p:cNvSpPr>
            <a:spLocks xmlns:a="http://schemas.openxmlformats.org/drawingml/2006/main" noGrp="1"/>
          </p:cNvSpPr>
          <p:nvPr/>
        </p:nvSpPr>
        <p:spPr>
          <a:xfrm xmlns:a="http://schemas.openxmlformats.org/drawingml/2006/main" rot="0">
            <a:off x="400050" y="4086225"/>
            <a:ext cx="590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AFAFA"/>
                </a:solidFill>
                <a:latin typeface="DM Sans"/>
                <a:ea typeface="DM Sans"/>
                <a:cs typeface="DM Sans"/>
              </a:defRPr>
            </a:defPPr>
            <a:lvl1pPr algn="l">
              <a:defRPr sz="1875" b="0">
                <a:solidFill>
                  <a:srgbClr val="FAFAFA"/>
                </a:solidFill>
                <a:latin typeface="DM Sans"/>
                <a:ea typeface="DM Sans"/>
                <a:cs typeface="DM Sans"/>
              </a:defRPr>
            </a:lvl1pPr>
            <a:lvl2pPr algn="l">
              <a:defRPr sz="1875" b="0">
                <a:solidFill>
                  <a:srgbClr val="FAFAFA"/>
                </a:solidFill>
                <a:latin typeface="DM Sans"/>
                <a:ea typeface="DM Sans"/>
                <a:cs typeface="DM Sans"/>
              </a:defRPr>
            </a:lvl2pPr>
            <a:lvl3pPr algn="l">
              <a:defRPr sz="1875" b="0">
                <a:solidFill>
                  <a:srgbClr val="FAFAFA"/>
                </a:solidFill>
                <a:latin typeface="DM Sans"/>
                <a:ea typeface="DM Sans"/>
                <a:cs typeface="DM Sans"/>
              </a:defRPr>
            </a:lvl3pPr>
            <a:lvl4pPr algn="l">
              <a:defRPr sz="1875" b="0">
                <a:solidFill>
                  <a:srgbClr val="FAFAFA"/>
                </a:solidFill>
                <a:latin typeface="DM Sans"/>
                <a:ea typeface="DM Sans"/>
                <a:cs typeface="DM Sans"/>
              </a:defRPr>
            </a:lvl4pPr>
            <a:lvl5pPr algn="l">
              <a:defRPr sz="1875" b="0">
                <a:solidFill>
                  <a:srgbClr val="FAFAFA"/>
                </a:solidFill>
                <a:latin typeface="DM Sans"/>
                <a:ea typeface="DM Sans"/>
                <a:cs typeface="DM Sans"/>
              </a:defRPr>
            </a:lvl5pPr>
            <a:lvl6pPr algn="l">
              <a:defRPr sz="1875" b="0">
                <a:solidFill>
                  <a:srgbClr val="FAFAFA"/>
                </a:solidFill>
                <a:latin typeface="DM Sans"/>
                <a:ea typeface="DM Sans"/>
                <a:cs typeface="DM Sans"/>
              </a:defRPr>
            </a:lvl6pPr>
            <a:lvl7pPr algn="l">
              <a:defRPr sz="1875" b="0">
                <a:solidFill>
                  <a:srgbClr val="FAFAFA"/>
                </a:solidFill>
                <a:latin typeface="DM Sans"/>
                <a:ea typeface="DM Sans"/>
                <a:cs typeface="DM Sans"/>
              </a:defRPr>
            </a:lvl7pPr>
            <a:lvl8pPr algn="l">
              <a:defRPr sz="1875" b="0">
                <a:solidFill>
                  <a:srgbClr val="FAFAFA"/>
                </a:solidFill>
                <a:latin typeface="DM Sans"/>
                <a:ea typeface="DM Sans"/>
                <a:cs typeface="DM Sans"/>
              </a:defRPr>
            </a:lvl8pPr>
            <a:lvl9pPr algn="l">
              <a:defRPr sz="1875" b="0">
                <a:solidFill>
                  <a:srgbClr val="FAFAFA"/>
                </a:solidFill>
                <a:latin typeface="DM Sans"/>
                <a:ea typeface="DM Sans"/>
                <a:cs typeface="DM Sans"/>
              </a:defRPr>
            </a:lvl9pPr>
          </a:lstStyle>
          <a:p xmlns:a="http://schemas.openxmlformats.org/drawingml/2006/main">
            <a:pPr algn="l">
              <a:defRPr sz="1875" b="0">
                <a:solidFill>
                  <a:srgbClr val="FAFAFA"/>
                </a:solidFill>
                <a:latin typeface="DM Sans"/>
                <a:ea typeface="DM Sans"/>
                <a:cs typeface="DM Sans"/>
              </a:defRPr>
            </a:pPr>
            <a:r>
              <a:rPr sz="1875" b="0">
                <a:solidFill>
                  <a:srgbClr val="FAFAFA"/>
                </a:solidFill>
                <a:latin typeface="DM Sans"/>
                <a:ea typeface="DM Sans"/>
                <a:cs typeface="DM Sans"/>
              </a:rPr>
              <a:t>Inspect the evidence. Compare a scenario.</a:t>
            </a:r>
          </a:p>
          <a:p xmlns:a="http://schemas.openxmlformats.org/drawingml/2006/main">
            <a:pPr algn="l">
              <a:defRPr sz="1875" b="0">
                <a:solidFill>
                  <a:srgbClr val="FAFAFA"/>
                </a:solidFill>
                <a:latin typeface="DM Sans"/>
                <a:ea typeface="DM Sans"/>
                <a:cs typeface="DM Sans"/>
              </a:defRPr>
            </a:pPr>
            <a:r>
              <a:rPr sz="1875" b="0">
                <a:solidFill>
                  <a:srgbClr val="FAFAFA"/>
                </a:solidFill>
                <a:latin typeface="DM Sans"/>
                <a:ea typeface="DM Sans"/>
                <a:cs typeface="DM Sans"/>
              </a:rPr>
              <a:t>Change time. Explain the result.</a:t>
            </a:r>
          </a:p>
        </p:txBody>
      </p:sp>
      <p:sp>
        <p:nvSpPr>
          <p:cNvPr id="12" name="">
            <a:extLst xmlns:a="http://schemas.openxmlformats.org/drawingml/2006/main">
              <a:ext uri="{FF2B5EF4-FFF2-40B4-BE49-F238E27FC236}">
                <a16:creationId xmlns:a16="http://schemas.microsoft.com/office/drawing/2014/main" id="{19BD9000-C0DB-4E4C-8668-EE91BFB08915}"/>
              </a:ext>
            </a:extLst>
          </p:cNvPr>
          <p:cNvSpPr>
            <a:spLocks xmlns:a="http://schemas.openxmlformats.org/drawingml/2006/main" noGrp="1"/>
          </p:cNvSpPr>
          <p:nvPr/>
        </p:nvSpPr>
        <p:spPr>
          <a:xfrm xmlns:a="http://schemas.openxmlformats.org/drawingml/2006/main">
            <a:off x="400050" y="5276850"/>
            <a:ext cx="1438275" cy="257175"/>
          </a:xfrm>
          <a:prstGeom xmlns:a="http://schemas.openxmlformats.org/drawingml/2006/main" prst="roundRect">
            <a:avLst>
              <a:gd name="adj" fmla="val 50000"/>
            </a:avLst>
          </a:prstGeom>
          <a:noFill xmlns:a="http://schemas.openxmlformats.org/drawingml/2006/main"/>
          <a:ln xmlns:a="http://schemas.openxmlformats.org/drawingml/2006/main" w="6668">
            <a:solidFill>
              <a:srgbClr val="FAFAFA"/>
            </a:solidFill>
            <a:prstDash val="solid"/>
          </a:ln>
        </p:spPr>
      </p:sp>
      <p:sp>
        <p:nvSpPr>
          <p:cNvPr id="13" name="">
            <a:extLst xmlns:a="http://schemas.openxmlformats.org/drawingml/2006/main">
              <a:ext uri="{FF2B5EF4-FFF2-40B4-BE49-F238E27FC236}">
                <a16:creationId xmlns:a16="http://schemas.microsoft.com/office/drawing/2014/main" id="{E84CC979-F770-488F-A8CA-56BEA59C1E1F}"/>
              </a:ext>
            </a:extLst>
          </p:cNvPr>
          <p:cNvSpPr>
            <a:spLocks xmlns:a="http://schemas.openxmlformats.org/drawingml/2006/main" noGrp="1"/>
          </p:cNvSpPr>
          <p:nvPr/>
        </p:nvSpPr>
        <p:spPr>
          <a:xfrm xmlns:a="http://schemas.openxmlformats.org/drawingml/2006/main" rot="0">
            <a:off x="495300" y="5324475"/>
            <a:ext cx="1228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Live demonstration</a:t>
            </a:r>
          </a:p>
        </p:txBody>
      </p:sp>
      <p:sp>
        <p:nvSpPr>
          <p:cNvPr id="14" name="">
            <a:extLst xmlns:a="http://schemas.openxmlformats.org/drawingml/2006/main">
              <a:ext uri="{FF2B5EF4-FFF2-40B4-BE49-F238E27FC236}">
                <a16:creationId xmlns:a16="http://schemas.microsoft.com/office/drawing/2014/main" id="{6AA6E39E-0B1A-4CF4-A76C-E009F8A253AC}"/>
              </a:ext>
            </a:extLst>
          </p:cNvPr>
          <p:cNvSpPr>
            <a:spLocks xmlns:a="http://schemas.openxmlformats.org/drawingml/2006/main" noGrp="1"/>
          </p:cNvSpPr>
          <p:nvPr/>
        </p:nvSpPr>
        <p:spPr>
          <a:xfrm xmlns:a="http://schemas.openxmlformats.org/drawingml/2006/main" rot="0">
            <a:off x="400050" y="6172200"/>
            <a:ext cx="733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AFAFA"/>
                </a:solidFill>
                <a:latin typeface="DM Sans"/>
                <a:ea typeface="DM Sans"/>
                <a:cs typeface="DM Sans"/>
              </a:defRPr>
            </a:defPPr>
            <a:lvl1pPr algn="l">
              <a:defRPr sz="1050" b="0">
                <a:solidFill>
                  <a:srgbClr val="FAFAFA"/>
                </a:solidFill>
                <a:latin typeface="DM Sans"/>
                <a:ea typeface="DM Sans"/>
                <a:cs typeface="DM Sans"/>
              </a:defRPr>
            </a:lvl1pPr>
            <a:lvl2pPr algn="l">
              <a:defRPr sz="1050" b="0">
                <a:solidFill>
                  <a:srgbClr val="FAFAFA"/>
                </a:solidFill>
                <a:latin typeface="DM Sans"/>
                <a:ea typeface="DM Sans"/>
                <a:cs typeface="DM Sans"/>
              </a:defRPr>
            </a:lvl2pPr>
            <a:lvl3pPr algn="l">
              <a:defRPr sz="1050" b="0">
                <a:solidFill>
                  <a:srgbClr val="FAFAFA"/>
                </a:solidFill>
                <a:latin typeface="DM Sans"/>
                <a:ea typeface="DM Sans"/>
                <a:cs typeface="DM Sans"/>
              </a:defRPr>
            </a:lvl3pPr>
            <a:lvl4pPr algn="l">
              <a:defRPr sz="1050" b="0">
                <a:solidFill>
                  <a:srgbClr val="FAFAFA"/>
                </a:solidFill>
                <a:latin typeface="DM Sans"/>
                <a:ea typeface="DM Sans"/>
                <a:cs typeface="DM Sans"/>
              </a:defRPr>
            </a:lvl4pPr>
            <a:lvl5pPr algn="l">
              <a:defRPr sz="1050" b="0">
                <a:solidFill>
                  <a:srgbClr val="FAFAFA"/>
                </a:solidFill>
                <a:latin typeface="DM Sans"/>
                <a:ea typeface="DM Sans"/>
                <a:cs typeface="DM Sans"/>
              </a:defRPr>
            </a:lvl5pPr>
            <a:lvl6pPr algn="l">
              <a:defRPr sz="1050" b="0">
                <a:solidFill>
                  <a:srgbClr val="FAFAFA"/>
                </a:solidFill>
                <a:latin typeface="DM Sans"/>
                <a:ea typeface="DM Sans"/>
                <a:cs typeface="DM Sans"/>
              </a:defRPr>
            </a:lvl6pPr>
            <a:lvl7pPr algn="l">
              <a:defRPr sz="1050" b="0">
                <a:solidFill>
                  <a:srgbClr val="FAFAFA"/>
                </a:solidFill>
                <a:latin typeface="DM Sans"/>
                <a:ea typeface="DM Sans"/>
                <a:cs typeface="DM Sans"/>
              </a:defRPr>
            </a:lvl7pPr>
            <a:lvl8pPr algn="l">
              <a:defRPr sz="1050" b="0">
                <a:solidFill>
                  <a:srgbClr val="FAFAFA"/>
                </a:solidFill>
                <a:latin typeface="DM Sans"/>
                <a:ea typeface="DM Sans"/>
                <a:cs typeface="DM Sans"/>
              </a:defRPr>
            </a:lvl8pPr>
            <a:lvl9pPr algn="l">
              <a:defRPr sz="1050" b="0">
                <a:solidFill>
                  <a:srgbClr val="FAFAFA"/>
                </a:solidFill>
                <a:latin typeface="DM Sans"/>
                <a:ea typeface="DM Sans"/>
                <a:cs typeface="DM Sans"/>
              </a:defRPr>
            </a:lvl9pPr>
          </a:lstStyle>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Financial outputs use hypothetical assumptions.</a:t>
            </a:r>
          </a:p>
        </p:txBody>
      </p:sp>
      <p:sp>
        <p:nvSpPr>
          <p:cNvPr id="15" name="">
            <a:extLst xmlns:a="http://schemas.openxmlformats.org/drawingml/2006/main">
              <a:ext uri="{FF2B5EF4-FFF2-40B4-BE49-F238E27FC236}">
                <a16:creationId xmlns:a16="http://schemas.microsoft.com/office/drawing/2014/main" id="{ED40A4EC-B767-4860-8A9E-3AF0CC7A5660}"/>
              </a:ext>
            </a:extLst>
          </p:cNvPr>
          <p:cNvSpPr>
            <a:spLocks xmlns:a="http://schemas.openxmlformats.org/drawingml/2006/main" noGrp="1"/>
          </p:cNvSpPr>
          <p:nvPr/>
        </p:nvSpPr>
        <p:spPr>
          <a:xfrm xmlns:a="http://schemas.openxmlformats.org/drawingml/2006/main" rot="0">
            <a:off x="400050" y="6486525"/>
            <a:ext cx="10953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Imagery: Esri, Maxar, Earthstar Geographics. Terrain: Mapzen.</a:t>
            </a:r>
          </a:p>
        </p:txBody>
      </p:sp>
    </p:spTree>
    <p:extLst>
      <p:ext uri="{BB962C8B-B14F-4D97-AF65-F5344CB8AC3E}">
        <p14:creationId xmlns:p14="http://schemas.microsoft.com/office/powerpoint/2010/main" val="725631318"/>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C375DC8-B454-4F45-84D1-756D2B10BF33}"/>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73106E94-758C-4109-8EDB-F9944902E953}"/>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355B9E2B-784A-4A1C-B770-AF6AAF68D2D5}"/>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4385CEE0-8C3A-429C-8807-74E5CCA56EF9}"/>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70059985-61D8-4747-89CF-C86A411E7D99}"/>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206BDB47-996E-46A1-A518-66387B77731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Appendix</a:t>
            </a:r>
          </a:p>
        </p:txBody>
      </p:sp>
      <p:sp>
        <p:nvSpPr>
          <p:cNvPr id="7" name="">
            <a:extLst xmlns:a="http://schemas.openxmlformats.org/drawingml/2006/main">
              <a:ext uri="{FF2B5EF4-FFF2-40B4-BE49-F238E27FC236}">
                <a16:creationId xmlns:a16="http://schemas.microsoft.com/office/drawing/2014/main" id="{2DE09A0E-5C48-4146-A051-4EDF9218FBD2}"/>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sp>
        <p:nvSpPr>
          <p:cNvPr id="8" name="">
            <a:extLst xmlns:a="http://schemas.openxmlformats.org/drawingml/2006/main">
              <a:ext uri="{FF2B5EF4-FFF2-40B4-BE49-F238E27FC236}">
                <a16:creationId xmlns:a16="http://schemas.microsoft.com/office/drawing/2014/main" id="{417B5A92-206B-44B0-8844-3B351397064B}"/>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The 90-day cash calculation</a:t>
            </a:r>
          </a:p>
        </p:txBody>
      </p:sp>
      <p:sp>
        <p:nvSpPr>
          <p:cNvPr id="9" name="">
            <a:extLst xmlns:a="http://schemas.openxmlformats.org/drawingml/2006/main">
              <a:ext uri="{FF2B5EF4-FFF2-40B4-BE49-F238E27FC236}">
                <a16:creationId xmlns:a16="http://schemas.microsoft.com/office/drawing/2014/main" id="{D150AFF1-5C45-47FA-BD55-B704D5F79615}"/>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Hypothetical cash branches after all entry and exit costs. All amounts USD.</a:t>
            </a:r>
          </a:p>
        </p:txBody>
      </p:sp>
      <p:graphicFrame>
        <p:nvGraphicFramePr>
          <p:cNvPr id="10" name="">
            <a:extLst xmlns:a="http://schemas.openxmlformats.org/drawingml/2006/main">
              <a:ext uri="{FF2B5EF4-FFF2-40B4-BE49-F238E27FC236}">
                <a16:creationId xmlns:a16="http://schemas.microsoft.com/office/drawing/2014/main" id="{BB7B01A9-DF57-4934-8581-398E14365789}"/>
              </a:ext>
            </a:extLst>
          </p:cNvPr>
          <p:cNvGraphicFramePr/>
          <p:nvPr/>
        </p:nvGraphicFramePr>
        <p:xfrm>
          <a:off xmlns:a="http://schemas.openxmlformats.org/drawingml/2006/main" x="381000" y="1609725"/>
          <a:ext xmlns:a="http://schemas.openxmlformats.org/drawingml/2006/main" cx="11410950" cy="2286000"/>
        </p:xfrm>
        <a:graphic xmlns:a="http://schemas.openxmlformats.org/drawingml/2006/main">
          <a:graphicData uri="http://schemas.openxmlformats.org/drawingml/2006/table">
            <a:tbl>
              <a:tblPr firstRow="1" bandRow="0"/>
              <a:tblGrid>
                <a:gridCol w="5143500"/>
                <a:gridCol w="2000250"/>
                <a:gridCol w="2000250"/>
                <a:gridCol w="2266950"/>
              </a:tblGrid>
              <a:tr h="571500">
                <a:tc>
                  <a:txBody>
                    <a:bodyPr lIns="171450" tIns="95250" rIns="171450" bIns="95250">
                      <a:noAutofit/>
                    </a:bodyPr>
                    <a:lstStyle/>
                    <a:p>
                      <a:r>
                        <a:rPr sz="1050" b="0">
                          <a:solidFill>
                            <a:srgbClr val="FAFAFA"/>
                          </a:solidFill>
                          <a:latin typeface="DM Sans"/>
                          <a:ea typeface="DM Sans"/>
                          <a:cs typeface="DM Sans"/>
                        </a:rPr>
                        <a:t>Outcome by day 90</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Probability</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Net cash</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Weighted cash</a:t>
                      </a:r>
                    </a:p>
                  </a:txBody>
                  <a:tcPr marL="91440" marR="91440" marT="45720" marB="45720" anchor="ctr">
                    <a:lnR w="0">
                      <a:noFill/>
                      <a:prstDash val="solid"/>
                    </a:lnR>
                    <a:lnT w="0">
                      <a:noFill/>
                      <a:prstDash val="solid"/>
                    </a:lnT>
                    <a:lnB w="0">
                      <a:noFill/>
                      <a:prstDash val="solid"/>
                    </a:lnB>
                    <a:solidFill>
                      <a:srgbClr val="0A0A0A"/>
                    </a:solidFill>
                  </a:tcPr>
                </a:tc>
              </a:tr>
              <a:tr h="571500">
                <a:tc>
                  <a:txBody>
                    <a:bodyPr lIns="171450" tIns="95250" rIns="171450" bIns="95250">
                      <a:noAutofit/>
                    </a:bodyPr>
                    <a:lstStyle/>
                    <a:p>
                      <a:r>
                        <a:rPr sz="1350" b="0">
                          <a:solidFill>
                            <a:srgbClr val="0A0A0A"/>
                          </a:solidFill>
                          <a:latin typeface="DM Sans"/>
                          <a:ea typeface="DM Sans"/>
                          <a:cs typeface="DM Sans"/>
                        </a:rPr>
                        <a:t>Sale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48.8%</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+$750.00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+$366.00</a:t>
                      </a:r>
                    </a:p>
                  </a:txBody>
                  <a:tcPr marL="91440" marR="91440" marT="45720" marB="45720" anchor="ctr">
                    <a:lnR w="0">
                      <a:noFill/>
                      <a:prstDash val="solid"/>
                    </a:lnR>
                    <a:lnB w="0">
                      <a:noFill/>
                      <a:prstDash val="solid"/>
                    </a:lnB>
                    <a:solidFill>
                      <a:srgbClr val="FAFAFA"/>
                    </a:solidFill>
                  </a:tcPr>
                </a:tc>
              </a:tr>
              <a:tr h="571500">
                <a:tc>
                  <a:txBody>
                    <a:bodyPr lIns="171450" tIns="95250" rIns="171450" bIns="95250">
                      <a:noAutofit/>
                    </a:bodyPr>
                    <a:lstStyle/>
                    <a:p>
                      <a:r>
                        <a:rPr sz="1350" b="0">
                          <a:solidFill>
                            <a:srgbClr val="0A0A0A"/>
                          </a:solidFill>
                          <a:latin typeface="DM Sans"/>
                          <a:ea typeface="DM Sans"/>
                          <a:cs typeface="DM Sans"/>
                        </a:rPr>
                        <a:t>No sale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51.2%</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−$700.00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−$358.40</a:t>
                      </a:r>
                    </a:p>
                  </a:txBody>
                  <a:tcPr marL="91440" marR="91440" marT="45720" marB="45720" anchor="ctr">
                    <a:lnR w="0">
                      <a:noFill/>
                      <a:prstDash val="solid"/>
                    </a:lnR>
                    <a:lnB w="0">
                      <a:noFill/>
                      <a:prstDash val="solid"/>
                    </a:lnB>
                    <a:solidFill>
                      <a:srgbClr val="FAFAFA"/>
                    </a:solidFill>
                  </a:tcPr>
                </a:tc>
              </a:tr>
              <a:tr h="571500">
                <a:tc>
                  <a:txBody>
                    <a:bodyPr lIns="171450" tIns="95250" rIns="171450" bIns="95250">
                      <a:noAutofit/>
                    </a:bodyPr>
                    <a:lstStyle/>
                    <a:p>
                      <a:r>
                        <a:rPr sz="1350" b="1">
                          <a:solidFill>
                            <a:srgbClr val="0A0A0A"/>
                          </a:solidFill>
                          <a:latin typeface="DM Sans"/>
                          <a:ea typeface="DM Sans"/>
                          <a:cs typeface="DM Sans"/>
                        </a:rPr>
                        <a:t>Expected net cash</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100.0%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+$7.60</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21A5469F-ED44-4DF4-9029-40CF8D36D8FF}"/>
              </a:ext>
            </a:extLst>
          </p:cNvPr>
          <p:cNvSpPr>
            <a:spLocks xmlns:a="http://schemas.openxmlformats.org/drawingml/2006/main" noGrp="1"/>
          </p:cNvSpPr>
          <p:nvPr/>
        </p:nvSpPr>
        <p:spPr>
          <a:xfrm xmlns:a="http://schemas.openxmlformats.org/drawingml/2006/main">
            <a:off x="571500" y="3295650"/>
            <a:ext cx="11010900" cy="95"/>
          </a:xfrm>
          <a:custGeom xmlns:a="http://schemas.openxmlformats.org/drawingml/2006/main">
            <a:pathLst>
              <a:path w="11010900" h="95">
                <a:moveTo>
                  <a:pt x="0" y="0"/>
                </a:moveTo>
                <a:lnTo>
                  <a:pt x="11010900" y="0"/>
                </a:lnTo>
              </a:path>
            </a:pathLst>
          </a:custGeom>
          <a:noFill xmlns:a="http://schemas.openxmlformats.org/drawingml/2006/main"/>
          <a:ln xmlns:a="http://schemas.openxmlformats.org/drawingml/2006/main" w="7620">
            <a:solidFill>
              <a:srgbClr val="0A0A0A"/>
            </a:solidFill>
            <a:prstDash val="solid"/>
          </a:ln>
        </p:spPr>
      </p:sp>
      <p:sp>
        <p:nvSpPr>
          <p:cNvPr id="12" name="">
            <a:extLst xmlns:a="http://schemas.openxmlformats.org/drawingml/2006/main">
              <a:ext uri="{FF2B5EF4-FFF2-40B4-BE49-F238E27FC236}">
                <a16:creationId xmlns:a16="http://schemas.microsoft.com/office/drawing/2014/main" id="{C8A5284A-9558-4775-A1E5-6E36A1EB53A2}"/>
              </a:ext>
            </a:extLst>
          </p:cNvPr>
          <p:cNvSpPr>
            <a:spLocks xmlns:a="http://schemas.openxmlformats.org/drawingml/2006/main" noGrp="1"/>
          </p:cNvSpPr>
          <p:nvPr/>
        </p:nvSpPr>
        <p:spPr>
          <a:xfrm xmlns:a="http://schemas.openxmlformats.org/drawingml/2006/main">
            <a:off x="381000" y="389572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3" name="">
            <a:extLst xmlns:a="http://schemas.openxmlformats.org/drawingml/2006/main">
              <a:ext uri="{FF2B5EF4-FFF2-40B4-BE49-F238E27FC236}">
                <a16:creationId xmlns:a16="http://schemas.microsoft.com/office/drawing/2014/main" id="{3C26F3C7-E33B-4B3E-A87B-16B6BFF76CF9}"/>
              </a:ext>
            </a:extLst>
          </p:cNvPr>
          <p:cNvSpPr>
            <a:spLocks xmlns:a="http://schemas.openxmlformats.org/drawingml/2006/main" noGrp="1"/>
          </p:cNvSpPr>
          <p:nvPr/>
        </p:nvSpPr>
        <p:spPr>
          <a:xfrm xmlns:a="http://schemas.openxmlformats.org/drawingml/2006/main" rot="0">
            <a:off x="571500" y="42481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A0A0A"/>
                </a:solidFill>
                <a:latin typeface="DM Sans"/>
                <a:ea typeface="DM Sans"/>
                <a:cs typeface="DM Sans"/>
              </a:defRPr>
            </a:defPPr>
            <a:lvl1pPr algn="l">
              <a:defRPr sz="1800" b="0">
                <a:solidFill>
                  <a:srgbClr val="0A0A0A"/>
                </a:solidFill>
                <a:latin typeface="DM Sans"/>
                <a:ea typeface="DM Sans"/>
                <a:cs typeface="DM Sans"/>
              </a:defRPr>
            </a:lvl1pPr>
            <a:lvl2pPr algn="l">
              <a:defRPr sz="1800" b="0">
                <a:solidFill>
                  <a:srgbClr val="0A0A0A"/>
                </a:solidFill>
                <a:latin typeface="DM Sans"/>
                <a:ea typeface="DM Sans"/>
                <a:cs typeface="DM Sans"/>
              </a:defRPr>
            </a:lvl2pPr>
            <a:lvl3pPr algn="l">
              <a:defRPr sz="1800" b="0">
                <a:solidFill>
                  <a:srgbClr val="0A0A0A"/>
                </a:solidFill>
                <a:latin typeface="DM Sans"/>
                <a:ea typeface="DM Sans"/>
                <a:cs typeface="DM Sans"/>
              </a:defRPr>
            </a:lvl3pPr>
            <a:lvl4pPr algn="l">
              <a:defRPr sz="1800" b="0">
                <a:solidFill>
                  <a:srgbClr val="0A0A0A"/>
                </a:solidFill>
                <a:latin typeface="DM Sans"/>
                <a:ea typeface="DM Sans"/>
                <a:cs typeface="DM Sans"/>
              </a:defRPr>
            </a:lvl4pPr>
            <a:lvl5pPr algn="l">
              <a:defRPr sz="1800" b="0">
                <a:solidFill>
                  <a:srgbClr val="0A0A0A"/>
                </a:solidFill>
                <a:latin typeface="DM Sans"/>
                <a:ea typeface="DM Sans"/>
                <a:cs typeface="DM Sans"/>
              </a:defRPr>
            </a:lvl5pPr>
            <a:lvl6pPr algn="l">
              <a:defRPr sz="1800" b="0">
                <a:solidFill>
                  <a:srgbClr val="0A0A0A"/>
                </a:solidFill>
                <a:latin typeface="DM Sans"/>
                <a:ea typeface="DM Sans"/>
                <a:cs typeface="DM Sans"/>
              </a:defRPr>
            </a:lvl6pPr>
            <a:lvl7pPr algn="l">
              <a:defRPr sz="1800" b="0">
                <a:solidFill>
                  <a:srgbClr val="0A0A0A"/>
                </a:solidFill>
                <a:latin typeface="DM Sans"/>
                <a:ea typeface="DM Sans"/>
                <a:cs typeface="DM Sans"/>
              </a:defRPr>
            </a:lvl7pPr>
            <a:lvl8pPr algn="l">
              <a:defRPr sz="1800" b="0">
                <a:solidFill>
                  <a:srgbClr val="0A0A0A"/>
                </a:solidFill>
                <a:latin typeface="DM Sans"/>
                <a:ea typeface="DM Sans"/>
                <a:cs typeface="DM Sans"/>
              </a:defRPr>
            </a:lvl8pPr>
            <a:lvl9pPr algn="l">
              <a:defRPr sz="1800" b="0">
                <a:solidFill>
                  <a:srgbClr val="0A0A0A"/>
                </a:solidFill>
                <a:latin typeface="DM Sans"/>
                <a:ea typeface="DM Sans"/>
                <a:cs typeface="DM Sans"/>
              </a:defRPr>
            </a:lvl9pPr>
          </a:lstStyle>
          <a:p xmlns:a="http://schemas.openxmlformats.org/drawingml/2006/main">
            <a:pPr algn="l">
              <a:defRPr sz="1800" b="0">
                <a:solidFill>
                  <a:srgbClr val="0A0A0A"/>
                </a:solidFill>
                <a:latin typeface="DM Sans"/>
                <a:ea typeface="DM Sans"/>
                <a:cs typeface="DM Sans"/>
              </a:defRPr>
            </a:pPr>
            <a:r>
              <a:rPr sz="1800" b="0">
                <a:solidFill>
                  <a:srgbClr val="0A0A0A"/>
                </a:solidFill>
                <a:latin typeface="DM Sans"/>
                <a:ea typeface="DM Sans"/>
                <a:cs typeface="DM Sans"/>
              </a:rPr>
              <a:t>0.488 × $750 + 0.512 × (−$700) = $7.60</a:t>
            </a:r>
          </a:p>
        </p:txBody>
      </p:sp>
      <p:sp>
        <p:nvSpPr>
          <p:cNvPr id="14" name="">
            <a:extLst xmlns:a="http://schemas.openxmlformats.org/drawingml/2006/main">
              <a:ext uri="{FF2B5EF4-FFF2-40B4-BE49-F238E27FC236}">
                <a16:creationId xmlns:a16="http://schemas.microsoft.com/office/drawing/2014/main" id="{EFBA4D82-BE10-4B33-9F39-527316D09309}"/>
              </a:ext>
            </a:extLst>
          </p:cNvPr>
          <p:cNvSpPr>
            <a:spLocks xmlns:a="http://schemas.openxmlformats.org/drawingml/2006/main" noGrp="1"/>
          </p:cNvSpPr>
          <p:nvPr/>
        </p:nvSpPr>
        <p:spPr>
          <a:xfrm xmlns:a="http://schemas.openxmlformats.org/drawingml/2006/main" rot="0">
            <a:off x="571500" y="4800600"/>
            <a:ext cx="1066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0A0A0A"/>
                </a:solidFill>
                <a:latin typeface="DM Sans"/>
                <a:ea typeface="DM Sans"/>
                <a:cs typeface="DM Sans"/>
              </a:defRPr>
            </a:defPPr>
            <a:lvl1pPr algn="l">
              <a:defRPr sz="1275" b="0">
                <a:solidFill>
                  <a:srgbClr val="0A0A0A"/>
                </a:solidFill>
                <a:latin typeface="DM Sans"/>
                <a:ea typeface="DM Sans"/>
                <a:cs typeface="DM Sans"/>
              </a:defRPr>
            </a:lvl1pPr>
            <a:lvl2pPr algn="l">
              <a:defRPr sz="1275" b="0">
                <a:solidFill>
                  <a:srgbClr val="0A0A0A"/>
                </a:solidFill>
                <a:latin typeface="DM Sans"/>
                <a:ea typeface="DM Sans"/>
                <a:cs typeface="DM Sans"/>
              </a:defRPr>
            </a:lvl2pPr>
            <a:lvl3pPr algn="l">
              <a:defRPr sz="1275" b="0">
                <a:solidFill>
                  <a:srgbClr val="0A0A0A"/>
                </a:solidFill>
                <a:latin typeface="DM Sans"/>
                <a:ea typeface="DM Sans"/>
                <a:cs typeface="DM Sans"/>
              </a:defRPr>
            </a:lvl3pPr>
            <a:lvl4pPr algn="l">
              <a:defRPr sz="1275" b="0">
                <a:solidFill>
                  <a:srgbClr val="0A0A0A"/>
                </a:solidFill>
                <a:latin typeface="DM Sans"/>
                <a:ea typeface="DM Sans"/>
                <a:cs typeface="DM Sans"/>
              </a:defRPr>
            </a:lvl4pPr>
            <a:lvl5pPr algn="l">
              <a:defRPr sz="1275" b="0">
                <a:solidFill>
                  <a:srgbClr val="0A0A0A"/>
                </a:solidFill>
                <a:latin typeface="DM Sans"/>
                <a:ea typeface="DM Sans"/>
                <a:cs typeface="DM Sans"/>
              </a:defRPr>
            </a:lvl5pPr>
            <a:lvl6pPr algn="l">
              <a:defRPr sz="1275" b="0">
                <a:solidFill>
                  <a:srgbClr val="0A0A0A"/>
                </a:solidFill>
                <a:latin typeface="DM Sans"/>
                <a:ea typeface="DM Sans"/>
                <a:cs typeface="DM Sans"/>
              </a:defRPr>
            </a:lvl6pPr>
            <a:lvl7pPr algn="l">
              <a:defRPr sz="1275" b="0">
                <a:solidFill>
                  <a:srgbClr val="0A0A0A"/>
                </a:solidFill>
                <a:latin typeface="DM Sans"/>
                <a:ea typeface="DM Sans"/>
                <a:cs typeface="DM Sans"/>
              </a:defRPr>
            </a:lvl7pPr>
            <a:lvl8pPr algn="l">
              <a:defRPr sz="1275" b="0">
                <a:solidFill>
                  <a:srgbClr val="0A0A0A"/>
                </a:solidFill>
                <a:latin typeface="DM Sans"/>
                <a:ea typeface="DM Sans"/>
                <a:cs typeface="DM Sans"/>
              </a:defRPr>
            </a:lvl8pPr>
            <a:lvl9pPr algn="l">
              <a:defRPr sz="1275" b="0">
                <a:solidFill>
                  <a:srgbClr val="0A0A0A"/>
                </a:solidFill>
                <a:latin typeface="DM Sans"/>
                <a:ea typeface="DM Sans"/>
                <a:cs typeface="DM Sans"/>
              </a:defRPr>
            </a:lvl9pPr>
          </a:lstStyle>
          <a:p xmlns:a="http://schemas.openxmlformats.org/drawingml/2006/main">
            <a:pPr algn="l">
              <a:defRPr sz="1275" b="0">
                <a:solidFill>
                  <a:srgbClr val="0A0A0A"/>
                </a:solidFill>
                <a:latin typeface="DM Sans"/>
                <a:ea typeface="DM Sans"/>
                <a:cs typeface="DM Sans"/>
              </a:defRPr>
            </a:pPr>
            <a:r>
              <a:rPr sz="1275" b="0">
                <a:solidFill>
                  <a:srgbClr val="0A0A0A"/>
                </a:solidFill>
                <a:latin typeface="DM Sans"/>
                <a:ea typeface="DM Sans"/>
                <a:cs typeface="DM Sans"/>
              </a:rPr>
              <a:t>Median cash: −$700. Break-even premium: $657.60.</a:t>
            </a:r>
          </a:p>
          <a:p xmlns:a="http://schemas.openxmlformats.org/drawingml/2006/main">
            <a:pPr algn="l">
              <a:defRPr sz="1275" b="0">
                <a:solidFill>
                  <a:srgbClr val="0A0A0A"/>
                </a:solidFill>
                <a:latin typeface="DM Sans"/>
                <a:ea typeface="DM Sans"/>
                <a:cs typeface="DM Sans"/>
              </a:defRPr>
            </a:pPr>
            <a:r>
              <a:rPr sz="1275" b="0">
                <a:solidFill>
                  <a:srgbClr val="0A0A0A"/>
                </a:solidFill>
                <a:latin typeface="DM Sans"/>
                <a:ea typeface="DM Sans"/>
                <a:cs typeface="DM Sans"/>
              </a:rPr>
              <a:t>A $660 premium changes expected cash to −$2.40 and the decision to skip.</a:t>
            </a:r>
          </a:p>
        </p:txBody>
      </p:sp>
    </p:spTree>
    <p:extLst>
      <p:ext uri="{BB962C8B-B14F-4D97-AF65-F5344CB8AC3E}">
        <p14:creationId xmlns:p14="http://schemas.microsoft.com/office/powerpoint/2010/main" val="598181717"/>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E7E0B2-90C4-4480-851A-582AF18ECD4A}"/>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73AB2CFD-4FA6-4E1C-B4D2-54FBDAE049BA}"/>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2BC5F7C6-AE6B-4A99-B364-BF56685C87AB}"/>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2024A2E6-A7FA-430F-BD31-7F75DBC15ECA}"/>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5EB90E5D-0C10-4A81-B46E-AC692315BFBE}"/>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887FDD6C-6BCF-4D03-9DD9-48C7CF45AB6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Appendix</a:t>
            </a:r>
          </a:p>
        </p:txBody>
      </p:sp>
      <p:sp>
        <p:nvSpPr>
          <p:cNvPr id="7" name="">
            <a:extLst xmlns:a="http://schemas.openxmlformats.org/drawingml/2006/main">
              <a:ext uri="{FF2B5EF4-FFF2-40B4-BE49-F238E27FC236}">
                <a16:creationId xmlns:a16="http://schemas.microsoft.com/office/drawing/2014/main" id="{3902E9FE-DC6A-4A14-8FB2-71AAD12D908B}"/>
              </a:ext>
            </a:extLst>
          </p:cNvPr>
          <p:cNvSpPr>
            <a:spLocks xmlns:a="http://schemas.openxmlformats.org/drawingml/2006/main" noGrp="1"/>
          </p:cNvSpPr>
          <p:nvPr/>
        </p:nvSpPr>
        <p:spPr>
          <a:xfrm xmlns:a="http://schemas.openxmlformats.org/drawingml/2006/main" rot="0">
            <a:off x="11410950" y="4095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750" b="0">
                <a:solidFill>
                  <a:srgbClr val="0A0A0A"/>
                </a:solidFill>
                <a:latin typeface="DM Sans"/>
                <a:ea typeface="DM Sans"/>
                <a:cs typeface="DM Sans"/>
              </a:defRPr>
            </a:defPPr>
            <a:lvl1pPr algn="r">
              <a:defRPr sz="750" b="0">
                <a:solidFill>
                  <a:srgbClr val="0A0A0A"/>
                </a:solidFill>
                <a:latin typeface="DM Sans"/>
                <a:ea typeface="DM Sans"/>
                <a:cs typeface="DM Sans"/>
              </a:defRPr>
            </a:lvl1pPr>
            <a:lvl2pPr algn="r">
              <a:defRPr sz="750" b="0">
                <a:solidFill>
                  <a:srgbClr val="0A0A0A"/>
                </a:solidFill>
                <a:latin typeface="DM Sans"/>
                <a:ea typeface="DM Sans"/>
                <a:cs typeface="DM Sans"/>
              </a:defRPr>
            </a:lvl2pPr>
            <a:lvl3pPr algn="r">
              <a:defRPr sz="750" b="0">
                <a:solidFill>
                  <a:srgbClr val="0A0A0A"/>
                </a:solidFill>
                <a:latin typeface="DM Sans"/>
                <a:ea typeface="DM Sans"/>
                <a:cs typeface="DM Sans"/>
              </a:defRPr>
            </a:lvl3pPr>
            <a:lvl4pPr algn="r">
              <a:defRPr sz="750" b="0">
                <a:solidFill>
                  <a:srgbClr val="0A0A0A"/>
                </a:solidFill>
                <a:latin typeface="DM Sans"/>
                <a:ea typeface="DM Sans"/>
                <a:cs typeface="DM Sans"/>
              </a:defRPr>
            </a:lvl4pPr>
            <a:lvl5pPr algn="r">
              <a:defRPr sz="750" b="0">
                <a:solidFill>
                  <a:srgbClr val="0A0A0A"/>
                </a:solidFill>
                <a:latin typeface="DM Sans"/>
                <a:ea typeface="DM Sans"/>
                <a:cs typeface="DM Sans"/>
              </a:defRPr>
            </a:lvl5pPr>
            <a:lvl6pPr algn="r">
              <a:defRPr sz="750" b="0">
                <a:solidFill>
                  <a:srgbClr val="0A0A0A"/>
                </a:solidFill>
                <a:latin typeface="DM Sans"/>
                <a:ea typeface="DM Sans"/>
                <a:cs typeface="DM Sans"/>
              </a:defRPr>
            </a:lvl6pPr>
            <a:lvl7pPr algn="r">
              <a:defRPr sz="750" b="0">
                <a:solidFill>
                  <a:srgbClr val="0A0A0A"/>
                </a:solidFill>
                <a:latin typeface="DM Sans"/>
                <a:ea typeface="DM Sans"/>
                <a:cs typeface="DM Sans"/>
              </a:defRPr>
            </a:lvl7pPr>
            <a:lvl8pPr algn="r">
              <a:defRPr sz="750" b="0">
                <a:solidFill>
                  <a:srgbClr val="0A0A0A"/>
                </a:solidFill>
                <a:latin typeface="DM Sans"/>
                <a:ea typeface="DM Sans"/>
                <a:cs typeface="DM Sans"/>
              </a:defRPr>
            </a:lvl8pPr>
            <a:lvl9pPr algn="r">
              <a:defRPr sz="750" b="0">
                <a:solidFill>
                  <a:srgbClr val="0A0A0A"/>
                </a:solidFill>
                <a:latin typeface="DM Sans"/>
                <a:ea typeface="DM Sans"/>
                <a:cs typeface="DM Sans"/>
              </a:defRPr>
            </a:lvl9pPr>
          </a:lstStyle>
          <a:p xmlns:a="http://schemas.openxmlformats.org/drawingml/2006/main">
            <a:pPr algn="r">
              <a:defRPr sz="750" b="0">
                <a:solidFill>
                  <a:srgbClr val="0A0A0A"/>
                </a:solidFill>
                <a:latin typeface="DM Sans"/>
                <a:ea typeface="DM Sans"/>
                <a:cs typeface="DM Sans"/>
              </a:defRPr>
            </a:pPr>
            <a:r>
              <a:rPr sz="750" b="0">
                <a:solidFill>
                  <a:srgbClr val="0A0A0A"/>
                </a:solidFill>
                <a:latin typeface="DM Sans"/>
                <a:ea typeface="DM Sans"/>
                <a:cs typeface="DM Sans"/>
              </a:rPr>
              <a:t>OXHack</a:t>
            </a:r>
          </a:p>
        </p:txBody>
      </p:sp>
      <p:sp>
        <p:nvSpPr>
          <p:cNvPr id="8" name="">
            <a:extLst xmlns:a="http://schemas.openxmlformats.org/drawingml/2006/main">
              <a:ext uri="{FF2B5EF4-FFF2-40B4-BE49-F238E27FC236}">
                <a16:creationId xmlns:a16="http://schemas.microsoft.com/office/drawing/2014/main" id="{5F98A2DF-0A95-4A16-939E-0965B8CBC33A}"/>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Evidence, simulations and remaining validation</a:t>
            </a:r>
          </a:p>
        </p:txBody>
      </p:sp>
      <p:sp>
        <p:nvSpPr>
          <p:cNvPr id="9" name="">
            <a:extLst xmlns:a="http://schemas.openxmlformats.org/drawingml/2006/main">
              <a:ext uri="{FF2B5EF4-FFF2-40B4-BE49-F238E27FC236}">
                <a16:creationId xmlns:a16="http://schemas.microsoft.com/office/drawing/2014/main" id="{23D8679E-73D2-4526-8447-0DB9B1DCA000}"/>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The prototype retains the provenance of each input.</a:t>
            </a:r>
          </a:p>
        </p:txBody>
      </p:sp>
      <p:graphicFrame>
        <p:nvGraphicFramePr>
          <p:cNvPr id="10" name="">
            <a:extLst xmlns:a="http://schemas.openxmlformats.org/drawingml/2006/main">
              <a:ext uri="{FF2B5EF4-FFF2-40B4-BE49-F238E27FC236}">
                <a16:creationId xmlns:a16="http://schemas.microsoft.com/office/drawing/2014/main" id="{44AC941C-9D27-4900-9667-4E76B455C250}"/>
              </a:ext>
            </a:extLst>
          </p:cNvPr>
          <p:cNvGraphicFramePr/>
          <p:nvPr/>
        </p:nvGraphicFramePr>
        <p:xfrm>
          <a:off xmlns:a="http://schemas.openxmlformats.org/drawingml/2006/main" x="381000" y="1609725"/>
          <a:ext xmlns:a="http://schemas.openxmlformats.org/drawingml/2006/main" cx="11410950" cy="2305050"/>
        </p:xfrm>
        <a:graphic xmlns:a="http://schemas.openxmlformats.org/drawingml/2006/main">
          <a:graphicData uri="http://schemas.openxmlformats.org/drawingml/2006/table">
            <a:tbl>
              <a:tblPr firstRow="1" bandRow="0"/>
              <a:tblGrid>
                <a:gridCol w="3800475"/>
                <a:gridCol w="3800475"/>
                <a:gridCol w="3810000"/>
              </a:tblGrid>
              <a:tr h="576263">
                <a:tc>
                  <a:txBody>
                    <a:bodyPr lIns="171450" tIns="95250" rIns="171450" bIns="95250">
                      <a:noAutofit/>
                    </a:bodyPr>
                    <a:lstStyle/>
                    <a:p>
                      <a:r>
                        <a:rPr sz="1050" b="0">
                          <a:solidFill>
                            <a:srgbClr val="FAFAFA"/>
                          </a:solidFill>
                          <a:latin typeface="DM Sans"/>
                          <a:ea typeface="DM Sans"/>
                          <a:cs typeface="DM Sans"/>
                        </a:rPr>
                        <a:t>Observed</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Simulated</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Assumed</a:t>
                      </a:r>
                    </a:p>
                  </a:txBody>
                  <a:tcPr marL="91440" marR="91440" marT="45720" marB="45720" anchor="ctr">
                    <a:lnR w="0">
                      <a:noFill/>
                      <a:prstDash val="solid"/>
                    </a:lnR>
                    <a:lnT w="0">
                      <a:noFill/>
                      <a:prstDash val="solid"/>
                    </a:lnT>
                    <a:lnB w="0">
                      <a:noFill/>
                      <a:prstDash val="solid"/>
                    </a:lnB>
                    <a:solidFill>
                      <a:srgbClr val="0A0A0A"/>
                    </a:solidFill>
                  </a:tcPr>
                </a:tc>
              </a:tr>
              <a:tr h="576263">
                <a:tc>
                  <a:txBody>
                    <a:bodyPr lIns="171450" tIns="95250" rIns="171450" bIns="95250">
                      <a:noAutofit/>
                    </a:bodyPr>
                    <a:lstStyle/>
                    <a:p>
                      <a:r>
                        <a:rPr sz="1275" b="0">
                          <a:solidFill>
                            <a:srgbClr val="0A0A0A"/>
                          </a:solidFill>
                          <a:latin typeface="DM Sans"/>
                          <a:ea typeface="DM Sans"/>
                          <a:cs typeface="DM Sans"/>
                        </a:rPr>
                        <a:t>67 measured sediment samples</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275" b="0">
                          <a:solidFill>
                            <a:srgbClr val="0A0A0A"/>
                          </a:solidFill>
                          <a:latin typeface="DM Sans"/>
                          <a:ea typeface="DM Sans"/>
                          <a:cs typeface="DM Sans"/>
                        </a:rPr>
                        <a:t>Five stakeholder groups</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275" b="0">
                          <a:solidFill>
                            <a:srgbClr val="0A0A0A"/>
                          </a:solidFill>
                          <a:latin typeface="DM Sans"/>
                          <a:ea typeface="DM Sans"/>
                          <a:cs typeface="DM Sans"/>
                        </a:rPr>
                        <a:t>Option terms and recoverable ounces</a:t>
                      </a:r>
                    </a:p>
                  </a:txBody>
                  <a:tcPr marL="91440" marR="91440" marT="45720" marB="45720" anchor="ctr">
                    <a:lnR w="0">
                      <a:noFill/>
                      <a:prstDash val="solid"/>
                    </a:lnR>
                    <a:lnB w="0">
                      <a:noFill/>
                      <a:prstDash val="solid"/>
                    </a:lnB>
                    <a:solidFill>
                      <a:srgbClr val="FAFAFA"/>
                    </a:solidFill>
                  </a:tcPr>
                </a:tc>
              </a:tr>
              <a:tr h="576263">
                <a:tc>
                  <a:txBody>
                    <a:bodyPr lIns="171450" tIns="95250" rIns="171450" bIns="95250">
                      <a:noAutofit/>
                    </a:bodyPr>
                    <a:lstStyle/>
                    <a:p>
                      <a:r>
                        <a:rPr sz="1275" b="0">
                          <a:solidFill>
                            <a:srgbClr val="0A0A0A"/>
                          </a:solidFill>
                          <a:latin typeface="DM Sans"/>
                          <a:ea typeface="DM Sans"/>
                          <a:cs typeface="DM Sans"/>
                        </a:rPr>
                        <a:t>Checked land-source</a:t>
                      </a:r>
                    </a:p>
                    <a:p>
                      <a:r>
                        <a:rPr sz="1275" b="0">
                          <a:solidFill>
                            <a:srgbClr val="0A0A0A"/>
                          </a:solidFill>
                          <a:latin typeface="DM Sans"/>
                          <a:ea typeface="DM Sans"/>
                          <a:cs typeface="DM Sans"/>
                        </a:rPr>
                        <a:t>context</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275" b="0">
                          <a:solidFill>
                            <a:srgbClr val="0A0A0A"/>
                          </a:solidFill>
                          <a:latin typeface="DM Sans"/>
                          <a:ea typeface="DM Sans"/>
                          <a:cs typeface="DM Sans"/>
                        </a:rPr>
                        <a:t>Six scored five-day runs</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275" b="0">
                          <a:solidFill>
                            <a:srgbClr val="0A0A0A"/>
                          </a:solidFill>
                          <a:latin typeface="DM Sans"/>
                          <a:ea typeface="DM Sans"/>
                          <a:cs typeface="DM Sans"/>
                        </a:rPr>
                        <a:t>Sale chance per 30-day interval</a:t>
                      </a:r>
                    </a:p>
                  </a:txBody>
                  <a:tcPr marL="91440" marR="91440" marT="45720" marB="45720" anchor="ctr">
                    <a:lnR w="0">
                      <a:noFill/>
                      <a:prstDash val="solid"/>
                    </a:lnR>
                    <a:lnB w="0">
                      <a:noFill/>
                      <a:prstDash val="solid"/>
                    </a:lnB>
                    <a:solidFill>
                      <a:srgbClr val="FAFAFA"/>
                    </a:solidFill>
                  </a:tcPr>
                </a:tc>
              </a:tr>
              <a:tr h="576263">
                <a:tc>
                  <a:txBody>
                    <a:bodyPr lIns="171450" tIns="95250" rIns="171450" bIns="95250">
                      <a:noAutofit/>
                    </a:bodyPr>
                    <a:lstStyle/>
                    <a:p>
                      <a:r>
                        <a:rPr sz="1275" b="0">
                          <a:solidFill>
                            <a:srgbClr val="0A0A0A"/>
                          </a:solidFill>
                          <a:latin typeface="DM Sans"/>
                          <a:ea typeface="DM Sans"/>
                          <a:cs typeface="DM Sans"/>
                        </a:rPr>
                        <a:t>Historical gold records</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275" b="0">
                          <a:solidFill>
                            <a:srgbClr val="0A0A0A"/>
                          </a:solidFill>
                          <a:latin typeface="DM Sans"/>
                          <a:ea typeface="DM Sans"/>
                          <a:cs typeface="DM Sans"/>
                        </a:rPr>
                        <a:t>Research diagnostics failed</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275" b="0">
                          <a:solidFill>
                            <a:srgbClr val="0A0A0A"/>
                          </a:solidFill>
                          <a:latin typeface="DM Sans"/>
                          <a:ea typeface="DM Sans"/>
                          <a:cs typeface="DM Sans"/>
                        </a:rPr>
                        <a:t>Capped financial scenario transfer</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ADB61556-A7C1-486A-A162-15965C10D460}"/>
              </a:ext>
            </a:extLst>
          </p:cNvPr>
          <p:cNvSpPr>
            <a:spLocks xmlns:a="http://schemas.openxmlformats.org/drawingml/2006/main" noGrp="1"/>
          </p:cNvSpPr>
          <p:nvPr/>
        </p:nvSpPr>
        <p:spPr>
          <a:xfrm xmlns:a="http://schemas.openxmlformats.org/drawingml/2006/main">
            <a:off x="381000" y="391477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2" name="">
            <a:extLst xmlns:a="http://schemas.openxmlformats.org/drawingml/2006/main">
              <a:ext uri="{FF2B5EF4-FFF2-40B4-BE49-F238E27FC236}">
                <a16:creationId xmlns:a16="http://schemas.microsoft.com/office/drawing/2014/main" id="{2F848328-6DFB-4E02-BA85-D636197D537B}"/>
              </a:ext>
            </a:extLst>
          </p:cNvPr>
          <p:cNvSpPr>
            <a:spLocks xmlns:a="http://schemas.openxmlformats.org/drawingml/2006/main" noGrp="1"/>
          </p:cNvSpPr>
          <p:nvPr/>
        </p:nvSpPr>
        <p:spPr>
          <a:xfrm xmlns:a="http://schemas.openxmlformats.org/drawingml/2006/main" rot="0">
            <a:off x="571500" y="431482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Next: chronological validation with dated option prices,</a:t>
            </a:r>
          </a:p>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completed assignments and unsold cases.</a:t>
            </a:r>
          </a:p>
        </p:txBody>
      </p:sp>
      <p:sp>
        <p:nvSpPr>
          <p:cNvPr id="13" name="">
            <a:extLst xmlns:a="http://schemas.openxmlformats.org/drawingml/2006/main">
              <a:ext uri="{FF2B5EF4-FFF2-40B4-BE49-F238E27FC236}">
                <a16:creationId xmlns:a16="http://schemas.microsoft.com/office/drawing/2014/main" id="{81070B9F-E378-481C-8A11-B112A870F337}"/>
              </a:ext>
            </a:extLst>
          </p:cNvPr>
          <p:cNvSpPr>
            <a:spLocks xmlns:a="http://schemas.openxmlformats.org/drawingml/2006/main" noGrp="1"/>
          </p:cNvSpPr>
          <p:nvPr/>
        </p:nvSpPr>
        <p:spPr>
          <a:xfrm xmlns:a="http://schemas.openxmlformats.org/drawingml/2006/main" rot="0">
            <a:off x="571500" y="5210175"/>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737373"/>
                </a:solidFill>
                <a:latin typeface="DM Sans"/>
                <a:ea typeface="DM Sans"/>
                <a:cs typeface="DM Sans"/>
              </a:defRPr>
            </a:defPPr>
            <a:lvl1pPr algn="l">
              <a:defRPr sz="1125" b="0">
                <a:solidFill>
                  <a:srgbClr val="737373"/>
                </a:solidFill>
                <a:latin typeface="DM Sans"/>
                <a:ea typeface="DM Sans"/>
                <a:cs typeface="DM Sans"/>
              </a:defRPr>
            </a:lvl1pPr>
            <a:lvl2pPr algn="l">
              <a:defRPr sz="1125" b="0">
                <a:solidFill>
                  <a:srgbClr val="737373"/>
                </a:solidFill>
                <a:latin typeface="DM Sans"/>
                <a:ea typeface="DM Sans"/>
                <a:cs typeface="DM Sans"/>
              </a:defRPr>
            </a:lvl2pPr>
            <a:lvl3pPr algn="l">
              <a:defRPr sz="1125" b="0">
                <a:solidFill>
                  <a:srgbClr val="737373"/>
                </a:solidFill>
                <a:latin typeface="DM Sans"/>
                <a:ea typeface="DM Sans"/>
                <a:cs typeface="DM Sans"/>
              </a:defRPr>
            </a:lvl3pPr>
            <a:lvl4pPr algn="l">
              <a:defRPr sz="1125" b="0">
                <a:solidFill>
                  <a:srgbClr val="737373"/>
                </a:solidFill>
                <a:latin typeface="DM Sans"/>
                <a:ea typeface="DM Sans"/>
                <a:cs typeface="DM Sans"/>
              </a:defRPr>
            </a:lvl4pPr>
            <a:lvl5pPr algn="l">
              <a:defRPr sz="1125" b="0">
                <a:solidFill>
                  <a:srgbClr val="737373"/>
                </a:solidFill>
                <a:latin typeface="DM Sans"/>
                <a:ea typeface="DM Sans"/>
                <a:cs typeface="DM Sans"/>
              </a:defRPr>
            </a:lvl5pPr>
            <a:lvl6pPr algn="l">
              <a:defRPr sz="1125" b="0">
                <a:solidFill>
                  <a:srgbClr val="737373"/>
                </a:solidFill>
                <a:latin typeface="DM Sans"/>
                <a:ea typeface="DM Sans"/>
                <a:cs typeface="DM Sans"/>
              </a:defRPr>
            </a:lvl6pPr>
            <a:lvl7pPr algn="l">
              <a:defRPr sz="1125" b="0">
                <a:solidFill>
                  <a:srgbClr val="737373"/>
                </a:solidFill>
                <a:latin typeface="DM Sans"/>
                <a:ea typeface="DM Sans"/>
                <a:cs typeface="DM Sans"/>
              </a:defRPr>
            </a:lvl7pPr>
            <a:lvl8pPr algn="l">
              <a:defRPr sz="1125" b="0">
                <a:solidFill>
                  <a:srgbClr val="737373"/>
                </a:solidFill>
                <a:latin typeface="DM Sans"/>
                <a:ea typeface="DM Sans"/>
                <a:cs typeface="DM Sans"/>
              </a:defRPr>
            </a:lvl8pPr>
            <a:lvl9pPr algn="l">
              <a:defRPr sz="1125" b="0">
                <a:solidFill>
                  <a:srgbClr val="737373"/>
                </a:solidFill>
                <a:latin typeface="DM Sans"/>
                <a:ea typeface="DM Sans"/>
                <a:cs typeface="DM Sans"/>
              </a:defRPr>
            </a:lvl9pPr>
          </a:lstStyle>
          <a:p xmlns:a="http://schemas.openxmlformats.org/drawingml/2006/main">
            <a:pPr algn="l">
              <a:defRPr sz="1125" b="0">
                <a:solidFill>
                  <a:srgbClr val="737373"/>
                </a:solidFill>
                <a:latin typeface="DM Sans"/>
                <a:ea typeface="DM Sans"/>
                <a:cs typeface="DM Sans"/>
              </a:defRPr>
            </a:pPr>
            <a:r>
              <a:rPr sz="1125" b="0">
                <a:solidFill>
                  <a:srgbClr val="737373"/>
                </a:solidFill>
                <a:latin typeface="DM Sans"/>
                <a:ea typeface="DM Sans"/>
                <a:cs typeface="DM Sans"/>
              </a:rPr>
              <a:t>Predictive performance remains unmeasured.</a:t>
            </a:r>
          </a:p>
        </p:txBody>
      </p:sp>
    </p:spTree>
    <p:extLst>
      <p:ext uri="{BB962C8B-B14F-4D97-AF65-F5344CB8AC3E}">
        <p14:creationId xmlns:p14="http://schemas.microsoft.com/office/powerpoint/2010/main" val="19449968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2026-10-25T07:24:17.0640000Z</dcterms:created>
  <dcterms:modified xsi:type="dcterms:W3CDTF">2026-10-25T07:24:17.0640000Z</dcterms:modified>
</coreProperties>
</file>