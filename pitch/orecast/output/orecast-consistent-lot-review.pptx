
<file path=[Content_Types].xml><?xml version="1.0" encoding="utf-8"?>
<Types xmlns="http://schemas.openxmlformats.org/package/2006/content-types">
  <Default Extension="xml" ContentType="application/vnd.openxmlformats-package.core-properties+xml"/>
  <Default Extension="png" ContentType="image/png"/>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slides/charts/chart1.xml" ContentType="application/vnd.openxmlformats-officedocument.drawingml.chart+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c1baa30512b940e9" /><Relationship Type="http://schemas.openxmlformats.org/officeDocument/2006/relationships/extended-properties" Target="/docProps/app.xml" Id="R3c0f78bc9a114fee" /><Relationship Type="http://schemas.openxmlformats.org/officeDocument/2006/relationships/officeDocument" Target="/ppt/presentation.xml" Id="Re4ce9f5ae9b44e79" /></Relationships>
</file>

<file path=ppt/presentation.xml><?xml version="1.0" encoding="utf-8"?>
<p:presentation xmlns:p="http://schemas.openxmlformats.org/presentationml/2006/main">
  <p:sldMasterIdLst>
    <p:sldMasterId xmlns:r="http://schemas.openxmlformats.org/officeDocument/2006/relationships" id="2147483648" r:id="R1039e8db7260439a"/>
  </p:sldMasterIdLst>
  <p:notesMasterIdLst>
    <p:notesMasterId xmlns:r="http://schemas.openxmlformats.org/officeDocument/2006/relationships" r:id="Rdc4356c30e3b4f23"/>
  </p:notesMasterIdLst>
  <p:sldIdLst>
    <p:sldId xmlns:r="http://schemas.openxmlformats.org/officeDocument/2006/relationships" id="256" r:id="R5f414d77281d4f11"/>
    <p:sldId xmlns:r="http://schemas.openxmlformats.org/officeDocument/2006/relationships" id="257" r:id="R47a8cfa74d0b49e5"/>
    <p:sldId xmlns:r="http://schemas.openxmlformats.org/officeDocument/2006/relationships" id="258" r:id="Raeb3b58b6c124ba3"/>
    <p:sldId xmlns:r="http://schemas.openxmlformats.org/officeDocument/2006/relationships" id="259" r:id="R21043bb2b3c149be"/>
    <p:sldId xmlns:r="http://schemas.openxmlformats.org/officeDocument/2006/relationships" id="260" r:id="Rfa019bbe495b4212"/>
    <p:sldId xmlns:r="http://schemas.openxmlformats.org/officeDocument/2006/relationships" id="261" r:id="Rbfa0012307a945f3"/>
    <p:sldId xmlns:r="http://schemas.openxmlformats.org/officeDocument/2006/relationships" id="262" r:id="R564619719f22401b"/>
    <p:sldId xmlns:r="http://schemas.openxmlformats.org/officeDocument/2006/relationships" id="263" r:id="Rd7e5b3d3cfeb4f62"/>
    <p:sldId xmlns:r="http://schemas.openxmlformats.org/officeDocument/2006/relationships" id="264" r:id="R781ad42eaa8b4f85"/>
    <p:sldId xmlns:r="http://schemas.openxmlformats.org/officeDocument/2006/relationships" id="265" r:id="R97634117bec64108"/>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071c8a83d9a24ee2" /><Relationship Type="http://schemas.openxmlformats.org/officeDocument/2006/relationships/slideMaster" Target="/ppt/slideMasters/slideMaster1.xml" Id="R1039e8db7260439a" /><Relationship Type="http://schemas.openxmlformats.org/officeDocument/2006/relationships/notesMaster" Target="/ppt/notesMasters/notesMaster1.xml" Id="Rdc4356c30e3b4f23" /><Relationship Type="http://schemas.openxmlformats.org/officeDocument/2006/relationships/presProps" Target="/ppt/presProps.xml" Id="Ra91eb109038b487c" /><Relationship Type="http://schemas.openxmlformats.org/officeDocument/2006/relationships/tableStyles" Target="/ppt/tableStyles.xml" Id="Redffa6348625414c" /><Relationship Type="http://schemas.openxmlformats.org/officeDocument/2006/relationships/slide" Target="/ppt/slides/slide1.xml" Id="R5f414d77281d4f11" /><Relationship Type="http://schemas.openxmlformats.org/officeDocument/2006/relationships/slide" Target="/ppt/slides/slide2.xml" Id="R47a8cfa74d0b49e5" /><Relationship Type="http://schemas.openxmlformats.org/officeDocument/2006/relationships/slide" Target="/ppt/slides/slide3.xml" Id="Raeb3b58b6c124ba3" /><Relationship Type="http://schemas.openxmlformats.org/officeDocument/2006/relationships/slide" Target="/ppt/slides/slide4.xml" Id="R21043bb2b3c149be" /><Relationship Type="http://schemas.openxmlformats.org/officeDocument/2006/relationships/slide" Target="/ppt/slides/slide5.xml" Id="Rfa019bbe495b4212" /><Relationship Type="http://schemas.openxmlformats.org/officeDocument/2006/relationships/slide" Target="/ppt/slides/slide6.xml" Id="Rbfa0012307a945f3" /><Relationship Type="http://schemas.openxmlformats.org/officeDocument/2006/relationships/slide" Target="/ppt/slides/slide7.xml" Id="R564619719f22401b" /><Relationship Type="http://schemas.openxmlformats.org/officeDocument/2006/relationships/slide" Target="/ppt/slides/slide8.xml" Id="Rd7e5b3d3cfeb4f62" /><Relationship Type="http://schemas.openxmlformats.org/officeDocument/2006/relationships/slide" Target="/ppt/slides/slide9.xml" Id="R781ad42eaa8b4f85" /><Relationship Type="http://schemas.openxmlformats.org/officeDocument/2006/relationships/slide" Target="/ppt/slides/slide10.xml" Id="R97634117bec64108"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99195b191f94cac"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M Sans"/>
        <a:ea typeface=""/>
        <a:cs typeface=""/>
      </a:majorFont>
      <a:minorFont>
        <a:latin typeface="DM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2c80c28aa07f4695" /><Relationship Type="http://schemas.openxmlformats.org/officeDocument/2006/relationships/notesMaster" Target="/ppt/notesMasters/notesMaster1.xml" Id="Ref0f3ee23bfd4d37" /></Relationships>
</file>

<file path=ppt/notesSlides/_rels/notesSlide2.xml.rels>&#65279;<?xml version="1.0" encoding="utf-8"?><Relationships xmlns="http://schemas.openxmlformats.org/package/2006/relationships"><Relationship Type="http://schemas.openxmlformats.org/officeDocument/2006/relationships/slide" Target="/ppt/slides/slide2.xml" Id="Rcc2844607cf840bb" /><Relationship Type="http://schemas.openxmlformats.org/officeDocument/2006/relationships/notesMaster" Target="/ppt/notesMasters/notesMaster1.xml" Id="R02caa63bfde44275" /></Relationships>
</file>

<file path=ppt/notesSlides/_rels/notesSlide3.xml.rels>&#65279;<?xml version="1.0" encoding="utf-8"?><Relationships xmlns="http://schemas.openxmlformats.org/package/2006/relationships"><Relationship Type="http://schemas.openxmlformats.org/officeDocument/2006/relationships/slide" Target="/ppt/slides/slide3.xml" Id="Rf23b052ed5f54eb8" /><Relationship Type="http://schemas.openxmlformats.org/officeDocument/2006/relationships/notesMaster" Target="/ppt/notesMasters/notesMaster1.xml" Id="R0c6bf6ceee934f35" /></Relationships>
</file>

<file path=ppt/notesSlides/_rels/notesSlide4.xml.rels>&#65279;<?xml version="1.0" encoding="utf-8"?><Relationships xmlns="http://schemas.openxmlformats.org/package/2006/relationships"><Relationship Type="http://schemas.openxmlformats.org/officeDocument/2006/relationships/slide" Target="/ppt/slides/slide4.xml" Id="Rf4eb0d20389248a9" /><Relationship Type="http://schemas.openxmlformats.org/officeDocument/2006/relationships/notesMaster" Target="/ppt/notesMasters/notesMaster1.xml" Id="Rb91f79dd92704fc3" /></Relationships>
</file>

<file path=ppt/notesSlides/_rels/notesSlide5.xml.rels>&#65279;<?xml version="1.0" encoding="utf-8"?><Relationships xmlns="http://schemas.openxmlformats.org/package/2006/relationships"><Relationship Type="http://schemas.openxmlformats.org/officeDocument/2006/relationships/slide" Target="/ppt/slides/slide5.xml" Id="Rf237cdaab8f64f13" /><Relationship Type="http://schemas.openxmlformats.org/officeDocument/2006/relationships/notesMaster" Target="/ppt/notesMasters/notesMaster1.xml" Id="R1c8bfdc7108e42f2" /></Relationships>
</file>

<file path=ppt/notesSlides/_rels/notesSlide6.xml.rels>&#65279;<?xml version="1.0" encoding="utf-8"?><Relationships xmlns="http://schemas.openxmlformats.org/package/2006/relationships"><Relationship Type="http://schemas.openxmlformats.org/officeDocument/2006/relationships/slide" Target="/ppt/slides/slide6.xml" Id="Ra301417d687f4748" /><Relationship Type="http://schemas.openxmlformats.org/officeDocument/2006/relationships/notesMaster" Target="/ppt/notesMasters/notesMaster1.xml" Id="Rd745e48619ae48e8" /></Relationships>
</file>

<file path=ppt/notesSlides/_rels/notesSlide7.xml.rels>&#65279;<?xml version="1.0" encoding="utf-8"?><Relationships xmlns="http://schemas.openxmlformats.org/package/2006/relationships"><Relationship Type="http://schemas.openxmlformats.org/officeDocument/2006/relationships/slide" Target="/ppt/slides/slide7.xml" Id="R0a4b875744f84ec8" /><Relationship Type="http://schemas.openxmlformats.org/officeDocument/2006/relationships/notesMaster" Target="/ppt/notesMasters/notesMaster1.xml" Id="R7a505740cdda4fe6" /></Relationships>
</file>

<file path=ppt/notesSlides/_rels/notesSlide8.xml.rels>&#65279;<?xml version="1.0" encoding="utf-8"?><Relationships xmlns="http://schemas.openxmlformats.org/package/2006/relationships"><Relationship Type="http://schemas.openxmlformats.org/officeDocument/2006/relationships/slide" Target="/ppt/slides/slide8.xml" Id="R10426c757cbc4681" /><Relationship Type="http://schemas.openxmlformats.org/officeDocument/2006/relationships/notesMaster" Target="/ppt/notesMasters/notesMaster1.xml" Id="R7722f894e1b64d48" /></Relationships>
</file>

<file path=ppt/notesSlides/_rels/notesSlide9.xml.rels>&#65279;<?xml version="1.0" encoding="utf-8"?><Relationships xmlns="http://schemas.openxmlformats.org/package/2006/relationships"><Relationship Type="http://schemas.openxmlformats.org/officeDocument/2006/relationships/slide" Target="/ppt/slides/slide9.xml" Id="R3ddab11b5867419f" /><Relationship Type="http://schemas.openxmlformats.org/officeDocument/2006/relationships/notesMaster" Target="/ppt/notesMasters/notesMaster1.xml" Id="R62209ccbf37f4573"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4056624f2c254dce" /><Relationship Type="http://schemas.openxmlformats.org/officeDocument/2006/relationships/notesMaster" Target="/ppt/notesMasters/notesMaster1.xml" Id="Rfd7d01b93e994e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 Orecast</a:t>
            </a:r>
          </a:p>
          <a:p xmlns:a="http://schemas.openxmlformats.org/drawingml/2006/main">
            <a:r>
              <a:t/>
            </a:r>
          </a:p>
          <a:p xmlns:a="http://schemas.openxmlformats.org/drawingml/2006/main">
            <a:r>
              <a:t>Timing: 20 seconds.</a:t>
            </a:r>
          </a:p>
          <a:p xmlns:a="http://schemas.openxmlformats.org/drawingml/2006/main">
            <a:r>
              <a:t/>
            </a:r>
          </a:p>
          <a:p xmlns:a="http://schemas.openxmlformats.org/drawingml/2006/main">
            <a:r>
              <a:t>Orecast investigates how evidence, an assumed gold forecast and the time available to find a buyer affect one mineral decision. This local review uses one explicit synthetic contract and makes the effect of its fee assumptions visible.</a:t>
            </a:r>
          </a:p>
          <a:p xmlns:a="http://schemas.openxmlformats.org/drawingml/2006/main">
            <a:r>
              <a:t/>
            </a:r>
          </a:p>
          <a:p xmlns:a="http://schemas.openxmlformats.org/drawingml/2006/main">
            <a:r>
              <a:t>Local unpublished source revision: 69a0b5b4d2ca8db16cc46f15ff0b07f954e72ed2. Model: tok-option-demo-v2.</a:t>
            </a:r>
          </a:p>
          <a:p xmlns:a="http://schemas.openxmlformats.org/drawingml/2006/main">
            <a:r>
              <a:t/>
            </a:r>
          </a:p>
          <a:p xmlns:a="http://schemas.openxmlformats.org/drawingml/2006/main">
            <a:r>
              <a:t>Sources:</a:t>
            </a:r>
          </a:p>
          <a:p xmlns:a="http://schemas.openxmlformats.org/drawingml/2006/main">
            <a:r>
              <a:t/>
            </a:r>
          </a:p>
          <a:p xmlns:a="http://schemas.openxmlformats.org/drawingml/2006/main">
            <a:r>
              <a:t>Local unpublished source: model/tok-option/workbench.mjs (runWorkbench and compareFeePolicies).</a:t>
            </a:r>
          </a:p>
          <a:p xmlns:a="http://schemas.openxmlformats.org/drawingml/2006/main">
            <a:r>
              <a:t/>
            </a:r>
          </a:p>
          <a:p xmlns:a="http://schemas.openxmlformats.org/drawingml/2006/main">
            <a:r>
              <a:t>Local unpublished source: model/tok-option/lot-basis.mjs (SYNTHETIC_LOT_PROFILE).</a:t>
            </a:r>
          </a:p>
          <a:p xmlns:a="http://schemas.openxmlformats.org/drawingml/2006/main">
            <a:r>
              <a:t/>
            </a:r>
          </a:p>
          <a:p xmlns:a="http://schemas.openxmlformats.org/drawingml/2006/main">
            <a:r>
              <a:t>Local source: model/tok-option/gold.mjs, valuation.mjs, liquidity.mjs and diagnostics.mjs.</a:t>
            </a:r>
          </a:p>
          <a:p xmlns:a="http://schemas.openxmlformats.org/drawingml/2006/main">
            <a:r>
              <a:t/>
            </a:r>
          </a:p>
          <a:p xmlns:a="http://schemas.openxmlformats.org/drawingml/2006/main">
            <a:r>
              <a:t>Imagery: Esri, Maxar, Earthstar Geographics. Terrain: Mapzen Terrarium (AWS Open Data).</a:t>
            </a:r>
          </a:p>
          <a:p xmlns:a="http://schemas.openxmlformats.org/drawingml/2006/main">
            <a:r>
              <a:t/>
            </a:r>
          </a:p>
          <a:p xmlns:a="http://schemas.openxmlformats.org/drawingml/2006/main">
            <a:r>
              <a:t>https://server.arcgisonline.com/ArcGIS/rest/services/World_Imagery/MapServer</a:t>
            </a:r>
          </a:p>
          <a:p xmlns:a="http://schemas.openxmlformats.org/drawingml/2006/main">
            <a:r>
              <a:t/>
            </a:r>
          </a:p>
          <a:p xmlns:a="http://schemas.openxmlformats.org/drawingml/2006/main">
            <a:r>
              <a:t>https://registry.opendata.aws/terrain-tiles/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2. One hypothetical contract over time</a:t>
            </a:r>
          </a:p>
          <a:p xmlns:a="http://schemas.openxmlformats.org/drawingml/2006/main">
            <a:r>
              <a:t/>
            </a:r>
          </a:p>
          <a:p xmlns:a="http://schemas.openxmlformats.org/drawingml/2006/main">
            <a:r>
              <a:t>Timing: 30 seconds.</a:t>
            </a:r>
          </a:p>
          <a:p xmlns:a="http://schemas.openxmlformats.org/drawingml/2006/main">
            <a:r>
              <a:t/>
            </a:r>
          </a:p>
          <a:p xmlns:a="http://schemas.openxmlformats.org/drawingml/2006/main">
            <a:r>
              <a:t>We hold one synthetic contract fixed across every comparison. Its invented reference exposure is scaled by 30,000 divided by 650, giving 23,076.92 assumed ounces and 184,615.38 dollars buyer consideration. Historical signing payments only motivate the entry scale; they do not value this interest. We assume 50-dollar entry and exit fees. Proportional fees instead give 1.09% return and fail the risk cap.</a:t>
            </a:r>
          </a:p>
          <a:p xmlns:a="http://schemas.openxmlformats.org/drawingml/2006/main">
            <a:r>
              <a:t/>
            </a:r>
          </a:p>
          <a:p xmlns:a="http://schemas.openxmlformats.org/drawingml/2006/main">
            <a:r>
              <a:t>Preparation / Q&amp;A: Three clocks stay distinct: observed collection/publication in 2016; five simulated days with news on day 3; and 30/90/180-day holding horizons. The simulated fund remains $1,502,500, with a $30,050 per-option cap, $150,250 open/lifetime commitment caps and at most five positions. The scale factor does not mean multiple contracts.</a:t>
            </a:r>
          </a:p>
          <a:p xmlns:a="http://schemas.openxmlformats.org/drawingml/2006/main">
            <a:r>
              <a:t/>
            </a:r>
          </a:p>
          <a:p xmlns:a="http://schemas.openxmlformats.org/drawingml/2006/main">
            <a:r>
              <a:t>Local unpublished source revision: 69a0b5b4d2ca8db16cc46f15ff0b07f954e72ed2. Model: tok-option-demo-v2.</a:t>
            </a:r>
          </a:p>
          <a:p xmlns:a="http://schemas.openxmlformats.org/drawingml/2006/main">
            <a:r>
              <a:t/>
            </a:r>
          </a:p>
          <a:p xmlns:a="http://schemas.openxmlformats.org/drawingml/2006/main">
            <a:r>
              <a:t>Sources:</a:t>
            </a:r>
          </a:p>
          <a:p xmlns:a="http://schemas.openxmlformats.org/drawingml/2006/main">
            <a:r>
              <a:t/>
            </a:r>
          </a:p>
          <a:p xmlns:a="http://schemas.openxmlformats.org/drawingml/2006/main">
            <a:r>
              <a:t>Local unpublished source: model/tok-option/workbench.mjs (runWorkbench and compareFeePolicies).</a:t>
            </a:r>
          </a:p>
          <a:p xmlns:a="http://schemas.openxmlformats.org/drawingml/2006/main">
            <a:r>
              <a:t/>
            </a:r>
          </a:p>
          <a:p xmlns:a="http://schemas.openxmlformats.org/drawingml/2006/main">
            <a:r>
              <a:t>Local unpublished source: model/tok-option/lot-basis.mjs (SYNTHETIC_LOT_PROFILE).</a:t>
            </a:r>
          </a:p>
          <a:p xmlns:a="http://schemas.openxmlformats.org/drawingml/2006/main">
            <a:r>
              <a:t/>
            </a:r>
          </a:p>
          <a:p xmlns:a="http://schemas.openxmlformats.org/drawingml/2006/main">
            <a:r>
              <a:t>Local source: model/tok-option/gold.mjs, valuation.mjs, liquidity.mjs and diagnostics.mjs.</a:t>
            </a:r>
          </a:p>
          <a:p xmlns:a="http://schemas.openxmlformats.org/drawingml/2006/main">
            <a:r>
              <a:t/>
            </a:r>
          </a:p>
          <a:p xmlns:a="http://schemas.openxmlformats.org/drawingml/2006/main">
            <a:r>
              <a:t>https://www.tectonicmetals.com/_resources/financials/MDA-Q2-2019-FINAL.pdf?v=070606</a:t>
            </a:r>
          </a:p>
          <a:p xmlns:a="http://schemas.openxmlformats.org/drawingml/2006/main">
            <a:r>
              <a:t/>
            </a:r>
          </a:p>
          <a:p xmlns:a="http://schemas.openxmlformats.org/drawingml/2006/main">
            <a:r>
              <a:t>https://www.tectonicmetals.com/_resources/financials/FS-Tectonic-2018YE-AUDITED.pdf?v=090403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3. Observed evidence</a:t>
            </a:r>
          </a:p>
          <a:p xmlns:a="http://schemas.openxmlformats.org/drawingml/2006/main">
            <a:r>
              <a:t/>
            </a:r>
          </a:p>
          <a:p xmlns:a="http://schemas.openxmlformats.org/drawingml/2006/main">
            <a:r>
              <a:t>Timing: 30 seconds.</a:t>
            </a:r>
          </a:p>
          <a:p xmlns:a="http://schemas.openxmlformats.org/drawingml/2006/main">
            <a:r>
              <a:t/>
            </a:r>
          </a:p>
          <a:p xmlns:a="http://schemas.openxmlformats.org/drawingml/2006/main">
            <a:r>
              <a:t>We begin with 67 measured sediment samples from Tok River, Alaska: 33 in Area A and 34 in B. Source provenance stays attached to each observation. Under the proposed gold-assay screen, A passes and B fails. The samples provide observed evidence, not recoverable ounces or geological success probabilities. Those remain separate assumptions. Map claims and illustrative squares provide context; they do not establish available mineral rights or an investment.</a:t>
            </a:r>
          </a:p>
          <a:p xmlns:a="http://schemas.openxmlformats.org/drawingml/2006/main">
            <a:r>
              <a:t/>
            </a:r>
          </a:p>
          <a:p xmlns:a="http://schemas.openxmlformats.org/drawingml/2006/main">
            <a:r>
              <a:t>Local unpublished source revision: 69a0b5b4d2ca8db16cc46f15ff0b07f954e72ed2. Model: tok-option-demo-v2.</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https://doi.org/10.14509/29688</a:t>
            </a:r>
          </a:p>
          <a:p xmlns:a="http://schemas.openxmlformats.org/drawingml/2006/main">
            <a:r>
              <a:t/>
            </a:r>
          </a:p>
          <a:p xmlns:a="http://schemas.openxmlformats.org/drawingml/2006/main">
            <a:r>
              <a:t>Local unpublished source: model/tok-option/workbench.mjs (runWorkbench and compareFeePolicies).</a:t>
            </a:r>
          </a:p>
          <a:p xmlns:a="http://schemas.openxmlformats.org/drawingml/2006/main">
            <a:r>
              <a:t/>
            </a:r>
          </a:p>
          <a:p xmlns:a="http://schemas.openxmlformats.org/drawingml/2006/main">
            <a:r>
              <a:t>Local unpublished source: model/tok-option/lot-basis.mjs (SYNTHETIC_LOT_PROFILE).</a:t>
            </a:r>
          </a:p>
          <a:p xmlns:a="http://schemas.openxmlformats.org/drawingml/2006/main">
            <a:r>
              <a:t/>
            </a:r>
          </a:p>
          <a:p xmlns:a="http://schemas.openxmlformats.org/drawingml/2006/main">
            <a:r>
              <a:t>Local source: model/tok-option/gold.mjs, valuation.mjs, liquidity.mjs and diagnostics.mjs.</a:t>
            </a:r>
          </a:p>
          <a:p xmlns:a="http://schemas.openxmlformats.org/drawingml/2006/main">
            <a:r>
              <a:t/>
            </a:r>
          </a:p>
          <a:p xmlns:a="http://schemas.openxmlformats.org/drawingml/2006/main">
            <a:r>
              <a:t>Imagery: Esri, Maxar, Earthstar Geographics. Terrain: Mapzen Terrarium (AWS Open Data).</a:t>
            </a:r>
          </a:p>
          <a:p xmlns:a="http://schemas.openxmlformats.org/drawingml/2006/main">
            <a:r>
              <a:t/>
            </a:r>
          </a:p>
          <a:p xmlns:a="http://schemas.openxmlformats.org/drawingml/2006/main">
            <a:r>
              <a:t>https://server.arcgisonline.com/ArcGIS/rest/services/World_Imagery/MapServer</a:t>
            </a:r>
          </a:p>
          <a:p xmlns:a="http://schemas.openxmlformats.org/drawingml/2006/main">
            <a:r>
              <a:t/>
            </a:r>
          </a:p>
          <a:p xmlns:a="http://schemas.openxmlformats.org/drawingml/2006/main">
            <a:r>
              <a:t>https://registry.opendata.aws/terrain-tiles/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4. Gold forecast and assignment</a:t>
            </a:r>
          </a:p>
          <a:p xmlns:a="http://schemas.openxmlformats.org/drawingml/2006/main">
            <a:r>
              <a:t/>
            </a:r>
          </a:p>
          <a:p xmlns:a="http://schemas.openxmlformats.org/drawingml/2006/main">
            <a:r>
              <a:t>Timing: 60 seconds.</a:t>
            </a:r>
          </a:p>
          <a:p xmlns:a="http://schemas.openxmlformats.org/drawingml/2006/main">
            <a:r>
              <a:t/>
            </a:r>
          </a:p>
          <a:p xmlns:a="http://schemas.openxmlformats.org/drawingml/2006/main">
            <a:r>
              <a:t>Read the layers from top to bottom. Primary assays screen eligibility. Recorded simulated support is compared against the matching sports-placebo reference. The model adjusts an assumed gold forecast, then recomputes material value, interest value, assignment proceeds and cash at each possible sale date. The same synthetic quantity and buyer consideration remain fixed across scenarios, horizons and premium edits. They are not inferred from assays or from the historical payments. The 7% gold response is uncalibrated and is not a loss cap. Geological success, ownership, conversion, contract permission, costs and sale hazard are assumptions. Candidate is conditional on those assumptions and screens. There is no execution, borrowing, exercise or reinvestment.</a:t>
            </a:r>
          </a:p>
          <a:p xmlns:a="http://schemas.openxmlformats.org/drawingml/2006/main">
            <a:r>
              <a:t/>
            </a:r>
          </a:p>
          <a:p xmlns:a="http://schemas.openxmlformats.org/drawingml/2006/main">
            <a:r>
              <a:t>Local unpublished source revision: 69a0b5b4d2ca8db16cc46f15ff0b07f954e72ed2. Model: tok-option-demo-v2.</a:t>
            </a:r>
          </a:p>
          <a:p xmlns:a="http://schemas.openxmlformats.org/drawingml/2006/main">
            <a:r>
              <a:t/>
            </a:r>
          </a:p>
          <a:p xmlns:a="http://schemas.openxmlformats.org/drawingml/2006/main">
            <a:r>
              <a:t>Sources:</a:t>
            </a:r>
          </a:p>
          <a:p xmlns:a="http://schemas.openxmlformats.org/drawingml/2006/main">
            <a:r>
              <a:t/>
            </a:r>
          </a:p>
          <a:p xmlns:a="http://schemas.openxmlformats.org/drawingml/2006/main">
            <a:r>
              <a:t>Local unpublished source: model/tok-option/workbench.mjs (runWorkbench and compareFeePolicies).</a:t>
            </a:r>
          </a:p>
          <a:p xmlns:a="http://schemas.openxmlformats.org/drawingml/2006/main">
            <a:r>
              <a:t/>
            </a:r>
          </a:p>
          <a:p xmlns:a="http://schemas.openxmlformats.org/drawingml/2006/main">
            <a:r>
              <a:t>Local unpublished source: model/tok-option/lot-basis.mjs (SYNTHETIC_LOT_PROFILE).</a:t>
            </a:r>
          </a:p>
          <a:p xmlns:a="http://schemas.openxmlformats.org/drawingml/2006/main">
            <a:r>
              <a:t/>
            </a:r>
          </a:p>
          <a:p xmlns:a="http://schemas.openxmlformats.org/drawingml/2006/main">
            <a:r>
              <a:t>Local source: model/tok-option/gold.mjs, valuation.mjs, liquidity.mjs and diagnostics.mjs.</a:t>
            </a:r>
          </a:p>
          <a:p xmlns:a="http://schemas.openxmlformats.org/drawingml/2006/main">
            <a:r>
              <a:t/>
            </a:r>
          </a:p>
          <a:p xmlns:a="http://schemas.openxmlformats.org/drawingml/2006/main">
            <a:r>
              <a:t>Imagery: Esri, Maxar, Earthstar Geographics. Terrain: Mapzen Terrarium (AWS Open Data).</a:t>
            </a:r>
          </a:p>
          <a:p xmlns:a="http://schemas.openxmlformats.org/drawingml/2006/main">
            <a:r>
              <a:t/>
            </a:r>
          </a:p>
          <a:p xmlns:a="http://schemas.openxmlformats.org/drawingml/2006/main">
            <a:r>
              <a:t>https://server.arcgisonline.com/ArcGIS/rest/services/World_Imagery/MapServer</a:t>
            </a:r>
          </a:p>
          <a:p xmlns:a="http://schemas.openxmlformats.org/drawingml/2006/main">
            <a:r>
              <a:t/>
            </a:r>
          </a:p>
          <a:p xmlns:a="http://schemas.openxmlformats.org/drawingml/2006/main">
            <a:r>
              <a:t>https://registry.opendata.aws/terrain-tiles/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5. Recorded scenario contrast</a:t>
            </a:r>
          </a:p>
          <a:p xmlns:a="http://schemas.openxmlformats.org/drawingml/2006/main">
            <a:r>
              <a:t/>
            </a:r>
          </a:p>
          <a:p xmlns:a="http://schemas.openxmlformats.org/drawingml/2006/main">
            <a:r>
              <a:t>Timing: 55 seconds.</a:t>
            </a:r>
          </a:p>
          <a:p xmlns:a="http://schemas.openxmlformats.org/drawingml/2006/main">
            <a:r>
              <a:t/>
            </a:r>
          </a:p>
          <a:p xmlns:a="http://schemas.openxmlformats.org/drawingml/2006/main">
            <a:r>
              <a:t>The same synthetic contract is used in both recorded comparisons. Mine approval has support minus 0.0252 and assumed gold of 1996.47 dollars an ounce; court blockage has plus 0.0307 and 2004.30 dollars. At 90 days, expected cash is 3610.97 dollars for approval and 3831.36 for blockage, or 12.02% and 12.75% on 30,050 dollars upfront. The quantities, buyer consideration and fixed 50-dollar fees do not change. These are conditional hypothetical candidates, not trades or observed margins. Research checks remain failed; the matching sports placebo is not an untreated control. The recorded signs and the uncalibrated financial mapping remain visible.</a:t>
            </a:r>
          </a:p>
          <a:p xmlns:a="http://schemas.openxmlformats.org/drawingml/2006/main">
            <a:r>
              <a:t/>
            </a:r>
          </a:p>
          <a:p xmlns:a="http://schemas.openxmlformats.org/drawingml/2006/main">
            <a:r>
              <a:t>Local unpublished source revision: 69a0b5b4d2ca8db16cc46f15ff0b07f954e72ed2. Model: tok-option-demo-v2.</a:t>
            </a:r>
          </a:p>
          <a:p xmlns:a="http://schemas.openxmlformats.org/drawingml/2006/main">
            <a:r>
              <a:t/>
            </a:r>
          </a:p>
          <a:p xmlns:a="http://schemas.openxmlformats.org/drawingml/2006/main">
            <a:r>
              <a:t>Sources:</a:t>
            </a:r>
          </a:p>
          <a:p xmlns:a="http://schemas.openxmlformats.org/drawingml/2006/main">
            <a:r>
              <a:t/>
            </a:r>
          </a:p>
          <a:p xmlns:a="http://schemas.openxmlformats.org/drawingml/2006/main">
            <a:r>
              <a:t>Local unpublished source: model/tok-option/workbench.mjs (runWorkbench and compareFeePolicies).</a:t>
            </a:r>
          </a:p>
          <a:p xmlns:a="http://schemas.openxmlformats.org/drawingml/2006/main">
            <a:r>
              <a:t/>
            </a:r>
          </a:p>
          <a:p xmlns:a="http://schemas.openxmlformats.org/drawingml/2006/main">
            <a:r>
              <a:t>Local unpublished source: model/tok-option/lot-basis.mjs (SYNTHETIC_LOT_PROFILE).</a:t>
            </a:r>
          </a:p>
          <a:p xmlns:a="http://schemas.openxmlformats.org/drawingml/2006/main">
            <a:r>
              <a:t/>
            </a:r>
          </a:p>
          <a:p xmlns:a="http://schemas.openxmlformats.org/drawingml/2006/main">
            <a:r>
              <a:t>Local source: model/tok-option/gold.mjs, valuation.mjs, liquidity.mjs and diagnostics.mjs.</a:t>
            </a:r>
          </a:p>
          <a:p xmlns:a="http://schemas.openxmlformats.org/drawingml/2006/main">
            <a:r>
              <a:t/>
            </a:r>
          </a:p>
          <a:p xmlns:a="http://schemas.openxmlformats.org/drawingml/2006/main">
            <a:r>
              <a:t>Imagery: Esri, Maxar, Earthstar Geographics. Terrain: Mapzen Terrarium (AWS Open Data).</a:t>
            </a:r>
          </a:p>
          <a:p xmlns:a="http://schemas.openxmlformats.org/drawingml/2006/main">
            <a:r>
              <a:t/>
            </a:r>
          </a:p>
          <a:p xmlns:a="http://schemas.openxmlformats.org/drawingml/2006/main">
            <a:r>
              <a:t>https://server.arcgisonline.com/ArcGIS/rest/services/World_Imagery/MapServer</a:t>
            </a:r>
          </a:p>
          <a:p xmlns:a="http://schemas.openxmlformats.org/drawingml/2006/main">
            <a:r>
              <a:t/>
            </a:r>
          </a:p>
          <a:p xmlns:a="http://schemas.openxmlformats.org/drawingml/2006/main">
            <a:r>
              <a:t>https://registry.opendata.aws/terrain-tiles/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6. Time, return and fees</a:t>
            </a:r>
          </a:p>
          <a:p xmlns:a="http://schemas.openxmlformats.org/drawingml/2006/main">
            <a:r>
              <a:t/>
            </a:r>
          </a:p>
          <a:p xmlns:a="http://schemas.openxmlformats.org/drawingml/2006/main">
            <a:r>
              <a:t>Timing: 60 seconds.</a:t>
            </a:r>
          </a:p>
          <a:p xmlns:a="http://schemas.openxmlformats.org/drawingml/2006/main">
            <a:r>
              <a:t/>
            </a:r>
          </a:p>
          <a:p xmlns:a="http://schemas.openxmlformats.org/drawingml/2006/main">
            <a:r>
              <a:t>With one fixed synthetic exposure and 50-dollar entry and exit fees, the 90-day baseline has 3710.22 dollars expected cash and 12.35% expected option return. This is non-annualized and not a gold return. The 30-day case skips; the 180-day case has more assumed chances to sell. At 90 days, 51.2% of paths still have no sale and median cash is minus 30,050 dollars. The higher headline return depends on the fixed-fee assumption. If both reference fees scale with exposure, each is 2307.69 dollars: return falls to 1.09% and upfront capital exceeds the current risk cap. No exposure was chosen from a 25% target. Its 77,022.34-dollar required-resale hurdle is separate, not a forecast.</a:t>
            </a:r>
          </a:p>
          <a:p xmlns:a="http://schemas.openxmlformats.org/drawingml/2006/main">
            <a:r>
              <a:t/>
            </a:r>
          </a:p>
          <a:p xmlns:a="http://schemas.openxmlformats.org/drawingml/2006/main">
            <a:r>
              <a:t>Local unpublished source revision: 69a0b5b4d2ca8db16cc46f15ff0b07f954e72ed2. Model: tok-option-demo-v2.</a:t>
            </a:r>
          </a:p>
          <a:p xmlns:a="http://schemas.openxmlformats.org/drawingml/2006/main">
            <a:r>
              <a:t/>
            </a:r>
          </a:p>
          <a:p xmlns:a="http://schemas.openxmlformats.org/drawingml/2006/main">
            <a:r>
              <a:t>Sources:</a:t>
            </a:r>
          </a:p>
          <a:p xmlns:a="http://schemas.openxmlformats.org/drawingml/2006/main">
            <a:r>
              <a:t/>
            </a:r>
          </a:p>
          <a:p xmlns:a="http://schemas.openxmlformats.org/drawingml/2006/main">
            <a:r>
              <a:t>Local unpublished source: model/tok-option/workbench.mjs (runWorkbench and compareFeePolicies).</a:t>
            </a:r>
          </a:p>
          <a:p xmlns:a="http://schemas.openxmlformats.org/drawingml/2006/main">
            <a:r>
              <a:t/>
            </a:r>
          </a:p>
          <a:p xmlns:a="http://schemas.openxmlformats.org/drawingml/2006/main">
            <a:r>
              <a:t>Local unpublished source: model/tok-option/lot-basis.mjs (SYNTHETIC_LOT_PROFILE).</a:t>
            </a:r>
          </a:p>
          <a:p xmlns:a="http://schemas.openxmlformats.org/drawingml/2006/main">
            <a:r>
              <a:t/>
            </a:r>
          </a:p>
          <a:p xmlns:a="http://schemas.openxmlformats.org/drawingml/2006/main">
            <a:r>
              <a:t>Local source: model/tok-option/gold.mjs, valuation.mjs, liquidity.mjs and diagnostics.mjs.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7. Local demonstration</a:t>
            </a:r>
          </a:p>
          <a:p xmlns:a="http://schemas.openxmlformats.org/drawingml/2006/main">
            <a:r>
              <a:t/>
            </a:r>
          </a:p>
          <a:p xmlns:a="http://schemas.openxmlformats.org/drawingml/2006/main">
            <a:r>
              <a:t>Timing: 45 seconds.</a:t>
            </a:r>
          </a:p>
          <a:p xmlns:a="http://schemas.openxmlformats.org/drawingml/2006/main">
            <a:r>
              <a:t/>
            </a:r>
          </a:p>
          <a:p xmlns:a="http://schemas.openxmlformats.org/drawingml/2006/main">
            <a:r>
              <a:t>Compare approval with blockage for Area A at 90 days. Expected return changes from 12.02% to 12.75%, using the synthetic contract and fixed fees. These are conditional candidates, not trades. No sale remains possible. The fee sensitivity is essential: proportional fees reduce the baseline to 1.09% and fail the risk cap. Next, validate resources, full costs and real assignment liquidity.</a:t>
            </a:r>
          </a:p>
          <a:p xmlns:a="http://schemas.openxmlformats.org/drawingml/2006/main">
            <a:r>
              <a:t/>
            </a:r>
          </a:p>
          <a:p xmlns:a="http://schemas.openxmlformats.org/drawingml/2006/main">
            <a:r>
              <a:t>Preparation / Q&amp;A: Allow up to 20 seconds for the rehearsed local /swarm comparison. Use the new synthetic-exposure review capture, Area A, 90 days and simulated day 5. If the browser differs, explain the saved image. Do not use the previously published SKIP fixture or a different startup scenario as this controlled comparison.</a:t>
            </a:r>
          </a:p>
          <a:p xmlns:a="http://schemas.openxmlformats.org/drawingml/2006/main">
            <a:r>
              <a:t/>
            </a:r>
          </a:p>
          <a:p xmlns:a="http://schemas.openxmlformats.org/drawingml/2006/main">
            <a:r>
              <a:t>Local unpublished source revision: 69a0b5b4d2ca8db16cc46f15ff0b07f954e72ed2. Model: tok-option-demo-v2.</a:t>
            </a:r>
          </a:p>
          <a:p xmlns:a="http://schemas.openxmlformats.org/drawingml/2006/main">
            <a:r>
              <a:t/>
            </a:r>
          </a:p>
          <a:p xmlns:a="http://schemas.openxmlformats.org/drawingml/2006/main">
            <a:r>
              <a:t>Sources:</a:t>
            </a:r>
          </a:p>
          <a:p xmlns:a="http://schemas.openxmlformats.org/drawingml/2006/main">
            <a:r>
              <a:t/>
            </a:r>
          </a:p>
          <a:p xmlns:a="http://schemas.openxmlformats.org/drawingml/2006/main">
            <a:r>
              <a:t>Local unpublished source: model/tok-option/workbench.mjs (runWorkbench and compareFeePolicies).</a:t>
            </a:r>
          </a:p>
          <a:p xmlns:a="http://schemas.openxmlformats.org/drawingml/2006/main">
            <a:r>
              <a:t/>
            </a:r>
          </a:p>
          <a:p xmlns:a="http://schemas.openxmlformats.org/drawingml/2006/main">
            <a:r>
              <a:t>Local unpublished source: model/tok-option/lot-basis.mjs (SYNTHETIC_LOT_PROFILE).</a:t>
            </a:r>
          </a:p>
          <a:p xmlns:a="http://schemas.openxmlformats.org/drawingml/2006/main">
            <a:r>
              <a:t/>
            </a:r>
          </a:p>
          <a:p xmlns:a="http://schemas.openxmlformats.org/drawingml/2006/main">
            <a:r>
              <a:t>Local source: model/tok-option/gold.mjs, valuation.mjs, liquidity.mjs and diagnostics.mjs.</a:t>
            </a:r>
          </a:p>
          <a:p xmlns:a="http://schemas.openxmlformats.org/drawingml/2006/main">
            <a:r>
              <a:t/>
            </a:r>
          </a:p>
          <a:p xmlns:a="http://schemas.openxmlformats.org/drawingml/2006/main">
            <a:r>
              <a:t>Imagery: Esri, Maxar, Earthstar Geographics. Terrain: Mapzen Terrarium (AWS Open Data).</a:t>
            </a:r>
          </a:p>
          <a:p xmlns:a="http://schemas.openxmlformats.org/drawingml/2006/main">
            <a:r>
              <a:t/>
            </a:r>
          </a:p>
          <a:p xmlns:a="http://schemas.openxmlformats.org/drawingml/2006/main">
            <a:r>
              <a:t>https://server.arcgisonline.com/ArcGIS/rest/services/World_Imagery/MapServer</a:t>
            </a:r>
          </a:p>
          <a:p xmlns:a="http://schemas.openxmlformats.org/drawingml/2006/main">
            <a:r>
              <a:t/>
            </a:r>
          </a:p>
          <a:p xmlns:a="http://schemas.openxmlformats.org/drawingml/2006/main">
            <a:r>
              <a:t>https://registry.opendata.aws/terrain-tiles/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8. Cash reconciliation</a:t>
            </a:r>
          </a:p>
          <a:p xmlns:a="http://schemas.openxmlformats.org/drawingml/2006/main">
            <a:r>
              <a:t/>
            </a:r>
          </a:p>
          <a:p xmlns:a="http://schemas.openxmlformats.org/drawingml/2006/main">
            <a:r>
              <a:t>Appendix for questions.</a:t>
            </a:r>
          </a:p>
          <a:p xmlns:a="http://schemas.openxmlformats.org/drawingml/2006/main">
            <a:r>
              <a:t/>
            </a:r>
          </a:p>
          <a:p xmlns:a="http://schemas.openxmlformats.org/drawingml/2006/main">
            <a:r>
              <a:t>Baseline conditional assignment is 69,230.76923 dollars. Less the 50-dollar exit fee and 30,050-dollar upfront commitment, the sale branch has 39,130.76923 dollars cash. The no-sale branch has minus 30,050. Weighting by 48.8% and 51.2% gives 3710.21538 dollars mean cash and 12.3468066% expected return. The median is still minus 30,050. The 25% expected-return hurdle requires 77,022.34 dollars constant gross assignment proceeds at each possible sale date. That hurdle is not a forecast and did not determine the frozen exposure. The model quantity, consideration, success and conversion inputs are synthetic, not a real valuation inferred from two historical payments.</a:t>
            </a:r>
          </a:p>
          <a:p xmlns:a="http://schemas.openxmlformats.org/drawingml/2006/main">
            <a:r>
              <a:t/>
            </a:r>
          </a:p>
          <a:p xmlns:a="http://schemas.openxmlformats.org/drawingml/2006/main">
            <a:r>
              <a:t>Local unpublished source revision: 69a0b5b4d2ca8db16cc46f15ff0b07f954e72ed2. Model: tok-option-demo-v2.</a:t>
            </a:r>
          </a:p>
          <a:p xmlns:a="http://schemas.openxmlformats.org/drawingml/2006/main">
            <a:r>
              <a:t/>
            </a:r>
          </a:p>
          <a:p xmlns:a="http://schemas.openxmlformats.org/drawingml/2006/main">
            <a:r>
              <a:t>Sources:</a:t>
            </a:r>
          </a:p>
          <a:p xmlns:a="http://schemas.openxmlformats.org/drawingml/2006/main">
            <a:r>
              <a:t/>
            </a:r>
          </a:p>
          <a:p xmlns:a="http://schemas.openxmlformats.org/drawingml/2006/main">
            <a:r>
              <a:t>Local unpublished source: model/tok-option/workbench.mjs (runWorkbench and compareFeePolicies).</a:t>
            </a:r>
          </a:p>
          <a:p xmlns:a="http://schemas.openxmlformats.org/drawingml/2006/main">
            <a:r>
              <a:t/>
            </a:r>
          </a:p>
          <a:p xmlns:a="http://schemas.openxmlformats.org/drawingml/2006/main">
            <a:r>
              <a:t>Local unpublished source: model/tok-option/lot-basis.mjs (SYNTHETIC_LOT_PROFILE).</a:t>
            </a:r>
          </a:p>
          <a:p xmlns:a="http://schemas.openxmlformats.org/drawingml/2006/main">
            <a:r>
              <a:t/>
            </a:r>
          </a:p>
          <a:p xmlns:a="http://schemas.openxmlformats.org/drawingml/2006/main">
            <a:r>
              <a:t>Local source: model/tok-option/gold.mjs, valuation.mjs, liquidity.mjs and diagnostics.mjs.</a:t>
            </a:r>
          </a:p>
          <a:p xmlns:a="http://schemas.openxmlformats.org/drawingml/2006/main">
            <a:r>
              <a:t/>
            </a:r>
          </a:p>
          <a:p xmlns:a="http://schemas.openxmlformats.org/drawingml/2006/main">
            <a:r>
              <a:t>https://www.tectonicmetals.com/_resources/financials/MDA-Q2-2019-FINAL.pdf?v=070606</a:t>
            </a:r>
          </a:p>
          <a:p xmlns:a="http://schemas.openxmlformats.org/drawingml/2006/main">
            <a:r>
              <a:t/>
            </a:r>
          </a:p>
          <a:p xmlns:a="http://schemas.openxmlformats.org/drawingml/2006/main">
            <a:r>
              <a:t>https://www.tectonicmetals.com/_resources/financials/FS-Tectonic-2018YE-AUDITED.pdf?v=090403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9. Historical pilot</a:t>
            </a:r>
          </a:p>
          <a:p xmlns:a="http://schemas.openxmlformats.org/drawingml/2006/main">
            <a:r>
              <a:t/>
            </a:r>
          </a:p>
          <a:p xmlns:a="http://schemas.openxmlformats.org/drawingml/2006/main">
            <a:r>
              <a:t>Appendix for questions.</a:t>
            </a:r>
          </a:p>
          <a:p xmlns:a="http://schemas.openxmlformats.org/drawingml/2006/main">
            <a:r>
              <a:t/>
            </a:r>
          </a:p>
          <a:p xmlns:a="http://schemas.openxmlformats.org/drawingml/2006/main">
            <a:r>
              <a:t>This remains a small retrospective equity component test, not Tok option returns. Twelve selected events produce five held-out observations for each horizon, in different cohorts. Mean absolute errors in percentage points, lower is better: no change 2.5562/5.9474; gold-only 3.1291/7.5670; gold plus event 8.0596/14.3108 for five/twenty sessions. The event adjustment did not beat baseline. No historical swarm outcomes are paired with realized option returns. Repeated issuers, a selected incomplete sample, current-vintage prices and date uncertainty limit inference.</a:t>
            </a:r>
          </a:p>
          <a:p xmlns:a="http://schemas.openxmlformats.org/drawingml/2006/main">
            <a:r>
              <a:t/>
            </a:r>
          </a:p>
          <a:p xmlns:a="http://schemas.openxmlformats.org/drawingml/2006/main">
            <a:r>
              <a:t>Local unpublished source revision: 69a0b5b4d2ca8db16cc46f15ff0b07f954e72ed2. Model: tok-option-demo-v2.</a:t>
            </a:r>
          </a:p>
          <a:p xmlns:a="http://schemas.openxmlformats.org/drawingml/2006/main">
            <a:r>
              <a:t/>
            </a:r>
          </a:p>
          <a:p xmlns:a="http://schemas.openxmlformats.org/drawingml/2006/main">
            <a:r>
              <a:t>Sources:</a:t>
            </a:r>
          </a:p>
          <a:p xmlns:a="http://schemas.openxmlformats.org/drawingml/2006/main">
            <a:r>
              <a:t/>
            </a:r>
          </a:p>
          <a:p xmlns:a="http://schemas.openxmlformats.org/drawingml/2006/main">
            <a:r>
              <a:t>https://github.com/amitvijapur/oxhack-2026/blob/37991ad5de416e5abf8541264c5f4926a2ec91e8/research/event-study/RESULTS.md</a:t>
            </a:r>
          </a:p>
          <a:p xmlns:a="http://schemas.openxmlformats.org/drawingml/2006/main">
            <a:r>
              <a:t/>
            </a:r>
          </a:p>
          <a:p xmlns:a="http://schemas.openxmlformats.org/drawingml/2006/main">
            <a:r>
              <a:t>https://github.com/amitvijapur/oxhack-2026/blob/37991ad5de416e5abf8541264c5f4926a2ec91e8/research/event-study/protocol.md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Slide 10. Fee sensitivity on the same exposure</a:t>
            </a:r>
          </a:p>
          <a:p xmlns:a="http://schemas.openxmlformats.org/drawingml/2006/main">
            <a:r>
              <a:t/>
            </a:r>
          </a:p>
          <a:p xmlns:a="http://schemas.openxmlformats.org/drawingml/2006/main">
            <a:r>
              <a:t>Appendix for questions.</a:t>
            </a:r>
          </a:p>
          <a:p xmlns:a="http://schemas.openxmlformats.org/drawingml/2006/main">
            <a:r>
              <a:t/>
            </a:r>
          </a:p>
          <a:p xmlns:a="http://schemas.openxmlformats.org/drawingml/2006/main">
            <a:r>
              <a:t>Both cases use the same one-contract exposure, premium, gold forecast and sale hazard. Fixed fees are 50 dollars each, upfront capital is 30,050, expected cash is 3710.21538 and expected return is 12.3468066%. Proportional fees are the invented reference 50 times the frozen factor 30,000/650: each fee is 2307.6923 dollars. Upfront becomes 32,307.6923, expected cash is 350.76923 and return is 1.0857143%. This exceeds the 30,050 per-option risk cap and the model skips. The comparison identifies the fee assumption driving the return difference. Neither case is calibrated to real transaction costs, resources or realized market returns.</a:t>
            </a:r>
          </a:p>
          <a:p xmlns:a="http://schemas.openxmlformats.org/drawingml/2006/main">
            <a:r>
              <a:t/>
            </a:r>
          </a:p>
          <a:p xmlns:a="http://schemas.openxmlformats.org/drawingml/2006/main">
            <a:r>
              <a:t>Local unpublished source revision: 69a0b5b4d2ca8db16cc46f15ff0b07f954e72ed2. Model: tok-option-demo-v2.</a:t>
            </a:r>
          </a:p>
          <a:p xmlns:a="http://schemas.openxmlformats.org/drawingml/2006/main">
            <a:r>
              <a:t/>
            </a:r>
          </a:p>
          <a:p xmlns:a="http://schemas.openxmlformats.org/drawingml/2006/main">
            <a:r>
              <a:t>Sources:</a:t>
            </a:r>
          </a:p>
          <a:p xmlns:a="http://schemas.openxmlformats.org/drawingml/2006/main">
            <a:r>
              <a:t/>
            </a:r>
          </a:p>
          <a:p xmlns:a="http://schemas.openxmlformats.org/drawingml/2006/main">
            <a:r>
              <a:t>Local unpublished source: model/tok-option/workbench.mjs (runWorkbench and compareFeePolicies).</a:t>
            </a:r>
          </a:p>
          <a:p xmlns:a="http://schemas.openxmlformats.org/drawingml/2006/main">
            <a:r>
              <a:t/>
            </a:r>
          </a:p>
          <a:p xmlns:a="http://schemas.openxmlformats.org/drawingml/2006/main">
            <a:r>
              <a:t>Local unpublished source: model/tok-option/lot-basis.mjs (SYNTHETIC_LOT_PROFILE).</a:t>
            </a:r>
          </a:p>
          <a:p xmlns:a="http://schemas.openxmlformats.org/drawingml/2006/main">
            <a:r>
              <a:t/>
            </a:r>
          </a:p>
          <a:p xmlns:a="http://schemas.openxmlformats.org/drawingml/2006/main">
            <a:r>
              <a:t>Local source: model/tok-option/gold.mjs, valuation.mjs, liquidity.mjs and diagnostics.mjs.</a:t>
            </a:r>
          </a:p>
          <a:p xmlns:a="http://schemas.openxmlformats.org/drawingml/2006/main">
            <a:r>
              <a:t/>
            </a:r>
          </a:p>
          <a:p xmlns:a="http://schemas.openxmlformats.org/drawingml/2006/main">
            <a:r>
              <a:t>https://www.tectonicmetals.com/_resources/financials/MDA-Q2-2019-FINAL.pdf?v=070606</a:t>
            </a:r>
          </a:p>
          <a:p xmlns:a="http://schemas.openxmlformats.org/drawingml/2006/main">
            <a:r>
              <a:t/>
            </a:r>
          </a:p>
          <a:p xmlns:a="http://schemas.openxmlformats.org/drawingml/2006/main">
            <a:r>
              <a:t>https://www.tectonicmetals.com/_resources/financials/FS-Tectonic-2018YE-AUDITED.pdf?v=090403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9fcdc475a6124c4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e7b58958fde4eb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5447a03e9b69483d"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6f3d3a74e2cf4491"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4bd39f7e6b842b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0e29930de0d7432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D9C73B9-4151-4D3B-B8C7-2325D4468641}"/>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56F09EB-AFE4-4C30-933E-2B2492EA8DB0}"/>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95A8B417-C6DB-4069-980C-47890C0A5213}"/>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5230B76-0943-4602-8B27-7F790BF7807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6D0EE09-74F7-446E-8BEB-8AEA993B3A16}"/>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6BE57986-74D3-4023-B565-952BEB8B736F}"/>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E1D1400-CEE5-4152-896A-3EDE9EA5E6C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D2FA9CFE-422F-4A1A-AD48-7B7BB3D8BBF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90D7D47-1D6F-4AFB-9043-0ECC492F17C6}"/>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1F921A9-D7D2-4824-95FD-BE8465F6A090}"/>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768bc1ced484782" /><Relationship Type="http://schemas.openxmlformats.org/officeDocument/2006/relationships/slideLayout" Target="/ppt/slideLayouts/slideLayout1.xml" Id="Ra27a3530538a4d25" /><Relationship Type="http://schemas.openxmlformats.org/officeDocument/2006/relationships/slideLayout" Target="/ppt/slideLayouts/slideLayout2.xml" Id="R3bc0b243d43c486b" /><Relationship Type="http://schemas.openxmlformats.org/officeDocument/2006/relationships/slideLayout" Target="/ppt/slideLayouts/slideLayout3.xml" Id="R80fd3256ea2c4913" /><Relationship Type="http://schemas.openxmlformats.org/officeDocument/2006/relationships/slideLayout" Target="/ppt/slideLayouts/slideLayout4.xml" Id="R95d6e930cbf44174" /><Relationship Type="http://schemas.openxmlformats.org/officeDocument/2006/relationships/slideLayout" Target="/ppt/slideLayouts/slideLayout5.xml" Id="Ref21fc98dcfd4330" /><Relationship Type="http://schemas.openxmlformats.org/officeDocument/2006/relationships/slideLayout" Target="/ppt/slideLayouts/slideLayout6.xml" Id="R9de817e77c904cb3"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a27a3530538a4d25"/>
    <p:sldLayoutId xmlns:r="http://schemas.openxmlformats.org/officeDocument/2006/relationships" id="2147483650" r:id="R3bc0b243d43c486b"/>
    <p:sldLayoutId xmlns:r="http://schemas.openxmlformats.org/officeDocument/2006/relationships" id="2147483651" r:id="R80fd3256ea2c4913"/>
    <p:sldLayoutId xmlns:r="http://schemas.openxmlformats.org/officeDocument/2006/relationships" id="2147483652" r:id="R95d6e930cbf44174"/>
    <p:sldLayoutId xmlns:r="http://schemas.openxmlformats.org/officeDocument/2006/relationships" id="2147483653" r:id="Ref21fc98dcfd4330"/>
    <p:sldLayoutId xmlns:r="http://schemas.openxmlformats.org/officeDocument/2006/relationships" id="2147483654" r:id="R9de817e77c904cb3"/>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M Sans"/>
        <a:ea typeface=""/>
        <a:cs typeface=""/>
      </a:majorFont>
      <a:minorFont>
        <a:latin typeface="DM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c56a6810c5f43ea" /><Relationship Type="http://schemas.openxmlformats.org/officeDocument/2006/relationships/notesSlide" Target="/ppt/notesSlides/notesSlide1.xml" Id="R7c16753a0dbc4c14"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c34abfe5d76143f2" /><Relationship Type="http://schemas.openxmlformats.org/officeDocument/2006/relationships/notesSlide" Target="/ppt/notesSlides/notesSlide2.xml" Id="R67734a3ec7ba4751"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b3e46a252ee842e4" /><Relationship Type="http://schemas.openxmlformats.org/officeDocument/2006/relationships/image" Target="/ppt/media/image.png" Id="Re036ef73374f4187" /><Relationship Type="http://schemas.openxmlformats.org/officeDocument/2006/relationships/notesSlide" Target="/ppt/notesSlides/notesSlide3.xml" Id="R6018db2d22aa414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c526b1fcb65c4ead" /><Relationship Type="http://schemas.openxmlformats.org/officeDocument/2006/relationships/image" Target="/ppt/media/image2.png" Id="R298b74bc9fe946d7" /><Relationship Type="http://schemas.openxmlformats.org/officeDocument/2006/relationships/image" Target="/ppt/media/image.jpeg" Id="Ree6c29ce98584a4d" /><Relationship Type="http://schemas.openxmlformats.org/officeDocument/2006/relationships/notesSlide" Target="/ppt/notesSlides/notesSlide4.xml" Id="Rb0d3459cbfd2458b"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554b3dd607aa41a2" /><Relationship Type="http://schemas.openxmlformats.org/officeDocument/2006/relationships/image" Target="/ppt/media/image3.png" Id="R53a1d2a1e106450f" /><Relationship Type="http://schemas.openxmlformats.org/officeDocument/2006/relationships/image" Target="/ppt/media/image4.png" Id="Rb52c2b58f72246d9" /><Relationship Type="http://schemas.openxmlformats.org/officeDocument/2006/relationships/image" Target="/ppt/media/image2.jpeg" Id="Rfadf674478514da4" /><Relationship Type="http://schemas.openxmlformats.org/officeDocument/2006/relationships/notesSlide" Target="/ppt/notesSlides/notesSlide5.xml" Id="R2b22f5e51c1044b4"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0571c24873ec473b" /><Relationship Type="http://schemas.openxmlformats.org/officeDocument/2006/relationships/chart" Target="/ppt/slides/charts/chart1.xml" Id="R27ab15f45f944495" /><Relationship Type="http://schemas.openxmlformats.org/officeDocument/2006/relationships/notesSlide" Target="/ppt/notesSlides/notesSlide6.xml" Id="R00a21d1a91924675"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f8c379a702ab4fe0" /><Relationship Type="http://schemas.openxmlformats.org/officeDocument/2006/relationships/image" Target="/ppt/media/image5.png" Id="R68567b8da9e842b5" /><Relationship Type="http://schemas.openxmlformats.org/officeDocument/2006/relationships/notesSlide" Target="/ppt/notesSlides/notesSlide7.xml" Id="Rc6be9a4d018f471c"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ba7c785ae4ec4405" /><Relationship Type="http://schemas.openxmlformats.org/officeDocument/2006/relationships/notesSlide" Target="/ppt/notesSlides/notesSlide8.xml" Id="R3f7ae7901f2d4ddd"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607252c07d4a4d1b" /><Relationship Type="http://schemas.openxmlformats.org/officeDocument/2006/relationships/notesSlide" Target="/ppt/notesSlides/notesSlide9.xml" Id="R9576a40a07e44fb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3a6f825d930b409d" /><Relationship Type="http://schemas.openxmlformats.org/officeDocument/2006/relationships/notesSlide" Target="/ppt/notesSlides/notesSlide10.xml" Id="R4cbb39e00c2d4242"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title>
      <c:tx>
        <c:rich>
          <a:bodyPr xmlns:a="http://schemas.openxmlformats.org/drawingml/2006/main"/>
          <a:lstStyle xmlns:a="http://schemas.openxmlformats.org/drawingml/2006/main"/>
          <a:p xmlns:a="http://schemas.openxmlformats.org/drawingml/2006/main">
            <a:r>
              <a:rPr sz="2100">
                <a:solidFill>
                  <a:srgbClr val="FAFAFA"/>
                </a:solidFill>
                <a:latin typeface="DM Sans"/>
                <a:ea typeface="DM Sans"/>
                <a:cs typeface="DM Sans"/>
              </a:rPr>
              <a:t>Expected net cash</a:t>
            </a:r>
          </a:p>
        </c:rich>
      </c:tx>
      <c:overlay val="0"/>
      <c:txPr>
        <a:bodyPr xmlns:a="http://schemas.openxmlformats.org/drawingml/2006/main" anchorCtr="1"/>
        <a:lstStyle xmlns:a="http://schemas.openxmlformats.org/drawingml/2006/main"/>
        <a:p xmlns:a="http://schemas.openxmlformats.org/drawingml/2006/main">
          <a:pPr>
            <a:defRPr sz="2100">
              <a:solidFill>
                <a:srgbClr val="FAFAFA"/>
              </a:solidFill>
              <a:latin typeface="DM Sans"/>
              <a:ea typeface="DM Sans"/>
              <a:cs typeface="DM Sans"/>
            </a:defRPr>
          </a:pPr>
        </a:p>
      </c:txPr>
    </c:title>
    <c:plotArea>
      <c:barChart>
        <c:barDir val="col"/>
        <c:grouping val="clustered"/>
        <c:varyColors val="0"/>
        <c:ser>
          <c:idx val="0"/>
          <c:order val="0"/>
          <c:tx>
            <c:v>Hypothetical cash</c:v>
          </c:tx>
          <c:spPr>
            <a:solidFill xmlns:a="http://schemas.openxmlformats.org/drawingml/2006/main">
              <a:srgbClr val="0A0A0A"/>
            </a:solidFill>
            <a:ln xmlns:a="http://schemas.openxmlformats.org/drawingml/2006/main" w="11430">
              <a:solidFill>
                <a:srgbClr val="FAFAFA"/>
              </a:solidFill>
              <a:prstDash val="solid"/>
            </a:ln>
          </c:spPr>
          <c:invertIfNegative val="0"/>
          <c:dPt>
            <c:idx val="0"/>
            <c:invertIfNegative val="0"/>
            <c:spPr>
              <a:solidFill xmlns:a="http://schemas.openxmlformats.org/drawingml/2006/main">
                <a:srgbClr val="0A0A0A"/>
              </a:solidFill>
              <a:ln xmlns:a="http://schemas.openxmlformats.org/drawingml/2006/main" w="11430">
                <a:solidFill>
                  <a:srgbClr val="FAFAFA"/>
                </a:solidFill>
                <a:prstDash val="solid"/>
              </a:ln>
            </c:spPr>
          </c:dPt>
          <c:dPt>
            <c:idx val="1"/>
            <c:invertIfNegative val="0"/>
            <c:spPr>
              <a:solidFill xmlns:a="http://schemas.openxmlformats.org/drawingml/2006/main">
                <a:srgbClr val="22C55E"/>
              </a:solidFill>
              <a:ln xmlns:a="http://schemas.openxmlformats.org/drawingml/2006/main" w="11430">
                <a:solidFill>
                  <a:srgbClr val="22C55E"/>
                </a:solidFill>
                <a:prstDash val="solid"/>
              </a:ln>
            </c:spPr>
          </c:dPt>
          <c:dPt>
            <c:idx val="2"/>
            <c:invertIfNegative val="0"/>
            <c:spPr>
              <a:solidFill xmlns:a="http://schemas.openxmlformats.org/drawingml/2006/main">
                <a:srgbClr val="0A0A0A"/>
              </a:solidFill>
              <a:ln xmlns:a="http://schemas.openxmlformats.org/drawingml/2006/main" w="11430">
                <a:solidFill>
                  <a:srgbClr val="FAFAFA"/>
                </a:solidFill>
                <a:prstDash val="solid"/>
              </a:ln>
            </c:spPr>
          </c:dPt>
          <c:dLbls>
            <c:dLbl>
              <c:idx val="0"/>
              <c:tx>
                <c:rich>
                  <a:bodyPr xmlns:a="http://schemas.openxmlformats.org/drawingml/2006/main"/>
                  <a:lstStyle xmlns:a="http://schemas.openxmlformats.org/drawingml/2006/main"/>
                  <a:p xmlns:a="http://schemas.openxmlformats.org/drawingml/2006/main">
                    <a:r>
                      <a:rPr sz="1275" b="0">
                        <a:solidFill>
                          <a:srgbClr val="FAFAFA"/>
                        </a:solidFill>
                      </a:rPr>
                      <a:t>−$16,213.85</a:t>
                    </a:r>
                  </a:p>
                </c:rich>
              </c:tx>
              <c:txPr>
                <a:bodyPr xmlns:a="http://schemas.openxmlformats.org/drawingml/2006/main" anchorCtr="1"/>
                <a:lstStyle xmlns:a="http://schemas.openxmlformats.org/drawingml/2006/main"/>
                <a:p xmlns:a="http://schemas.openxmlformats.org/drawingml/2006/main">
                  <a:pPr>
                    <a:defRPr sz="1275" b="0">
                      <a:solidFill>
                        <a:srgbClr val="FAFAFA"/>
                      </a:solidFill>
                    </a:defRPr>
                  </a:pPr>
                </a:p>
              </c:txPr>
              <c:dLblPos val="inEnd"/>
              <c:showVal val="0"/>
            </c:dLbl>
            <c:dLbl>
              <c:idx val="1"/>
              <c:tx>
                <c:rich>
                  <a:bodyPr xmlns:a="http://schemas.openxmlformats.org/drawingml/2006/main"/>
                  <a:lstStyle xmlns:a="http://schemas.openxmlformats.org/drawingml/2006/main"/>
                  <a:p xmlns:a="http://schemas.openxmlformats.org/drawingml/2006/main">
                    <a:r>
                      <a:rPr sz="1275" b="0">
                        <a:solidFill>
                          <a:srgbClr val="FAFAFA"/>
                        </a:solidFill>
                      </a:rPr>
                      <a:t>$3,710.22</a:t>
                    </a:r>
                  </a:p>
                </c:rich>
              </c:tx>
              <c:txPr>
                <a:bodyPr xmlns:a="http://schemas.openxmlformats.org/drawingml/2006/main" anchorCtr="1"/>
                <a:lstStyle xmlns:a="http://schemas.openxmlformats.org/drawingml/2006/main"/>
                <a:p xmlns:a="http://schemas.openxmlformats.org/drawingml/2006/main">
                  <a:pPr>
                    <a:defRPr sz="1275" b="0">
                      <a:solidFill>
                        <a:srgbClr val="FAFAFA"/>
                      </a:solidFill>
                    </a:defRPr>
                  </a:pPr>
                </a:p>
              </c:txPr>
              <c:dLblPos val="outEnd"/>
              <c:showVal val="0"/>
            </c:dLbl>
            <c:dLbl>
              <c:idx val="2"/>
              <c:tx>
                <c:rich>
                  <a:bodyPr xmlns:a="http://schemas.openxmlformats.org/drawingml/2006/main"/>
                  <a:lstStyle xmlns:a="http://schemas.openxmlformats.org/drawingml/2006/main"/>
                  <a:p xmlns:a="http://schemas.openxmlformats.org/drawingml/2006/main">
                    <a:r>
                      <a:rPr sz="1275" b="0">
                        <a:solidFill>
                          <a:srgbClr val="FAFAFA"/>
                        </a:solidFill>
                      </a:rPr>
                      <a:t>$20,995.45</a:t>
                    </a:r>
                  </a:p>
                </c:rich>
              </c:tx>
              <c:txPr>
                <a:bodyPr xmlns:a="http://schemas.openxmlformats.org/drawingml/2006/main" anchorCtr="1"/>
                <a:lstStyle xmlns:a="http://schemas.openxmlformats.org/drawingml/2006/main"/>
                <a:p xmlns:a="http://schemas.openxmlformats.org/drawingml/2006/main">
                  <a:pPr>
                    <a:defRPr sz="1275" b="0">
                      <a:solidFill>
                        <a:srgbClr val="FAFAFA"/>
                      </a:solidFill>
                    </a:defRPr>
                  </a:pPr>
                </a:p>
              </c:txPr>
              <c:dLblPos val="outEnd"/>
              <c:showVal val="0"/>
            </c:dLbl>
          </c:dLbls>
          <c:cat>
            <c:strRef>
              <c:f>'Chart Data'!$A$2:$A$4</c:f>
              <c:strCache>
                <c:ptCount val="3"/>
                <c:pt idx="0">
                  <c:v>30 days</c:v>
                </c:pt>
                <c:pt idx="1">
                  <c:v>90 days</c:v>
                </c:pt>
                <c:pt idx="2">
                  <c:v>180 days</c:v>
                </c:pt>
              </c:strCache>
            </c:strRef>
          </c:cat>
          <c:val>
            <c:numRef>
              <c:f>'Chart Data'!$B$2:$B$4</c:f>
              <c:numCache>
                <c:formatCode>$#,##0;-$#,##0</c:formatCode>
                <c:ptCount val="3"/>
                <c:pt idx="0">
                  <c:v>-16213.85</c:v>
                </c:pt>
                <c:pt idx="1">
                  <c:v>3710.22</c:v>
                </c:pt>
                <c:pt idx="2">
                  <c:v>20995.45</c:v>
                </c:pt>
              </c:numCache>
            </c:numRef>
          </c:val>
        </c:ser>
        <c:dLbls>
          <c:txPr>
            <a:bodyPr xmlns:a="http://schemas.openxmlformats.org/drawingml/2006/main" anchorCtr="1"/>
            <a:lstStyle xmlns:a="http://schemas.openxmlformats.org/drawingml/2006/main"/>
            <a:p xmlns:a="http://schemas.openxmlformats.org/drawingml/2006/main">
              <a:pPr>
                <a:defRPr sz="1275" b="0">
                  <a:solidFill>
                    <a:srgbClr val="FAFAFA"/>
                  </a:solidFill>
                  <a:latin typeface="DM Sans"/>
                  <a:ea typeface="DM Sans"/>
                  <a:cs typeface="DM Sans"/>
                </a:defRPr>
              </a:pPr>
            </a:p>
          </c:txPr>
          <c:showLegendKey val="0"/>
          <c:showVal val="0"/>
          <c:showCatName val="0"/>
          <c:showSerName val="0"/>
          <c:showPercent val="0"/>
          <c:showBubbleSize val="0"/>
          <c:showLeaderLines val="0"/>
        </c:dLbls>
        <c:gapWidth val="100"/>
        <c:axId val="48650112"/>
        <c:axId val="48672768"/>
      </c:barChart>
      <c:catAx>
        <c:axId val="48650112"/>
        <c:scaling>
          <c:orientation val="minMax"/>
        </c:scaling>
        <c:delete val="0"/>
        <c:axPos val="b"/>
        <c:numFmt formatCode="General"/>
        <c:majorTickMark val="none"/>
        <c:minorTickMark val="none"/>
        <c:tickLblPos val="low"/>
        <c:spPr>
          <a:ln xmlns:a="http://schemas.openxmlformats.org/drawingml/2006/main" w="6191">
            <a:solidFill>
              <a:srgbClr val="FAFAFA"/>
            </a:solidFill>
            <a:prstDash val="solid"/>
          </a:ln>
        </c:spPr>
        <c:txPr>
          <a:bodyPr xmlns:a="http://schemas.openxmlformats.org/drawingml/2006/main" anchorCtr="1"/>
          <a:lstStyle xmlns:a="http://schemas.openxmlformats.org/drawingml/2006/main"/>
          <a:p xmlns:a="http://schemas.openxmlformats.org/drawingml/2006/main">
            <a:pPr>
              <a:defRPr sz="1200">
                <a:solidFill>
                  <a:srgbClr val="FAFAFA"/>
                </a:solidFill>
                <a:latin typeface="DM Sans"/>
                <a:ea typeface="DM Sans"/>
                <a:cs typeface="DM Sans"/>
              </a:defRPr>
            </a:pPr>
          </a:p>
        </c:txPr>
        <c:crossAx val="48672768"/>
      </c:catAx>
      <c:valAx>
        <c:axId val="48672768"/>
        <c:scaling>
          <c:orientation val="minMax"/>
          <c:max val="25000"/>
          <c:min val="-25000"/>
        </c:scaling>
        <c:delete val="0"/>
        <c:axPos val="l"/>
        <c:numFmt formatCode="$#,##0;-$#,##0"/>
        <c:majorTickMark val="none"/>
        <c:minorTickMark val="none"/>
        <c:spPr>
          <a:ln xmlns:a="http://schemas.openxmlformats.org/drawingml/2006/main" w="0">
            <a:noFill/>
            <a:prstDash val="solid"/>
          </a:ln>
        </c:spPr>
        <c:txPr>
          <a:bodyPr xmlns:a="http://schemas.openxmlformats.org/drawingml/2006/main" anchorCtr="1"/>
          <a:lstStyle xmlns:a="http://schemas.openxmlformats.org/drawingml/2006/main"/>
          <a:p xmlns:a="http://schemas.openxmlformats.org/drawingml/2006/main">
            <a:pPr>
              <a:defRPr sz="975">
                <a:solidFill>
                  <a:srgbClr val="FAFAFA"/>
                </a:solidFill>
                <a:latin typeface="DM Sans"/>
                <a:ea typeface="DM Sans"/>
                <a:cs typeface="DM Sans"/>
              </a:defRPr>
            </a:pPr>
          </a:p>
        </c:txPr>
        <c:crossAx val="48650112"/>
        <c:crossBetween val="between"/>
        <c:majorUnit val="12500"/>
      </c:valAx>
      <c:spPr>
        <a:solidFill xmlns:a="http://schemas.openxmlformats.org/drawingml/2006/main">
          <a:srgbClr val="0A0A0A"/>
        </a:solidFill>
        <a:ln xmlns:a="http://schemas.openxmlformats.org/drawingml/2006/main" w="0">
          <a:noFill/>
          <a:prstDash val="solid"/>
        </a:ln>
      </c:spPr>
    </c:plotArea>
    <c:plotVisOnly val="1"/>
  </c:chart>
  <c:spPr>
    <a:solidFill xmlns:a="http://schemas.openxmlformats.org/drawingml/2006/main">
      <a:srgbClr val="0A0A0A"/>
    </a:solidFill>
    <a:ln xmlns:a="http://schemas.openxmlformats.org/drawingml/2006/main" w="0">
      <a:noFill/>
      <a:prstDash val="solid"/>
    </a:l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0A0A0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A41AB126-5C2D-4724-A30F-5327E2750E38}"/>
              </a:ext>
            </a:extLst>
          </p:cNvPr>
          <p:cNvSpPr>
            <a:spLocks xmlns:a="http://schemas.openxmlformats.org/drawingml/2006/main" noGrp="1"/>
          </p:cNvSpPr>
          <p:nvPr/>
        </p:nvSpPr>
        <p:spPr>
          <a:xfrm xmlns:a="http://schemas.openxmlformats.org/drawingml/2006/main" rot="0">
            <a:off x="400050" y="323850"/>
            <a:ext cx="6953250"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0">
                <a:solidFill>
                  <a:srgbClr val="FAFAFA"/>
                </a:solidFill>
                <a:latin typeface="DM Sans"/>
                <a:ea typeface="DM Sans"/>
                <a:cs typeface="DM Sans"/>
              </a:defRPr>
            </a:defPPr>
            <a:lvl1pPr algn="l">
              <a:defRPr sz="3300" b="0">
                <a:solidFill>
                  <a:srgbClr val="FAFAFA"/>
                </a:solidFill>
                <a:latin typeface="DM Sans"/>
                <a:ea typeface="DM Sans"/>
                <a:cs typeface="DM Sans"/>
              </a:defRPr>
            </a:lvl1pPr>
            <a:lvl2pPr algn="l">
              <a:defRPr sz="3300" b="0">
                <a:solidFill>
                  <a:srgbClr val="FAFAFA"/>
                </a:solidFill>
                <a:latin typeface="DM Sans"/>
                <a:ea typeface="DM Sans"/>
                <a:cs typeface="DM Sans"/>
              </a:defRPr>
            </a:lvl2pPr>
            <a:lvl3pPr algn="l">
              <a:defRPr sz="3300" b="0">
                <a:solidFill>
                  <a:srgbClr val="FAFAFA"/>
                </a:solidFill>
                <a:latin typeface="DM Sans"/>
                <a:ea typeface="DM Sans"/>
                <a:cs typeface="DM Sans"/>
              </a:defRPr>
            </a:lvl3pPr>
            <a:lvl4pPr algn="l">
              <a:defRPr sz="3300" b="0">
                <a:solidFill>
                  <a:srgbClr val="FAFAFA"/>
                </a:solidFill>
                <a:latin typeface="DM Sans"/>
                <a:ea typeface="DM Sans"/>
                <a:cs typeface="DM Sans"/>
              </a:defRPr>
            </a:lvl4pPr>
            <a:lvl5pPr algn="l">
              <a:defRPr sz="3300" b="0">
                <a:solidFill>
                  <a:srgbClr val="FAFAFA"/>
                </a:solidFill>
                <a:latin typeface="DM Sans"/>
                <a:ea typeface="DM Sans"/>
                <a:cs typeface="DM Sans"/>
              </a:defRPr>
            </a:lvl5pPr>
            <a:lvl6pPr algn="l">
              <a:defRPr sz="3300" b="0">
                <a:solidFill>
                  <a:srgbClr val="FAFAFA"/>
                </a:solidFill>
                <a:latin typeface="DM Sans"/>
                <a:ea typeface="DM Sans"/>
                <a:cs typeface="DM Sans"/>
              </a:defRPr>
            </a:lvl6pPr>
            <a:lvl7pPr algn="l">
              <a:defRPr sz="3300" b="0">
                <a:solidFill>
                  <a:srgbClr val="FAFAFA"/>
                </a:solidFill>
                <a:latin typeface="DM Sans"/>
                <a:ea typeface="DM Sans"/>
                <a:cs typeface="DM Sans"/>
              </a:defRPr>
            </a:lvl7pPr>
            <a:lvl8pPr algn="l">
              <a:defRPr sz="3300" b="0">
                <a:solidFill>
                  <a:srgbClr val="FAFAFA"/>
                </a:solidFill>
                <a:latin typeface="DM Sans"/>
                <a:ea typeface="DM Sans"/>
                <a:cs typeface="DM Sans"/>
              </a:defRPr>
            </a:lvl8pPr>
            <a:lvl9pPr algn="l">
              <a:defRPr sz="3300" b="0">
                <a:solidFill>
                  <a:srgbClr val="FAFAFA"/>
                </a:solidFill>
                <a:latin typeface="DM Sans"/>
                <a:ea typeface="DM Sans"/>
                <a:cs typeface="DM Sans"/>
              </a:defRPr>
            </a:lvl9pPr>
          </a:lstStyle>
          <a:p xmlns:a="http://schemas.openxmlformats.org/drawingml/2006/main">
            <a:pPr algn="l">
              <a:defRPr sz="3300" b="0">
                <a:solidFill>
                  <a:srgbClr val="FAFAFA"/>
                </a:solidFill>
                <a:latin typeface="DM Sans"/>
                <a:ea typeface="DM Sans"/>
                <a:cs typeface="DM Sans"/>
              </a:defRPr>
            </a:pPr>
            <a:r>
              <a:rPr sz="3300" b="0">
                <a:solidFill>
                  <a:srgbClr val="FAFAFA"/>
                </a:solidFill>
                <a:latin typeface="DM Sans"/>
                <a:ea typeface="DM Sans"/>
                <a:cs typeface="DM Sans"/>
              </a:rPr>
              <a:t>Orecast</a:t>
            </a:r>
          </a:p>
        </p:txBody>
      </p:sp>
      <p:sp>
        <p:nvSpPr>
          <p:cNvPr id="2" name="">
            <a:extLst xmlns:a="http://schemas.openxmlformats.org/drawingml/2006/main">
              <a:ext uri="{FF2B5EF4-FFF2-40B4-BE49-F238E27FC236}">
                <a16:creationId xmlns:a16="http://schemas.microsoft.com/office/drawing/2014/main" id="{849FDEBE-C860-4EEE-950E-49E6BCB80D1C}"/>
              </a:ext>
            </a:extLst>
          </p:cNvPr>
          <p:cNvSpPr>
            <a:spLocks xmlns:a="http://schemas.openxmlformats.org/drawingml/2006/main" noGrp="1"/>
          </p:cNvSpPr>
          <p:nvPr/>
        </p:nvSpPr>
        <p:spPr>
          <a:xfrm xmlns:a="http://schemas.openxmlformats.org/drawingml/2006/main" rot="0">
            <a:off x="400050" y="990600"/>
            <a:ext cx="7620000" cy="3143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FAFAFA"/>
                </a:solidFill>
                <a:latin typeface="DM Sans"/>
                <a:ea typeface="DM Sans"/>
                <a:cs typeface="DM Sans"/>
              </a:defRPr>
            </a:defPPr>
            <a:lvl1pPr algn="l">
              <a:defRPr sz="1575" b="0">
                <a:solidFill>
                  <a:srgbClr val="FAFAFA"/>
                </a:solidFill>
                <a:latin typeface="DM Sans"/>
                <a:ea typeface="DM Sans"/>
                <a:cs typeface="DM Sans"/>
              </a:defRPr>
            </a:lvl1pPr>
            <a:lvl2pPr algn="l">
              <a:defRPr sz="1575" b="0">
                <a:solidFill>
                  <a:srgbClr val="FAFAFA"/>
                </a:solidFill>
                <a:latin typeface="DM Sans"/>
                <a:ea typeface="DM Sans"/>
                <a:cs typeface="DM Sans"/>
              </a:defRPr>
            </a:lvl2pPr>
            <a:lvl3pPr algn="l">
              <a:defRPr sz="1575" b="0">
                <a:solidFill>
                  <a:srgbClr val="FAFAFA"/>
                </a:solidFill>
                <a:latin typeface="DM Sans"/>
                <a:ea typeface="DM Sans"/>
                <a:cs typeface="DM Sans"/>
              </a:defRPr>
            </a:lvl3pPr>
            <a:lvl4pPr algn="l">
              <a:defRPr sz="1575" b="0">
                <a:solidFill>
                  <a:srgbClr val="FAFAFA"/>
                </a:solidFill>
                <a:latin typeface="DM Sans"/>
                <a:ea typeface="DM Sans"/>
                <a:cs typeface="DM Sans"/>
              </a:defRPr>
            </a:lvl4pPr>
            <a:lvl5pPr algn="l">
              <a:defRPr sz="1575" b="0">
                <a:solidFill>
                  <a:srgbClr val="FAFAFA"/>
                </a:solidFill>
                <a:latin typeface="DM Sans"/>
                <a:ea typeface="DM Sans"/>
                <a:cs typeface="DM Sans"/>
              </a:defRPr>
            </a:lvl5pPr>
            <a:lvl6pPr algn="l">
              <a:defRPr sz="1575" b="0">
                <a:solidFill>
                  <a:srgbClr val="FAFAFA"/>
                </a:solidFill>
                <a:latin typeface="DM Sans"/>
                <a:ea typeface="DM Sans"/>
                <a:cs typeface="DM Sans"/>
              </a:defRPr>
            </a:lvl6pPr>
            <a:lvl7pPr algn="l">
              <a:defRPr sz="1575" b="0">
                <a:solidFill>
                  <a:srgbClr val="FAFAFA"/>
                </a:solidFill>
                <a:latin typeface="DM Sans"/>
                <a:ea typeface="DM Sans"/>
                <a:cs typeface="DM Sans"/>
              </a:defRPr>
            </a:lvl7pPr>
            <a:lvl8pPr algn="l">
              <a:defRPr sz="1575" b="0">
                <a:solidFill>
                  <a:srgbClr val="FAFAFA"/>
                </a:solidFill>
                <a:latin typeface="DM Sans"/>
                <a:ea typeface="DM Sans"/>
                <a:cs typeface="DM Sans"/>
              </a:defRPr>
            </a:lvl8pPr>
            <a:lvl9pPr algn="l">
              <a:defRPr sz="1575" b="0">
                <a:solidFill>
                  <a:srgbClr val="FAFAFA"/>
                </a:solidFill>
                <a:latin typeface="DM Sans"/>
                <a:ea typeface="DM Sans"/>
                <a:cs typeface="DM Sans"/>
              </a:defRPr>
            </a:lvl9pPr>
          </a:lstStyle>
          <a:p xmlns:a="http://schemas.openxmlformats.org/drawingml/2006/main">
            <a:pPr algn="l">
              <a:defRPr sz="1575" b="0">
                <a:solidFill>
                  <a:srgbClr val="FAFAFA"/>
                </a:solidFill>
                <a:latin typeface="DM Sans"/>
                <a:ea typeface="DM Sans"/>
                <a:cs typeface="DM Sans"/>
              </a:defRPr>
            </a:pPr>
            <a:r>
              <a:rPr sz="1575" b="0">
                <a:solidFill>
                  <a:srgbClr val="FAFAFA"/>
                </a:solidFill>
                <a:latin typeface="DM Sans"/>
                <a:ea typeface="DM Sans"/>
                <a:cs typeface="DM Sans"/>
              </a:rPr>
              <a:t>Mineral intelligence over time</a:t>
            </a:r>
          </a:p>
        </p:txBody>
      </p:sp>
      <p:sp>
        <p:nvSpPr>
          <p:cNvPr id="3" name="">
            <a:extLst xmlns:a="http://schemas.openxmlformats.org/drawingml/2006/main">
              <a:ext uri="{FF2B5EF4-FFF2-40B4-BE49-F238E27FC236}">
                <a16:creationId xmlns:a16="http://schemas.microsoft.com/office/drawing/2014/main" id="{1C350514-C4BF-4D51-BD50-34FAB7995D6B}"/>
              </a:ext>
            </a:extLst>
          </p:cNvPr>
          <p:cNvSpPr>
            <a:spLocks xmlns:a="http://schemas.openxmlformats.org/drawingml/2006/main" noGrp="1"/>
          </p:cNvSpPr>
          <p:nvPr/>
        </p:nvSpPr>
        <p:spPr>
          <a:xfrm xmlns:a="http://schemas.openxmlformats.org/drawingml/2006/main">
            <a:off x="14973" y="3429000"/>
            <a:ext cx="2118627" cy="1371600"/>
          </a:xfrm>
          <a:custGeom xmlns:a="http://schemas.openxmlformats.org/drawingml/2006/main">
            <a:pathLst>
              <a:path w="2118627" h="1371600">
                <a:moveTo>
                  <a:pt x="2118627" y="0"/>
                </a:moveTo>
                <a:lnTo>
                  <a:pt x="2118418" y="23938"/>
                </a:lnTo>
                <a:lnTo>
                  <a:pt x="2117791" y="47868"/>
                </a:lnTo>
                <a:lnTo>
                  <a:pt x="2116747" y="71784"/>
                </a:lnTo>
                <a:lnTo>
                  <a:pt x="2115286" y="95678"/>
                </a:lnTo>
                <a:lnTo>
                  <a:pt x="2113408" y="119543"/>
                </a:lnTo>
                <a:lnTo>
                  <a:pt x="2111113" y="143371"/>
                </a:lnTo>
                <a:lnTo>
                  <a:pt x="2108403" y="167156"/>
                </a:lnTo>
                <a:lnTo>
                  <a:pt x="2105279" y="190890"/>
                </a:lnTo>
                <a:lnTo>
                  <a:pt x="2101740" y="214566"/>
                </a:lnTo>
                <a:lnTo>
                  <a:pt x="2097789" y="238176"/>
                </a:lnTo>
                <a:lnTo>
                  <a:pt x="2093427" y="261714"/>
                </a:lnTo>
                <a:lnTo>
                  <a:pt x="2088654" y="285172"/>
                </a:lnTo>
                <a:lnTo>
                  <a:pt x="2083473" y="308543"/>
                </a:lnTo>
                <a:lnTo>
                  <a:pt x="2077885" y="331820"/>
                </a:lnTo>
                <a:lnTo>
                  <a:pt x="2071891" y="354996"/>
                </a:lnTo>
                <a:lnTo>
                  <a:pt x="2065493" y="378064"/>
                </a:lnTo>
                <a:lnTo>
                  <a:pt x="2058695" y="401017"/>
                </a:lnTo>
                <a:lnTo>
                  <a:pt x="2051496" y="423848"/>
                </a:lnTo>
                <a:lnTo>
                  <a:pt x="2043900" y="446549"/>
                </a:lnTo>
                <a:lnTo>
                  <a:pt x="2035909" y="469115"/>
                </a:lnTo>
                <a:lnTo>
                  <a:pt x="2027526" y="491537"/>
                </a:lnTo>
                <a:lnTo>
                  <a:pt x="2018752" y="513810"/>
                </a:lnTo>
                <a:lnTo>
                  <a:pt x="2009591" y="535927"/>
                </a:lnTo>
                <a:lnTo>
                  <a:pt x="2000046" y="557880"/>
                </a:lnTo>
                <a:lnTo>
                  <a:pt x="1990119" y="579663"/>
                </a:lnTo>
                <a:lnTo>
                  <a:pt x="1979813" y="601270"/>
                </a:lnTo>
                <a:lnTo>
                  <a:pt x="1969131" y="622693"/>
                </a:lnTo>
                <a:lnTo>
                  <a:pt x="1958078" y="643927"/>
                </a:lnTo>
                <a:lnTo>
                  <a:pt x="1946655" y="664965"/>
                </a:lnTo>
                <a:lnTo>
                  <a:pt x="1934867" y="685800"/>
                </a:lnTo>
                <a:lnTo>
                  <a:pt x="1922718" y="706426"/>
                </a:lnTo>
                <a:lnTo>
                  <a:pt x="1910210" y="726837"/>
                </a:lnTo>
                <a:lnTo>
                  <a:pt x="1897347" y="747027"/>
                </a:lnTo>
                <a:lnTo>
                  <a:pt x="1884135" y="766989"/>
                </a:lnTo>
                <a:lnTo>
                  <a:pt x="1870576" y="786717"/>
                </a:lnTo>
                <a:lnTo>
                  <a:pt x="1856675" y="806206"/>
                </a:lnTo>
                <a:lnTo>
                  <a:pt x="1842435" y="825449"/>
                </a:lnTo>
                <a:lnTo>
                  <a:pt x="1827862" y="844441"/>
                </a:lnTo>
                <a:lnTo>
                  <a:pt x="1812960" y="863176"/>
                </a:lnTo>
                <a:lnTo>
                  <a:pt x="1797733" y="881647"/>
                </a:lnTo>
                <a:lnTo>
                  <a:pt x="1782187" y="899851"/>
                </a:lnTo>
                <a:lnTo>
                  <a:pt x="1766324" y="917780"/>
                </a:lnTo>
                <a:lnTo>
                  <a:pt x="1750152" y="935429"/>
                </a:lnTo>
                <a:lnTo>
                  <a:pt x="1733673" y="952793"/>
                </a:lnTo>
                <a:lnTo>
                  <a:pt x="1716895" y="969868"/>
                </a:lnTo>
                <a:lnTo>
                  <a:pt x="1699820" y="986646"/>
                </a:lnTo>
                <a:lnTo>
                  <a:pt x="1682456" y="1003125"/>
                </a:lnTo>
                <a:lnTo>
                  <a:pt x="1664806" y="1019297"/>
                </a:lnTo>
                <a:lnTo>
                  <a:pt x="1646877" y="1035160"/>
                </a:lnTo>
                <a:lnTo>
                  <a:pt x="1628674" y="1050707"/>
                </a:lnTo>
                <a:lnTo>
                  <a:pt x="1610203" y="1065933"/>
                </a:lnTo>
                <a:lnTo>
                  <a:pt x="1591468" y="1080836"/>
                </a:lnTo>
                <a:lnTo>
                  <a:pt x="1572476" y="1095408"/>
                </a:lnTo>
                <a:lnTo>
                  <a:pt x="1553233" y="1109648"/>
                </a:lnTo>
                <a:lnTo>
                  <a:pt x="1533744" y="1123549"/>
                </a:lnTo>
                <a:lnTo>
                  <a:pt x="1514016" y="1137108"/>
                </a:lnTo>
                <a:lnTo>
                  <a:pt x="1494054" y="1150321"/>
                </a:lnTo>
                <a:lnTo>
                  <a:pt x="1473864" y="1163183"/>
                </a:lnTo>
                <a:lnTo>
                  <a:pt x="1453453" y="1175691"/>
                </a:lnTo>
                <a:lnTo>
                  <a:pt x="1432827" y="1187840"/>
                </a:lnTo>
                <a:lnTo>
                  <a:pt x="1411992" y="1199628"/>
                </a:lnTo>
                <a:lnTo>
                  <a:pt x="1390954" y="1211051"/>
                </a:lnTo>
                <a:lnTo>
                  <a:pt x="1369720" y="1222105"/>
                </a:lnTo>
                <a:lnTo>
                  <a:pt x="1348297" y="1232786"/>
                </a:lnTo>
                <a:lnTo>
                  <a:pt x="1326690" y="1243092"/>
                </a:lnTo>
                <a:lnTo>
                  <a:pt x="1304907" y="1253019"/>
                </a:lnTo>
                <a:lnTo>
                  <a:pt x="1282954" y="1262564"/>
                </a:lnTo>
                <a:lnTo>
                  <a:pt x="1260837" y="1271725"/>
                </a:lnTo>
                <a:lnTo>
                  <a:pt x="1238564" y="1280499"/>
                </a:lnTo>
                <a:lnTo>
                  <a:pt x="1216142" y="1288882"/>
                </a:lnTo>
                <a:lnTo>
                  <a:pt x="1193576" y="1296873"/>
                </a:lnTo>
                <a:lnTo>
                  <a:pt x="1170875" y="1304469"/>
                </a:lnTo>
                <a:lnTo>
                  <a:pt x="1148044" y="1311668"/>
                </a:lnTo>
                <a:lnTo>
                  <a:pt x="1125091" y="1318467"/>
                </a:lnTo>
                <a:lnTo>
                  <a:pt x="1102023" y="1324864"/>
                </a:lnTo>
                <a:lnTo>
                  <a:pt x="1078847" y="1330858"/>
                </a:lnTo>
                <a:lnTo>
                  <a:pt x="1055570" y="1336446"/>
                </a:lnTo>
                <a:lnTo>
                  <a:pt x="1032199" y="1341627"/>
                </a:lnTo>
                <a:lnTo>
                  <a:pt x="1008741" y="1346400"/>
                </a:lnTo>
                <a:lnTo>
                  <a:pt x="985203" y="1350762"/>
                </a:lnTo>
                <a:lnTo>
                  <a:pt x="961592" y="1354713"/>
                </a:lnTo>
                <a:lnTo>
                  <a:pt x="937917" y="1358252"/>
                </a:lnTo>
                <a:lnTo>
                  <a:pt x="914183" y="1361376"/>
                </a:lnTo>
                <a:lnTo>
                  <a:pt x="890398" y="1364086"/>
                </a:lnTo>
                <a:lnTo>
                  <a:pt x="866570" y="1366381"/>
                </a:lnTo>
                <a:lnTo>
                  <a:pt x="842705" y="1368259"/>
                </a:lnTo>
                <a:lnTo>
                  <a:pt x="818811" y="1369720"/>
                </a:lnTo>
                <a:lnTo>
                  <a:pt x="794895" y="1370764"/>
                </a:lnTo>
                <a:lnTo>
                  <a:pt x="770965" y="1371391"/>
                </a:lnTo>
                <a:lnTo>
                  <a:pt x="747027" y="1371600"/>
                </a:lnTo>
                <a:lnTo>
                  <a:pt x="723089" y="1371391"/>
                </a:lnTo>
                <a:lnTo>
                  <a:pt x="699159" y="1370764"/>
                </a:lnTo>
                <a:lnTo>
                  <a:pt x="675243" y="1369720"/>
                </a:lnTo>
                <a:lnTo>
                  <a:pt x="651349" y="1368259"/>
                </a:lnTo>
                <a:lnTo>
                  <a:pt x="627484" y="1366381"/>
                </a:lnTo>
                <a:lnTo>
                  <a:pt x="603656" y="1364086"/>
                </a:lnTo>
                <a:lnTo>
                  <a:pt x="579871" y="1361376"/>
                </a:lnTo>
                <a:lnTo>
                  <a:pt x="556137" y="1358252"/>
                </a:lnTo>
                <a:lnTo>
                  <a:pt x="532461" y="1354713"/>
                </a:lnTo>
                <a:lnTo>
                  <a:pt x="508851" y="1350762"/>
                </a:lnTo>
                <a:lnTo>
                  <a:pt x="485313" y="1346400"/>
                </a:lnTo>
                <a:lnTo>
                  <a:pt x="461855" y="1341627"/>
                </a:lnTo>
                <a:lnTo>
                  <a:pt x="438484" y="1336446"/>
                </a:lnTo>
                <a:lnTo>
                  <a:pt x="415207" y="1330858"/>
                </a:lnTo>
                <a:lnTo>
                  <a:pt x="392031" y="1324864"/>
                </a:lnTo>
                <a:lnTo>
                  <a:pt x="368963" y="1318467"/>
                </a:lnTo>
                <a:lnTo>
                  <a:pt x="346010" y="1311668"/>
                </a:lnTo>
                <a:lnTo>
                  <a:pt x="323179" y="1304469"/>
                </a:lnTo>
                <a:lnTo>
                  <a:pt x="300478" y="1296873"/>
                </a:lnTo>
                <a:lnTo>
                  <a:pt x="277912" y="1288882"/>
                </a:lnTo>
                <a:lnTo>
                  <a:pt x="255489" y="1280499"/>
                </a:lnTo>
                <a:lnTo>
                  <a:pt x="233216" y="1271725"/>
                </a:lnTo>
                <a:lnTo>
                  <a:pt x="211100" y="1262564"/>
                </a:lnTo>
                <a:lnTo>
                  <a:pt x="189147" y="1253019"/>
                </a:lnTo>
                <a:lnTo>
                  <a:pt x="167364" y="1243092"/>
                </a:lnTo>
                <a:lnTo>
                  <a:pt x="145757" y="1232786"/>
                </a:lnTo>
                <a:lnTo>
                  <a:pt x="124334" y="1222105"/>
                </a:lnTo>
                <a:lnTo>
                  <a:pt x="103100" y="1211051"/>
                </a:lnTo>
                <a:lnTo>
                  <a:pt x="82062" y="1199628"/>
                </a:lnTo>
                <a:lnTo>
                  <a:pt x="61227" y="1187840"/>
                </a:lnTo>
                <a:lnTo>
                  <a:pt x="40601" y="1175691"/>
                </a:lnTo>
                <a:lnTo>
                  <a:pt x="20190" y="1163183"/>
                </a:lnTo>
                <a:lnTo>
                  <a:pt x="0" y="1150321"/>
                </a:lnTo>
              </a:path>
            </a:pathLst>
          </a:custGeom>
          <a:noFill xmlns:a="http://schemas.openxmlformats.org/drawingml/2006/main"/>
          <a:ln xmlns:a="http://schemas.openxmlformats.org/drawingml/2006/main" w="9525">
            <a:solidFill>
              <a:srgbClr val="FAFAFA">
                <a:alpha val="40000"/>
              </a:srgbClr>
            </a:solidFill>
            <a:prstDash val="solid"/>
          </a:ln>
        </p:spPr>
      </p:sp>
      <p:sp>
        <p:nvSpPr>
          <p:cNvPr id="4" name="">
            <a:extLst xmlns:a="http://schemas.openxmlformats.org/drawingml/2006/main">
              <a:ext uri="{FF2B5EF4-FFF2-40B4-BE49-F238E27FC236}">
                <a16:creationId xmlns:a16="http://schemas.microsoft.com/office/drawing/2014/main" id="{CD165B21-1817-4C34-BE96-035124E4F3EC}"/>
              </a:ext>
            </a:extLst>
          </p:cNvPr>
          <p:cNvSpPr>
            <a:spLocks xmlns:a="http://schemas.openxmlformats.org/drawingml/2006/main" noGrp="1"/>
          </p:cNvSpPr>
          <p:nvPr/>
        </p:nvSpPr>
        <p:spPr>
          <a:xfrm xmlns:a="http://schemas.openxmlformats.org/drawingml/2006/main">
            <a:off x="14973" y="2057400"/>
            <a:ext cx="2118627" cy="1371600"/>
          </a:xfrm>
          <a:custGeom xmlns:a="http://schemas.openxmlformats.org/drawingml/2006/main">
            <a:pathLst>
              <a:path w="2118627" h="1371600">
                <a:moveTo>
                  <a:pt x="0" y="221279"/>
                </a:moveTo>
                <a:lnTo>
                  <a:pt x="20190" y="208417"/>
                </a:lnTo>
                <a:lnTo>
                  <a:pt x="40601" y="195909"/>
                </a:lnTo>
                <a:lnTo>
                  <a:pt x="61227" y="183760"/>
                </a:lnTo>
                <a:lnTo>
                  <a:pt x="82062" y="171972"/>
                </a:lnTo>
                <a:lnTo>
                  <a:pt x="103100" y="160549"/>
                </a:lnTo>
                <a:lnTo>
                  <a:pt x="124334" y="149495"/>
                </a:lnTo>
                <a:lnTo>
                  <a:pt x="145757" y="138814"/>
                </a:lnTo>
                <a:lnTo>
                  <a:pt x="167364" y="128508"/>
                </a:lnTo>
                <a:lnTo>
                  <a:pt x="189147" y="118581"/>
                </a:lnTo>
                <a:lnTo>
                  <a:pt x="211100" y="109036"/>
                </a:lnTo>
                <a:lnTo>
                  <a:pt x="233216" y="99875"/>
                </a:lnTo>
                <a:lnTo>
                  <a:pt x="255489" y="91101"/>
                </a:lnTo>
                <a:lnTo>
                  <a:pt x="277912" y="82718"/>
                </a:lnTo>
                <a:lnTo>
                  <a:pt x="300478" y="74727"/>
                </a:lnTo>
                <a:lnTo>
                  <a:pt x="323179" y="67131"/>
                </a:lnTo>
                <a:lnTo>
                  <a:pt x="346010" y="59932"/>
                </a:lnTo>
                <a:lnTo>
                  <a:pt x="368963" y="53133"/>
                </a:lnTo>
                <a:lnTo>
                  <a:pt x="392031" y="46736"/>
                </a:lnTo>
                <a:lnTo>
                  <a:pt x="415207" y="40742"/>
                </a:lnTo>
                <a:lnTo>
                  <a:pt x="438484" y="35154"/>
                </a:lnTo>
                <a:lnTo>
                  <a:pt x="461855" y="29973"/>
                </a:lnTo>
                <a:lnTo>
                  <a:pt x="485313" y="25200"/>
                </a:lnTo>
                <a:lnTo>
                  <a:pt x="508851" y="20838"/>
                </a:lnTo>
                <a:lnTo>
                  <a:pt x="532461" y="16887"/>
                </a:lnTo>
                <a:lnTo>
                  <a:pt x="556137" y="13348"/>
                </a:lnTo>
                <a:lnTo>
                  <a:pt x="579871" y="10224"/>
                </a:lnTo>
                <a:lnTo>
                  <a:pt x="603656" y="7514"/>
                </a:lnTo>
                <a:lnTo>
                  <a:pt x="627484" y="5219"/>
                </a:lnTo>
                <a:lnTo>
                  <a:pt x="651349" y="3341"/>
                </a:lnTo>
                <a:lnTo>
                  <a:pt x="675243" y="1880"/>
                </a:lnTo>
                <a:lnTo>
                  <a:pt x="699159" y="836"/>
                </a:lnTo>
                <a:lnTo>
                  <a:pt x="723089" y="209"/>
                </a:lnTo>
                <a:lnTo>
                  <a:pt x="747027" y="0"/>
                </a:lnTo>
                <a:lnTo>
                  <a:pt x="770965" y="209"/>
                </a:lnTo>
                <a:lnTo>
                  <a:pt x="794895" y="836"/>
                </a:lnTo>
                <a:lnTo>
                  <a:pt x="818811" y="1880"/>
                </a:lnTo>
                <a:lnTo>
                  <a:pt x="842705" y="3341"/>
                </a:lnTo>
                <a:lnTo>
                  <a:pt x="866570" y="5219"/>
                </a:lnTo>
                <a:lnTo>
                  <a:pt x="890398" y="7514"/>
                </a:lnTo>
                <a:lnTo>
                  <a:pt x="914183" y="10224"/>
                </a:lnTo>
                <a:lnTo>
                  <a:pt x="937917" y="13348"/>
                </a:lnTo>
                <a:lnTo>
                  <a:pt x="961592" y="16887"/>
                </a:lnTo>
                <a:lnTo>
                  <a:pt x="985203" y="20838"/>
                </a:lnTo>
                <a:lnTo>
                  <a:pt x="1008741" y="25200"/>
                </a:lnTo>
                <a:lnTo>
                  <a:pt x="1032199" y="29973"/>
                </a:lnTo>
                <a:lnTo>
                  <a:pt x="1055570" y="35154"/>
                </a:lnTo>
                <a:lnTo>
                  <a:pt x="1078847" y="40742"/>
                </a:lnTo>
                <a:lnTo>
                  <a:pt x="1102023" y="46736"/>
                </a:lnTo>
                <a:lnTo>
                  <a:pt x="1125091" y="53133"/>
                </a:lnTo>
                <a:lnTo>
                  <a:pt x="1148044" y="59932"/>
                </a:lnTo>
                <a:lnTo>
                  <a:pt x="1170875" y="67131"/>
                </a:lnTo>
                <a:lnTo>
                  <a:pt x="1193576" y="74727"/>
                </a:lnTo>
                <a:lnTo>
                  <a:pt x="1216142" y="82718"/>
                </a:lnTo>
                <a:lnTo>
                  <a:pt x="1238564" y="91101"/>
                </a:lnTo>
                <a:lnTo>
                  <a:pt x="1260837" y="99875"/>
                </a:lnTo>
                <a:lnTo>
                  <a:pt x="1282954" y="109036"/>
                </a:lnTo>
                <a:lnTo>
                  <a:pt x="1304907" y="118581"/>
                </a:lnTo>
                <a:lnTo>
                  <a:pt x="1326690" y="128508"/>
                </a:lnTo>
                <a:lnTo>
                  <a:pt x="1348297" y="138814"/>
                </a:lnTo>
                <a:lnTo>
                  <a:pt x="1369720" y="149495"/>
                </a:lnTo>
                <a:lnTo>
                  <a:pt x="1390954" y="160549"/>
                </a:lnTo>
                <a:lnTo>
                  <a:pt x="1411992" y="171972"/>
                </a:lnTo>
                <a:lnTo>
                  <a:pt x="1432827" y="183760"/>
                </a:lnTo>
                <a:lnTo>
                  <a:pt x="1453453" y="195909"/>
                </a:lnTo>
                <a:lnTo>
                  <a:pt x="1473864" y="208417"/>
                </a:lnTo>
                <a:lnTo>
                  <a:pt x="1494054" y="221279"/>
                </a:lnTo>
                <a:lnTo>
                  <a:pt x="1514016" y="234492"/>
                </a:lnTo>
                <a:lnTo>
                  <a:pt x="1533744" y="248051"/>
                </a:lnTo>
                <a:lnTo>
                  <a:pt x="1553233" y="261952"/>
                </a:lnTo>
                <a:lnTo>
                  <a:pt x="1572476" y="276192"/>
                </a:lnTo>
                <a:lnTo>
                  <a:pt x="1591468" y="290764"/>
                </a:lnTo>
                <a:lnTo>
                  <a:pt x="1610203" y="305667"/>
                </a:lnTo>
                <a:lnTo>
                  <a:pt x="1628674" y="320893"/>
                </a:lnTo>
                <a:lnTo>
                  <a:pt x="1646877" y="336440"/>
                </a:lnTo>
                <a:lnTo>
                  <a:pt x="1664806" y="352303"/>
                </a:lnTo>
                <a:lnTo>
                  <a:pt x="1682456" y="368475"/>
                </a:lnTo>
                <a:lnTo>
                  <a:pt x="1699820" y="384954"/>
                </a:lnTo>
                <a:lnTo>
                  <a:pt x="1716895" y="401732"/>
                </a:lnTo>
                <a:lnTo>
                  <a:pt x="1733673" y="418807"/>
                </a:lnTo>
                <a:lnTo>
                  <a:pt x="1750152" y="436171"/>
                </a:lnTo>
                <a:lnTo>
                  <a:pt x="1766324" y="453820"/>
                </a:lnTo>
                <a:lnTo>
                  <a:pt x="1782187" y="471749"/>
                </a:lnTo>
                <a:lnTo>
                  <a:pt x="1797733" y="489953"/>
                </a:lnTo>
                <a:lnTo>
                  <a:pt x="1812960" y="508424"/>
                </a:lnTo>
                <a:lnTo>
                  <a:pt x="1827862" y="527159"/>
                </a:lnTo>
                <a:lnTo>
                  <a:pt x="1842435" y="546151"/>
                </a:lnTo>
                <a:lnTo>
                  <a:pt x="1856675" y="565394"/>
                </a:lnTo>
                <a:lnTo>
                  <a:pt x="1870576" y="584883"/>
                </a:lnTo>
                <a:lnTo>
                  <a:pt x="1884135" y="604611"/>
                </a:lnTo>
                <a:lnTo>
                  <a:pt x="1897347" y="624573"/>
                </a:lnTo>
                <a:lnTo>
                  <a:pt x="1910210" y="644763"/>
                </a:lnTo>
                <a:lnTo>
                  <a:pt x="1922718" y="665174"/>
                </a:lnTo>
                <a:lnTo>
                  <a:pt x="1934867" y="685800"/>
                </a:lnTo>
                <a:lnTo>
                  <a:pt x="1946655" y="706635"/>
                </a:lnTo>
                <a:lnTo>
                  <a:pt x="1958078" y="727673"/>
                </a:lnTo>
                <a:lnTo>
                  <a:pt x="1969131" y="748907"/>
                </a:lnTo>
                <a:lnTo>
                  <a:pt x="1979813" y="770330"/>
                </a:lnTo>
                <a:lnTo>
                  <a:pt x="1990119" y="791937"/>
                </a:lnTo>
                <a:lnTo>
                  <a:pt x="2000046" y="813720"/>
                </a:lnTo>
                <a:lnTo>
                  <a:pt x="2009591" y="835673"/>
                </a:lnTo>
                <a:lnTo>
                  <a:pt x="2018752" y="857790"/>
                </a:lnTo>
                <a:lnTo>
                  <a:pt x="2027526" y="880063"/>
                </a:lnTo>
                <a:lnTo>
                  <a:pt x="2035909" y="902485"/>
                </a:lnTo>
                <a:lnTo>
                  <a:pt x="2043900" y="925051"/>
                </a:lnTo>
                <a:lnTo>
                  <a:pt x="2051496" y="947752"/>
                </a:lnTo>
                <a:lnTo>
                  <a:pt x="2058695" y="970583"/>
                </a:lnTo>
                <a:lnTo>
                  <a:pt x="2065493" y="993536"/>
                </a:lnTo>
                <a:lnTo>
                  <a:pt x="2071891" y="1016604"/>
                </a:lnTo>
                <a:lnTo>
                  <a:pt x="2077885" y="1039780"/>
                </a:lnTo>
                <a:lnTo>
                  <a:pt x="2083473" y="1063057"/>
                </a:lnTo>
                <a:lnTo>
                  <a:pt x="2088654" y="1086428"/>
                </a:lnTo>
                <a:lnTo>
                  <a:pt x="2093427" y="1109886"/>
                </a:lnTo>
                <a:lnTo>
                  <a:pt x="2097789" y="1133424"/>
                </a:lnTo>
                <a:lnTo>
                  <a:pt x="2101740" y="1157034"/>
                </a:lnTo>
                <a:lnTo>
                  <a:pt x="2105279" y="1180710"/>
                </a:lnTo>
                <a:lnTo>
                  <a:pt x="2108403" y="1204444"/>
                </a:lnTo>
                <a:lnTo>
                  <a:pt x="2111113" y="1228229"/>
                </a:lnTo>
                <a:lnTo>
                  <a:pt x="2113408" y="1252057"/>
                </a:lnTo>
                <a:lnTo>
                  <a:pt x="2115286" y="1275922"/>
                </a:lnTo>
                <a:lnTo>
                  <a:pt x="2116747" y="1299816"/>
                </a:lnTo>
                <a:lnTo>
                  <a:pt x="2117791" y="1323732"/>
                </a:lnTo>
                <a:lnTo>
                  <a:pt x="2118418" y="1347662"/>
                </a:lnTo>
                <a:lnTo>
                  <a:pt x="2118627" y="1371600"/>
                </a:lnTo>
              </a:path>
            </a:pathLst>
          </a:custGeom>
          <a:noFill xmlns:a="http://schemas.openxmlformats.org/drawingml/2006/main"/>
          <a:ln xmlns:a="http://schemas.openxmlformats.org/drawingml/2006/main" w="9525">
            <a:solidFill>
              <a:srgbClr val="FAFAFA">
                <a:alpha val="40000"/>
              </a:srgbClr>
            </a:solidFill>
            <a:prstDash val="solid"/>
          </a:ln>
        </p:spPr>
      </p:sp>
      <p:sp>
        <p:nvSpPr>
          <p:cNvPr id="5" name="">
            <a:extLst xmlns:a="http://schemas.openxmlformats.org/drawingml/2006/main">
              <a:ext uri="{FF2B5EF4-FFF2-40B4-BE49-F238E27FC236}">
                <a16:creationId xmlns:a16="http://schemas.microsoft.com/office/drawing/2014/main" id="{55F676DB-6216-4D63-AF51-3AE9CCD3688D}"/>
              </a:ext>
            </a:extLst>
          </p:cNvPr>
          <p:cNvSpPr>
            <a:spLocks xmlns:a="http://schemas.openxmlformats.org/drawingml/2006/main" noGrp="1"/>
          </p:cNvSpPr>
          <p:nvPr/>
        </p:nvSpPr>
        <p:spPr>
          <a:xfrm xmlns:a="http://schemas.openxmlformats.org/drawingml/2006/main">
            <a:off x="2838450" y="2057400"/>
            <a:ext cx="2743200" cy="2743200"/>
          </a:xfrm>
          <a:custGeom xmlns:a="http://schemas.openxmlformats.org/drawingml/2006/main">
            <a:pathLst>
              <a:path w="2743200" h="2743200">
                <a:moveTo>
                  <a:pt x="2743200" y="1371600"/>
                </a:moveTo>
                <a:lnTo>
                  <a:pt x="2742991" y="1395538"/>
                </a:lnTo>
                <a:lnTo>
                  <a:pt x="2742364" y="1419468"/>
                </a:lnTo>
                <a:lnTo>
                  <a:pt x="2741320" y="1443384"/>
                </a:lnTo>
                <a:lnTo>
                  <a:pt x="2739859" y="1467278"/>
                </a:lnTo>
                <a:lnTo>
                  <a:pt x="2737981" y="1491143"/>
                </a:lnTo>
                <a:lnTo>
                  <a:pt x="2735686" y="1514971"/>
                </a:lnTo>
                <a:lnTo>
                  <a:pt x="2732976" y="1538756"/>
                </a:lnTo>
                <a:lnTo>
                  <a:pt x="2729852" y="1562490"/>
                </a:lnTo>
                <a:lnTo>
                  <a:pt x="2726313" y="1586166"/>
                </a:lnTo>
                <a:lnTo>
                  <a:pt x="2722362" y="1609776"/>
                </a:lnTo>
                <a:lnTo>
                  <a:pt x="2718000" y="1633314"/>
                </a:lnTo>
                <a:lnTo>
                  <a:pt x="2713227" y="1656772"/>
                </a:lnTo>
                <a:lnTo>
                  <a:pt x="2708046" y="1680143"/>
                </a:lnTo>
                <a:lnTo>
                  <a:pt x="2702458" y="1703420"/>
                </a:lnTo>
                <a:lnTo>
                  <a:pt x="2696464" y="1726596"/>
                </a:lnTo>
                <a:lnTo>
                  <a:pt x="2690067" y="1749664"/>
                </a:lnTo>
                <a:lnTo>
                  <a:pt x="2683268" y="1772617"/>
                </a:lnTo>
                <a:lnTo>
                  <a:pt x="2676069" y="1795448"/>
                </a:lnTo>
                <a:lnTo>
                  <a:pt x="2668473" y="1818149"/>
                </a:lnTo>
                <a:lnTo>
                  <a:pt x="2660482" y="1840715"/>
                </a:lnTo>
                <a:lnTo>
                  <a:pt x="2652099" y="1863137"/>
                </a:lnTo>
                <a:lnTo>
                  <a:pt x="2643325" y="1885410"/>
                </a:lnTo>
                <a:lnTo>
                  <a:pt x="2634164" y="1907527"/>
                </a:lnTo>
                <a:lnTo>
                  <a:pt x="2624619" y="1929480"/>
                </a:lnTo>
                <a:lnTo>
                  <a:pt x="2614692" y="1951263"/>
                </a:lnTo>
                <a:lnTo>
                  <a:pt x="2604386" y="1972870"/>
                </a:lnTo>
                <a:lnTo>
                  <a:pt x="2593705" y="1994293"/>
                </a:lnTo>
                <a:lnTo>
                  <a:pt x="2582651" y="2015527"/>
                </a:lnTo>
                <a:lnTo>
                  <a:pt x="2571228" y="2036565"/>
                </a:lnTo>
                <a:lnTo>
                  <a:pt x="2559440" y="2057400"/>
                </a:lnTo>
                <a:lnTo>
                  <a:pt x="2547291" y="2078026"/>
                </a:lnTo>
                <a:lnTo>
                  <a:pt x="2534783" y="2098437"/>
                </a:lnTo>
                <a:lnTo>
                  <a:pt x="2521921" y="2118627"/>
                </a:lnTo>
                <a:lnTo>
                  <a:pt x="2508708" y="2138589"/>
                </a:lnTo>
                <a:lnTo>
                  <a:pt x="2495149" y="2158317"/>
                </a:lnTo>
                <a:lnTo>
                  <a:pt x="2481248" y="2177806"/>
                </a:lnTo>
                <a:lnTo>
                  <a:pt x="2467008" y="2197049"/>
                </a:lnTo>
                <a:lnTo>
                  <a:pt x="2452436" y="2216041"/>
                </a:lnTo>
                <a:lnTo>
                  <a:pt x="2437533" y="2234776"/>
                </a:lnTo>
                <a:lnTo>
                  <a:pt x="2422307" y="2253247"/>
                </a:lnTo>
                <a:lnTo>
                  <a:pt x="2406760" y="2271451"/>
                </a:lnTo>
                <a:lnTo>
                  <a:pt x="2390897" y="2289380"/>
                </a:lnTo>
                <a:lnTo>
                  <a:pt x="2374725" y="2307029"/>
                </a:lnTo>
                <a:lnTo>
                  <a:pt x="2358246" y="2324393"/>
                </a:lnTo>
                <a:lnTo>
                  <a:pt x="2341468" y="2341468"/>
                </a:lnTo>
                <a:lnTo>
                  <a:pt x="2324393" y="2358246"/>
                </a:lnTo>
                <a:lnTo>
                  <a:pt x="2307029" y="2374725"/>
                </a:lnTo>
                <a:lnTo>
                  <a:pt x="2289380" y="2390897"/>
                </a:lnTo>
                <a:lnTo>
                  <a:pt x="2271451" y="2406760"/>
                </a:lnTo>
                <a:lnTo>
                  <a:pt x="2253247" y="2422307"/>
                </a:lnTo>
                <a:lnTo>
                  <a:pt x="2234776" y="2437533"/>
                </a:lnTo>
                <a:lnTo>
                  <a:pt x="2216041" y="2452436"/>
                </a:lnTo>
                <a:lnTo>
                  <a:pt x="2197049" y="2467008"/>
                </a:lnTo>
                <a:lnTo>
                  <a:pt x="2177806" y="2481248"/>
                </a:lnTo>
                <a:lnTo>
                  <a:pt x="2158317" y="2495149"/>
                </a:lnTo>
                <a:lnTo>
                  <a:pt x="2138589" y="2508708"/>
                </a:lnTo>
                <a:lnTo>
                  <a:pt x="2118627" y="2521921"/>
                </a:lnTo>
                <a:lnTo>
                  <a:pt x="2098437" y="2534783"/>
                </a:lnTo>
                <a:lnTo>
                  <a:pt x="2078026" y="2547291"/>
                </a:lnTo>
                <a:lnTo>
                  <a:pt x="2057400" y="2559440"/>
                </a:lnTo>
                <a:lnTo>
                  <a:pt x="2036565" y="2571228"/>
                </a:lnTo>
                <a:lnTo>
                  <a:pt x="2015527" y="2582651"/>
                </a:lnTo>
                <a:lnTo>
                  <a:pt x="1994293" y="2593705"/>
                </a:lnTo>
                <a:lnTo>
                  <a:pt x="1972870" y="2604386"/>
                </a:lnTo>
                <a:lnTo>
                  <a:pt x="1951263" y="2614692"/>
                </a:lnTo>
                <a:lnTo>
                  <a:pt x="1929480" y="2624619"/>
                </a:lnTo>
                <a:lnTo>
                  <a:pt x="1907527" y="2634164"/>
                </a:lnTo>
                <a:lnTo>
                  <a:pt x="1885410" y="2643325"/>
                </a:lnTo>
                <a:lnTo>
                  <a:pt x="1863137" y="2652099"/>
                </a:lnTo>
                <a:lnTo>
                  <a:pt x="1840715" y="2660482"/>
                </a:lnTo>
                <a:lnTo>
                  <a:pt x="1818149" y="2668473"/>
                </a:lnTo>
                <a:lnTo>
                  <a:pt x="1795448" y="2676069"/>
                </a:lnTo>
                <a:lnTo>
                  <a:pt x="1772617" y="2683268"/>
                </a:lnTo>
                <a:lnTo>
                  <a:pt x="1749664" y="2690067"/>
                </a:lnTo>
                <a:lnTo>
                  <a:pt x="1726596" y="2696464"/>
                </a:lnTo>
                <a:lnTo>
                  <a:pt x="1703420" y="2702458"/>
                </a:lnTo>
                <a:lnTo>
                  <a:pt x="1680143" y="2708046"/>
                </a:lnTo>
                <a:lnTo>
                  <a:pt x="1656772" y="2713227"/>
                </a:lnTo>
                <a:lnTo>
                  <a:pt x="1633314" y="2718000"/>
                </a:lnTo>
                <a:lnTo>
                  <a:pt x="1609776" y="2722362"/>
                </a:lnTo>
                <a:lnTo>
                  <a:pt x="1586166" y="2726313"/>
                </a:lnTo>
                <a:lnTo>
                  <a:pt x="1562490" y="2729852"/>
                </a:lnTo>
                <a:lnTo>
                  <a:pt x="1538756" y="2732976"/>
                </a:lnTo>
                <a:lnTo>
                  <a:pt x="1514971" y="2735686"/>
                </a:lnTo>
                <a:lnTo>
                  <a:pt x="1491143" y="2737981"/>
                </a:lnTo>
                <a:lnTo>
                  <a:pt x="1467278" y="2739859"/>
                </a:lnTo>
                <a:lnTo>
                  <a:pt x="1443384" y="2741320"/>
                </a:lnTo>
                <a:lnTo>
                  <a:pt x="1419468" y="2742364"/>
                </a:lnTo>
                <a:lnTo>
                  <a:pt x="1395538" y="2742991"/>
                </a:lnTo>
                <a:lnTo>
                  <a:pt x="1371600" y="2743200"/>
                </a:lnTo>
                <a:lnTo>
                  <a:pt x="1347662" y="2742991"/>
                </a:lnTo>
                <a:lnTo>
                  <a:pt x="1323732" y="2742364"/>
                </a:lnTo>
                <a:lnTo>
                  <a:pt x="1299816" y="2741320"/>
                </a:lnTo>
                <a:lnTo>
                  <a:pt x="1275922" y="2739859"/>
                </a:lnTo>
                <a:lnTo>
                  <a:pt x="1252057" y="2737981"/>
                </a:lnTo>
                <a:lnTo>
                  <a:pt x="1228229" y="2735686"/>
                </a:lnTo>
                <a:lnTo>
                  <a:pt x="1204444" y="2732976"/>
                </a:lnTo>
                <a:lnTo>
                  <a:pt x="1180710" y="2729852"/>
                </a:lnTo>
                <a:lnTo>
                  <a:pt x="1157034" y="2726313"/>
                </a:lnTo>
                <a:lnTo>
                  <a:pt x="1133424" y="2722362"/>
                </a:lnTo>
                <a:lnTo>
                  <a:pt x="1109886" y="2718000"/>
                </a:lnTo>
                <a:lnTo>
                  <a:pt x="1086428" y="2713227"/>
                </a:lnTo>
                <a:lnTo>
                  <a:pt x="1063057" y="2708046"/>
                </a:lnTo>
                <a:lnTo>
                  <a:pt x="1039780" y="2702458"/>
                </a:lnTo>
                <a:lnTo>
                  <a:pt x="1016604" y="2696464"/>
                </a:lnTo>
                <a:lnTo>
                  <a:pt x="993536" y="2690067"/>
                </a:lnTo>
                <a:lnTo>
                  <a:pt x="970583" y="2683268"/>
                </a:lnTo>
                <a:lnTo>
                  <a:pt x="947752" y="2676069"/>
                </a:lnTo>
                <a:lnTo>
                  <a:pt x="925051" y="2668473"/>
                </a:lnTo>
                <a:lnTo>
                  <a:pt x="902485" y="2660482"/>
                </a:lnTo>
                <a:lnTo>
                  <a:pt x="880063" y="2652099"/>
                </a:lnTo>
                <a:lnTo>
                  <a:pt x="857790" y="2643325"/>
                </a:lnTo>
                <a:lnTo>
                  <a:pt x="835673" y="2634164"/>
                </a:lnTo>
                <a:lnTo>
                  <a:pt x="813720" y="2624619"/>
                </a:lnTo>
                <a:lnTo>
                  <a:pt x="791937" y="2614692"/>
                </a:lnTo>
                <a:lnTo>
                  <a:pt x="770330" y="2604386"/>
                </a:lnTo>
                <a:lnTo>
                  <a:pt x="748907" y="2593705"/>
                </a:lnTo>
                <a:lnTo>
                  <a:pt x="727673" y="2582651"/>
                </a:lnTo>
                <a:lnTo>
                  <a:pt x="706635" y="2571228"/>
                </a:lnTo>
                <a:lnTo>
                  <a:pt x="685800" y="2559440"/>
                </a:lnTo>
                <a:lnTo>
                  <a:pt x="665174" y="2547291"/>
                </a:lnTo>
                <a:lnTo>
                  <a:pt x="644763" y="2534783"/>
                </a:lnTo>
                <a:lnTo>
                  <a:pt x="624573" y="2521921"/>
                </a:lnTo>
                <a:lnTo>
                  <a:pt x="604611" y="2508708"/>
                </a:lnTo>
                <a:lnTo>
                  <a:pt x="584883" y="2495149"/>
                </a:lnTo>
                <a:lnTo>
                  <a:pt x="565394" y="2481248"/>
                </a:lnTo>
                <a:lnTo>
                  <a:pt x="546151" y="2467008"/>
                </a:lnTo>
                <a:lnTo>
                  <a:pt x="527159" y="2452436"/>
                </a:lnTo>
                <a:lnTo>
                  <a:pt x="508424" y="2437533"/>
                </a:lnTo>
                <a:lnTo>
                  <a:pt x="489953" y="2422307"/>
                </a:lnTo>
                <a:lnTo>
                  <a:pt x="471749" y="2406760"/>
                </a:lnTo>
                <a:lnTo>
                  <a:pt x="453820" y="2390897"/>
                </a:lnTo>
                <a:lnTo>
                  <a:pt x="436171" y="2374725"/>
                </a:lnTo>
                <a:lnTo>
                  <a:pt x="418807" y="2358246"/>
                </a:lnTo>
                <a:lnTo>
                  <a:pt x="401732" y="2341468"/>
                </a:lnTo>
                <a:lnTo>
                  <a:pt x="384954" y="2324393"/>
                </a:lnTo>
                <a:lnTo>
                  <a:pt x="368475" y="2307029"/>
                </a:lnTo>
                <a:lnTo>
                  <a:pt x="352303" y="2289380"/>
                </a:lnTo>
                <a:lnTo>
                  <a:pt x="336440" y="2271451"/>
                </a:lnTo>
                <a:lnTo>
                  <a:pt x="320893" y="2253247"/>
                </a:lnTo>
                <a:lnTo>
                  <a:pt x="305667" y="2234776"/>
                </a:lnTo>
                <a:lnTo>
                  <a:pt x="290764" y="2216041"/>
                </a:lnTo>
                <a:lnTo>
                  <a:pt x="276192" y="2197049"/>
                </a:lnTo>
                <a:lnTo>
                  <a:pt x="261952" y="2177806"/>
                </a:lnTo>
                <a:lnTo>
                  <a:pt x="248051" y="2158317"/>
                </a:lnTo>
                <a:lnTo>
                  <a:pt x="234492" y="2138589"/>
                </a:lnTo>
                <a:lnTo>
                  <a:pt x="221279" y="2118627"/>
                </a:lnTo>
                <a:lnTo>
                  <a:pt x="208417" y="2098437"/>
                </a:lnTo>
                <a:lnTo>
                  <a:pt x="195909" y="2078026"/>
                </a:lnTo>
                <a:lnTo>
                  <a:pt x="183760" y="2057400"/>
                </a:lnTo>
                <a:lnTo>
                  <a:pt x="171972" y="2036565"/>
                </a:lnTo>
                <a:lnTo>
                  <a:pt x="160549" y="2015527"/>
                </a:lnTo>
                <a:lnTo>
                  <a:pt x="149495" y="1994293"/>
                </a:lnTo>
                <a:lnTo>
                  <a:pt x="138814" y="1972870"/>
                </a:lnTo>
                <a:lnTo>
                  <a:pt x="128508" y="1951263"/>
                </a:lnTo>
                <a:lnTo>
                  <a:pt x="118581" y="1929480"/>
                </a:lnTo>
                <a:lnTo>
                  <a:pt x="109036" y="1907527"/>
                </a:lnTo>
                <a:lnTo>
                  <a:pt x="99875" y="1885410"/>
                </a:lnTo>
                <a:lnTo>
                  <a:pt x="91101" y="1863137"/>
                </a:lnTo>
                <a:lnTo>
                  <a:pt x="82718" y="1840715"/>
                </a:lnTo>
                <a:lnTo>
                  <a:pt x="74727" y="1818149"/>
                </a:lnTo>
                <a:lnTo>
                  <a:pt x="67131" y="1795448"/>
                </a:lnTo>
                <a:lnTo>
                  <a:pt x="59932" y="1772617"/>
                </a:lnTo>
                <a:lnTo>
                  <a:pt x="53133" y="1749664"/>
                </a:lnTo>
                <a:lnTo>
                  <a:pt x="46736" y="1726596"/>
                </a:lnTo>
                <a:lnTo>
                  <a:pt x="40742" y="1703420"/>
                </a:lnTo>
                <a:lnTo>
                  <a:pt x="35154" y="1680143"/>
                </a:lnTo>
                <a:lnTo>
                  <a:pt x="29973" y="1656772"/>
                </a:lnTo>
                <a:lnTo>
                  <a:pt x="25200" y="1633314"/>
                </a:lnTo>
                <a:lnTo>
                  <a:pt x="20838" y="1609776"/>
                </a:lnTo>
                <a:lnTo>
                  <a:pt x="16887" y="1586166"/>
                </a:lnTo>
                <a:lnTo>
                  <a:pt x="13348" y="1562490"/>
                </a:lnTo>
                <a:lnTo>
                  <a:pt x="10224" y="1538756"/>
                </a:lnTo>
                <a:lnTo>
                  <a:pt x="7514" y="1514971"/>
                </a:lnTo>
                <a:lnTo>
                  <a:pt x="5219" y="1491143"/>
                </a:lnTo>
                <a:lnTo>
                  <a:pt x="3341" y="1467278"/>
                </a:lnTo>
                <a:lnTo>
                  <a:pt x="1880" y="1443384"/>
                </a:lnTo>
                <a:lnTo>
                  <a:pt x="836" y="1419468"/>
                </a:lnTo>
                <a:lnTo>
                  <a:pt x="209" y="1395538"/>
                </a:lnTo>
                <a:lnTo>
                  <a:pt x="0" y="1371600"/>
                </a:lnTo>
                <a:lnTo>
                  <a:pt x="209" y="1347662"/>
                </a:lnTo>
                <a:lnTo>
                  <a:pt x="836" y="1323732"/>
                </a:lnTo>
                <a:lnTo>
                  <a:pt x="1880" y="1299816"/>
                </a:lnTo>
                <a:lnTo>
                  <a:pt x="3341" y="1275922"/>
                </a:lnTo>
                <a:lnTo>
                  <a:pt x="5219" y="1252057"/>
                </a:lnTo>
                <a:lnTo>
                  <a:pt x="7514" y="1228229"/>
                </a:lnTo>
                <a:lnTo>
                  <a:pt x="10224" y="1204444"/>
                </a:lnTo>
                <a:lnTo>
                  <a:pt x="13348" y="1180710"/>
                </a:lnTo>
                <a:lnTo>
                  <a:pt x="16887" y="1157034"/>
                </a:lnTo>
                <a:lnTo>
                  <a:pt x="20838" y="1133424"/>
                </a:lnTo>
                <a:lnTo>
                  <a:pt x="25200" y="1109886"/>
                </a:lnTo>
                <a:lnTo>
                  <a:pt x="29973" y="1086428"/>
                </a:lnTo>
                <a:lnTo>
                  <a:pt x="35154" y="1063057"/>
                </a:lnTo>
                <a:lnTo>
                  <a:pt x="40742" y="1039780"/>
                </a:lnTo>
                <a:lnTo>
                  <a:pt x="46736" y="1016604"/>
                </a:lnTo>
                <a:lnTo>
                  <a:pt x="53133" y="993536"/>
                </a:lnTo>
                <a:lnTo>
                  <a:pt x="59932" y="970583"/>
                </a:lnTo>
                <a:lnTo>
                  <a:pt x="67131" y="947752"/>
                </a:lnTo>
                <a:lnTo>
                  <a:pt x="74727" y="925051"/>
                </a:lnTo>
                <a:lnTo>
                  <a:pt x="82718" y="902485"/>
                </a:lnTo>
                <a:lnTo>
                  <a:pt x="91101" y="880063"/>
                </a:lnTo>
                <a:lnTo>
                  <a:pt x="99875" y="857790"/>
                </a:lnTo>
                <a:lnTo>
                  <a:pt x="109036" y="835673"/>
                </a:lnTo>
                <a:lnTo>
                  <a:pt x="118581" y="813720"/>
                </a:lnTo>
                <a:lnTo>
                  <a:pt x="128508" y="791937"/>
                </a:lnTo>
                <a:lnTo>
                  <a:pt x="138814" y="770330"/>
                </a:lnTo>
                <a:lnTo>
                  <a:pt x="149495" y="748907"/>
                </a:lnTo>
                <a:lnTo>
                  <a:pt x="160549" y="727673"/>
                </a:lnTo>
                <a:lnTo>
                  <a:pt x="171972" y="706635"/>
                </a:lnTo>
                <a:lnTo>
                  <a:pt x="183760" y="685800"/>
                </a:lnTo>
                <a:lnTo>
                  <a:pt x="195909" y="665174"/>
                </a:lnTo>
                <a:lnTo>
                  <a:pt x="208417" y="644763"/>
                </a:lnTo>
                <a:lnTo>
                  <a:pt x="221279" y="624573"/>
                </a:lnTo>
                <a:lnTo>
                  <a:pt x="234492" y="604611"/>
                </a:lnTo>
                <a:lnTo>
                  <a:pt x="248051" y="584883"/>
                </a:lnTo>
                <a:lnTo>
                  <a:pt x="261952" y="565394"/>
                </a:lnTo>
                <a:lnTo>
                  <a:pt x="276192" y="546151"/>
                </a:lnTo>
                <a:lnTo>
                  <a:pt x="290764" y="527159"/>
                </a:lnTo>
                <a:lnTo>
                  <a:pt x="305667" y="508424"/>
                </a:lnTo>
                <a:lnTo>
                  <a:pt x="320893" y="489953"/>
                </a:lnTo>
                <a:lnTo>
                  <a:pt x="336440" y="471749"/>
                </a:lnTo>
                <a:lnTo>
                  <a:pt x="352303" y="453820"/>
                </a:lnTo>
                <a:lnTo>
                  <a:pt x="368475" y="436171"/>
                </a:lnTo>
                <a:lnTo>
                  <a:pt x="384954" y="418807"/>
                </a:lnTo>
                <a:lnTo>
                  <a:pt x="401732" y="401732"/>
                </a:lnTo>
                <a:lnTo>
                  <a:pt x="418807" y="384954"/>
                </a:lnTo>
                <a:lnTo>
                  <a:pt x="436171" y="368475"/>
                </a:lnTo>
                <a:lnTo>
                  <a:pt x="453820" y="352303"/>
                </a:lnTo>
                <a:lnTo>
                  <a:pt x="471749" y="336440"/>
                </a:lnTo>
                <a:lnTo>
                  <a:pt x="489953" y="320893"/>
                </a:lnTo>
                <a:lnTo>
                  <a:pt x="508424" y="305667"/>
                </a:lnTo>
                <a:lnTo>
                  <a:pt x="527159" y="290764"/>
                </a:lnTo>
                <a:lnTo>
                  <a:pt x="546151" y="276192"/>
                </a:lnTo>
                <a:lnTo>
                  <a:pt x="565394" y="261952"/>
                </a:lnTo>
                <a:lnTo>
                  <a:pt x="584883" y="248051"/>
                </a:lnTo>
                <a:lnTo>
                  <a:pt x="604611" y="234492"/>
                </a:lnTo>
                <a:lnTo>
                  <a:pt x="624573" y="221279"/>
                </a:lnTo>
                <a:lnTo>
                  <a:pt x="644763" y="208417"/>
                </a:lnTo>
                <a:lnTo>
                  <a:pt x="665174" y="195909"/>
                </a:lnTo>
                <a:lnTo>
                  <a:pt x="685800" y="183760"/>
                </a:lnTo>
                <a:lnTo>
                  <a:pt x="706635" y="171972"/>
                </a:lnTo>
                <a:lnTo>
                  <a:pt x="727673" y="160549"/>
                </a:lnTo>
                <a:lnTo>
                  <a:pt x="748907" y="149495"/>
                </a:lnTo>
                <a:lnTo>
                  <a:pt x="770330" y="138814"/>
                </a:lnTo>
                <a:lnTo>
                  <a:pt x="791937" y="128508"/>
                </a:lnTo>
                <a:lnTo>
                  <a:pt x="813720" y="118581"/>
                </a:lnTo>
                <a:lnTo>
                  <a:pt x="835673" y="109036"/>
                </a:lnTo>
                <a:lnTo>
                  <a:pt x="857790" y="99875"/>
                </a:lnTo>
                <a:lnTo>
                  <a:pt x="880063" y="91101"/>
                </a:lnTo>
                <a:lnTo>
                  <a:pt x="902485" y="82718"/>
                </a:lnTo>
                <a:lnTo>
                  <a:pt x="925051" y="74727"/>
                </a:lnTo>
                <a:lnTo>
                  <a:pt x="947752" y="67131"/>
                </a:lnTo>
                <a:lnTo>
                  <a:pt x="970583" y="59932"/>
                </a:lnTo>
                <a:lnTo>
                  <a:pt x="993536" y="53133"/>
                </a:lnTo>
                <a:lnTo>
                  <a:pt x="1016604" y="46736"/>
                </a:lnTo>
                <a:lnTo>
                  <a:pt x="1039780" y="40742"/>
                </a:lnTo>
                <a:lnTo>
                  <a:pt x="1063057" y="35154"/>
                </a:lnTo>
                <a:lnTo>
                  <a:pt x="1086428" y="29973"/>
                </a:lnTo>
                <a:lnTo>
                  <a:pt x="1109886" y="25200"/>
                </a:lnTo>
                <a:lnTo>
                  <a:pt x="1133424" y="20838"/>
                </a:lnTo>
                <a:lnTo>
                  <a:pt x="1157034" y="16887"/>
                </a:lnTo>
                <a:lnTo>
                  <a:pt x="1180710" y="13348"/>
                </a:lnTo>
                <a:lnTo>
                  <a:pt x="1204444" y="10224"/>
                </a:lnTo>
                <a:lnTo>
                  <a:pt x="1228229" y="7514"/>
                </a:lnTo>
                <a:lnTo>
                  <a:pt x="1252057" y="5219"/>
                </a:lnTo>
                <a:lnTo>
                  <a:pt x="1275922" y="3341"/>
                </a:lnTo>
                <a:lnTo>
                  <a:pt x="1299816" y="1880"/>
                </a:lnTo>
                <a:lnTo>
                  <a:pt x="1323732" y="836"/>
                </a:lnTo>
                <a:lnTo>
                  <a:pt x="1347662" y="209"/>
                </a:lnTo>
                <a:lnTo>
                  <a:pt x="1371600" y="0"/>
                </a:lnTo>
                <a:lnTo>
                  <a:pt x="1395538" y="209"/>
                </a:lnTo>
                <a:lnTo>
                  <a:pt x="1419468" y="836"/>
                </a:lnTo>
                <a:lnTo>
                  <a:pt x="1443384" y="1880"/>
                </a:lnTo>
                <a:lnTo>
                  <a:pt x="1467278" y="3341"/>
                </a:lnTo>
                <a:lnTo>
                  <a:pt x="1491143" y="5219"/>
                </a:lnTo>
                <a:lnTo>
                  <a:pt x="1514971" y="7514"/>
                </a:lnTo>
                <a:lnTo>
                  <a:pt x="1538756" y="10224"/>
                </a:lnTo>
                <a:lnTo>
                  <a:pt x="1562490" y="13348"/>
                </a:lnTo>
                <a:lnTo>
                  <a:pt x="1586166" y="16887"/>
                </a:lnTo>
                <a:lnTo>
                  <a:pt x="1609776" y="20838"/>
                </a:lnTo>
                <a:lnTo>
                  <a:pt x="1633314" y="25200"/>
                </a:lnTo>
                <a:lnTo>
                  <a:pt x="1656772" y="29973"/>
                </a:lnTo>
                <a:lnTo>
                  <a:pt x="1680143" y="35154"/>
                </a:lnTo>
                <a:lnTo>
                  <a:pt x="1703420" y="40742"/>
                </a:lnTo>
                <a:lnTo>
                  <a:pt x="1726596" y="46736"/>
                </a:lnTo>
                <a:lnTo>
                  <a:pt x="1749664" y="53133"/>
                </a:lnTo>
                <a:lnTo>
                  <a:pt x="1772617" y="59932"/>
                </a:lnTo>
                <a:lnTo>
                  <a:pt x="1795448" y="67131"/>
                </a:lnTo>
                <a:lnTo>
                  <a:pt x="1818149" y="74727"/>
                </a:lnTo>
                <a:lnTo>
                  <a:pt x="1840715" y="82718"/>
                </a:lnTo>
                <a:lnTo>
                  <a:pt x="1863137" y="91101"/>
                </a:lnTo>
                <a:lnTo>
                  <a:pt x="1885410" y="99875"/>
                </a:lnTo>
                <a:lnTo>
                  <a:pt x="1907527" y="109036"/>
                </a:lnTo>
                <a:lnTo>
                  <a:pt x="1929480" y="118581"/>
                </a:lnTo>
                <a:lnTo>
                  <a:pt x="1951263" y="128508"/>
                </a:lnTo>
                <a:lnTo>
                  <a:pt x="1972870" y="138814"/>
                </a:lnTo>
                <a:lnTo>
                  <a:pt x="1994293" y="149495"/>
                </a:lnTo>
                <a:lnTo>
                  <a:pt x="2015527" y="160549"/>
                </a:lnTo>
                <a:lnTo>
                  <a:pt x="2036565" y="171972"/>
                </a:lnTo>
                <a:lnTo>
                  <a:pt x="2057400" y="183760"/>
                </a:lnTo>
                <a:lnTo>
                  <a:pt x="2078026" y="195909"/>
                </a:lnTo>
                <a:lnTo>
                  <a:pt x="2098437" y="208417"/>
                </a:lnTo>
                <a:lnTo>
                  <a:pt x="2118627" y="221279"/>
                </a:lnTo>
                <a:lnTo>
                  <a:pt x="2138589" y="234492"/>
                </a:lnTo>
                <a:lnTo>
                  <a:pt x="2158317" y="248051"/>
                </a:lnTo>
                <a:lnTo>
                  <a:pt x="2177806" y="261952"/>
                </a:lnTo>
                <a:lnTo>
                  <a:pt x="2197049" y="276192"/>
                </a:lnTo>
                <a:lnTo>
                  <a:pt x="2216041" y="290764"/>
                </a:lnTo>
                <a:lnTo>
                  <a:pt x="2234776" y="305667"/>
                </a:lnTo>
                <a:lnTo>
                  <a:pt x="2253247" y="320893"/>
                </a:lnTo>
                <a:lnTo>
                  <a:pt x="2271451" y="336440"/>
                </a:lnTo>
                <a:lnTo>
                  <a:pt x="2289380" y="352303"/>
                </a:lnTo>
                <a:lnTo>
                  <a:pt x="2307029" y="368475"/>
                </a:lnTo>
                <a:lnTo>
                  <a:pt x="2324393" y="384954"/>
                </a:lnTo>
                <a:lnTo>
                  <a:pt x="2341468" y="401732"/>
                </a:lnTo>
                <a:lnTo>
                  <a:pt x="2358246" y="418807"/>
                </a:lnTo>
                <a:lnTo>
                  <a:pt x="2374725" y="436171"/>
                </a:lnTo>
                <a:lnTo>
                  <a:pt x="2390897" y="453820"/>
                </a:lnTo>
                <a:lnTo>
                  <a:pt x="2406760" y="471749"/>
                </a:lnTo>
                <a:lnTo>
                  <a:pt x="2422307" y="489953"/>
                </a:lnTo>
                <a:lnTo>
                  <a:pt x="2437533" y="508424"/>
                </a:lnTo>
                <a:lnTo>
                  <a:pt x="2452436" y="527159"/>
                </a:lnTo>
                <a:lnTo>
                  <a:pt x="2467008" y="546151"/>
                </a:lnTo>
                <a:lnTo>
                  <a:pt x="2481248" y="565394"/>
                </a:lnTo>
                <a:lnTo>
                  <a:pt x="2495149" y="584883"/>
                </a:lnTo>
                <a:lnTo>
                  <a:pt x="2508708" y="604611"/>
                </a:lnTo>
                <a:lnTo>
                  <a:pt x="2521921" y="624573"/>
                </a:lnTo>
                <a:lnTo>
                  <a:pt x="2534783" y="644763"/>
                </a:lnTo>
                <a:lnTo>
                  <a:pt x="2547291" y="665174"/>
                </a:lnTo>
                <a:lnTo>
                  <a:pt x="2559440" y="685800"/>
                </a:lnTo>
                <a:lnTo>
                  <a:pt x="2571228" y="706635"/>
                </a:lnTo>
                <a:lnTo>
                  <a:pt x="2582651" y="727673"/>
                </a:lnTo>
                <a:lnTo>
                  <a:pt x="2593705" y="748907"/>
                </a:lnTo>
                <a:lnTo>
                  <a:pt x="2604386" y="770330"/>
                </a:lnTo>
                <a:lnTo>
                  <a:pt x="2614692" y="791937"/>
                </a:lnTo>
                <a:lnTo>
                  <a:pt x="2624619" y="813720"/>
                </a:lnTo>
                <a:lnTo>
                  <a:pt x="2634164" y="835673"/>
                </a:lnTo>
                <a:lnTo>
                  <a:pt x="2643325" y="857790"/>
                </a:lnTo>
                <a:lnTo>
                  <a:pt x="2652099" y="880063"/>
                </a:lnTo>
                <a:lnTo>
                  <a:pt x="2660482" y="902485"/>
                </a:lnTo>
                <a:lnTo>
                  <a:pt x="2668473" y="925051"/>
                </a:lnTo>
                <a:lnTo>
                  <a:pt x="2676069" y="947752"/>
                </a:lnTo>
                <a:lnTo>
                  <a:pt x="2683268" y="970583"/>
                </a:lnTo>
                <a:lnTo>
                  <a:pt x="2690067" y="993536"/>
                </a:lnTo>
                <a:lnTo>
                  <a:pt x="2696464" y="1016604"/>
                </a:lnTo>
                <a:lnTo>
                  <a:pt x="2702458" y="1039780"/>
                </a:lnTo>
                <a:lnTo>
                  <a:pt x="2708046" y="1063057"/>
                </a:lnTo>
                <a:lnTo>
                  <a:pt x="2713227" y="1086428"/>
                </a:lnTo>
                <a:lnTo>
                  <a:pt x="2718000" y="1109886"/>
                </a:lnTo>
                <a:lnTo>
                  <a:pt x="2722362" y="1133424"/>
                </a:lnTo>
                <a:lnTo>
                  <a:pt x="2726313" y="1157034"/>
                </a:lnTo>
                <a:lnTo>
                  <a:pt x="2729852" y="1180710"/>
                </a:lnTo>
                <a:lnTo>
                  <a:pt x="2732976" y="1204444"/>
                </a:lnTo>
                <a:lnTo>
                  <a:pt x="2735686" y="1228229"/>
                </a:lnTo>
                <a:lnTo>
                  <a:pt x="2737981" y="1252057"/>
                </a:lnTo>
                <a:lnTo>
                  <a:pt x="2739859" y="1275922"/>
                </a:lnTo>
                <a:lnTo>
                  <a:pt x="2741320" y="1299816"/>
                </a:lnTo>
                <a:lnTo>
                  <a:pt x="2742364" y="1323732"/>
                </a:lnTo>
                <a:lnTo>
                  <a:pt x="2742991" y="1347662"/>
                </a:lnTo>
                <a:lnTo>
                  <a:pt x="2743200" y="1371600"/>
                </a:lnTo>
              </a:path>
            </a:pathLst>
          </a:custGeom>
          <a:noFill xmlns:a="http://schemas.openxmlformats.org/drawingml/2006/main"/>
          <a:ln xmlns:a="http://schemas.openxmlformats.org/drawingml/2006/main" w="11430">
            <a:solidFill>
              <a:srgbClr val="FAFAFA"/>
            </a:solidFill>
            <a:prstDash val="solid"/>
          </a:ln>
        </p:spPr>
      </p:sp>
      <p:sp>
        <p:nvSpPr>
          <p:cNvPr id="6" name="">
            <a:extLst xmlns:a="http://schemas.openxmlformats.org/drawingml/2006/main">
              <a:ext uri="{FF2B5EF4-FFF2-40B4-BE49-F238E27FC236}">
                <a16:creationId xmlns:a16="http://schemas.microsoft.com/office/drawing/2014/main" id="{64FB7891-98AB-4F19-ADDA-0451ABCC27F3}"/>
              </a:ext>
            </a:extLst>
          </p:cNvPr>
          <p:cNvSpPr>
            <a:spLocks xmlns:a="http://schemas.openxmlformats.org/drawingml/2006/main" noGrp="1"/>
          </p:cNvSpPr>
          <p:nvPr/>
        </p:nvSpPr>
        <p:spPr>
          <a:xfrm xmlns:a="http://schemas.openxmlformats.org/drawingml/2006/main">
            <a:off x="6286500" y="2057400"/>
            <a:ext cx="2743200" cy="2743200"/>
          </a:xfrm>
          <a:custGeom xmlns:a="http://schemas.openxmlformats.org/drawingml/2006/main">
            <a:pathLst>
              <a:path w="2743200" h="2743200">
                <a:moveTo>
                  <a:pt x="2743200" y="1371600"/>
                </a:moveTo>
                <a:lnTo>
                  <a:pt x="2742991" y="1395538"/>
                </a:lnTo>
                <a:lnTo>
                  <a:pt x="2742364" y="1419468"/>
                </a:lnTo>
                <a:lnTo>
                  <a:pt x="2741320" y="1443384"/>
                </a:lnTo>
                <a:lnTo>
                  <a:pt x="2739859" y="1467278"/>
                </a:lnTo>
                <a:lnTo>
                  <a:pt x="2737981" y="1491143"/>
                </a:lnTo>
                <a:lnTo>
                  <a:pt x="2735686" y="1514971"/>
                </a:lnTo>
                <a:lnTo>
                  <a:pt x="2732976" y="1538756"/>
                </a:lnTo>
                <a:lnTo>
                  <a:pt x="2729852" y="1562490"/>
                </a:lnTo>
                <a:lnTo>
                  <a:pt x="2726313" y="1586166"/>
                </a:lnTo>
                <a:lnTo>
                  <a:pt x="2722362" y="1609776"/>
                </a:lnTo>
                <a:lnTo>
                  <a:pt x="2718000" y="1633314"/>
                </a:lnTo>
                <a:lnTo>
                  <a:pt x="2713227" y="1656772"/>
                </a:lnTo>
                <a:lnTo>
                  <a:pt x="2708046" y="1680143"/>
                </a:lnTo>
                <a:lnTo>
                  <a:pt x="2702458" y="1703420"/>
                </a:lnTo>
                <a:lnTo>
                  <a:pt x="2696464" y="1726596"/>
                </a:lnTo>
                <a:lnTo>
                  <a:pt x="2690067" y="1749664"/>
                </a:lnTo>
                <a:lnTo>
                  <a:pt x="2683268" y="1772617"/>
                </a:lnTo>
                <a:lnTo>
                  <a:pt x="2676069" y="1795448"/>
                </a:lnTo>
                <a:lnTo>
                  <a:pt x="2668473" y="1818149"/>
                </a:lnTo>
                <a:lnTo>
                  <a:pt x="2660482" y="1840715"/>
                </a:lnTo>
                <a:lnTo>
                  <a:pt x="2652099" y="1863137"/>
                </a:lnTo>
                <a:lnTo>
                  <a:pt x="2643325" y="1885410"/>
                </a:lnTo>
                <a:lnTo>
                  <a:pt x="2634164" y="1907527"/>
                </a:lnTo>
                <a:lnTo>
                  <a:pt x="2624619" y="1929480"/>
                </a:lnTo>
                <a:lnTo>
                  <a:pt x="2614692" y="1951263"/>
                </a:lnTo>
                <a:lnTo>
                  <a:pt x="2604386" y="1972870"/>
                </a:lnTo>
                <a:lnTo>
                  <a:pt x="2593705" y="1994293"/>
                </a:lnTo>
                <a:lnTo>
                  <a:pt x="2582651" y="2015527"/>
                </a:lnTo>
                <a:lnTo>
                  <a:pt x="2571228" y="2036565"/>
                </a:lnTo>
                <a:lnTo>
                  <a:pt x="2559440" y="2057400"/>
                </a:lnTo>
                <a:lnTo>
                  <a:pt x="2547291" y="2078026"/>
                </a:lnTo>
                <a:lnTo>
                  <a:pt x="2534783" y="2098437"/>
                </a:lnTo>
                <a:lnTo>
                  <a:pt x="2521921" y="2118627"/>
                </a:lnTo>
                <a:lnTo>
                  <a:pt x="2508708" y="2138589"/>
                </a:lnTo>
                <a:lnTo>
                  <a:pt x="2495149" y="2158317"/>
                </a:lnTo>
                <a:lnTo>
                  <a:pt x="2481248" y="2177806"/>
                </a:lnTo>
                <a:lnTo>
                  <a:pt x="2467008" y="2197049"/>
                </a:lnTo>
                <a:lnTo>
                  <a:pt x="2452436" y="2216041"/>
                </a:lnTo>
                <a:lnTo>
                  <a:pt x="2437533" y="2234776"/>
                </a:lnTo>
                <a:lnTo>
                  <a:pt x="2422307" y="2253247"/>
                </a:lnTo>
                <a:lnTo>
                  <a:pt x="2406760" y="2271451"/>
                </a:lnTo>
                <a:lnTo>
                  <a:pt x="2390897" y="2289380"/>
                </a:lnTo>
                <a:lnTo>
                  <a:pt x="2374725" y="2307029"/>
                </a:lnTo>
                <a:lnTo>
                  <a:pt x="2358246" y="2324393"/>
                </a:lnTo>
                <a:lnTo>
                  <a:pt x="2341468" y="2341468"/>
                </a:lnTo>
                <a:lnTo>
                  <a:pt x="2324393" y="2358246"/>
                </a:lnTo>
                <a:lnTo>
                  <a:pt x="2307029" y="2374725"/>
                </a:lnTo>
                <a:lnTo>
                  <a:pt x="2289380" y="2390897"/>
                </a:lnTo>
                <a:lnTo>
                  <a:pt x="2271451" y="2406760"/>
                </a:lnTo>
                <a:lnTo>
                  <a:pt x="2253247" y="2422307"/>
                </a:lnTo>
                <a:lnTo>
                  <a:pt x="2234776" y="2437533"/>
                </a:lnTo>
                <a:lnTo>
                  <a:pt x="2216041" y="2452436"/>
                </a:lnTo>
                <a:lnTo>
                  <a:pt x="2197049" y="2467008"/>
                </a:lnTo>
                <a:lnTo>
                  <a:pt x="2177806" y="2481248"/>
                </a:lnTo>
                <a:lnTo>
                  <a:pt x="2158317" y="2495149"/>
                </a:lnTo>
                <a:lnTo>
                  <a:pt x="2138589" y="2508708"/>
                </a:lnTo>
                <a:lnTo>
                  <a:pt x="2118627" y="2521921"/>
                </a:lnTo>
                <a:lnTo>
                  <a:pt x="2098437" y="2534783"/>
                </a:lnTo>
                <a:lnTo>
                  <a:pt x="2078026" y="2547291"/>
                </a:lnTo>
                <a:lnTo>
                  <a:pt x="2057400" y="2559440"/>
                </a:lnTo>
                <a:lnTo>
                  <a:pt x="2036565" y="2571228"/>
                </a:lnTo>
                <a:lnTo>
                  <a:pt x="2015527" y="2582651"/>
                </a:lnTo>
                <a:lnTo>
                  <a:pt x="1994293" y="2593705"/>
                </a:lnTo>
                <a:lnTo>
                  <a:pt x="1972870" y="2604386"/>
                </a:lnTo>
                <a:lnTo>
                  <a:pt x="1951263" y="2614692"/>
                </a:lnTo>
                <a:lnTo>
                  <a:pt x="1929480" y="2624619"/>
                </a:lnTo>
                <a:lnTo>
                  <a:pt x="1907527" y="2634164"/>
                </a:lnTo>
                <a:lnTo>
                  <a:pt x="1885410" y="2643325"/>
                </a:lnTo>
                <a:lnTo>
                  <a:pt x="1863137" y="2652099"/>
                </a:lnTo>
                <a:lnTo>
                  <a:pt x="1840715" y="2660482"/>
                </a:lnTo>
                <a:lnTo>
                  <a:pt x="1818149" y="2668473"/>
                </a:lnTo>
                <a:lnTo>
                  <a:pt x="1795448" y="2676069"/>
                </a:lnTo>
                <a:lnTo>
                  <a:pt x="1772617" y="2683268"/>
                </a:lnTo>
                <a:lnTo>
                  <a:pt x="1749664" y="2690067"/>
                </a:lnTo>
                <a:lnTo>
                  <a:pt x="1726596" y="2696464"/>
                </a:lnTo>
                <a:lnTo>
                  <a:pt x="1703420" y="2702458"/>
                </a:lnTo>
                <a:lnTo>
                  <a:pt x="1680143" y="2708046"/>
                </a:lnTo>
                <a:lnTo>
                  <a:pt x="1656772" y="2713227"/>
                </a:lnTo>
                <a:lnTo>
                  <a:pt x="1633314" y="2718000"/>
                </a:lnTo>
                <a:lnTo>
                  <a:pt x="1609776" y="2722362"/>
                </a:lnTo>
                <a:lnTo>
                  <a:pt x="1586166" y="2726313"/>
                </a:lnTo>
                <a:lnTo>
                  <a:pt x="1562490" y="2729852"/>
                </a:lnTo>
                <a:lnTo>
                  <a:pt x="1538756" y="2732976"/>
                </a:lnTo>
                <a:lnTo>
                  <a:pt x="1514971" y="2735686"/>
                </a:lnTo>
                <a:lnTo>
                  <a:pt x="1491143" y="2737981"/>
                </a:lnTo>
                <a:lnTo>
                  <a:pt x="1467278" y="2739859"/>
                </a:lnTo>
                <a:lnTo>
                  <a:pt x="1443384" y="2741320"/>
                </a:lnTo>
                <a:lnTo>
                  <a:pt x="1419468" y="2742364"/>
                </a:lnTo>
                <a:lnTo>
                  <a:pt x="1395538" y="2742991"/>
                </a:lnTo>
                <a:lnTo>
                  <a:pt x="1371600" y="2743200"/>
                </a:lnTo>
                <a:lnTo>
                  <a:pt x="1347662" y="2742991"/>
                </a:lnTo>
                <a:lnTo>
                  <a:pt x="1323732" y="2742364"/>
                </a:lnTo>
                <a:lnTo>
                  <a:pt x="1299816" y="2741320"/>
                </a:lnTo>
                <a:lnTo>
                  <a:pt x="1275922" y="2739859"/>
                </a:lnTo>
                <a:lnTo>
                  <a:pt x="1252057" y="2737981"/>
                </a:lnTo>
                <a:lnTo>
                  <a:pt x="1228229" y="2735686"/>
                </a:lnTo>
                <a:lnTo>
                  <a:pt x="1204444" y="2732976"/>
                </a:lnTo>
                <a:lnTo>
                  <a:pt x="1180710" y="2729852"/>
                </a:lnTo>
                <a:lnTo>
                  <a:pt x="1157034" y="2726313"/>
                </a:lnTo>
                <a:lnTo>
                  <a:pt x="1133424" y="2722362"/>
                </a:lnTo>
                <a:lnTo>
                  <a:pt x="1109886" y="2718000"/>
                </a:lnTo>
                <a:lnTo>
                  <a:pt x="1086428" y="2713227"/>
                </a:lnTo>
                <a:lnTo>
                  <a:pt x="1063057" y="2708046"/>
                </a:lnTo>
                <a:lnTo>
                  <a:pt x="1039780" y="2702458"/>
                </a:lnTo>
                <a:lnTo>
                  <a:pt x="1016604" y="2696464"/>
                </a:lnTo>
                <a:lnTo>
                  <a:pt x="993536" y="2690067"/>
                </a:lnTo>
                <a:lnTo>
                  <a:pt x="970583" y="2683268"/>
                </a:lnTo>
                <a:lnTo>
                  <a:pt x="947752" y="2676069"/>
                </a:lnTo>
                <a:lnTo>
                  <a:pt x="925051" y="2668473"/>
                </a:lnTo>
                <a:lnTo>
                  <a:pt x="902485" y="2660482"/>
                </a:lnTo>
                <a:lnTo>
                  <a:pt x="880063" y="2652099"/>
                </a:lnTo>
                <a:lnTo>
                  <a:pt x="857790" y="2643325"/>
                </a:lnTo>
                <a:lnTo>
                  <a:pt x="835673" y="2634164"/>
                </a:lnTo>
                <a:lnTo>
                  <a:pt x="813720" y="2624619"/>
                </a:lnTo>
                <a:lnTo>
                  <a:pt x="791937" y="2614692"/>
                </a:lnTo>
                <a:lnTo>
                  <a:pt x="770330" y="2604386"/>
                </a:lnTo>
                <a:lnTo>
                  <a:pt x="748907" y="2593705"/>
                </a:lnTo>
                <a:lnTo>
                  <a:pt x="727673" y="2582651"/>
                </a:lnTo>
                <a:lnTo>
                  <a:pt x="706635" y="2571228"/>
                </a:lnTo>
                <a:lnTo>
                  <a:pt x="685800" y="2559440"/>
                </a:lnTo>
                <a:lnTo>
                  <a:pt x="665174" y="2547291"/>
                </a:lnTo>
                <a:lnTo>
                  <a:pt x="644763" y="2534783"/>
                </a:lnTo>
                <a:lnTo>
                  <a:pt x="624573" y="2521921"/>
                </a:lnTo>
                <a:lnTo>
                  <a:pt x="604611" y="2508708"/>
                </a:lnTo>
                <a:lnTo>
                  <a:pt x="584883" y="2495149"/>
                </a:lnTo>
                <a:lnTo>
                  <a:pt x="565394" y="2481248"/>
                </a:lnTo>
                <a:lnTo>
                  <a:pt x="546151" y="2467008"/>
                </a:lnTo>
                <a:lnTo>
                  <a:pt x="527159" y="2452436"/>
                </a:lnTo>
                <a:lnTo>
                  <a:pt x="508424" y="2437533"/>
                </a:lnTo>
                <a:lnTo>
                  <a:pt x="489953" y="2422307"/>
                </a:lnTo>
                <a:lnTo>
                  <a:pt x="471749" y="2406760"/>
                </a:lnTo>
                <a:lnTo>
                  <a:pt x="453820" y="2390897"/>
                </a:lnTo>
                <a:lnTo>
                  <a:pt x="436171" y="2374725"/>
                </a:lnTo>
                <a:lnTo>
                  <a:pt x="418807" y="2358246"/>
                </a:lnTo>
                <a:lnTo>
                  <a:pt x="401732" y="2341468"/>
                </a:lnTo>
                <a:lnTo>
                  <a:pt x="384954" y="2324393"/>
                </a:lnTo>
                <a:lnTo>
                  <a:pt x="368475" y="2307029"/>
                </a:lnTo>
                <a:lnTo>
                  <a:pt x="352303" y="2289380"/>
                </a:lnTo>
                <a:lnTo>
                  <a:pt x="336440" y="2271451"/>
                </a:lnTo>
                <a:lnTo>
                  <a:pt x="320893" y="2253247"/>
                </a:lnTo>
                <a:lnTo>
                  <a:pt x="305667" y="2234776"/>
                </a:lnTo>
                <a:lnTo>
                  <a:pt x="290764" y="2216041"/>
                </a:lnTo>
                <a:lnTo>
                  <a:pt x="276192" y="2197049"/>
                </a:lnTo>
                <a:lnTo>
                  <a:pt x="261952" y="2177806"/>
                </a:lnTo>
                <a:lnTo>
                  <a:pt x="248051" y="2158317"/>
                </a:lnTo>
                <a:lnTo>
                  <a:pt x="234492" y="2138589"/>
                </a:lnTo>
                <a:lnTo>
                  <a:pt x="221279" y="2118627"/>
                </a:lnTo>
                <a:lnTo>
                  <a:pt x="208417" y="2098437"/>
                </a:lnTo>
                <a:lnTo>
                  <a:pt x="195909" y="2078026"/>
                </a:lnTo>
                <a:lnTo>
                  <a:pt x="183760" y="2057400"/>
                </a:lnTo>
                <a:lnTo>
                  <a:pt x="171972" y="2036565"/>
                </a:lnTo>
                <a:lnTo>
                  <a:pt x="160549" y="2015527"/>
                </a:lnTo>
                <a:lnTo>
                  <a:pt x="149495" y="1994293"/>
                </a:lnTo>
                <a:lnTo>
                  <a:pt x="138814" y="1972870"/>
                </a:lnTo>
                <a:lnTo>
                  <a:pt x="128508" y="1951263"/>
                </a:lnTo>
                <a:lnTo>
                  <a:pt x="118581" y="1929480"/>
                </a:lnTo>
                <a:lnTo>
                  <a:pt x="109036" y="1907527"/>
                </a:lnTo>
                <a:lnTo>
                  <a:pt x="99875" y="1885410"/>
                </a:lnTo>
                <a:lnTo>
                  <a:pt x="91101" y="1863137"/>
                </a:lnTo>
                <a:lnTo>
                  <a:pt x="82718" y="1840715"/>
                </a:lnTo>
                <a:lnTo>
                  <a:pt x="74727" y="1818149"/>
                </a:lnTo>
                <a:lnTo>
                  <a:pt x="67131" y="1795448"/>
                </a:lnTo>
                <a:lnTo>
                  <a:pt x="59932" y="1772617"/>
                </a:lnTo>
                <a:lnTo>
                  <a:pt x="53133" y="1749664"/>
                </a:lnTo>
                <a:lnTo>
                  <a:pt x="46736" y="1726596"/>
                </a:lnTo>
                <a:lnTo>
                  <a:pt x="40742" y="1703420"/>
                </a:lnTo>
                <a:lnTo>
                  <a:pt x="35154" y="1680143"/>
                </a:lnTo>
                <a:lnTo>
                  <a:pt x="29973" y="1656772"/>
                </a:lnTo>
                <a:lnTo>
                  <a:pt x="25200" y="1633314"/>
                </a:lnTo>
                <a:lnTo>
                  <a:pt x="20838" y="1609776"/>
                </a:lnTo>
                <a:lnTo>
                  <a:pt x="16887" y="1586166"/>
                </a:lnTo>
                <a:lnTo>
                  <a:pt x="13348" y="1562490"/>
                </a:lnTo>
                <a:lnTo>
                  <a:pt x="10224" y="1538756"/>
                </a:lnTo>
                <a:lnTo>
                  <a:pt x="7514" y="1514971"/>
                </a:lnTo>
                <a:lnTo>
                  <a:pt x="5219" y="1491143"/>
                </a:lnTo>
                <a:lnTo>
                  <a:pt x="3341" y="1467278"/>
                </a:lnTo>
                <a:lnTo>
                  <a:pt x="1880" y="1443384"/>
                </a:lnTo>
                <a:lnTo>
                  <a:pt x="836" y="1419468"/>
                </a:lnTo>
                <a:lnTo>
                  <a:pt x="209" y="1395538"/>
                </a:lnTo>
                <a:lnTo>
                  <a:pt x="0" y="1371600"/>
                </a:lnTo>
                <a:lnTo>
                  <a:pt x="209" y="1347662"/>
                </a:lnTo>
                <a:lnTo>
                  <a:pt x="836" y="1323732"/>
                </a:lnTo>
                <a:lnTo>
                  <a:pt x="1880" y="1299816"/>
                </a:lnTo>
                <a:lnTo>
                  <a:pt x="3341" y="1275922"/>
                </a:lnTo>
                <a:lnTo>
                  <a:pt x="5219" y="1252057"/>
                </a:lnTo>
                <a:lnTo>
                  <a:pt x="7514" y="1228229"/>
                </a:lnTo>
                <a:lnTo>
                  <a:pt x="10224" y="1204444"/>
                </a:lnTo>
                <a:lnTo>
                  <a:pt x="13348" y="1180710"/>
                </a:lnTo>
                <a:lnTo>
                  <a:pt x="16887" y="1157034"/>
                </a:lnTo>
                <a:lnTo>
                  <a:pt x="20838" y="1133424"/>
                </a:lnTo>
                <a:lnTo>
                  <a:pt x="25200" y="1109886"/>
                </a:lnTo>
                <a:lnTo>
                  <a:pt x="29973" y="1086428"/>
                </a:lnTo>
                <a:lnTo>
                  <a:pt x="35154" y="1063057"/>
                </a:lnTo>
                <a:lnTo>
                  <a:pt x="40742" y="1039780"/>
                </a:lnTo>
                <a:lnTo>
                  <a:pt x="46736" y="1016604"/>
                </a:lnTo>
                <a:lnTo>
                  <a:pt x="53133" y="993536"/>
                </a:lnTo>
                <a:lnTo>
                  <a:pt x="59932" y="970583"/>
                </a:lnTo>
                <a:lnTo>
                  <a:pt x="67131" y="947752"/>
                </a:lnTo>
                <a:lnTo>
                  <a:pt x="74727" y="925051"/>
                </a:lnTo>
                <a:lnTo>
                  <a:pt x="82718" y="902485"/>
                </a:lnTo>
                <a:lnTo>
                  <a:pt x="91101" y="880063"/>
                </a:lnTo>
                <a:lnTo>
                  <a:pt x="99875" y="857790"/>
                </a:lnTo>
                <a:lnTo>
                  <a:pt x="109036" y="835673"/>
                </a:lnTo>
                <a:lnTo>
                  <a:pt x="118581" y="813720"/>
                </a:lnTo>
                <a:lnTo>
                  <a:pt x="128508" y="791937"/>
                </a:lnTo>
                <a:lnTo>
                  <a:pt x="138814" y="770330"/>
                </a:lnTo>
                <a:lnTo>
                  <a:pt x="149495" y="748907"/>
                </a:lnTo>
                <a:lnTo>
                  <a:pt x="160549" y="727673"/>
                </a:lnTo>
                <a:lnTo>
                  <a:pt x="171972" y="706635"/>
                </a:lnTo>
                <a:lnTo>
                  <a:pt x="183760" y="685800"/>
                </a:lnTo>
                <a:lnTo>
                  <a:pt x="195909" y="665174"/>
                </a:lnTo>
                <a:lnTo>
                  <a:pt x="208417" y="644763"/>
                </a:lnTo>
                <a:lnTo>
                  <a:pt x="221279" y="624573"/>
                </a:lnTo>
                <a:lnTo>
                  <a:pt x="234492" y="604611"/>
                </a:lnTo>
                <a:lnTo>
                  <a:pt x="248051" y="584883"/>
                </a:lnTo>
                <a:lnTo>
                  <a:pt x="261952" y="565394"/>
                </a:lnTo>
                <a:lnTo>
                  <a:pt x="276192" y="546151"/>
                </a:lnTo>
                <a:lnTo>
                  <a:pt x="290764" y="527159"/>
                </a:lnTo>
                <a:lnTo>
                  <a:pt x="305667" y="508424"/>
                </a:lnTo>
                <a:lnTo>
                  <a:pt x="320893" y="489953"/>
                </a:lnTo>
                <a:lnTo>
                  <a:pt x="336440" y="471749"/>
                </a:lnTo>
                <a:lnTo>
                  <a:pt x="352303" y="453820"/>
                </a:lnTo>
                <a:lnTo>
                  <a:pt x="368475" y="436171"/>
                </a:lnTo>
                <a:lnTo>
                  <a:pt x="384954" y="418807"/>
                </a:lnTo>
                <a:lnTo>
                  <a:pt x="401732" y="401732"/>
                </a:lnTo>
                <a:lnTo>
                  <a:pt x="418807" y="384954"/>
                </a:lnTo>
                <a:lnTo>
                  <a:pt x="436171" y="368475"/>
                </a:lnTo>
                <a:lnTo>
                  <a:pt x="453820" y="352303"/>
                </a:lnTo>
                <a:lnTo>
                  <a:pt x="471749" y="336440"/>
                </a:lnTo>
                <a:lnTo>
                  <a:pt x="489953" y="320893"/>
                </a:lnTo>
                <a:lnTo>
                  <a:pt x="508424" y="305667"/>
                </a:lnTo>
                <a:lnTo>
                  <a:pt x="527159" y="290764"/>
                </a:lnTo>
                <a:lnTo>
                  <a:pt x="546151" y="276192"/>
                </a:lnTo>
                <a:lnTo>
                  <a:pt x="565394" y="261952"/>
                </a:lnTo>
                <a:lnTo>
                  <a:pt x="584883" y="248051"/>
                </a:lnTo>
                <a:lnTo>
                  <a:pt x="604611" y="234492"/>
                </a:lnTo>
                <a:lnTo>
                  <a:pt x="624573" y="221279"/>
                </a:lnTo>
                <a:lnTo>
                  <a:pt x="644763" y="208417"/>
                </a:lnTo>
                <a:lnTo>
                  <a:pt x="665174" y="195909"/>
                </a:lnTo>
                <a:lnTo>
                  <a:pt x="685800" y="183760"/>
                </a:lnTo>
                <a:lnTo>
                  <a:pt x="706635" y="171972"/>
                </a:lnTo>
                <a:lnTo>
                  <a:pt x="727673" y="160549"/>
                </a:lnTo>
                <a:lnTo>
                  <a:pt x="748907" y="149495"/>
                </a:lnTo>
                <a:lnTo>
                  <a:pt x="770330" y="138814"/>
                </a:lnTo>
                <a:lnTo>
                  <a:pt x="791937" y="128508"/>
                </a:lnTo>
                <a:lnTo>
                  <a:pt x="813720" y="118581"/>
                </a:lnTo>
                <a:lnTo>
                  <a:pt x="835673" y="109036"/>
                </a:lnTo>
                <a:lnTo>
                  <a:pt x="857790" y="99875"/>
                </a:lnTo>
                <a:lnTo>
                  <a:pt x="880063" y="91101"/>
                </a:lnTo>
                <a:lnTo>
                  <a:pt x="902485" y="82718"/>
                </a:lnTo>
                <a:lnTo>
                  <a:pt x="925051" y="74727"/>
                </a:lnTo>
                <a:lnTo>
                  <a:pt x="947752" y="67131"/>
                </a:lnTo>
                <a:lnTo>
                  <a:pt x="970583" y="59932"/>
                </a:lnTo>
                <a:lnTo>
                  <a:pt x="993536" y="53133"/>
                </a:lnTo>
                <a:lnTo>
                  <a:pt x="1016604" y="46736"/>
                </a:lnTo>
                <a:lnTo>
                  <a:pt x="1039780" y="40742"/>
                </a:lnTo>
                <a:lnTo>
                  <a:pt x="1063057" y="35154"/>
                </a:lnTo>
                <a:lnTo>
                  <a:pt x="1086428" y="29973"/>
                </a:lnTo>
                <a:lnTo>
                  <a:pt x="1109886" y="25200"/>
                </a:lnTo>
                <a:lnTo>
                  <a:pt x="1133424" y="20838"/>
                </a:lnTo>
                <a:lnTo>
                  <a:pt x="1157034" y="16887"/>
                </a:lnTo>
                <a:lnTo>
                  <a:pt x="1180710" y="13348"/>
                </a:lnTo>
                <a:lnTo>
                  <a:pt x="1204444" y="10224"/>
                </a:lnTo>
                <a:lnTo>
                  <a:pt x="1228229" y="7514"/>
                </a:lnTo>
                <a:lnTo>
                  <a:pt x="1252057" y="5219"/>
                </a:lnTo>
                <a:lnTo>
                  <a:pt x="1275922" y="3341"/>
                </a:lnTo>
                <a:lnTo>
                  <a:pt x="1299816" y="1880"/>
                </a:lnTo>
                <a:lnTo>
                  <a:pt x="1323732" y="836"/>
                </a:lnTo>
                <a:lnTo>
                  <a:pt x="1347662" y="209"/>
                </a:lnTo>
                <a:lnTo>
                  <a:pt x="1371600" y="0"/>
                </a:lnTo>
                <a:lnTo>
                  <a:pt x="1395538" y="209"/>
                </a:lnTo>
                <a:lnTo>
                  <a:pt x="1419468" y="836"/>
                </a:lnTo>
                <a:lnTo>
                  <a:pt x="1443384" y="1880"/>
                </a:lnTo>
                <a:lnTo>
                  <a:pt x="1467278" y="3341"/>
                </a:lnTo>
                <a:lnTo>
                  <a:pt x="1491143" y="5219"/>
                </a:lnTo>
                <a:lnTo>
                  <a:pt x="1514971" y="7514"/>
                </a:lnTo>
                <a:lnTo>
                  <a:pt x="1538756" y="10224"/>
                </a:lnTo>
                <a:lnTo>
                  <a:pt x="1562490" y="13348"/>
                </a:lnTo>
                <a:lnTo>
                  <a:pt x="1586166" y="16887"/>
                </a:lnTo>
                <a:lnTo>
                  <a:pt x="1609776" y="20838"/>
                </a:lnTo>
                <a:lnTo>
                  <a:pt x="1633314" y="25200"/>
                </a:lnTo>
                <a:lnTo>
                  <a:pt x="1656772" y="29973"/>
                </a:lnTo>
                <a:lnTo>
                  <a:pt x="1680143" y="35154"/>
                </a:lnTo>
                <a:lnTo>
                  <a:pt x="1703420" y="40742"/>
                </a:lnTo>
                <a:lnTo>
                  <a:pt x="1726596" y="46736"/>
                </a:lnTo>
                <a:lnTo>
                  <a:pt x="1749664" y="53133"/>
                </a:lnTo>
                <a:lnTo>
                  <a:pt x="1772617" y="59932"/>
                </a:lnTo>
                <a:lnTo>
                  <a:pt x="1795448" y="67131"/>
                </a:lnTo>
                <a:lnTo>
                  <a:pt x="1818149" y="74727"/>
                </a:lnTo>
                <a:lnTo>
                  <a:pt x="1840715" y="82718"/>
                </a:lnTo>
                <a:lnTo>
                  <a:pt x="1863137" y="91101"/>
                </a:lnTo>
                <a:lnTo>
                  <a:pt x="1885410" y="99875"/>
                </a:lnTo>
                <a:lnTo>
                  <a:pt x="1907527" y="109036"/>
                </a:lnTo>
                <a:lnTo>
                  <a:pt x="1929480" y="118581"/>
                </a:lnTo>
                <a:lnTo>
                  <a:pt x="1951263" y="128508"/>
                </a:lnTo>
                <a:lnTo>
                  <a:pt x="1972870" y="138814"/>
                </a:lnTo>
                <a:lnTo>
                  <a:pt x="1994293" y="149495"/>
                </a:lnTo>
                <a:lnTo>
                  <a:pt x="2015527" y="160549"/>
                </a:lnTo>
                <a:lnTo>
                  <a:pt x="2036565" y="171972"/>
                </a:lnTo>
                <a:lnTo>
                  <a:pt x="2057400" y="183760"/>
                </a:lnTo>
                <a:lnTo>
                  <a:pt x="2078026" y="195909"/>
                </a:lnTo>
                <a:lnTo>
                  <a:pt x="2098437" y="208417"/>
                </a:lnTo>
                <a:lnTo>
                  <a:pt x="2118627" y="221279"/>
                </a:lnTo>
                <a:lnTo>
                  <a:pt x="2138589" y="234492"/>
                </a:lnTo>
                <a:lnTo>
                  <a:pt x="2158317" y="248051"/>
                </a:lnTo>
                <a:lnTo>
                  <a:pt x="2177806" y="261952"/>
                </a:lnTo>
                <a:lnTo>
                  <a:pt x="2197049" y="276192"/>
                </a:lnTo>
                <a:lnTo>
                  <a:pt x="2216041" y="290764"/>
                </a:lnTo>
                <a:lnTo>
                  <a:pt x="2234776" y="305667"/>
                </a:lnTo>
                <a:lnTo>
                  <a:pt x="2253247" y="320893"/>
                </a:lnTo>
                <a:lnTo>
                  <a:pt x="2271451" y="336440"/>
                </a:lnTo>
                <a:lnTo>
                  <a:pt x="2289380" y="352303"/>
                </a:lnTo>
                <a:lnTo>
                  <a:pt x="2307029" y="368475"/>
                </a:lnTo>
                <a:lnTo>
                  <a:pt x="2324393" y="384954"/>
                </a:lnTo>
                <a:lnTo>
                  <a:pt x="2341468" y="401732"/>
                </a:lnTo>
                <a:lnTo>
                  <a:pt x="2358246" y="418807"/>
                </a:lnTo>
                <a:lnTo>
                  <a:pt x="2374725" y="436171"/>
                </a:lnTo>
                <a:lnTo>
                  <a:pt x="2390897" y="453820"/>
                </a:lnTo>
                <a:lnTo>
                  <a:pt x="2406760" y="471749"/>
                </a:lnTo>
                <a:lnTo>
                  <a:pt x="2422307" y="489953"/>
                </a:lnTo>
                <a:lnTo>
                  <a:pt x="2437533" y="508424"/>
                </a:lnTo>
                <a:lnTo>
                  <a:pt x="2452436" y="527159"/>
                </a:lnTo>
                <a:lnTo>
                  <a:pt x="2467008" y="546151"/>
                </a:lnTo>
                <a:lnTo>
                  <a:pt x="2481248" y="565394"/>
                </a:lnTo>
                <a:lnTo>
                  <a:pt x="2495149" y="584883"/>
                </a:lnTo>
                <a:lnTo>
                  <a:pt x="2508708" y="604611"/>
                </a:lnTo>
                <a:lnTo>
                  <a:pt x="2521921" y="624573"/>
                </a:lnTo>
                <a:lnTo>
                  <a:pt x="2534783" y="644763"/>
                </a:lnTo>
                <a:lnTo>
                  <a:pt x="2547291" y="665174"/>
                </a:lnTo>
                <a:lnTo>
                  <a:pt x="2559440" y="685800"/>
                </a:lnTo>
                <a:lnTo>
                  <a:pt x="2571228" y="706635"/>
                </a:lnTo>
                <a:lnTo>
                  <a:pt x="2582651" y="727673"/>
                </a:lnTo>
                <a:lnTo>
                  <a:pt x="2593705" y="748907"/>
                </a:lnTo>
                <a:lnTo>
                  <a:pt x="2604386" y="770330"/>
                </a:lnTo>
                <a:lnTo>
                  <a:pt x="2614692" y="791937"/>
                </a:lnTo>
                <a:lnTo>
                  <a:pt x="2624619" y="813720"/>
                </a:lnTo>
                <a:lnTo>
                  <a:pt x="2634164" y="835673"/>
                </a:lnTo>
                <a:lnTo>
                  <a:pt x="2643325" y="857790"/>
                </a:lnTo>
                <a:lnTo>
                  <a:pt x="2652099" y="880063"/>
                </a:lnTo>
                <a:lnTo>
                  <a:pt x="2660482" y="902485"/>
                </a:lnTo>
                <a:lnTo>
                  <a:pt x="2668473" y="925051"/>
                </a:lnTo>
                <a:lnTo>
                  <a:pt x="2676069" y="947752"/>
                </a:lnTo>
                <a:lnTo>
                  <a:pt x="2683268" y="970583"/>
                </a:lnTo>
                <a:lnTo>
                  <a:pt x="2690067" y="993536"/>
                </a:lnTo>
                <a:lnTo>
                  <a:pt x="2696464" y="1016604"/>
                </a:lnTo>
                <a:lnTo>
                  <a:pt x="2702458" y="1039780"/>
                </a:lnTo>
                <a:lnTo>
                  <a:pt x="2708046" y="1063057"/>
                </a:lnTo>
                <a:lnTo>
                  <a:pt x="2713227" y="1086428"/>
                </a:lnTo>
                <a:lnTo>
                  <a:pt x="2718000" y="1109886"/>
                </a:lnTo>
                <a:lnTo>
                  <a:pt x="2722362" y="1133424"/>
                </a:lnTo>
                <a:lnTo>
                  <a:pt x="2726313" y="1157034"/>
                </a:lnTo>
                <a:lnTo>
                  <a:pt x="2729852" y="1180710"/>
                </a:lnTo>
                <a:lnTo>
                  <a:pt x="2732976" y="1204444"/>
                </a:lnTo>
                <a:lnTo>
                  <a:pt x="2735686" y="1228229"/>
                </a:lnTo>
                <a:lnTo>
                  <a:pt x="2737981" y="1252057"/>
                </a:lnTo>
                <a:lnTo>
                  <a:pt x="2739859" y="1275922"/>
                </a:lnTo>
                <a:lnTo>
                  <a:pt x="2741320" y="1299816"/>
                </a:lnTo>
                <a:lnTo>
                  <a:pt x="2742364" y="1323732"/>
                </a:lnTo>
                <a:lnTo>
                  <a:pt x="2742991" y="1347662"/>
                </a:lnTo>
                <a:lnTo>
                  <a:pt x="2743200" y="1371600"/>
                </a:lnTo>
              </a:path>
            </a:pathLst>
          </a:custGeom>
          <a:noFill xmlns:a="http://schemas.openxmlformats.org/drawingml/2006/main"/>
          <a:ln xmlns:a="http://schemas.openxmlformats.org/drawingml/2006/main" w="9525">
            <a:solidFill>
              <a:srgbClr val="FAFAFA">
                <a:alpha val="48000"/>
              </a:srgbClr>
            </a:solidFill>
            <a:prstDash val="solid"/>
          </a:ln>
        </p:spPr>
      </p:sp>
      <p:sp>
        <p:nvSpPr>
          <p:cNvPr id="7" name="">
            <a:extLst xmlns:a="http://schemas.openxmlformats.org/drawingml/2006/main">
              <a:ext uri="{FF2B5EF4-FFF2-40B4-BE49-F238E27FC236}">
                <a16:creationId xmlns:a16="http://schemas.microsoft.com/office/drawing/2014/main" id="{812F0C87-4074-4DAC-91EB-DD596D298613}"/>
              </a:ext>
            </a:extLst>
          </p:cNvPr>
          <p:cNvSpPr>
            <a:spLocks xmlns:a="http://schemas.openxmlformats.org/drawingml/2006/main" noGrp="1"/>
          </p:cNvSpPr>
          <p:nvPr/>
        </p:nvSpPr>
        <p:spPr>
          <a:xfrm xmlns:a="http://schemas.openxmlformats.org/drawingml/2006/main">
            <a:off x="9734550" y="2057400"/>
            <a:ext cx="2437533" cy="2743200"/>
          </a:xfrm>
          <a:custGeom xmlns:a="http://schemas.openxmlformats.org/drawingml/2006/main">
            <a:pathLst>
              <a:path w="2437533" h="2743200">
                <a:moveTo>
                  <a:pt x="2437533" y="2234776"/>
                </a:moveTo>
                <a:lnTo>
                  <a:pt x="2422307" y="2253247"/>
                </a:lnTo>
                <a:lnTo>
                  <a:pt x="2406760" y="2271451"/>
                </a:lnTo>
                <a:lnTo>
                  <a:pt x="2390897" y="2289380"/>
                </a:lnTo>
                <a:lnTo>
                  <a:pt x="2374725" y="2307029"/>
                </a:lnTo>
                <a:lnTo>
                  <a:pt x="2358246" y="2324393"/>
                </a:lnTo>
                <a:lnTo>
                  <a:pt x="2341468" y="2341468"/>
                </a:lnTo>
                <a:lnTo>
                  <a:pt x="2324393" y="2358246"/>
                </a:lnTo>
                <a:lnTo>
                  <a:pt x="2307029" y="2374725"/>
                </a:lnTo>
                <a:lnTo>
                  <a:pt x="2289380" y="2390897"/>
                </a:lnTo>
                <a:lnTo>
                  <a:pt x="2271451" y="2406760"/>
                </a:lnTo>
                <a:lnTo>
                  <a:pt x="2253247" y="2422307"/>
                </a:lnTo>
                <a:lnTo>
                  <a:pt x="2234776" y="2437533"/>
                </a:lnTo>
                <a:lnTo>
                  <a:pt x="2216041" y="2452436"/>
                </a:lnTo>
                <a:lnTo>
                  <a:pt x="2197049" y="2467008"/>
                </a:lnTo>
                <a:lnTo>
                  <a:pt x="2177806" y="2481248"/>
                </a:lnTo>
                <a:lnTo>
                  <a:pt x="2158317" y="2495149"/>
                </a:lnTo>
                <a:lnTo>
                  <a:pt x="2138589" y="2508708"/>
                </a:lnTo>
                <a:lnTo>
                  <a:pt x="2118627" y="2521921"/>
                </a:lnTo>
                <a:lnTo>
                  <a:pt x="2098437" y="2534783"/>
                </a:lnTo>
                <a:lnTo>
                  <a:pt x="2078026" y="2547291"/>
                </a:lnTo>
                <a:lnTo>
                  <a:pt x="2057400" y="2559440"/>
                </a:lnTo>
                <a:lnTo>
                  <a:pt x="2036565" y="2571228"/>
                </a:lnTo>
                <a:lnTo>
                  <a:pt x="2015527" y="2582651"/>
                </a:lnTo>
                <a:lnTo>
                  <a:pt x="1994293" y="2593705"/>
                </a:lnTo>
                <a:lnTo>
                  <a:pt x="1972870" y="2604386"/>
                </a:lnTo>
                <a:lnTo>
                  <a:pt x="1951263" y="2614692"/>
                </a:lnTo>
                <a:lnTo>
                  <a:pt x="1929480" y="2624619"/>
                </a:lnTo>
                <a:lnTo>
                  <a:pt x="1907527" y="2634164"/>
                </a:lnTo>
                <a:lnTo>
                  <a:pt x="1885410" y="2643325"/>
                </a:lnTo>
                <a:lnTo>
                  <a:pt x="1863137" y="2652099"/>
                </a:lnTo>
                <a:lnTo>
                  <a:pt x="1840715" y="2660482"/>
                </a:lnTo>
                <a:lnTo>
                  <a:pt x="1818149" y="2668473"/>
                </a:lnTo>
                <a:lnTo>
                  <a:pt x="1795448" y="2676069"/>
                </a:lnTo>
                <a:lnTo>
                  <a:pt x="1772617" y="2683268"/>
                </a:lnTo>
                <a:lnTo>
                  <a:pt x="1749664" y="2690067"/>
                </a:lnTo>
                <a:lnTo>
                  <a:pt x="1726596" y="2696464"/>
                </a:lnTo>
                <a:lnTo>
                  <a:pt x="1703420" y="2702458"/>
                </a:lnTo>
                <a:lnTo>
                  <a:pt x="1680143" y="2708046"/>
                </a:lnTo>
                <a:lnTo>
                  <a:pt x="1656772" y="2713227"/>
                </a:lnTo>
                <a:lnTo>
                  <a:pt x="1633314" y="2718000"/>
                </a:lnTo>
                <a:lnTo>
                  <a:pt x="1609776" y="2722362"/>
                </a:lnTo>
                <a:lnTo>
                  <a:pt x="1586166" y="2726313"/>
                </a:lnTo>
                <a:lnTo>
                  <a:pt x="1562490" y="2729852"/>
                </a:lnTo>
                <a:lnTo>
                  <a:pt x="1538756" y="2732976"/>
                </a:lnTo>
                <a:lnTo>
                  <a:pt x="1514971" y="2735686"/>
                </a:lnTo>
                <a:lnTo>
                  <a:pt x="1491143" y="2737981"/>
                </a:lnTo>
                <a:lnTo>
                  <a:pt x="1467278" y="2739859"/>
                </a:lnTo>
                <a:lnTo>
                  <a:pt x="1443384" y="2741320"/>
                </a:lnTo>
                <a:lnTo>
                  <a:pt x="1419468" y="2742364"/>
                </a:lnTo>
                <a:lnTo>
                  <a:pt x="1395538" y="2742991"/>
                </a:lnTo>
                <a:lnTo>
                  <a:pt x="1371600" y="2743200"/>
                </a:lnTo>
                <a:lnTo>
                  <a:pt x="1347662" y="2742991"/>
                </a:lnTo>
                <a:lnTo>
                  <a:pt x="1323732" y="2742364"/>
                </a:lnTo>
                <a:lnTo>
                  <a:pt x="1299816" y="2741320"/>
                </a:lnTo>
                <a:lnTo>
                  <a:pt x="1275922" y="2739859"/>
                </a:lnTo>
                <a:lnTo>
                  <a:pt x="1252057" y="2737981"/>
                </a:lnTo>
                <a:lnTo>
                  <a:pt x="1228229" y="2735686"/>
                </a:lnTo>
                <a:lnTo>
                  <a:pt x="1204444" y="2732976"/>
                </a:lnTo>
                <a:lnTo>
                  <a:pt x="1180710" y="2729852"/>
                </a:lnTo>
                <a:lnTo>
                  <a:pt x="1157034" y="2726313"/>
                </a:lnTo>
                <a:lnTo>
                  <a:pt x="1133424" y="2722362"/>
                </a:lnTo>
                <a:lnTo>
                  <a:pt x="1109886" y="2718000"/>
                </a:lnTo>
                <a:lnTo>
                  <a:pt x="1086428" y="2713227"/>
                </a:lnTo>
                <a:lnTo>
                  <a:pt x="1063057" y="2708046"/>
                </a:lnTo>
                <a:lnTo>
                  <a:pt x="1039780" y="2702458"/>
                </a:lnTo>
                <a:lnTo>
                  <a:pt x="1016604" y="2696464"/>
                </a:lnTo>
                <a:lnTo>
                  <a:pt x="993536" y="2690067"/>
                </a:lnTo>
                <a:lnTo>
                  <a:pt x="970583" y="2683268"/>
                </a:lnTo>
                <a:lnTo>
                  <a:pt x="947752" y="2676069"/>
                </a:lnTo>
                <a:lnTo>
                  <a:pt x="925051" y="2668473"/>
                </a:lnTo>
                <a:lnTo>
                  <a:pt x="902485" y="2660482"/>
                </a:lnTo>
                <a:lnTo>
                  <a:pt x="880063" y="2652099"/>
                </a:lnTo>
                <a:lnTo>
                  <a:pt x="857790" y="2643325"/>
                </a:lnTo>
                <a:lnTo>
                  <a:pt x="835673" y="2634164"/>
                </a:lnTo>
                <a:lnTo>
                  <a:pt x="813720" y="2624619"/>
                </a:lnTo>
                <a:lnTo>
                  <a:pt x="791937" y="2614692"/>
                </a:lnTo>
                <a:lnTo>
                  <a:pt x="770330" y="2604386"/>
                </a:lnTo>
                <a:lnTo>
                  <a:pt x="748907" y="2593705"/>
                </a:lnTo>
                <a:lnTo>
                  <a:pt x="727673" y="2582651"/>
                </a:lnTo>
                <a:lnTo>
                  <a:pt x="706635" y="2571228"/>
                </a:lnTo>
                <a:lnTo>
                  <a:pt x="685800" y="2559440"/>
                </a:lnTo>
                <a:lnTo>
                  <a:pt x="665174" y="2547291"/>
                </a:lnTo>
                <a:lnTo>
                  <a:pt x="644763" y="2534783"/>
                </a:lnTo>
                <a:lnTo>
                  <a:pt x="624573" y="2521921"/>
                </a:lnTo>
                <a:lnTo>
                  <a:pt x="604611" y="2508708"/>
                </a:lnTo>
                <a:lnTo>
                  <a:pt x="584883" y="2495149"/>
                </a:lnTo>
                <a:lnTo>
                  <a:pt x="565394" y="2481248"/>
                </a:lnTo>
                <a:lnTo>
                  <a:pt x="546151" y="2467008"/>
                </a:lnTo>
                <a:lnTo>
                  <a:pt x="527159" y="2452436"/>
                </a:lnTo>
                <a:lnTo>
                  <a:pt x="508424" y="2437533"/>
                </a:lnTo>
                <a:lnTo>
                  <a:pt x="489953" y="2422307"/>
                </a:lnTo>
                <a:lnTo>
                  <a:pt x="471749" y="2406760"/>
                </a:lnTo>
                <a:lnTo>
                  <a:pt x="453820" y="2390897"/>
                </a:lnTo>
                <a:lnTo>
                  <a:pt x="436171" y="2374725"/>
                </a:lnTo>
                <a:lnTo>
                  <a:pt x="418807" y="2358246"/>
                </a:lnTo>
                <a:lnTo>
                  <a:pt x="401732" y="2341468"/>
                </a:lnTo>
                <a:lnTo>
                  <a:pt x="384954" y="2324393"/>
                </a:lnTo>
                <a:lnTo>
                  <a:pt x="368475" y="2307029"/>
                </a:lnTo>
                <a:lnTo>
                  <a:pt x="352303" y="2289380"/>
                </a:lnTo>
                <a:lnTo>
                  <a:pt x="336440" y="2271451"/>
                </a:lnTo>
                <a:lnTo>
                  <a:pt x="320893" y="2253247"/>
                </a:lnTo>
                <a:lnTo>
                  <a:pt x="305667" y="2234776"/>
                </a:lnTo>
                <a:lnTo>
                  <a:pt x="290764" y="2216041"/>
                </a:lnTo>
                <a:lnTo>
                  <a:pt x="276192" y="2197049"/>
                </a:lnTo>
                <a:lnTo>
                  <a:pt x="261952" y="2177806"/>
                </a:lnTo>
                <a:lnTo>
                  <a:pt x="248051" y="2158317"/>
                </a:lnTo>
                <a:lnTo>
                  <a:pt x="234492" y="2138589"/>
                </a:lnTo>
                <a:lnTo>
                  <a:pt x="221279" y="2118627"/>
                </a:lnTo>
                <a:lnTo>
                  <a:pt x="208417" y="2098437"/>
                </a:lnTo>
                <a:lnTo>
                  <a:pt x="195909" y="2078026"/>
                </a:lnTo>
                <a:lnTo>
                  <a:pt x="183760" y="2057400"/>
                </a:lnTo>
                <a:lnTo>
                  <a:pt x="171972" y="2036565"/>
                </a:lnTo>
                <a:lnTo>
                  <a:pt x="160549" y="2015527"/>
                </a:lnTo>
                <a:lnTo>
                  <a:pt x="149495" y="1994293"/>
                </a:lnTo>
                <a:lnTo>
                  <a:pt x="138814" y="1972870"/>
                </a:lnTo>
                <a:lnTo>
                  <a:pt x="128508" y="1951263"/>
                </a:lnTo>
                <a:lnTo>
                  <a:pt x="118581" y="1929480"/>
                </a:lnTo>
                <a:lnTo>
                  <a:pt x="109036" y="1907527"/>
                </a:lnTo>
                <a:lnTo>
                  <a:pt x="99875" y="1885410"/>
                </a:lnTo>
                <a:lnTo>
                  <a:pt x="91101" y="1863137"/>
                </a:lnTo>
                <a:lnTo>
                  <a:pt x="82718" y="1840715"/>
                </a:lnTo>
                <a:lnTo>
                  <a:pt x="74727" y="1818149"/>
                </a:lnTo>
                <a:lnTo>
                  <a:pt x="67131" y="1795448"/>
                </a:lnTo>
                <a:lnTo>
                  <a:pt x="59932" y="1772617"/>
                </a:lnTo>
                <a:lnTo>
                  <a:pt x="53133" y="1749664"/>
                </a:lnTo>
                <a:lnTo>
                  <a:pt x="46736" y="1726596"/>
                </a:lnTo>
                <a:lnTo>
                  <a:pt x="40742" y="1703420"/>
                </a:lnTo>
                <a:lnTo>
                  <a:pt x="35154" y="1680143"/>
                </a:lnTo>
                <a:lnTo>
                  <a:pt x="29973" y="1656772"/>
                </a:lnTo>
                <a:lnTo>
                  <a:pt x="25200" y="1633314"/>
                </a:lnTo>
                <a:lnTo>
                  <a:pt x="20838" y="1609776"/>
                </a:lnTo>
                <a:lnTo>
                  <a:pt x="16887" y="1586166"/>
                </a:lnTo>
                <a:lnTo>
                  <a:pt x="13348" y="1562490"/>
                </a:lnTo>
                <a:lnTo>
                  <a:pt x="10224" y="1538756"/>
                </a:lnTo>
                <a:lnTo>
                  <a:pt x="7514" y="1514971"/>
                </a:lnTo>
                <a:lnTo>
                  <a:pt x="5219" y="1491143"/>
                </a:lnTo>
                <a:lnTo>
                  <a:pt x="3341" y="1467278"/>
                </a:lnTo>
                <a:lnTo>
                  <a:pt x="1880" y="1443384"/>
                </a:lnTo>
                <a:lnTo>
                  <a:pt x="836" y="1419468"/>
                </a:lnTo>
                <a:lnTo>
                  <a:pt x="209" y="1395538"/>
                </a:lnTo>
                <a:lnTo>
                  <a:pt x="0" y="1371600"/>
                </a:lnTo>
                <a:lnTo>
                  <a:pt x="209" y="1347662"/>
                </a:lnTo>
                <a:lnTo>
                  <a:pt x="836" y="1323732"/>
                </a:lnTo>
                <a:lnTo>
                  <a:pt x="1880" y="1299816"/>
                </a:lnTo>
                <a:lnTo>
                  <a:pt x="3341" y="1275922"/>
                </a:lnTo>
                <a:lnTo>
                  <a:pt x="5219" y="1252057"/>
                </a:lnTo>
                <a:lnTo>
                  <a:pt x="7514" y="1228229"/>
                </a:lnTo>
                <a:lnTo>
                  <a:pt x="10224" y="1204444"/>
                </a:lnTo>
                <a:lnTo>
                  <a:pt x="13348" y="1180710"/>
                </a:lnTo>
                <a:lnTo>
                  <a:pt x="16887" y="1157034"/>
                </a:lnTo>
                <a:lnTo>
                  <a:pt x="20838" y="1133424"/>
                </a:lnTo>
                <a:lnTo>
                  <a:pt x="25200" y="1109886"/>
                </a:lnTo>
                <a:lnTo>
                  <a:pt x="29973" y="1086428"/>
                </a:lnTo>
                <a:lnTo>
                  <a:pt x="35154" y="1063057"/>
                </a:lnTo>
                <a:lnTo>
                  <a:pt x="40742" y="1039780"/>
                </a:lnTo>
                <a:lnTo>
                  <a:pt x="46736" y="1016604"/>
                </a:lnTo>
                <a:lnTo>
                  <a:pt x="53133" y="993536"/>
                </a:lnTo>
                <a:lnTo>
                  <a:pt x="59932" y="970583"/>
                </a:lnTo>
                <a:lnTo>
                  <a:pt x="67131" y="947752"/>
                </a:lnTo>
                <a:lnTo>
                  <a:pt x="74727" y="925051"/>
                </a:lnTo>
                <a:lnTo>
                  <a:pt x="82718" y="902485"/>
                </a:lnTo>
                <a:lnTo>
                  <a:pt x="91101" y="880063"/>
                </a:lnTo>
                <a:lnTo>
                  <a:pt x="99875" y="857790"/>
                </a:lnTo>
                <a:lnTo>
                  <a:pt x="109036" y="835673"/>
                </a:lnTo>
                <a:lnTo>
                  <a:pt x="118581" y="813720"/>
                </a:lnTo>
                <a:lnTo>
                  <a:pt x="128508" y="791937"/>
                </a:lnTo>
                <a:lnTo>
                  <a:pt x="138814" y="770330"/>
                </a:lnTo>
                <a:lnTo>
                  <a:pt x="149495" y="748907"/>
                </a:lnTo>
                <a:lnTo>
                  <a:pt x="160549" y="727673"/>
                </a:lnTo>
                <a:lnTo>
                  <a:pt x="171972" y="706635"/>
                </a:lnTo>
                <a:lnTo>
                  <a:pt x="183760" y="685800"/>
                </a:lnTo>
                <a:lnTo>
                  <a:pt x="195909" y="665174"/>
                </a:lnTo>
                <a:lnTo>
                  <a:pt x="208417" y="644763"/>
                </a:lnTo>
                <a:lnTo>
                  <a:pt x="221279" y="624573"/>
                </a:lnTo>
                <a:lnTo>
                  <a:pt x="234492" y="604611"/>
                </a:lnTo>
                <a:lnTo>
                  <a:pt x="248051" y="584883"/>
                </a:lnTo>
                <a:lnTo>
                  <a:pt x="261952" y="565394"/>
                </a:lnTo>
                <a:lnTo>
                  <a:pt x="276192" y="546151"/>
                </a:lnTo>
                <a:lnTo>
                  <a:pt x="290764" y="527159"/>
                </a:lnTo>
                <a:lnTo>
                  <a:pt x="305667" y="508424"/>
                </a:lnTo>
                <a:lnTo>
                  <a:pt x="320893" y="489953"/>
                </a:lnTo>
                <a:lnTo>
                  <a:pt x="336440" y="471749"/>
                </a:lnTo>
                <a:lnTo>
                  <a:pt x="352303" y="453820"/>
                </a:lnTo>
                <a:lnTo>
                  <a:pt x="368475" y="436171"/>
                </a:lnTo>
                <a:lnTo>
                  <a:pt x="384954" y="418807"/>
                </a:lnTo>
                <a:lnTo>
                  <a:pt x="401732" y="401732"/>
                </a:lnTo>
                <a:lnTo>
                  <a:pt x="418807" y="384954"/>
                </a:lnTo>
                <a:lnTo>
                  <a:pt x="436171" y="368475"/>
                </a:lnTo>
                <a:lnTo>
                  <a:pt x="453820" y="352303"/>
                </a:lnTo>
                <a:lnTo>
                  <a:pt x="471749" y="336440"/>
                </a:lnTo>
                <a:lnTo>
                  <a:pt x="489953" y="320893"/>
                </a:lnTo>
                <a:lnTo>
                  <a:pt x="508424" y="305667"/>
                </a:lnTo>
                <a:lnTo>
                  <a:pt x="527159" y="290764"/>
                </a:lnTo>
                <a:lnTo>
                  <a:pt x="546151" y="276192"/>
                </a:lnTo>
                <a:lnTo>
                  <a:pt x="565394" y="261952"/>
                </a:lnTo>
                <a:lnTo>
                  <a:pt x="584883" y="248051"/>
                </a:lnTo>
                <a:lnTo>
                  <a:pt x="604611" y="234492"/>
                </a:lnTo>
                <a:lnTo>
                  <a:pt x="624573" y="221279"/>
                </a:lnTo>
                <a:lnTo>
                  <a:pt x="644763" y="208417"/>
                </a:lnTo>
                <a:lnTo>
                  <a:pt x="665174" y="195909"/>
                </a:lnTo>
                <a:lnTo>
                  <a:pt x="685800" y="183760"/>
                </a:lnTo>
                <a:lnTo>
                  <a:pt x="706635" y="171972"/>
                </a:lnTo>
                <a:lnTo>
                  <a:pt x="727673" y="160549"/>
                </a:lnTo>
                <a:lnTo>
                  <a:pt x="748907" y="149495"/>
                </a:lnTo>
                <a:lnTo>
                  <a:pt x="770330" y="138814"/>
                </a:lnTo>
                <a:lnTo>
                  <a:pt x="791937" y="128508"/>
                </a:lnTo>
                <a:lnTo>
                  <a:pt x="813720" y="118581"/>
                </a:lnTo>
                <a:lnTo>
                  <a:pt x="835673" y="109036"/>
                </a:lnTo>
                <a:lnTo>
                  <a:pt x="857790" y="99875"/>
                </a:lnTo>
                <a:lnTo>
                  <a:pt x="880063" y="91101"/>
                </a:lnTo>
                <a:lnTo>
                  <a:pt x="902485" y="82718"/>
                </a:lnTo>
                <a:lnTo>
                  <a:pt x="925051" y="74727"/>
                </a:lnTo>
                <a:lnTo>
                  <a:pt x="947752" y="67131"/>
                </a:lnTo>
                <a:lnTo>
                  <a:pt x="970583" y="59932"/>
                </a:lnTo>
                <a:lnTo>
                  <a:pt x="993536" y="53133"/>
                </a:lnTo>
                <a:lnTo>
                  <a:pt x="1016604" y="46736"/>
                </a:lnTo>
                <a:lnTo>
                  <a:pt x="1039780" y="40742"/>
                </a:lnTo>
                <a:lnTo>
                  <a:pt x="1063057" y="35154"/>
                </a:lnTo>
                <a:lnTo>
                  <a:pt x="1086428" y="29973"/>
                </a:lnTo>
                <a:lnTo>
                  <a:pt x="1109886" y="25200"/>
                </a:lnTo>
                <a:lnTo>
                  <a:pt x="1133424" y="20838"/>
                </a:lnTo>
                <a:lnTo>
                  <a:pt x="1157034" y="16887"/>
                </a:lnTo>
                <a:lnTo>
                  <a:pt x="1180710" y="13348"/>
                </a:lnTo>
                <a:lnTo>
                  <a:pt x="1204444" y="10224"/>
                </a:lnTo>
                <a:lnTo>
                  <a:pt x="1228229" y="7514"/>
                </a:lnTo>
                <a:lnTo>
                  <a:pt x="1252057" y="5219"/>
                </a:lnTo>
                <a:lnTo>
                  <a:pt x="1275922" y="3341"/>
                </a:lnTo>
                <a:lnTo>
                  <a:pt x="1299816" y="1880"/>
                </a:lnTo>
                <a:lnTo>
                  <a:pt x="1323732" y="836"/>
                </a:lnTo>
                <a:lnTo>
                  <a:pt x="1347662" y="209"/>
                </a:lnTo>
                <a:lnTo>
                  <a:pt x="1371600" y="0"/>
                </a:lnTo>
                <a:lnTo>
                  <a:pt x="1395538" y="209"/>
                </a:lnTo>
                <a:lnTo>
                  <a:pt x="1419468" y="836"/>
                </a:lnTo>
                <a:lnTo>
                  <a:pt x="1443384" y="1880"/>
                </a:lnTo>
                <a:lnTo>
                  <a:pt x="1467278" y="3341"/>
                </a:lnTo>
                <a:lnTo>
                  <a:pt x="1491143" y="5219"/>
                </a:lnTo>
                <a:lnTo>
                  <a:pt x="1514971" y="7514"/>
                </a:lnTo>
                <a:lnTo>
                  <a:pt x="1538756" y="10224"/>
                </a:lnTo>
                <a:lnTo>
                  <a:pt x="1562490" y="13348"/>
                </a:lnTo>
                <a:lnTo>
                  <a:pt x="1586166" y="16887"/>
                </a:lnTo>
                <a:lnTo>
                  <a:pt x="1609776" y="20838"/>
                </a:lnTo>
                <a:lnTo>
                  <a:pt x="1633314" y="25200"/>
                </a:lnTo>
                <a:lnTo>
                  <a:pt x="1656772" y="29973"/>
                </a:lnTo>
                <a:lnTo>
                  <a:pt x="1680143" y="35154"/>
                </a:lnTo>
                <a:lnTo>
                  <a:pt x="1703420" y="40742"/>
                </a:lnTo>
                <a:lnTo>
                  <a:pt x="1726596" y="46736"/>
                </a:lnTo>
                <a:lnTo>
                  <a:pt x="1749664" y="53133"/>
                </a:lnTo>
                <a:lnTo>
                  <a:pt x="1772617" y="59932"/>
                </a:lnTo>
                <a:lnTo>
                  <a:pt x="1795448" y="67131"/>
                </a:lnTo>
                <a:lnTo>
                  <a:pt x="1818149" y="74727"/>
                </a:lnTo>
                <a:lnTo>
                  <a:pt x="1840715" y="82718"/>
                </a:lnTo>
                <a:lnTo>
                  <a:pt x="1863137" y="91101"/>
                </a:lnTo>
                <a:lnTo>
                  <a:pt x="1885410" y="99875"/>
                </a:lnTo>
                <a:lnTo>
                  <a:pt x="1907527" y="109036"/>
                </a:lnTo>
                <a:lnTo>
                  <a:pt x="1929480" y="118581"/>
                </a:lnTo>
                <a:lnTo>
                  <a:pt x="1951263" y="128508"/>
                </a:lnTo>
                <a:lnTo>
                  <a:pt x="1972870" y="138814"/>
                </a:lnTo>
                <a:lnTo>
                  <a:pt x="1994293" y="149495"/>
                </a:lnTo>
                <a:lnTo>
                  <a:pt x="2015527" y="160549"/>
                </a:lnTo>
                <a:lnTo>
                  <a:pt x="2036565" y="171972"/>
                </a:lnTo>
                <a:lnTo>
                  <a:pt x="2057400" y="183760"/>
                </a:lnTo>
                <a:lnTo>
                  <a:pt x="2078026" y="195909"/>
                </a:lnTo>
                <a:lnTo>
                  <a:pt x="2098437" y="208417"/>
                </a:lnTo>
                <a:lnTo>
                  <a:pt x="2118627" y="221279"/>
                </a:lnTo>
                <a:lnTo>
                  <a:pt x="2138589" y="234492"/>
                </a:lnTo>
                <a:lnTo>
                  <a:pt x="2158317" y="248051"/>
                </a:lnTo>
                <a:lnTo>
                  <a:pt x="2177806" y="261952"/>
                </a:lnTo>
                <a:lnTo>
                  <a:pt x="2197049" y="276192"/>
                </a:lnTo>
                <a:lnTo>
                  <a:pt x="2216041" y="290764"/>
                </a:lnTo>
                <a:lnTo>
                  <a:pt x="2234776" y="305667"/>
                </a:lnTo>
                <a:lnTo>
                  <a:pt x="2253247" y="320893"/>
                </a:lnTo>
                <a:lnTo>
                  <a:pt x="2271451" y="336440"/>
                </a:lnTo>
                <a:lnTo>
                  <a:pt x="2289380" y="352303"/>
                </a:lnTo>
                <a:lnTo>
                  <a:pt x="2307029" y="368475"/>
                </a:lnTo>
                <a:lnTo>
                  <a:pt x="2324393" y="384954"/>
                </a:lnTo>
                <a:lnTo>
                  <a:pt x="2341468" y="401732"/>
                </a:lnTo>
                <a:lnTo>
                  <a:pt x="2358246" y="418807"/>
                </a:lnTo>
                <a:lnTo>
                  <a:pt x="2374725" y="436171"/>
                </a:lnTo>
                <a:lnTo>
                  <a:pt x="2390897" y="453820"/>
                </a:lnTo>
                <a:lnTo>
                  <a:pt x="2406760" y="471749"/>
                </a:lnTo>
                <a:lnTo>
                  <a:pt x="2422307" y="489953"/>
                </a:lnTo>
                <a:lnTo>
                  <a:pt x="2437533" y="508424"/>
                </a:lnTo>
              </a:path>
            </a:pathLst>
          </a:custGeom>
          <a:noFill xmlns:a="http://schemas.openxmlformats.org/drawingml/2006/main"/>
          <a:ln xmlns:a="http://schemas.openxmlformats.org/drawingml/2006/main" w="9525">
            <a:solidFill>
              <a:srgbClr val="FAFAFA">
                <a:alpha val="35000"/>
              </a:srgbClr>
            </a:solidFill>
            <a:prstDash val="solid"/>
          </a:ln>
        </p:spPr>
      </p:sp>
      <p:sp>
        <p:nvSpPr>
          <p:cNvPr id="8" name="">
            <a:extLst xmlns:a="http://schemas.openxmlformats.org/drawingml/2006/main">
              <a:ext uri="{FF2B5EF4-FFF2-40B4-BE49-F238E27FC236}">
                <a16:creationId xmlns:a16="http://schemas.microsoft.com/office/drawing/2014/main" id="{DD12E435-96B1-4FE1-BCC8-56214676023F}"/>
              </a:ext>
            </a:extLst>
          </p:cNvPr>
          <p:cNvSpPr>
            <a:spLocks xmlns:a="http://schemas.openxmlformats.org/drawingml/2006/main" noGrp="1"/>
          </p:cNvSpPr>
          <p:nvPr/>
        </p:nvSpPr>
        <p:spPr>
          <a:xfrm xmlns:a="http://schemas.openxmlformats.org/drawingml/2006/main">
            <a:off x="4977039" y="2291892"/>
            <a:ext cx="537480" cy="713260"/>
          </a:xfrm>
          <a:custGeom xmlns:a="http://schemas.openxmlformats.org/drawingml/2006/main">
            <a:pathLst>
              <a:path w="537480" h="713260">
                <a:moveTo>
                  <a:pt x="0" y="0"/>
                </a:moveTo>
                <a:lnTo>
                  <a:pt x="19728" y="13559"/>
                </a:lnTo>
                <a:lnTo>
                  <a:pt x="39217" y="27460"/>
                </a:lnTo>
                <a:lnTo>
                  <a:pt x="58460" y="41699"/>
                </a:lnTo>
                <a:lnTo>
                  <a:pt x="77452" y="56272"/>
                </a:lnTo>
                <a:lnTo>
                  <a:pt x="96187" y="71175"/>
                </a:lnTo>
                <a:lnTo>
                  <a:pt x="114658" y="86401"/>
                </a:lnTo>
                <a:lnTo>
                  <a:pt x="132862" y="101948"/>
                </a:lnTo>
                <a:lnTo>
                  <a:pt x="150791" y="117810"/>
                </a:lnTo>
                <a:lnTo>
                  <a:pt x="168440" y="133983"/>
                </a:lnTo>
                <a:lnTo>
                  <a:pt x="185804" y="150461"/>
                </a:lnTo>
                <a:lnTo>
                  <a:pt x="202879" y="167240"/>
                </a:lnTo>
                <a:lnTo>
                  <a:pt x="219657" y="184315"/>
                </a:lnTo>
                <a:lnTo>
                  <a:pt x="236136" y="201679"/>
                </a:lnTo>
                <a:lnTo>
                  <a:pt x="252308" y="219328"/>
                </a:lnTo>
                <a:lnTo>
                  <a:pt x="268171" y="237257"/>
                </a:lnTo>
                <a:lnTo>
                  <a:pt x="283718" y="255460"/>
                </a:lnTo>
                <a:lnTo>
                  <a:pt x="298944" y="273932"/>
                </a:lnTo>
                <a:lnTo>
                  <a:pt x="313847" y="292667"/>
                </a:lnTo>
                <a:lnTo>
                  <a:pt x="328419" y="311658"/>
                </a:lnTo>
                <a:lnTo>
                  <a:pt x="342659" y="330902"/>
                </a:lnTo>
                <a:lnTo>
                  <a:pt x="356560" y="350390"/>
                </a:lnTo>
                <a:lnTo>
                  <a:pt x="370119" y="370119"/>
                </a:lnTo>
                <a:lnTo>
                  <a:pt x="383332" y="390081"/>
                </a:lnTo>
                <a:lnTo>
                  <a:pt x="396194" y="410271"/>
                </a:lnTo>
                <a:lnTo>
                  <a:pt x="408702" y="430682"/>
                </a:lnTo>
                <a:lnTo>
                  <a:pt x="420851" y="451308"/>
                </a:lnTo>
                <a:lnTo>
                  <a:pt x="432639" y="472143"/>
                </a:lnTo>
                <a:lnTo>
                  <a:pt x="444062" y="493181"/>
                </a:lnTo>
                <a:lnTo>
                  <a:pt x="455116" y="514415"/>
                </a:lnTo>
                <a:lnTo>
                  <a:pt x="465797" y="535838"/>
                </a:lnTo>
                <a:lnTo>
                  <a:pt x="476103" y="557445"/>
                </a:lnTo>
                <a:lnTo>
                  <a:pt x="486030" y="579228"/>
                </a:lnTo>
                <a:lnTo>
                  <a:pt x="495575" y="601181"/>
                </a:lnTo>
                <a:lnTo>
                  <a:pt x="504736" y="623298"/>
                </a:lnTo>
                <a:lnTo>
                  <a:pt x="513510" y="645570"/>
                </a:lnTo>
                <a:lnTo>
                  <a:pt x="521893" y="667993"/>
                </a:lnTo>
                <a:lnTo>
                  <a:pt x="529884" y="690559"/>
                </a:lnTo>
                <a:lnTo>
                  <a:pt x="537480" y="713260"/>
                </a:lnTo>
              </a:path>
            </a:pathLst>
          </a:custGeom>
          <a:noFill xmlns:a="http://schemas.openxmlformats.org/drawingml/2006/main"/>
          <a:ln xmlns:a="http://schemas.openxmlformats.org/drawingml/2006/main" w="20955">
            <a:solidFill>
              <a:srgbClr val="22C55E"/>
            </a:solidFill>
            <a:prstDash val="solid"/>
          </a:ln>
        </p:spPr>
      </p:sp>
      <p:sp>
        <p:nvSpPr>
          <p:cNvPr id="9" name="">
            <a:extLst xmlns:a="http://schemas.openxmlformats.org/drawingml/2006/main">
              <a:ext uri="{FF2B5EF4-FFF2-40B4-BE49-F238E27FC236}">
                <a16:creationId xmlns:a16="http://schemas.microsoft.com/office/drawing/2014/main" id="{5E19A71B-9E2A-4643-B010-C00E8F3AD514}"/>
              </a:ext>
            </a:extLst>
          </p:cNvPr>
          <p:cNvSpPr>
            <a:spLocks xmlns:a="http://schemas.openxmlformats.org/drawingml/2006/main" noGrp="1"/>
          </p:cNvSpPr>
          <p:nvPr/>
        </p:nvSpPr>
        <p:spPr>
          <a:xfrm xmlns:a="http://schemas.openxmlformats.org/drawingml/2006/main" rot="0">
            <a:off x="3162300" y="3209925"/>
            <a:ext cx="2095500"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2700" b="0">
                <a:solidFill>
                  <a:srgbClr val="FAFAFA"/>
                </a:solidFill>
                <a:latin typeface="DM Sans"/>
                <a:ea typeface="DM Sans"/>
                <a:cs typeface="DM Sans"/>
              </a:defRPr>
            </a:defPPr>
            <a:lvl1pPr algn="ctr">
              <a:defRPr sz="2700" b="0">
                <a:solidFill>
                  <a:srgbClr val="FAFAFA"/>
                </a:solidFill>
                <a:latin typeface="DM Sans"/>
                <a:ea typeface="DM Sans"/>
                <a:cs typeface="DM Sans"/>
              </a:defRPr>
            </a:lvl1pPr>
            <a:lvl2pPr algn="ctr">
              <a:defRPr sz="2700" b="0">
                <a:solidFill>
                  <a:srgbClr val="FAFAFA"/>
                </a:solidFill>
                <a:latin typeface="DM Sans"/>
                <a:ea typeface="DM Sans"/>
                <a:cs typeface="DM Sans"/>
              </a:defRPr>
            </a:lvl2pPr>
            <a:lvl3pPr algn="ctr">
              <a:defRPr sz="2700" b="0">
                <a:solidFill>
                  <a:srgbClr val="FAFAFA"/>
                </a:solidFill>
                <a:latin typeface="DM Sans"/>
                <a:ea typeface="DM Sans"/>
                <a:cs typeface="DM Sans"/>
              </a:defRPr>
            </a:lvl3pPr>
            <a:lvl4pPr algn="ctr">
              <a:defRPr sz="2700" b="0">
                <a:solidFill>
                  <a:srgbClr val="FAFAFA"/>
                </a:solidFill>
                <a:latin typeface="DM Sans"/>
                <a:ea typeface="DM Sans"/>
                <a:cs typeface="DM Sans"/>
              </a:defRPr>
            </a:lvl4pPr>
            <a:lvl5pPr algn="ctr">
              <a:defRPr sz="2700" b="0">
                <a:solidFill>
                  <a:srgbClr val="FAFAFA"/>
                </a:solidFill>
                <a:latin typeface="DM Sans"/>
                <a:ea typeface="DM Sans"/>
                <a:cs typeface="DM Sans"/>
              </a:defRPr>
            </a:lvl5pPr>
            <a:lvl6pPr algn="ctr">
              <a:defRPr sz="2700" b="0">
                <a:solidFill>
                  <a:srgbClr val="FAFAFA"/>
                </a:solidFill>
                <a:latin typeface="DM Sans"/>
                <a:ea typeface="DM Sans"/>
                <a:cs typeface="DM Sans"/>
              </a:defRPr>
            </a:lvl6pPr>
            <a:lvl7pPr algn="ctr">
              <a:defRPr sz="2700" b="0">
                <a:solidFill>
                  <a:srgbClr val="FAFAFA"/>
                </a:solidFill>
                <a:latin typeface="DM Sans"/>
                <a:ea typeface="DM Sans"/>
                <a:cs typeface="DM Sans"/>
              </a:defRPr>
            </a:lvl7pPr>
            <a:lvl8pPr algn="ctr">
              <a:defRPr sz="2700" b="0">
                <a:solidFill>
                  <a:srgbClr val="FAFAFA"/>
                </a:solidFill>
                <a:latin typeface="DM Sans"/>
                <a:ea typeface="DM Sans"/>
                <a:cs typeface="DM Sans"/>
              </a:defRPr>
            </a:lvl8pPr>
            <a:lvl9pPr algn="ctr">
              <a:defRPr sz="2700" b="0">
                <a:solidFill>
                  <a:srgbClr val="FAFAFA"/>
                </a:solidFill>
                <a:latin typeface="DM Sans"/>
                <a:ea typeface="DM Sans"/>
                <a:cs typeface="DM Sans"/>
              </a:defRPr>
            </a:lvl9pPr>
          </a:lstStyle>
          <a:p xmlns:a="http://schemas.openxmlformats.org/drawingml/2006/main">
            <a:pPr algn="ctr">
              <a:defRPr sz="2700" b="0">
                <a:solidFill>
                  <a:srgbClr val="FAFAFA"/>
                </a:solidFill>
                <a:latin typeface="DM Sans"/>
                <a:ea typeface="DM Sans"/>
                <a:cs typeface="DM Sans"/>
              </a:defRPr>
            </a:pPr>
            <a:r>
              <a:rPr sz="2700" b="0">
                <a:solidFill>
                  <a:srgbClr val="FAFAFA"/>
                </a:solidFill>
                <a:latin typeface="DM Sans"/>
                <a:ea typeface="DM Sans"/>
                <a:cs typeface="DM Sans"/>
              </a:rPr>
              <a:t>Orecast</a:t>
            </a:r>
          </a:p>
        </p:txBody>
      </p:sp>
      <p:sp>
        <p:nvSpPr>
          <p:cNvPr id="10" name="">
            <a:extLst xmlns:a="http://schemas.openxmlformats.org/drawingml/2006/main">
              <a:ext uri="{FF2B5EF4-FFF2-40B4-BE49-F238E27FC236}">
                <a16:creationId xmlns:a16="http://schemas.microsoft.com/office/drawing/2014/main" id="{FCF6CB2F-BAA8-46AA-A12A-CA79484FD8CA}"/>
              </a:ext>
            </a:extLst>
          </p:cNvPr>
          <p:cNvSpPr>
            <a:spLocks xmlns:a="http://schemas.openxmlformats.org/drawingml/2006/main" noGrp="1"/>
          </p:cNvSpPr>
          <p:nvPr/>
        </p:nvSpPr>
        <p:spPr>
          <a:xfrm xmlns:a="http://schemas.openxmlformats.org/drawingml/2006/main" rot="0">
            <a:off x="8705850" y="6276975"/>
            <a:ext cx="17145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AFAFA"/>
                </a:solidFill>
                <a:latin typeface="DM Sans"/>
                <a:ea typeface="DM Sans"/>
                <a:cs typeface="DM Sans"/>
              </a:defRPr>
            </a:defPPr>
            <a:lvl1pPr algn="l">
              <a:defRPr sz="750" b="0">
                <a:solidFill>
                  <a:srgbClr val="FAFAFA"/>
                </a:solidFill>
                <a:latin typeface="DM Sans"/>
                <a:ea typeface="DM Sans"/>
                <a:cs typeface="DM Sans"/>
              </a:defRPr>
            </a:lvl1pPr>
            <a:lvl2pPr algn="l">
              <a:defRPr sz="750" b="0">
                <a:solidFill>
                  <a:srgbClr val="FAFAFA"/>
                </a:solidFill>
                <a:latin typeface="DM Sans"/>
                <a:ea typeface="DM Sans"/>
                <a:cs typeface="DM Sans"/>
              </a:defRPr>
            </a:lvl2pPr>
            <a:lvl3pPr algn="l">
              <a:defRPr sz="750" b="0">
                <a:solidFill>
                  <a:srgbClr val="FAFAFA"/>
                </a:solidFill>
                <a:latin typeface="DM Sans"/>
                <a:ea typeface="DM Sans"/>
                <a:cs typeface="DM Sans"/>
              </a:defRPr>
            </a:lvl3pPr>
            <a:lvl4pPr algn="l">
              <a:defRPr sz="750" b="0">
                <a:solidFill>
                  <a:srgbClr val="FAFAFA"/>
                </a:solidFill>
                <a:latin typeface="DM Sans"/>
                <a:ea typeface="DM Sans"/>
                <a:cs typeface="DM Sans"/>
              </a:defRPr>
            </a:lvl4pPr>
            <a:lvl5pPr algn="l">
              <a:defRPr sz="750" b="0">
                <a:solidFill>
                  <a:srgbClr val="FAFAFA"/>
                </a:solidFill>
                <a:latin typeface="DM Sans"/>
                <a:ea typeface="DM Sans"/>
                <a:cs typeface="DM Sans"/>
              </a:defRPr>
            </a:lvl5pPr>
            <a:lvl6pPr algn="l">
              <a:defRPr sz="750" b="0">
                <a:solidFill>
                  <a:srgbClr val="FAFAFA"/>
                </a:solidFill>
                <a:latin typeface="DM Sans"/>
                <a:ea typeface="DM Sans"/>
                <a:cs typeface="DM Sans"/>
              </a:defRPr>
            </a:lvl6pPr>
            <a:lvl7pPr algn="l">
              <a:defRPr sz="750" b="0">
                <a:solidFill>
                  <a:srgbClr val="FAFAFA"/>
                </a:solidFill>
                <a:latin typeface="DM Sans"/>
                <a:ea typeface="DM Sans"/>
                <a:cs typeface="DM Sans"/>
              </a:defRPr>
            </a:lvl7pPr>
            <a:lvl8pPr algn="l">
              <a:defRPr sz="750" b="0">
                <a:solidFill>
                  <a:srgbClr val="FAFAFA"/>
                </a:solidFill>
                <a:latin typeface="DM Sans"/>
                <a:ea typeface="DM Sans"/>
                <a:cs typeface="DM Sans"/>
              </a:defRPr>
            </a:lvl8pPr>
            <a:lvl9pPr algn="l">
              <a:defRPr sz="750" b="0">
                <a:solidFill>
                  <a:srgbClr val="FAFAFA"/>
                </a:solidFill>
                <a:latin typeface="DM Sans"/>
                <a:ea typeface="DM Sans"/>
                <a:cs typeface="DM Sans"/>
              </a:defRPr>
            </a:lvl9pPr>
          </a:lstStyle>
          <a:p xmlns:a="http://schemas.openxmlformats.org/drawingml/2006/main">
            <a:pPr algn="l">
              <a:defRPr sz="750" b="0">
                <a:solidFill>
                  <a:srgbClr val="FAFAFA"/>
                </a:solidFill>
                <a:latin typeface="DM Sans"/>
                <a:ea typeface="DM Sans"/>
                <a:cs typeface="DM Sans"/>
              </a:defRPr>
            </a:pPr>
            <a:r>
              <a:rPr sz="750" b="0">
                <a:solidFill>
                  <a:srgbClr val="FAFAFA"/>
                </a:solidFill>
                <a:latin typeface="DM Sans"/>
                <a:ea typeface="DM Sans"/>
                <a:cs typeface="DM Sans"/>
              </a:rPr>
              <a:t>OXHack 2026</a:t>
            </a:r>
          </a:p>
        </p:txBody>
      </p:sp>
      <p:sp>
        <p:nvSpPr>
          <p:cNvPr id="11" name="">
            <a:extLst xmlns:a="http://schemas.openxmlformats.org/drawingml/2006/main">
              <a:ext uri="{FF2B5EF4-FFF2-40B4-BE49-F238E27FC236}">
                <a16:creationId xmlns:a16="http://schemas.microsoft.com/office/drawing/2014/main" id="{E535AAE8-DCB6-40F8-993E-14B9FEE5C20F}"/>
              </a:ext>
            </a:extLst>
          </p:cNvPr>
          <p:cNvSpPr>
            <a:spLocks xmlns:a="http://schemas.openxmlformats.org/drawingml/2006/main" noGrp="1"/>
          </p:cNvSpPr>
          <p:nvPr/>
        </p:nvSpPr>
        <p:spPr>
          <a:xfrm xmlns:a="http://schemas.openxmlformats.org/drawingml/2006/main">
            <a:off x="10668000" y="6334125"/>
            <a:ext cx="285750" cy="95"/>
          </a:xfrm>
          <a:custGeom xmlns:a="http://schemas.openxmlformats.org/drawingml/2006/main">
            <a:pathLst>
              <a:path w="285750" h="95">
                <a:moveTo>
                  <a:pt x="0" y="0"/>
                </a:moveTo>
                <a:lnTo>
                  <a:pt x="285750" y="0"/>
                </a:lnTo>
              </a:path>
            </a:pathLst>
          </a:custGeom>
          <a:noFill xmlns:a="http://schemas.openxmlformats.org/drawingml/2006/main"/>
          <a:ln xmlns:a="http://schemas.openxmlformats.org/drawingml/2006/main" w="7144">
            <a:solidFill>
              <a:srgbClr val="FAFAFA"/>
            </a:solidFill>
            <a:prstDash val="solid"/>
          </a:ln>
        </p:spPr>
      </p:sp>
      <p:sp>
        <p:nvSpPr>
          <p:cNvPr id="12" name="">
            <a:extLst xmlns:a="http://schemas.openxmlformats.org/drawingml/2006/main">
              <a:ext uri="{FF2B5EF4-FFF2-40B4-BE49-F238E27FC236}">
                <a16:creationId xmlns:a16="http://schemas.microsoft.com/office/drawing/2014/main" id="{BF6A80C3-63F9-4734-AFD4-30E970AD8444}"/>
              </a:ext>
            </a:extLst>
          </p:cNvPr>
          <p:cNvSpPr>
            <a:spLocks xmlns:a="http://schemas.openxmlformats.org/drawingml/2006/main" noGrp="1"/>
          </p:cNvSpPr>
          <p:nvPr/>
        </p:nvSpPr>
        <p:spPr>
          <a:xfrm xmlns:a="http://schemas.openxmlformats.org/drawingml/2006/main">
            <a:off x="10915650" y="6305550"/>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FAFAFA"/>
            </a:solidFill>
            <a:prstDash val="solid"/>
          </a:ln>
        </p:spPr>
      </p:sp>
      <p:sp>
        <p:nvSpPr>
          <p:cNvPr id="13" name="">
            <a:extLst xmlns:a="http://schemas.openxmlformats.org/drawingml/2006/main">
              <a:ext uri="{FF2B5EF4-FFF2-40B4-BE49-F238E27FC236}">
                <a16:creationId xmlns:a16="http://schemas.microsoft.com/office/drawing/2014/main" id="{A70C3EC6-1CF1-4A63-9757-18E9044C00DE}"/>
              </a:ext>
            </a:extLst>
          </p:cNvPr>
          <p:cNvSpPr>
            <a:spLocks xmlns:a="http://schemas.openxmlformats.org/drawingml/2006/main" noGrp="1"/>
          </p:cNvSpPr>
          <p:nvPr/>
        </p:nvSpPr>
        <p:spPr>
          <a:xfrm xmlns:a="http://schemas.openxmlformats.org/drawingml/2006/main">
            <a:off x="10915650" y="6334125"/>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FAFAFA"/>
            </a:solidFill>
            <a:prstDash val="solid"/>
          </a:ln>
        </p:spPr>
      </p:sp>
      <p:sp>
        <p:nvSpPr>
          <p:cNvPr id="14" name="">
            <a:extLst xmlns:a="http://schemas.openxmlformats.org/drawingml/2006/main">
              <a:ext uri="{FF2B5EF4-FFF2-40B4-BE49-F238E27FC236}">
                <a16:creationId xmlns:a16="http://schemas.microsoft.com/office/drawing/2014/main" id="{1ABB2EA5-255A-4118-9E8F-E60B46904D30}"/>
              </a:ext>
            </a:extLst>
          </p:cNvPr>
          <p:cNvSpPr>
            <a:spLocks xmlns:a="http://schemas.openxmlformats.org/drawingml/2006/main" noGrp="1"/>
          </p:cNvSpPr>
          <p:nvPr/>
        </p:nvSpPr>
        <p:spPr>
          <a:xfrm xmlns:a="http://schemas.openxmlformats.org/drawingml/2006/main" rot="0">
            <a:off x="11163300" y="6276975"/>
            <a:ext cx="857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675" b="0">
                <a:solidFill>
                  <a:srgbClr val="FAFAFA"/>
                </a:solidFill>
                <a:latin typeface="DM Sans"/>
                <a:ea typeface="DM Sans"/>
                <a:cs typeface="DM Sans"/>
              </a:defRPr>
            </a:defPPr>
            <a:lvl1pPr algn="l">
              <a:defRPr sz="675" b="0">
                <a:solidFill>
                  <a:srgbClr val="FAFAFA"/>
                </a:solidFill>
                <a:latin typeface="DM Sans"/>
                <a:ea typeface="DM Sans"/>
                <a:cs typeface="DM Sans"/>
              </a:defRPr>
            </a:lvl1pPr>
            <a:lvl2pPr algn="l">
              <a:defRPr sz="675" b="0">
                <a:solidFill>
                  <a:srgbClr val="FAFAFA"/>
                </a:solidFill>
                <a:latin typeface="DM Sans"/>
                <a:ea typeface="DM Sans"/>
                <a:cs typeface="DM Sans"/>
              </a:defRPr>
            </a:lvl2pPr>
            <a:lvl3pPr algn="l">
              <a:defRPr sz="675" b="0">
                <a:solidFill>
                  <a:srgbClr val="FAFAFA"/>
                </a:solidFill>
                <a:latin typeface="DM Sans"/>
                <a:ea typeface="DM Sans"/>
                <a:cs typeface="DM Sans"/>
              </a:defRPr>
            </a:lvl3pPr>
            <a:lvl4pPr algn="l">
              <a:defRPr sz="675" b="0">
                <a:solidFill>
                  <a:srgbClr val="FAFAFA"/>
                </a:solidFill>
                <a:latin typeface="DM Sans"/>
                <a:ea typeface="DM Sans"/>
                <a:cs typeface="DM Sans"/>
              </a:defRPr>
            </a:lvl4pPr>
            <a:lvl5pPr algn="l">
              <a:defRPr sz="675" b="0">
                <a:solidFill>
                  <a:srgbClr val="FAFAFA"/>
                </a:solidFill>
                <a:latin typeface="DM Sans"/>
                <a:ea typeface="DM Sans"/>
                <a:cs typeface="DM Sans"/>
              </a:defRPr>
            </a:lvl5pPr>
            <a:lvl6pPr algn="l">
              <a:defRPr sz="675" b="0">
                <a:solidFill>
                  <a:srgbClr val="FAFAFA"/>
                </a:solidFill>
                <a:latin typeface="DM Sans"/>
                <a:ea typeface="DM Sans"/>
                <a:cs typeface="DM Sans"/>
              </a:defRPr>
            </a:lvl6pPr>
            <a:lvl7pPr algn="l">
              <a:defRPr sz="675" b="0">
                <a:solidFill>
                  <a:srgbClr val="FAFAFA"/>
                </a:solidFill>
                <a:latin typeface="DM Sans"/>
                <a:ea typeface="DM Sans"/>
                <a:cs typeface="DM Sans"/>
              </a:defRPr>
            </a:lvl7pPr>
            <a:lvl8pPr algn="l">
              <a:defRPr sz="675" b="0">
                <a:solidFill>
                  <a:srgbClr val="FAFAFA"/>
                </a:solidFill>
                <a:latin typeface="DM Sans"/>
                <a:ea typeface="DM Sans"/>
                <a:cs typeface="DM Sans"/>
              </a:defRPr>
            </a:lvl8pPr>
            <a:lvl9pPr algn="l">
              <a:defRPr sz="675" b="0">
                <a:solidFill>
                  <a:srgbClr val="FAFAFA"/>
                </a:solidFill>
                <a:latin typeface="DM Sans"/>
                <a:ea typeface="DM Sans"/>
                <a:cs typeface="DM Sans"/>
              </a:defRPr>
            </a:lvl9pPr>
          </a:lstStyle>
          <a:p xmlns:a="http://schemas.openxmlformats.org/drawingml/2006/main">
            <a:pPr algn="l">
              <a:defRPr sz="675" b="0">
                <a:solidFill>
                  <a:srgbClr val="FAFAFA"/>
                </a:solidFill>
                <a:latin typeface="DM Sans"/>
                <a:ea typeface="DM Sans"/>
                <a:cs typeface="DM Sans"/>
              </a:defRPr>
            </a:pPr>
            <a:r>
              <a:rPr sz="675" b="0">
                <a:solidFill>
                  <a:srgbClr val="FAFAFA"/>
                </a:solidFill>
                <a:latin typeface="DM Sans"/>
                <a:ea typeface="DM Sans"/>
                <a:cs typeface="DM Sans"/>
              </a:rPr>
              <a:t>25 October 2026</a:t>
            </a:r>
          </a:p>
        </p:txBody>
      </p:sp>
    </p:spTree>
    <p:extLst>
      <p:ext uri="{BB962C8B-B14F-4D97-AF65-F5344CB8AC3E}">
        <p14:creationId xmlns:p14="http://schemas.microsoft.com/office/powerpoint/2010/main" val="114731651"/>
      </p:ext>
    </p:extLst>
  </p:cSld>
</p:sld>
</file>

<file path=ppt/slides/slide2.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48" name="">
            <a:extLst xmlns:a="http://schemas.openxmlformats.org/drawingml/2006/main">
              <a:ext uri="{FF2B5EF4-FFF2-40B4-BE49-F238E27FC236}">
                <a16:creationId xmlns:a16="http://schemas.microsoft.com/office/drawing/2014/main" id="{B0973FD5-A746-470E-8E9D-3246A4E1E3B6}"/>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281B5C8D-1C3C-42A5-A1B4-719EFD041926}"/>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01</a:t>
            </a:r>
          </a:p>
        </p:txBody>
      </p:sp>
      <p:sp>
        <p:nvSpPr>
          <p:cNvPr id="3" name="">
            <a:extLst xmlns:a="http://schemas.openxmlformats.org/drawingml/2006/main">
              <a:ext uri="{FF2B5EF4-FFF2-40B4-BE49-F238E27FC236}">
                <a16:creationId xmlns:a16="http://schemas.microsoft.com/office/drawing/2014/main" id="{BA1AF439-9DC5-4AE1-9DB0-FFCAA8B9C937}"/>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65EB6FA6-46B1-4539-B497-7AB39A0D96FD}"/>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D88E50C6-C9BF-4E61-A3A2-46628E4F36B6}"/>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E1E0EBF3-E9D4-4DF5-999D-3626172D1A2B}"/>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Time and evidence</a:t>
            </a:r>
          </a:p>
        </p:txBody>
      </p:sp>
      <p:sp>
        <p:nvSpPr>
          <p:cNvPr id="7" name="">
            <a:extLst xmlns:a="http://schemas.openxmlformats.org/drawingml/2006/main">
              <a:ext uri="{FF2B5EF4-FFF2-40B4-BE49-F238E27FC236}">
                <a16:creationId xmlns:a16="http://schemas.microsoft.com/office/drawing/2014/main" id="{35613DD6-9A3B-47CA-B535-1A584F532A7C}"/>
              </a:ext>
            </a:extLst>
          </p:cNvPr>
          <p:cNvSpPr>
            <a:spLocks xmlns:a="http://schemas.openxmlformats.org/drawingml/2006/main" noGrp="1"/>
          </p:cNvSpPr>
          <p:nvPr/>
        </p:nvSpPr>
        <p:spPr>
          <a:xfrm xmlns:a="http://schemas.openxmlformats.org/drawingml/2006/main" rot="0">
            <a:off x="11039475" y="4191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0A0A0A"/>
                </a:solidFill>
                <a:latin typeface="DM Sans"/>
                <a:ea typeface="DM Sans"/>
                <a:cs typeface="DM Sans"/>
              </a:defRPr>
            </a:defPPr>
            <a:lvl1pPr algn="r">
              <a:defRPr sz="900" b="0">
                <a:solidFill>
                  <a:srgbClr val="0A0A0A"/>
                </a:solidFill>
                <a:latin typeface="DM Sans"/>
                <a:ea typeface="DM Sans"/>
                <a:cs typeface="DM Sans"/>
              </a:defRPr>
            </a:lvl1pPr>
            <a:lvl2pPr algn="r">
              <a:defRPr sz="900" b="0">
                <a:solidFill>
                  <a:srgbClr val="0A0A0A"/>
                </a:solidFill>
                <a:latin typeface="DM Sans"/>
                <a:ea typeface="DM Sans"/>
                <a:cs typeface="DM Sans"/>
              </a:defRPr>
            </a:lvl2pPr>
            <a:lvl3pPr algn="r">
              <a:defRPr sz="900" b="0">
                <a:solidFill>
                  <a:srgbClr val="0A0A0A"/>
                </a:solidFill>
                <a:latin typeface="DM Sans"/>
                <a:ea typeface="DM Sans"/>
                <a:cs typeface="DM Sans"/>
              </a:defRPr>
            </a:lvl3pPr>
            <a:lvl4pPr algn="r">
              <a:defRPr sz="900" b="0">
                <a:solidFill>
                  <a:srgbClr val="0A0A0A"/>
                </a:solidFill>
                <a:latin typeface="DM Sans"/>
                <a:ea typeface="DM Sans"/>
                <a:cs typeface="DM Sans"/>
              </a:defRPr>
            </a:lvl4pPr>
            <a:lvl5pPr algn="r">
              <a:defRPr sz="900" b="0">
                <a:solidFill>
                  <a:srgbClr val="0A0A0A"/>
                </a:solidFill>
                <a:latin typeface="DM Sans"/>
                <a:ea typeface="DM Sans"/>
                <a:cs typeface="DM Sans"/>
              </a:defRPr>
            </a:lvl5pPr>
            <a:lvl6pPr algn="r">
              <a:defRPr sz="900" b="0">
                <a:solidFill>
                  <a:srgbClr val="0A0A0A"/>
                </a:solidFill>
                <a:latin typeface="DM Sans"/>
                <a:ea typeface="DM Sans"/>
                <a:cs typeface="DM Sans"/>
              </a:defRPr>
            </a:lvl6pPr>
            <a:lvl7pPr algn="r">
              <a:defRPr sz="900" b="0">
                <a:solidFill>
                  <a:srgbClr val="0A0A0A"/>
                </a:solidFill>
                <a:latin typeface="DM Sans"/>
                <a:ea typeface="DM Sans"/>
                <a:cs typeface="DM Sans"/>
              </a:defRPr>
            </a:lvl7pPr>
            <a:lvl8pPr algn="r">
              <a:defRPr sz="900" b="0">
                <a:solidFill>
                  <a:srgbClr val="0A0A0A"/>
                </a:solidFill>
                <a:latin typeface="DM Sans"/>
                <a:ea typeface="DM Sans"/>
                <a:cs typeface="DM Sans"/>
              </a:defRPr>
            </a:lvl8pPr>
            <a:lvl9pPr algn="r">
              <a:defRPr sz="900" b="0">
                <a:solidFill>
                  <a:srgbClr val="0A0A0A"/>
                </a:solidFill>
                <a:latin typeface="DM Sans"/>
                <a:ea typeface="DM Sans"/>
                <a:cs typeface="DM Sans"/>
              </a:defRPr>
            </a:lvl9pPr>
          </a:lstStyle>
          <a:p xmlns:a="http://schemas.openxmlformats.org/drawingml/2006/main">
            <a:pPr algn="r">
              <a:defRPr sz="900" b="0">
                <a:solidFill>
                  <a:srgbClr val="0A0A0A"/>
                </a:solidFill>
                <a:latin typeface="DM Sans"/>
                <a:ea typeface="DM Sans"/>
                <a:cs typeface="DM Sans"/>
              </a:defRPr>
            </a:pPr>
            <a:r>
              <a:rPr sz="900" b="0">
                <a:solidFill>
                  <a:srgbClr val="0A0A0A"/>
                </a:solidFill>
                <a:latin typeface="DM Sans"/>
                <a:ea typeface="DM Sans"/>
                <a:cs typeface="DM Sans"/>
              </a:rPr>
              <a:t>Orecast</a:t>
            </a:r>
          </a:p>
        </p:txBody>
      </p:sp>
      <p:sp>
        <p:nvSpPr>
          <p:cNvPr id="8" name="">
            <a:extLst xmlns:a="http://schemas.openxmlformats.org/drawingml/2006/main">
              <a:ext uri="{FF2B5EF4-FFF2-40B4-BE49-F238E27FC236}">
                <a16:creationId xmlns:a16="http://schemas.microsoft.com/office/drawing/2014/main" id="{3B257213-7079-4D1F-BD8D-D3D88006725B}"/>
              </a:ext>
            </a:extLst>
          </p:cNvPr>
          <p:cNvSpPr>
            <a:spLocks xmlns:a="http://schemas.openxmlformats.org/drawingml/2006/main" noGrp="1"/>
          </p:cNvSpPr>
          <p:nvPr/>
        </p:nvSpPr>
        <p:spPr>
          <a:xfrm xmlns:a="http://schemas.openxmlformats.org/drawingml/2006/main" rot="0">
            <a:off x="400050" y="895350"/>
            <a:ext cx="11382375" cy="942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0A0A0A"/>
                </a:solidFill>
                <a:latin typeface="DM Sans"/>
                <a:ea typeface="DM Sans"/>
                <a:cs typeface="DM Sans"/>
              </a:defRPr>
            </a:defPPr>
            <a:lvl1pPr algn="l">
              <a:defRPr sz="2850" b="0">
                <a:solidFill>
                  <a:srgbClr val="0A0A0A"/>
                </a:solidFill>
                <a:latin typeface="DM Sans"/>
                <a:ea typeface="DM Sans"/>
                <a:cs typeface="DM Sans"/>
              </a:defRPr>
            </a:lvl1pPr>
            <a:lvl2pPr algn="l">
              <a:defRPr sz="2850" b="0">
                <a:solidFill>
                  <a:srgbClr val="0A0A0A"/>
                </a:solidFill>
                <a:latin typeface="DM Sans"/>
                <a:ea typeface="DM Sans"/>
                <a:cs typeface="DM Sans"/>
              </a:defRPr>
            </a:lvl2pPr>
            <a:lvl3pPr algn="l">
              <a:defRPr sz="2850" b="0">
                <a:solidFill>
                  <a:srgbClr val="0A0A0A"/>
                </a:solidFill>
                <a:latin typeface="DM Sans"/>
                <a:ea typeface="DM Sans"/>
                <a:cs typeface="DM Sans"/>
              </a:defRPr>
            </a:lvl3pPr>
            <a:lvl4pPr algn="l">
              <a:defRPr sz="2850" b="0">
                <a:solidFill>
                  <a:srgbClr val="0A0A0A"/>
                </a:solidFill>
                <a:latin typeface="DM Sans"/>
                <a:ea typeface="DM Sans"/>
                <a:cs typeface="DM Sans"/>
              </a:defRPr>
            </a:lvl4pPr>
            <a:lvl5pPr algn="l">
              <a:defRPr sz="2850" b="0">
                <a:solidFill>
                  <a:srgbClr val="0A0A0A"/>
                </a:solidFill>
                <a:latin typeface="DM Sans"/>
                <a:ea typeface="DM Sans"/>
                <a:cs typeface="DM Sans"/>
              </a:defRPr>
            </a:lvl5pPr>
            <a:lvl6pPr algn="l">
              <a:defRPr sz="2850" b="0">
                <a:solidFill>
                  <a:srgbClr val="0A0A0A"/>
                </a:solidFill>
                <a:latin typeface="DM Sans"/>
                <a:ea typeface="DM Sans"/>
                <a:cs typeface="DM Sans"/>
              </a:defRPr>
            </a:lvl6pPr>
            <a:lvl7pPr algn="l">
              <a:defRPr sz="2850" b="0">
                <a:solidFill>
                  <a:srgbClr val="0A0A0A"/>
                </a:solidFill>
                <a:latin typeface="DM Sans"/>
                <a:ea typeface="DM Sans"/>
                <a:cs typeface="DM Sans"/>
              </a:defRPr>
            </a:lvl7pPr>
            <a:lvl8pPr algn="l">
              <a:defRPr sz="2850" b="0">
                <a:solidFill>
                  <a:srgbClr val="0A0A0A"/>
                </a:solidFill>
                <a:latin typeface="DM Sans"/>
                <a:ea typeface="DM Sans"/>
                <a:cs typeface="DM Sans"/>
              </a:defRPr>
            </a:lvl8pPr>
            <a:lvl9pPr algn="l">
              <a:defRPr sz="2850" b="0">
                <a:solidFill>
                  <a:srgbClr val="0A0A0A"/>
                </a:solidFill>
                <a:latin typeface="DM Sans"/>
                <a:ea typeface="DM Sans"/>
                <a:cs typeface="DM Sans"/>
              </a:defRPr>
            </a:lvl9pPr>
          </a:lstStyle>
          <a:p xmlns:a="http://schemas.openxmlformats.org/drawingml/2006/main">
            <a:pPr algn="l">
              <a:defRPr sz="2850" b="0">
                <a:solidFill>
                  <a:srgbClr val="0A0A0A"/>
                </a:solidFill>
                <a:latin typeface="DM Sans"/>
                <a:ea typeface="DM Sans"/>
                <a:cs typeface="DM Sans"/>
              </a:defRPr>
            </a:pPr>
            <a:r>
              <a:rPr sz="2850" b="0">
                <a:solidFill>
                  <a:srgbClr val="0A0A0A"/>
                </a:solidFill>
                <a:latin typeface="DM Sans"/>
                <a:ea typeface="DM Sans"/>
                <a:cs typeface="DM Sans"/>
              </a:rPr>
              <a:t>One hypothetical contract.</a:t>
            </a:r>
          </a:p>
          <a:p xmlns:a="http://schemas.openxmlformats.org/drawingml/2006/main">
            <a:pPr algn="l">
              <a:defRPr sz="2850" b="0">
                <a:solidFill>
                  <a:srgbClr val="0A0A0A"/>
                </a:solidFill>
                <a:latin typeface="DM Sans"/>
                <a:ea typeface="DM Sans"/>
                <a:cs typeface="DM Sans"/>
              </a:defRPr>
            </a:pPr>
            <a:r>
              <a:rPr sz="2850" b="0">
                <a:solidFill>
                  <a:srgbClr val="0A0A0A"/>
                </a:solidFill>
                <a:latin typeface="DM Sans"/>
                <a:ea typeface="DM Sans"/>
                <a:cs typeface="DM Sans"/>
              </a:rPr>
              <a:t>One fixed exposure, compared over time.</a:t>
            </a:r>
          </a:p>
        </p:txBody>
      </p:sp>
      <p:sp>
        <p:nvSpPr>
          <p:cNvPr id="9" name="">
            <a:extLst xmlns:a="http://schemas.openxmlformats.org/drawingml/2006/main">
              <a:ext uri="{FF2B5EF4-FFF2-40B4-BE49-F238E27FC236}">
                <a16:creationId xmlns:a16="http://schemas.microsoft.com/office/drawing/2014/main" id="{D9ECACB1-FF47-42EE-9EB8-9E90954456D9}"/>
              </a:ext>
            </a:extLst>
          </p:cNvPr>
          <p:cNvSpPr>
            <a:spLocks xmlns:a="http://schemas.openxmlformats.org/drawingml/2006/main" noGrp="1"/>
          </p:cNvSpPr>
          <p:nvPr/>
        </p:nvSpPr>
        <p:spPr>
          <a:xfrm xmlns:a="http://schemas.openxmlformats.org/drawingml/2006/main" rot="0">
            <a:off x="400050" y="2190750"/>
            <a:ext cx="1123950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0A0A0A"/>
                </a:solidFill>
                <a:latin typeface="DM Sans"/>
                <a:ea typeface="DM Sans"/>
                <a:cs typeface="DM Sans"/>
              </a:defRPr>
            </a:defPPr>
            <a:lvl1pPr algn="l">
              <a:defRPr sz="1800" b="0">
                <a:solidFill>
                  <a:srgbClr val="0A0A0A"/>
                </a:solidFill>
                <a:latin typeface="DM Sans"/>
                <a:ea typeface="DM Sans"/>
                <a:cs typeface="DM Sans"/>
              </a:defRPr>
            </a:lvl1pPr>
            <a:lvl2pPr algn="l">
              <a:defRPr sz="1800" b="0">
                <a:solidFill>
                  <a:srgbClr val="0A0A0A"/>
                </a:solidFill>
                <a:latin typeface="DM Sans"/>
                <a:ea typeface="DM Sans"/>
                <a:cs typeface="DM Sans"/>
              </a:defRPr>
            </a:lvl2pPr>
            <a:lvl3pPr algn="l">
              <a:defRPr sz="1800" b="0">
                <a:solidFill>
                  <a:srgbClr val="0A0A0A"/>
                </a:solidFill>
                <a:latin typeface="DM Sans"/>
                <a:ea typeface="DM Sans"/>
                <a:cs typeface="DM Sans"/>
              </a:defRPr>
            </a:lvl3pPr>
            <a:lvl4pPr algn="l">
              <a:defRPr sz="1800" b="0">
                <a:solidFill>
                  <a:srgbClr val="0A0A0A"/>
                </a:solidFill>
                <a:latin typeface="DM Sans"/>
                <a:ea typeface="DM Sans"/>
                <a:cs typeface="DM Sans"/>
              </a:defRPr>
            </a:lvl4pPr>
            <a:lvl5pPr algn="l">
              <a:defRPr sz="1800" b="0">
                <a:solidFill>
                  <a:srgbClr val="0A0A0A"/>
                </a:solidFill>
                <a:latin typeface="DM Sans"/>
                <a:ea typeface="DM Sans"/>
                <a:cs typeface="DM Sans"/>
              </a:defRPr>
            </a:lvl5pPr>
            <a:lvl6pPr algn="l">
              <a:defRPr sz="1800" b="0">
                <a:solidFill>
                  <a:srgbClr val="0A0A0A"/>
                </a:solidFill>
                <a:latin typeface="DM Sans"/>
                <a:ea typeface="DM Sans"/>
                <a:cs typeface="DM Sans"/>
              </a:defRPr>
            </a:lvl6pPr>
            <a:lvl7pPr algn="l">
              <a:defRPr sz="1800" b="0">
                <a:solidFill>
                  <a:srgbClr val="0A0A0A"/>
                </a:solidFill>
                <a:latin typeface="DM Sans"/>
                <a:ea typeface="DM Sans"/>
                <a:cs typeface="DM Sans"/>
              </a:defRPr>
            </a:lvl7pPr>
            <a:lvl8pPr algn="l">
              <a:defRPr sz="1800" b="0">
                <a:solidFill>
                  <a:srgbClr val="0A0A0A"/>
                </a:solidFill>
                <a:latin typeface="DM Sans"/>
                <a:ea typeface="DM Sans"/>
                <a:cs typeface="DM Sans"/>
              </a:defRPr>
            </a:lvl8pPr>
            <a:lvl9pPr algn="l">
              <a:defRPr sz="1800" b="0">
                <a:solidFill>
                  <a:srgbClr val="0A0A0A"/>
                </a:solidFill>
                <a:latin typeface="DM Sans"/>
                <a:ea typeface="DM Sans"/>
                <a:cs typeface="DM Sans"/>
              </a:defRPr>
            </a:lvl9pPr>
          </a:lstStyle>
          <a:p xmlns:a="http://schemas.openxmlformats.org/drawingml/2006/main">
            <a:pPr algn="l">
              <a:defRPr sz="1800" b="0">
                <a:solidFill>
                  <a:srgbClr val="0A0A0A"/>
                </a:solidFill>
                <a:latin typeface="DM Sans"/>
                <a:ea typeface="DM Sans"/>
                <a:cs typeface="DM Sans"/>
              </a:defRPr>
            </a:pPr>
            <a:r>
              <a:rPr sz="1800" b="0">
                <a:solidFill>
                  <a:srgbClr val="0A0A0A"/>
                </a:solidFill>
                <a:latin typeface="DM Sans"/>
                <a:ea typeface="DM Sans"/>
                <a:cs typeface="DM Sans"/>
              </a:rPr>
              <a:t>Assumed exposure: 23,076.92 troy oz and $184,615.38 buyer consideration.</a:t>
            </a:r>
          </a:p>
          <a:p xmlns:a="http://schemas.openxmlformats.org/drawingml/2006/main">
            <a:pPr algn="l">
              <a:defRPr sz="1800" b="0">
                <a:solidFill>
                  <a:srgbClr val="0A0A0A"/>
                </a:solidFill>
                <a:latin typeface="DM Sans"/>
                <a:ea typeface="DM Sans"/>
                <a:cs typeface="DM Sans"/>
              </a:defRPr>
            </a:pPr>
            <a:r>
              <a:rPr sz="1800" b="0">
                <a:solidFill>
                  <a:srgbClr val="0A0A0A"/>
                </a:solidFill>
                <a:latin typeface="DM Sans"/>
                <a:ea typeface="DM Sans"/>
                <a:cs typeface="DM Sans"/>
              </a:rPr>
              <a:t>Frozen invented-reference scale: 30,000 / 650. One contract, not multiple lots.</a:t>
            </a:r>
          </a:p>
        </p:txBody>
      </p:sp>
      <p:sp>
        <p:nvSpPr>
          <p:cNvPr id="10" name="">
            <a:extLst xmlns:a="http://schemas.openxmlformats.org/drawingml/2006/main">
              <a:ext uri="{FF2B5EF4-FFF2-40B4-BE49-F238E27FC236}">
                <a16:creationId xmlns:a16="http://schemas.microsoft.com/office/drawing/2014/main" id="{7527B573-C109-4CF1-A7A6-5BFBFBBE3BFD}"/>
              </a:ext>
            </a:extLst>
          </p:cNvPr>
          <p:cNvSpPr>
            <a:spLocks xmlns:a="http://schemas.openxmlformats.org/drawingml/2006/main" noGrp="1"/>
          </p:cNvSpPr>
          <p:nvPr/>
        </p:nvSpPr>
        <p:spPr>
          <a:xfrm xmlns:a="http://schemas.openxmlformats.org/drawingml/2006/main" rot="0">
            <a:off x="400050" y="3048000"/>
            <a:ext cx="1123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737373"/>
                </a:solidFill>
                <a:latin typeface="DM Sans"/>
                <a:ea typeface="DM Sans"/>
                <a:cs typeface="DM Sans"/>
              </a:defRPr>
            </a:defPPr>
            <a:lvl1pPr algn="l">
              <a:defRPr sz="1125" b="0">
                <a:solidFill>
                  <a:srgbClr val="737373"/>
                </a:solidFill>
                <a:latin typeface="DM Sans"/>
                <a:ea typeface="DM Sans"/>
                <a:cs typeface="DM Sans"/>
              </a:defRPr>
            </a:lvl1pPr>
            <a:lvl2pPr algn="l">
              <a:defRPr sz="1125" b="0">
                <a:solidFill>
                  <a:srgbClr val="737373"/>
                </a:solidFill>
                <a:latin typeface="DM Sans"/>
                <a:ea typeface="DM Sans"/>
                <a:cs typeface="DM Sans"/>
              </a:defRPr>
            </a:lvl2pPr>
            <a:lvl3pPr algn="l">
              <a:defRPr sz="1125" b="0">
                <a:solidFill>
                  <a:srgbClr val="737373"/>
                </a:solidFill>
                <a:latin typeface="DM Sans"/>
                <a:ea typeface="DM Sans"/>
                <a:cs typeface="DM Sans"/>
              </a:defRPr>
            </a:lvl3pPr>
            <a:lvl4pPr algn="l">
              <a:defRPr sz="1125" b="0">
                <a:solidFill>
                  <a:srgbClr val="737373"/>
                </a:solidFill>
                <a:latin typeface="DM Sans"/>
                <a:ea typeface="DM Sans"/>
                <a:cs typeface="DM Sans"/>
              </a:defRPr>
            </a:lvl4pPr>
            <a:lvl5pPr algn="l">
              <a:defRPr sz="1125" b="0">
                <a:solidFill>
                  <a:srgbClr val="737373"/>
                </a:solidFill>
                <a:latin typeface="DM Sans"/>
                <a:ea typeface="DM Sans"/>
                <a:cs typeface="DM Sans"/>
              </a:defRPr>
            </a:lvl5pPr>
            <a:lvl6pPr algn="l">
              <a:defRPr sz="1125" b="0">
                <a:solidFill>
                  <a:srgbClr val="737373"/>
                </a:solidFill>
                <a:latin typeface="DM Sans"/>
                <a:ea typeface="DM Sans"/>
                <a:cs typeface="DM Sans"/>
              </a:defRPr>
            </a:lvl6pPr>
            <a:lvl7pPr algn="l">
              <a:defRPr sz="1125" b="0">
                <a:solidFill>
                  <a:srgbClr val="737373"/>
                </a:solidFill>
                <a:latin typeface="DM Sans"/>
                <a:ea typeface="DM Sans"/>
                <a:cs typeface="DM Sans"/>
              </a:defRPr>
            </a:lvl7pPr>
            <a:lvl8pPr algn="l">
              <a:defRPr sz="1125" b="0">
                <a:solidFill>
                  <a:srgbClr val="737373"/>
                </a:solidFill>
                <a:latin typeface="DM Sans"/>
                <a:ea typeface="DM Sans"/>
                <a:cs typeface="DM Sans"/>
              </a:defRPr>
            </a:lvl8pPr>
            <a:lvl9pPr algn="l">
              <a:defRPr sz="1125" b="0">
                <a:solidFill>
                  <a:srgbClr val="737373"/>
                </a:solidFill>
                <a:latin typeface="DM Sans"/>
                <a:ea typeface="DM Sans"/>
                <a:cs typeface="DM Sans"/>
              </a:defRPr>
            </a:lvl9pPr>
          </a:lstStyle>
          <a:p xmlns:a="http://schemas.openxmlformats.org/drawingml/2006/main">
            <a:pPr algn="l">
              <a:defRPr sz="1125" b="0">
                <a:solidFill>
                  <a:srgbClr val="737373"/>
                </a:solidFill>
                <a:latin typeface="DM Sans"/>
                <a:ea typeface="DM Sans"/>
                <a:cs typeface="DM Sans"/>
              </a:defRPr>
            </a:pPr>
            <a:r>
              <a:rPr sz="1125" b="0">
                <a:solidFill>
                  <a:srgbClr val="737373"/>
                </a:solidFill>
                <a:latin typeface="DM Sans"/>
                <a:ea typeface="DM Sans"/>
                <a:cs typeface="DM Sans"/>
              </a:rPr>
              <a:t>Historical signing payments do not value this invented mineral interest.</a:t>
            </a:r>
          </a:p>
        </p:txBody>
      </p:sp>
      <p:sp>
        <p:nvSpPr>
          <p:cNvPr id="11" name="">
            <a:extLst xmlns:a="http://schemas.openxmlformats.org/drawingml/2006/main">
              <a:ext uri="{FF2B5EF4-FFF2-40B4-BE49-F238E27FC236}">
                <a16:creationId xmlns:a16="http://schemas.microsoft.com/office/drawing/2014/main" id="{0401C917-1578-4112-BA43-89837061A1A2}"/>
              </a:ext>
            </a:extLst>
          </p:cNvPr>
          <p:cNvSpPr>
            <a:spLocks xmlns:a="http://schemas.openxmlformats.org/drawingml/2006/main" noGrp="1"/>
          </p:cNvSpPr>
          <p:nvPr/>
        </p:nvSpPr>
        <p:spPr>
          <a:xfrm xmlns:a="http://schemas.openxmlformats.org/drawingml/2006/main" rot="0">
            <a:off x="400050" y="3362325"/>
            <a:ext cx="1123950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0A0A0A"/>
                </a:solidFill>
                <a:latin typeface="DM Sans"/>
                <a:ea typeface="DM Sans"/>
                <a:cs typeface="DM Sans"/>
              </a:defRPr>
            </a:defPPr>
            <a:lvl1pPr algn="l">
              <a:defRPr sz="1125" b="0">
                <a:solidFill>
                  <a:srgbClr val="0A0A0A"/>
                </a:solidFill>
                <a:latin typeface="DM Sans"/>
                <a:ea typeface="DM Sans"/>
                <a:cs typeface="DM Sans"/>
              </a:defRPr>
            </a:lvl1pPr>
            <a:lvl2pPr algn="l">
              <a:defRPr sz="1125" b="0">
                <a:solidFill>
                  <a:srgbClr val="0A0A0A"/>
                </a:solidFill>
                <a:latin typeface="DM Sans"/>
                <a:ea typeface="DM Sans"/>
                <a:cs typeface="DM Sans"/>
              </a:defRPr>
            </a:lvl2pPr>
            <a:lvl3pPr algn="l">
              <a:defRPr sz="1125" b="0">
                <a:solidFill>
                  <a:srgbClr val="0A0A0A"/>
                </a:solidFill>
                <a:latin typeface="DM Sans"/>
                <a:ea typeface="DM Sans"/>
                <a:cs typeface="DM Sans"/>
              </a:defRPr>
            </a:lvl3pPr>
            <a:lvl4pPr algn="l">
              <a:defRPr sz="1125" b="0">
                <a:solidFill>
                  <a:srgbClr val="0A0A0A"/>
                </a:solidFill>
                <a:latin typeface="DM Sans"/>
                <a:ea typeface="DM Sans"/>
                <a:cs typeface="DM Sans"/>
              </a:defRPr>
            </a:lvl4pPr>
            <a:lvl5pPr algn="l">
              <a:defRPr sz="1125" b="0">
                <a:solidFill>
                  <a:srgbClr val="0A0A0A"/>
                </a:solidFill>
                <a:latin typeface="DM Sans"/>
                <a:ea typeface="DM Sans"/>
                <a:cs typeface="DM Sans"/>
              </a:defRPr>
            </a:lvl5pPr>
            <a:lvl6pPr algn="l">
              <a:defRPr sz="1125" b="0">
                <a:solidFill>
                  <a:srgbClr val="0A0A0A"/>
                </a:solidFill>
                <a:latin typeface="DM Sans"/>
                <a:ea typeface="DM Sans"/>
                <a:cs typeface="DM Sans"/>
              </a:defRPr>
            </a:lvl6pPr>
            <a:lvl7pPr algn="l">
              <a:defRPr sz="1125" b="0">
                <a:solidFill>
                  <a:srgbClr val="0A0A0A"/>
                </a:solidFill>
                <a:latin typeface="DM Sans"/>
                <a:ea typeface="DM Sans"/>
                <a:cs typeface="DM Sans"/>
              </a:defRPr>
            </a:lvl7pPr>
            <a:lvl8pPr algn="l">
              <a:defRPr sz="1125" b="0">
                <a:solidFill>
                  <a:srgbClr val="0A0A0A"/>
                </a:solidFill>
                <a:latin typeface="DM Sans"/>
                <a:ea typeface="DM Sans"/>
                <a:cs typeface="DM Sans"/>
              </a:defRPr>
            </a:lvl8pPr>
            <a:lvl9pPr algn="l">
              <a:defRPr sz="1125" b="0">
                <a:solidFill>
                  <a:srgbClr val="0A0A0A"/>
                </a:solidFill>
                <a:latin typeface="DM Sans"/>
                <a:ea typeface="DM Sans"/>
                <a:cs typeface="DM Sans"/>
              </a:defRPr>
            </a:lvl9pPr>
          </a:lstStyle>
          <a:p xmlns:a="http://schemas.openxmlformats.org/drawingml/2006/main">
            <a:pPr algn="l">
              <a:defRPr sz="1125" b="0">
                <a:solidFill>
                  <a:srgbClr val="0A0A0A"/>
                </a:solidFill>
                <a:latin typeface="DM Sans"/>
                <a:ea typeface="DM Sans"/>
                <a:cs typeface="DM Sans"/>
              </a:defRPr>
            </a:pPr>
            <a:r>
              <a:rPr sz="1125" b="0">
                <a:solidFill>
                  <a:srgbClr val="0A0A0A"/>
                </a:solidFill>
                <a:latin typeface="DM Sans"/>
                <a:ea typeface="DM Sans"/>
                <a:cs typeface="DM Sans"/>
              </a:rPr>
              <a:t>Fixed $50 entry / exit fees: 12.35% return. Proportional fees: 1.09% and a failed risk cap.</a:t>
            </a:r>
          </a:p>
        </p:txBody>
      </p:sp>
      <p:sp>
        <p:nvSpPr>
          <p:cNvPr id="12" name="">
            <a:extLst xmlns:a="http://schemas.openxmlformats.org/drawingml/2006/main">
              <a:ext uri="{FF2B5EF4-FFF2-40B4-BE49-F238E27FC236}">
                <a16:creationId xmlns:a16="http://schemas.microsoft.com/office/drawing/2014/main" id="{A838619C-C0F2-42B2-8BD9-0C48ED56949F}"/>
              </a:ext>
            </a:extLst>
          </p:cNvPr>
          <p:cNvSpPr>
            <a:spLocks xmlns:a="http://schemas.openxmlformats.org/drawingml/2006/main" noGrp="1"/>
          </p:cNvSpPr>
          <p:nvPr/>
        </p:nvSpPr>
        <p:spPr>
          <a:xfrm xmlns:a="http://schemas.openxmlformats.org/drawingml/2006/main">
            <a:off x="152400" y="3771900"/>
            <a:ext cx="11887200" cy="2933700"/>
          </a:xfrm>
          <a:prstGeom xmlns:a="http://schemas.openxmlformats.org/drawingml/2006/main" prst="roundRect">
            <a:avLst>
              <a:gd name="adj" fmla="val 8766"/>
            </a:avLst>
          </a:prstGeom>
          <a:solidFill xmlns:a="http://schemas.openxmlformats.org/drawingml/2006/main">
            <a:srgbClr val="0A0A0A"/>
          </a:solidFill>
          <a:ln xmlns:a="http://schemas.openxmlformats.org/drawingml/2006/main" w="0">
            <a:noFill/>
            <a:prstDash val="solid"/>
          </a:ln>
        </p:spPr>
      </p:sp>
      <p:sp>
        <p:nvSpPr>
          <p:cNvPr id="13" name="">
            <a:extLst xmlns:a="http://schemas.openxmlformats.org/drawingml/2006/main">
              <a:ext uri="{FF2B5EF4-FFF2-40B4-BE49-F238E27FC236}">
                <a16:creationId xmlns:a16="http://schemas.microsoft.com/office/drawing/2014/main" id="{E1AF5205-CDA7-47B6-A47A-BFD770C5AF32}"/>
              </a:ext>
            </a:extLst>
          </p:cNvPr>
          <p:cNvSpPr>
            <a:spLocks xmlns:a="http://schemas.openxmlformats.org/drawingml/2006/main" noGrp="1"/>
          </p:cNvSpPr>
          <p:nvPr/>
        </p:nvSpPr>
        <p:spPr>
          <a:xfrm xmlns:a="http://schemas.openxmlformats.org/drawingml/2006/main" rot="0">
            <a:off x="400050" y="4019550"/>
            <a:ext cx="152400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FAFAFA"/>
                </a:solidFill>
                <a:latin typeface="DM Sans"/>
                <a:ea typeface="DM Sans"/>
                <a:cs typeface="DM Sans"/>
              </a:defRPr>
            </a:defPPr>
            <a:lvl1pPr algn="l">
              <a:defRPr sz="1575" b="0">
                <a:solidFill>
                  <a:srgbClr val="FAFAFA"/>
                </a:solidFill>
                <a:latin typeface="DM Sans"/>
                <a:ea typeface="DM Sans"/>
                <a:cs typeface="DM Sans"/>
              </a:defRPr>
            </a:lvl1pPr>
            <a:lvl2pPr algn="l">
              <a:defRPr sz="1575" b="0">
                <a:solidFill>
                  <a:srgbClr val="FAFAFA"/>
                </a:solidFill>
                <a:latin typeface="DM Sans"/>
                <a:ea typeface="DM Sans"/>
                <a:cs typeface="DM Sans"/>
              </a:defRPr>
            </a:lvl2pPr>
            <a:lvl3pPr algn="l">
              <a:defRPr sz="1575" b="0">
                <a:solidFill>
                  <a:srgbClr val="FAFAFA"/>
                </a:solidFill>
                <a:latin typeface="DM Sans"/>
                <a:ea typeface="DM Sans"/>
                <a:cs typeface="DM Sans"/>
              </a:defRPr>
            </a:lvl3pPr>
            <a:lvl4pPr algn="l">
              <a:defRPr sz="1575" b="0">
                <a:solidFill>
                  <a:srgbClr val="FAFAFA"/>
                </a:solidFill>
                <a:latin typeface="DM Sans"/>
                <a:ea typeface="DM Sans"/>
                <a:cs typeface="DM Sans"/>
              </a:defRPr>
            </a:lvl4pPr>
            <a:lvl5pPr algn="l">
              <a:defRPr sz="1575" b="0">
                <a:solidFill>
                  <a:srgbClr val="FAFAFA"/>
                </a:solidFill>
                <a:latin typeface="DM Sans"/>
                <a:ea typeface="DM Sans"/>
                <a:cs typeface="DM Sans"/>
              </a:defRPr>
            </a:lvl5pPr>
            <a:lvl6pPr algn="l">
              <a:defRPr sz="1575" b="0">
                <a:solidFill>
                  <a:srgbClr val="FAFAFA"/>
                </a:solidFill>
                <a:latin typeface="DM Sans"/>
                <a:ea typeface="DM Sans"/>
                <a:cs typeface="DM Sans"/>
              </a:defRPr>
            </a:lvl6pPr>
            <a:lvl7pPr algn="l">
              <a:defRPr sz="1575" b="0">
                <a:solidFill>
                  <a:srgbClr val="FAFAFA"/>
                </a:solidFill>
                <a:latin typeface="DM Sans"/>
                <a:ea typeface="DM Sans"/>
                <a:cs typeface="DM Sans"/>
              </a:defRPr>
            </a:lvl7pPr>
            <a:lvl8pPr algn="l">
              <a:defRPr sz="1575" b="0">
                <a:solidFill>
                  <a:srgbClr val="FAFAFA"/>
                </a:solidFill>
                <a:latin typeface="DM Sans"/>
                <a:ea typeface="DM Sans"/>
                <a:cs typeface="DM Sans"/>
              </a:defRPr>
            </a:lvl8pPr>
            <a:lvl9pPr algn="l">
              <a:defRPr sz="1575" b="0">
                <a:solidFill>
                  <a:srgbClr val="FAFAFA"/>
                </a:solidFill>
                <a:latin typeface="DM Sans"/>
                <a:ea typeface="DM Sans"/>
                <a:cs typeface="DM Sans"/>
              </a:defRPr>
            </a:lvl9pPr>
          </a:lstStyle>
          <a:p xmlns:a="http://schemas.openxmlformats.org/drawingml/2006/main">
            <a:pPr algn="l">
              <a:defRPr sz="1575" b="0">
                <a:solidFill>
                  <a:srgbClr val="FAFAFA"/>
                </a:solidFill>
                <a:latin typeface="DM Sans"/>
                <a:ea typeface="DM Sans"/>
                <a:cs typeface="DM Sans"/>
              </a:defRPr>
            </a:pPr>
            <a:r>
              <a:rPr sz="1575" b="0">
                <a:solidFill>
                  <a:srgbClr val="FAFAFA"/>
                </a:solidFill>
                <a:latin typeface="DM Sans"/>
                <a:ea typeface="DM Sans"/>
                <a:cs typeface="DM Sans"/>
              </a:rPr>
              <a:t>Evidence</a:t>
            </a:r>
          </a:p>
        </p:txBody>
      </p:sp>
      <p:sp>
        <p:nvSpPr>
          <p:cNvPr id="14" name="">
            <a:extLst xmlns:a="http://schemas.openxmlformats.org/drawingml/2006/main">
              <a:ext uri="{FF2B5EF4-FFF2-40B4-BE49-F238E27FC236}">
                <a16:creationId xmlns:a16="http://schemas.microsoft.com/office/drawing/2014/main" id="{7541D978-D2BB-4913-BAAA-7E65F7892126}"/>
              </a:ext>
            </a:extLst>
          </p:cNvPr>
          <p:cNvSpPr>
            <a:spLocks xmlns:a="http://schemas.openxmlformats.org/drawingml/2006/main" noGrp="1"/>
          </p:cNvSpPr>
          <p:nvPr/>
        </p:nvSpPr>
        <p:spPr>
          <a:xfrm xmlns:a="http://schemas.openxmlformats.org/drawingml/2006/main" rot="0">
            <a:off x="2114550" y="3914775"/>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AFAFA"/>
                </a:solidFill>
                <a:latin typeface="DM Sans"/>
                <a:ea typeface="DM Sans"/>
                <a:cs typeface="DM Sans"/>
              </a:defRPr>
            </a:defPPr>
            <a:lvl1pPr algn="l">
              <a:defRPr sz="750" b="0">
                <a:solidFill>
                  <a:srgbClr val="FAFAFA"/>
                </a:solidFill>
                <a:latin typeface="DM Sans"/>
                <a:ea typeface="DM Sans"/>
                <a:cs typeface="DM Sans"/>
              </a:defRPr>
            </a:lvl1pPr>
            <a:lvl2pPr algn="l">
              <a:defRPr sz="750" b="0">
                <a:solidFill>
                  <a:srgbClr val="FAFAFA"/>
                </a:solidFill>
                <a:latin typeface="DM Sans"/>
                <a:ea typeface="DM Sans"/>
                <a:cs typeface="DM Sans"/>
              </a:defRPr>
            </a:lvl2pPr>
            <a:lvl3pPr algn="l">
              <a:defRPr sz="750" b="0">
                <a:solidFill>
                  <a:srgbClr val="FAFAFA"/>
                </a:solidFill>
                <a:latin typeface="DM Sans"/>
                <a:ea typeface="DM Sans"/>
                <a:cs typeface="DM Sans"/>
              </a:defRPr>
            </a:lvl3pPr>
            <a:lvl4pPr algn="l">
              <a:defRPr sz="750" b="0">
                <a:solidFill>
                  <a:srgbClr val="FAFAFA"/>
                </a:solidFill>
                <a:latin typeface="DM Sans"/>
                <a:ea typeface="DM Sans"/>
                <a:cs typeface="DM Sans"/>
              </a:defRPr>
            </a:lvl4pPr>
            <a:lvl5pPr algn="l">
              <a:defRPr sz="750" b="0">
                <a:solidFill>
                  <a:srgbClr val="FAFAFA"/>
                </a:solidFill>
                <a:latin typeface="DM Sans"/>
                <a:ea typeface="DM Sans"/>
                <a:cs typeface="DM Sans"/>
              </a:defRPr>
            </a:lvl5pPr>
            <a:lvl6pPr algn="l">
              <a:defRPr sz="750" b="0">
                <a:solidFill>
                  <a:srgbClr val="FAFAFA"/>
                </a:solidFill>
                <a:latin typeface="DM Sans"/>
                <a:ea typeface="DM Sans"/>
                <a:cs typeface="DM Sans"/>
              </a:defRPr>
            </a:lvl6pPr>
            <a:lvl7pPr algn="l">
              <a:defRPr sz="750" b="0">
                <a:solidFill>
                  <a:srgbClr val="FAFAFA"/>
                </a:solidFill>
                <a:latin typeface="DM Sans"/>
                <a:ea typeface="DM Sans"/>
                <a:cs typeface="DM Sans"/>
              </a:defRPr>
            </a:lvl7pPr>
            <a:lvl8pPr algn="l">
              <a:defRPr sz="750" b="0">
                <a:solidFill>
                  <a:srgbClr val="FAFAFA"/>
                </a:solidFill>
                <a:latin typeface="DM Sans"/>
                <a:ea typeface="DM Sans"/>
                <a:cs typeface="DM Sans"/>
              </a:defRPr>
            </a:lvl8pPr>
            <a:lvl9pPr algn="l">
              <a:defRPr sz="750" b="0">
                <a:solidFill>
                  <a:srgbClr val="FAFAFA"/>
                </a:solidFill>
                <a:latin typeface="DM Sans"/>
                <a:ea typeface="DM Sans"/>
                <a:cs typeface="DM Sans"/>
              </a:defRPr>
            </a:lvl9pPr>
          </a:lstStyle>
          <a:p xmlns:a="http://schemas.openxmlformats.org/drawingml/2006/main">
            <a:pPr algn="l">
              <a:defRPr sz="750" b="0">
                <a:solidFill>
                  <a:srgbClr val="FAFAFA"/>
                </a:solidFill>
                <a:latin typeface="DM Sans"/>
                <a:ea typeface="DM Sans"/>
                <a:cs typeface="DM Sans"/>
              </a:defRPr>
            </a:pPr>
            <a:r>
              <a:rPr sz="750" b="0">
                <a:solidFill>
                  <a:srgbClr val="FAFAFA"/>
                </a:solidFill>
                <a:latin typeface="DM Sans"/>
                <a:ea typeface="DM Sans"/>
                <a:cs typeface="DM Sans"/>
              </a:rPr>
              <a:t>COLLECTED</a:t>
            </a:r>
          </a:p>
        </p:txBody>
      </p:sp>
      <p:sp>
        <p:nvSpPr>
          <p:cNvPr id="15" name="">
            <a:extLst xmlns:a="http://schemas.openxmlformats.org/drawingml/2006/main">
              <a:ext uri="{FF2B5EF4-FFF2-40B4-BE49-F238E27FC236}">
                <a16:creationId xmlns:a16="http://schemas.microsoft.com/office/drawing/2014/main" id="{3F178602-5975-4114-A2D8-047550698268}"/>
              </a:ext>
            </a:extLst>
          </p:cNvPr>
          <p:cNvSpPr>
            <a:spLocks xmlns:a="http://schemas.openxmlformats.org/drawingml/2006/main" noGrp="1"/>
          </p:cNvSpPr>
          <p:nvPr/>
        </p:nvSpPr>
        <p:spPr>
          <a:xfrm xmlns:a="http://schemas.openxmlformats.org/drawingml/2006/main" rot="0">
            <a:off x="2114550" y="4114800"/>
            <a:ext cx="2533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FAFAFA"/>
                </a:solidFill>
                <a:latin typeface="DM Sans"/>
                <a:ea typeface="DM Sans"/>
                <a:cs typeface="DM Sans"/>
              </a:defRPr>
            </a:defPPr>
            <a:lvl1pPr algn="l">
              <a:defRPr sz="1350" b="0">
                <a:solidFill>
                  <a:srgbClr val="FAFAFA"/>
                </a:solidFill>
                <a:latin typeface="DM Sans"/>
                <a:ea typeface="DM Sans"/>
                <a:cs typeface="DM Sans"/>
              </a:defRPr>
            </a:lvl1pPr>
            <a:lvl2pPr algn="l">
              <a:defRPr sz="1350" b="0">
                <a:solidFill>
                  <a:srgbClr val="FAFAFA"/>
                </a:solidFill>
                <a:latin typeface="DM Sans"/>
                <a:ea typeface="DM Sans"/>
                <a:cs typeface="DM Sans"/>
              </a:defRPr>
            </a:lvl2pPr>
            <a:lvl3pPr algn="l">
              <a:defRPr sz="1350" b="0">
                <a:solidFill>
                  <a:srgbClr val="FAFAFA"/>
                </a:solidFill>
                <a:latin typeface="DM Sans"/>
                <a:ea typeface="DM Sans"/>
                <a:cs typeface="DM Sans"/>
              </a:defRPr>
            </a:lvl3pPr>
            <a:lvl4pPr algn="l">
              <a:defRPr sz="1350" b="0">
                <a:solidFill>
                  <a:srgbClr val="FAFAFA"/>
                </a:solidFill>
                <a:latin typeface="DM Sans"/>
                <a:ea typeface="DM Sans"/>
                <a:cs typeface="DM Sans"/>
              </a:defRPr>
            </a:lvl4pPr>
            <a:lvl5pPr algn="l">
              <a:defRPr sz="1350" b="0">
                <a:solidFill>
                  <a:srgbClr val="FAFAFA"/>
                </a:solidFill>
                <a:latin typeface="DM Sans"/>
                <a:ea typeface="DM Sans"/>
                <a:cs typeface="DM Sans"/>
              </a:defRPr>
            </a:lvl5pPr>
            <a:lvl6pPr algn="l">
              <a:defRPr sz="1350" b="0">
                <a:solidFill>
                  <a:srgbClr val="FAFAFA"/>
                </a:solidFill>
                <a:latin typeface="DM Sans"/>
                <a:ea typeface="DM Sans"/>
                <a:cs typeface="DM Sans"/>
              </a:defRPr>
            </a:lvl6pPr>
            <a:lvl7pPr algn="l">
              <a:defRPr sz="1350" b="0">
                <a:solidFill>
                  <a:srgbClr val="FAFAFA"/>
                </a:solidFill>
                <a:latin typeface="DM Sans"/>
                <a:ea typeface="DM Sans"/>
                <a:cs typeface="DM Sans"/>
              </a:defRPr>
            </a:lvl7pPr>
            <a:lvl8pPr algn="l">
              <a:defRPr sz="1350" b="0">
                <a:solidFill>
                  <a:srgbClr val="FAFAFA"/>
                </a:solidFill>
                <a:latin typeface="DM Sans"/>
                <a:ea typeface="DM Sans"/>
                <a:cs typeface="DM Sans"/>
              </a:defRPr>
            </a:lvl8pPr>
            <a:lvl9pPr algn="l">
              <a:defRPr sz="1350" b="0">
                <a:solidFill>
                  <a:srgbClr val="FAFAFA"/>
                </a:solidFill>
                <a:latin typeface="DM Sans"/>
                <a:ea typeface="DM Sans"/>
                <a:cs typeface="DM Sans"/>
              </a:defRPr>
            </a:lvl9pPr>
          </a:lstStyle>
          <a:p xmlns:a="http://schemas.openxmlformats.org/drawingml/2006/main">
            <a:pPr algn="l">
              <a:defRPr sz="1350" b="0">
                <a:solidFill>
                  <a:srgbClr val="FAFAFA"/>
                </a:solidFill>
                <a:latin typeface="DM Sans"/>
                <a:ea typeface="DM Sans"/>
                <a:cs typeface="DM Sans"/>
              </a:defRPr>
            </a:pPr>
            <a:r>
              <a:rPr sz="1350" b="0">
                <a:solidFill>
                  <a:srgbClr val="FAFAFA"/>
                </a:solidFill>
                <a:latin typeface="DM Sans"/>
                <a:ea typeface="DM Sans"/>
                <a:cs typeface="DM Sans"/>
              </a:rPr>
              <a:t>June–July 2016</a:t>
            </a:r>
          </a:p>
        </p:txBody>
      </p:sp>
      <p:sp>
        <p:nvSpPr>
          <p:cNvPr id="16" name="">
            <a:extLst xmlns:a="http://schemas.openxmlformats.org/drawingml/2006/main">
              <a:ext uri="{FF2B5EF4-FFF2-40B4-BE49-F238E27FC236}">
                <a16:creationId xmlns:a16="http://schemas.microsoft.com/office/drawing/2014/main" id="{D2833D86-5DC1-4F5D-9FDC-AAA1CFD5DCCD}"/>
              </a:ext>
            </a:extLst>
          </p:cNvPr>
          <p:cNvSpPr>
            <a:spLocks xmlns:a="http://schemas.openxmlformats.org/drawingml/2006/main" noGrp="1"/>
          </p:cNvSpPr>
          <p:nvPr/>
        </p:nvSpPr>
        <p:spPr>
          <a:xfrm xmlns:a="http://schemas.openxmlformats.org/drawingml/2006/main" rot="0">
            <a:off x="6343650" y="3914775"/>
            <a:ext cx="2000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AFAFA"/>
                </a:solidFill>
                <a:latin typeface="DM Sans"/>
                <a:ea typeface="DM Sans"/>
                <a:cs typeface="DM Sans"/>
              </a:defRPr>
            </a:defPPr>
            <a:lvl1pPr algn="l">
              <a:defRPr sz="750" b="0">
                <a:solidFill>
                  <a:srgbClr val="FAFAFA"/>
                </a:solidFill>
                <a:latin typeface="DM Sans"/>
                <a:ea typeface="DM Sans"/>
                <a:cs typeface="DM Sans"/>
              </a:defRPr>
            </a:lvl1pPr>
            <a:lvl2pPr algn="l">
              <a:defRPr sz="750" b="0">
                <a:solidFill>
                  <a:srgbClr val="FAFAFA"/>
                </a:solidFill>
                <a:latin typeface="DM Sans"/>
                <a:ea typeface="DM Sans"/>
                <a:cs typeface="DM Sans"/>
              </a:defRPr>
            </a:lvl2pPr>
            <a:lvl3pPr algn="l">
              <a:defRPr sz="750" b="0">
                <a:solidFill>
                  <a:srgbClr val="FAFAFA"/>
                </a:solidFill>
                <a:latin typeface="DM Sans"/>
                <a:ea typeface="DM Sans"/>
                <a:cs typeface="DM Sans"/>
              </a:defRPr>
            </a:lvl3pPr>
            <a:lvl4pPr algn="l">
              <a:defRPr sz="750" b="0">
                <a:solidFill>
                  <a:srgbClr val="FAFAFA"/>
                </a:solidFill>
                <a:latin typeface="DM Sans"/>
                <a:ea typeface="DM Sans"/>
                <a:cs typeface="DM Sans"/>
              </a:defRPr>
            </a:lvl4pPr>
            <a:lvl5pPr algn="l">
              <a:defRPr sz="750" b="0">
                <a:solidFill>
                  <a:srgbClr val="FAFAFA"/>
                </a:solidFill>
                <a:latin typeface="DM Sans"/>
                <a:ea typeface="DM Sans"/>
                <a:cs typeface="DM Sans"/>
              </a:defRPr>
            </a:lvl5pPr>
            <a:lvl6pPr algn="l">
              <a:defRPr sz="750" b="0">
                <a:solidFill>
                  <a:srgbClr val="FAFAFA"/>
                </a:solidFill>
                <a:latin typeface="DM Sans"/>
                <a:ea typeface="DM Sans"/>
                <a:cs typeface="DM Sans"/>
              </a:defRPr>
            </a:lvl6pPr>
            <a:lvl7pPr algn="l">
              <a:defRPr sz="750" b="0">
                <a:solidFill>
                  <a:srgbClr val="FAFAFA"/>
                </a:solidFill>
                <a:latin typeface="DM Sans"/>
                <a:ea typeface="DM Sans"/>
                <a:cs typeface="DM Sans"/>
              </a:defRPr>
            </a:lvl7pPr>
            <a:lvl8pPr algn="l">
              <a:defRPr sz="750" b="0">
                <a:solidFill>
                  <a:srgbClr val="FAFAFA"/>
                </a:solidFill>
                <a:latin typeface="DM Sans"/>
                <a:ea typeface="DM Sans"/>
                <a:cs typeface="DM Sans"/>
              </a:defRPr>
            </a:lvl8pPr>
            <a:lvl9pPr algn="l">
              <a:defRPr sz="750" b="0">
                <a:solidFill>
                  <a:srgbClr val="FAFAFA"/>
                </a:solidFill>
                <a:latin typeface="DM Sans"/>
                <a:ea typeface="DM Sans"/>
                <a:cs typeface="DM Sans"/>
              </a:defRPr>
            </a:lvl9pPr>
          </a:lstStyle>
          <a:p xmlns:a="http://schemas.openxmlformats.org/drawingml/2006/main">
            <a:pPr algn="l">
              <a:defRPr sz="750" b="0">
                <a:solidFill>
                  <a:srgbClr val="FAFAFA"/>
                </a:solidFill>
                <a:latin typeface="DM Sans"/>
                <a:ea typeface="DM Sans"/>
                <a:cs typeface="DM Sans"/>
              </a:defRPr>
            </a:pPr>
            <a:r>
              <a:rPr sz="750" b="0">
                <a:solidFill>
                  <a:srgbClr val="FAFAFA"/>
                </a:solidFill>
                <a:latin typeface="DM Sans"/>
                <a:ea typeface="DM Sans"/>
                <a:cs typeface="DM Sans"/>
              </a:rPr>
              <a:t>PUBLISHED</a:t>
            </a:r>
          </a:p>
        </p:txBody>
      </p:sp>
      <p:sp>
        <p:nvSpPr>
          <p:cNvPr id="17" name="">
            <a:extLst xmlns:a="http://schemas.openxmlformats.org/drawingml/2006/main">
              <a:ext uri="{FF2B5EF4-FFF2-40B4-BE49-F238E27FC236}">
                <a16:creationId xmlns:a16="http://schemas.microsoft.com/office/drawing/2014/main" id="{4146EC85-19C5-4D93-A692-DC778EA77C4E}"/>
              </a:ext>
            </a:extLst>
          </p:cNvPr>
          <p:cNvSpPr>
            <a:spLocks xmlns:a="http://schemas.openxmlformats.org/drawingml/2006/main" noGrp="1"/>
          </p:cNvSpPr>
          <p:nvPr/>
        </p:nvSpPr>
        <p:spPr>
          <a:xfrm xmlns:a="http://schemas.openxmlformats.org/drawingml/2006/main" rot="0">
            <a:off x="6343650" y="4114800"/>
            <a:ext cx="2381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FAFAFA"/>
                </a:solidFill>
                <a:latin typeface="DM Sans"/>
                <a:ea typeface="DM Sans"/>
                <a:cs typeface="DM Sans"/>
              </a:defRPr>
            </a:defPPr>
            <a:lvl1pPr algn="l">
              <a:defRPr sz="1350" b="0">
                <a:solidFill>
                  <a:srgbClr val="FAFAFA"/>
                </a:solidFill>
                <a:latin typeface="DM Sans"/>
                <a:ea typeface="DM Sans"/>
                <a:cs typeface="DM Sans"/>
              </a:defRPr>
            </a:lvl1pPr>
            <a:lvl2pPr algn="l">
              <a:defRPr sz="1350" b="0">
                <a:solidFill>
                  <a:srgbClr val="FAFAFA"/>
                </a:solidFill>
                <a:latin typeface="DM Sans"/>
                <a:ea typeface="DM Sans"/>
                <a:cs typeface="DM Sans"/>
              </a:defRPr>
            </a:lvl2pPr>
            <a:lvl3pPr algn="l">
              <a:defRPr sz="1350" b="0">
                <a:solidFill>
                  <a:srgbClr val="FAFAFA"/>
                </a:solidFill>
                <a:latin typeface="DM Sans"/>
                <a:ea typeface="DM Sans"/>
                <a:cs typeface="DM Sans"/>
              </a:defRPr>
            </a:lvl3pPr>
            <a:lvl4pPr algn="l">
              <a:defRPr sz="1350" b="0">
                <a:solidFill>
                  <a:srgbClr val="FAFAFA"/>
                </a:solidFill>
                <a:latin typeface="DM Sans"/>
                <a:ea typeface="DM Sans"/>
                <a:cs typeface="DM Sans"/>
              </a:defRPr>
            </a:lvl4pPr>
            <a:lvl5pPr algn="l">
              <a:defRPr sz="1350" b="0">
                <a:solidFill>
                  <a:srgbClr val="FAFAFA"/>
                </a:solidFill>
                <a:latin typeface="DM Sans"/>
                <a:ea typeface="DM Sans"/>
                <a:cs typeface="DM Sans"/>
              </a:defRPr>
            </a:lvl5pPr>
            <a:lvl6pPr algn="l">
              <a:defRPr sz="1350" b="0">
                <a:solidFill>
                  <a:srgbClr val="FAFAFA"/>
                </a:solidFill>
                <a:latin typeface="DM Sans"/>
                <a:ea typeface="DM Sans"/>
                <a:cs typeface="DM Sans"/>
              </a:defRPr>
            </a:lvl6pPr>
            <a:lvl7pPr algn="l">
              <a:defRPr sz="1350" b="0">
                <a:solidFill>
                  <a:srgbClr val="FAFAFA"/>
                </a:solidFill>
                <a:latin typeface="DM Sans"/>
                <a:ea typeface="DM Sans"/>
                <a:cs typeface="DM Sans"/>
              </a:defRPr>
            </a:lvl7pPr>
            <a:lvl8pPr algn="l">
              <a:defRPr sz="1350" b="0">
                <a:solidFill>
                  <a:srgbClr val="FAFAFA"/>
                </a:solidFill>
                <a:latin typeface="DM Sans"/>
                <a:ea typeface="DM Sans"/>
                <a:cs typeface="DM Sans"/>
              </a:defRPr>
            </a:lvl8pPr>
            <a:lvl9pPr algn="l">
              <a:defRPr sz="1350" b="0">
                <a:solidFill>
                  <a:srgbClr val="FAFAFA"/>
                </a:solidFill>
                <a:latin typeface="DM Sans"/>
                <a:ea typeface="DM Sans"/>
                <a:cs typeface="DM Sans"/>
              </a:defRPr>
            </a:lvl9pPr>
          </a:lstStyle>
          <a:p xmlns:a="http://schemas.openxmlformats.org/drawingml/2006/main">
            <a:pPr algn="l">
              <a:defRPr sz="1350" b="0">
                <a:solidFill>
                  <a:srgbClr val="FAFAFA"/>
                </a:solidFill>
                <a:latin typeface="DM Sans"/>
                <a:ea typeface="DM Sans"/>
                <a:cs typeface="DM Sans"/>
              </a:defRPr>
            </a:pPr>
            <a:r>
              <a:rPr sz="1350" b="0">
                <a:solidFill>
                  <a:srgbClr val="FAFAFA"/>
                </a:solidFill>
                <a:latin typeface="DM Sans"/>
                <a:ea typeface="DM Sans"/>
                <a:cs typeface="DM Sans"/>
              </a:rPr>
              <a:t>November 2016</a:t>
            </a:r>
          </a:p>
        </p:txBody>
      </p:sp>
      <p:sp>
        <p:nvSpPr>
          <p:cNvPr id="18" name="">
            <a:extLst xmlns:a="http://schemas.openxmlformats.org/drawingml/2006/main">
              <a:ext uri="{FF2B5EF4-FFF2-40B4-BE49-F238E27FC236}">
                <a16:creationId xmlns:a16="http://schemas.microsoft.com/office/drawing/2014/main" id="{79CF2F8C-30F9-460C-9090-520128679299}"/>
              </a:ext>
            </a:extLst>
          </p:cNvPr>
          <p:cNvSpPr>
            <a:spLocks xmlns:a="http://schemas.openxmlformats.org/drawingml/2006/main" noGrp="1"/>
          </p:cNvSpPr>
          <p:nvPr/>
        </p:nvSpPr>
        <p:spPr>
          <a:xfrm xmlns:a="http://schemas.openxmlformats.org/drawingml/2006/main">
            <a:off x="2124075" y="4448175"/>
            <a:ext cx="9477375" cy="95"/>
          </a:xfrm>
          <a:custGeom xmlns:a="http://schemas.openxmlformats.org/drawingml/2006/main">
            <a:pathLst>
              <a:path w="9477375" h="95">
                <a:moveTo>
                  <a:pt x="0" y="0"/>
                </a:moveTo>
                <a:lnTo>
                  <a:pt x="9477375" y="0"/>
                </a:lnTo>
              </a:path>
            </a:pathLst>
          </a:custGeom>
          <a:noFill xmlns:a="http://schemas.openxmlformats.org/drawingml/2006/main"/>
          <a:ln xmlns:a="http://schemas.openxmlformats.org/drawingml/2006/main" w="7620">
            <a:solidFill>
              <a:srgbClr val="FAFAFA">
                <a:alpha val="70000"/>
              </a:srgbClr>
            </a:solidFill>
            <a:prstDash val="solid"/>
          </a:ln>
        </p:spPr>
      </p:sp>
      <p:sp>
        <p:nvSpPr>
          <p:cNvPr id="19" name="">
            <a:extLst xmlns:a="http://schemas.openxmlformats.org/drawingml/2006/main">
              <a:ext uri="{FF2B5EF4-FFF2-40B4-BE49-F238E27FC236}">
                <a16:creationId xmlns:a16="http://schemas.microsoft.com/office/drawing/2014/main" id="{EC8EC205-7714-49C6-80F7-70DDDE29A244}"/>
              </a:ext>
            </a:extLst>
          </p:cNvPr>
          <p:cNvSpPr>
            <a:spLocks xmlns:a="http://schemas.openxmlformats.org/drawingml/2006/main" noGrp="1"/>
          </p:cNvSpPr>
          <p:nvPr/>
        </p:nvSpPr>
        <p:spPr>
          <a:xfrm xmlns:a="http://schemas.openxmlformats.org/drawingml/2006/main">
            <a:off x="2095500" y="4419600"/>
            <a:ext cx="57150" cy="57150"/>
          </a:xfrm>
          <a:prstGeom xmlns:a="http://schemas.openxmlformats.org/drawingml/2006/main" prst="ellipse">
            <a:avLst/>
          </a:prstGeom>
          <a:solidFill xmlns:a="http://schemas.openxmlformats.org/drawingml/2006/main">
            <a:srgbClr val="FAFAFA"/>
          </a:solidFill>
          <a:ln xmlns:a="http://schemas.openxmlformats.org/drawingml/2006/main" w="0">
            <a:solidFill>
              <a:srgbClr val="FAFAFA"/>
            </a:solidFill>
            <a:prstDash val="solid"/>
          </a:ln>
        </p:spPr>
      </p:sp>
      <p:sp>
        <p:nvSpPr>
          <p:cNvPr id="20" name="">
            <a:extLst xmlns:a="http://schemas.openxmlformats.org/drawingml/2006/main">
              <a:ext uri="{FF2B5EF4-FFF2-40B4-BE49-F238E27FC236}">
                <a16:creationId xmlns:a16="http://schemas.microsoft.com/office/drawing/2014/main" id="{BB4D163B-98F9-4C30-81B5-2D5395589623}"/>
              </a:ext>
            </a:extLst>
          </p:cNvPr>
          <p:cNvSpPr>
            <a:spLocks xmlns:a="http://schemas.openxmlformats.org/drawingml/2006/main" noGrp="1"/>
          </p:cNvSpPr>
          <p:nvPr/>
        </p:nvSpPr>
        <p:spPr>
          <a:xfrm xmlns:a="http://schemas.openxmlformats.org/drawingml/2006/main">
            <a:off x="6315075" y="4419600"/>
            <a:ext cx="57150" cy="57150"/>
          </a:xfrm>
          <a:prstGeom xmlns:a="http://schemas.openxmlformats.org/drawingml/2006/main" prst="ellipse">
            <a:avLst/>
          </a:prstGeom>
          <a:solidFill xmlns:a="http://schemas.openxmlformats.org/drawingml/2006/main">
            <a:srgbClr val="FAFAFA"/>
          </a:solidFill>
          <a:ln xmlns:a="http://schemas.openxmlformats.org/drawingml/2006/main" w="0">
            <a:solidFill>
              <a:srgbClr val="FAFAFA"/>
            </a:solidFill>
            <a:prstDash val="solid"/>
          </a:ln>
        </p:spPr>
      </p:sp>
      <p:sp>
        <p:nvSpPr>
          <p:cNvPr id="21" name="">
            <a:extLst xmlns:a="http://schemas.openxmlformats.org/drawingml/2006/main">
              <a:ext uri="{FF2B5EF4-FFF2-40B4-BE49-F238E27FC236}">
                <a16:creationId xmlns:a16="http://schemas.microsoft.com/office/drawing/2014/main" id="{7D0BDABD-460C-44C0-9BF1-6CBBDBDE88F9}"/>
              </a:ext>
            </a:extLst>
          </p:cNvPr>
          <p:cNvSpPr>
            <a:spLocks xmlns:a="http://schemas.openxmlformats.org/drawingml/2006/main" noGrp="1"/>
          </p:cNvSpPr>
          <p:nvPr/>
        </p:nvSpPr>
        <p:spPr>
          <a:xfrm xmlns:a="http://schemas.openxmlformats.org/drawingml/2006/main">
            <a:off x="11315700" y="4448175"/>
            <a:ext cx="485775" cy="95"/>
          </a:xfrm>
          <a:custGeom xmlns:a="http://schemas.openxmlformats.org/drawingml/2006/main">
            <a:pathLst>
              <a:path w="485775" h="95">
                <a:moveTo>
                  <a:pt x="0" y="0"/>
                </a:moveTo>
                <a:lnTo>
                  <a:pt x="485775" y="0"/>
                </a:lnTo>
              </a:path>
            </a:pathLst>
          </a:custGeom>
          <a:noFill xmlns:a="http://schemas.openxmlformats.org/drawingml/2006/main"/>
          <a:ln xmlns:a="http://schemas.openxmlformats.org/drawingml/2006/main" w="7144">
            <a:solidFill>
              <a:srgbClr val="FAFAFA"/>
            </a:solidFill>
            <a:prstDash val="solid"/>
          </a:ln>
        </p:spPr>
      </p:sp>
      <p:sp>
        <p:nvSpPr>
          <p:cNvPr id="22" name="">
            <a:extLst xmlns:a="http://schemas.openxmlformats.org/drawingml/2006/main">
              <a:ext uri="{FF2B5EF4-FFF2-40B4-BE49-F238E27FC236}">
                <a16:creationId xmlns:a16="http://schemas.microsoft.com/office/drawing/2014/main" id="{DA75E09F-C1A6-4018-B10B-785251EE3FF5}"/>
              </a:ext>
            </a:extLst>
          </p:cNvPr>
          <p:cNvSpPr>
            <a:spLocks xmlns:a="http://schemas.openxmlformats.org/drawingml/2006/main" noGrp="1"/>
          </p:cNvSpPr>
          <p:nvPr/>
        </p:nvSpPr>
        <p:spPr>
          <a:xfrm xmlns:a="http://schemas.openxmlformats.org/drawingml/2006/main">
            <a:off x="11763375" y="4419600"/>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FAFAFA"/>
            </a:solidFill>
            <a:prstDash val="solid"/>
          </a:ln>
        </p:spPr>
      </p:sp>
      <p:sp>
        <p:nvSpPr>
          <p:cNvPr id="23" name="">
            <a:extLst xmlns:a="http://schemas.openxmlformats.org/drawingml/2006/main">
              <a:ext uri="{FF2B5EF4-FFF2-40B4-BE49-F238E27FC236}">
                <a16:creationId xmlns:a16="http://schemas.microsoft.com/office/drawing/2014/main" id="{6ED8DEA5-3EF9-4EF5-9055-6B1B2D5BA32B}"/>
              </a:ext>
            </a:extLst>
          </p:cNvPr>
          <p:cNvSpPr>
            <a:spLocks xmlns:a="http://schemas.openxmlformats.org/drawingml/2006/main" noGrp="1"/>
          </p:cNvSpPr>
          <p:nvPr/>
        </p:nvSpPr>
        <p:spPr>
          <a:xfrm xmlns:a="http://schemas.openxmlformats.org/drawingml/2006/main">
            <a:off x="11763375" y="4448175"/>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FAFAFA"/>
            </a:solidFill>
            <a:prstDash val="solid"/>
          </a:ln>
        </p:spPr>
      </p:sp>
      <p:sp>
        <p:nvSpPr>
          <p:cNvPr id="24" name="">
            <a:extLst xmlns:a="http://schemas.openxmlformats.org/drawingml/2006/main">
              <a:ext uri="{FF2B5EF4-FFF2-40B4-BE49-F238E27FC236}">
                <a16:creationId xmlns:a16="http://schemas.microsoft.com/office/drawing/2014/main" id="{C92B08B8-5F7F-4F7D-8E49-89708CAAA711}"/>
              </a:ext>
            </a:extLst>
          </p:cNvPr>
          <p:cNvSpPr>
            <a:spLocks xmlns:a="http://schemas.openxmlformats.org/drawingml/2006/main" noGrp="1"/>
          </p:cNvSpPr>
          <p:nvPr/>
        </p:nvSpPr>
        <p:spPr>
          <a:xfrm xmlns:a="http://schemas.openxmlformats.org/drawingml/2006/main" rot="0">
            <a:off x="400050" y="4772025"/>
            <a:ext cx="1600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FAFAFA"/>
                </a:solidFill>
                <a:latin typeface="DM Sans"/>
                <a:ea typeface="DM Sans"/>
                <a:cs typeface="DM Sans"/>
              </a:defRPr>
            </a:defPPr>
            <a:lvl1pPr algn="l">
              <a:defRPr sz="1575" b="0">
                <a:solidFill>
                  <a:srgbClr val="FAFAFA"/>
                </a:solidFill>
                <a:latin typeface="DM Sans"/>
                <a:ea typeface="DM Sans"/>
                <a:cs typeface="DM Sans"/>
              </a:defRPr>
            </a:lvl1pPr>
            <a:lvl2pPr algn="l">
              <a:defRPr sz="1575" b="0">
                <a:solidFill>
                  <a:srgbClr val="FAFAFA"/>
                </a:solidFill>
                <a:latin typeface="DM Sans"/>
                <a:ea typeface="DM Sans"/>
                <a:cs typeface="DM Sans"/>
              </a:defRPr>
            </a:lvl2pPr>
            <a:lvl3pPr algn="l">
              <a:defRPr sz="1575" b="0">
                <a:solidFill>
                  <a:srgbClr val="FAFAFA"/>
                </a:solidFill>
                <a:latin typeface="DM Sans"/>
                <a:ea typeface="DM Sans"/>
                <a:cs typeface="DM Sans"/>
              </a:defRPr>
            </a:lvl3pPr>
            <a:lvl4pPr algn="l">
              <a:defRPr sz="1575" b="0">
                <a:solidFill>
                  <a:srgbClr val="FAFAFA"/>
                </a:solidFill>
                <a:latin typeface="DM Sans"/>
                <a:ea typeface="DM Sans"/>
                <a:cs typeface="DM Sans"/>
              </a:defRPr>
            </a:lvl4pPr>
            <a:lvl5pPr algn="l">
              <a:defRPr sz="1575" b="0">
                <a:solidFill>
                  <a:srgbClr val="FAFAFA"/>
                </a:solidFill>
                <a:latin typeface="DM Sans"/>
                <a:ea typeface="DM Sans"/>
                <a:cs typeface="DM Sans"/>
              </a:defRPr>
            </a:lvl5pPr>
            <a:lvl6pPr algn="l">
              <a:defRPr sz="1575" b="0">
                <a:solidFill>
                  <a:srgbClr val="FAFAFA"/>
                </a:solidFill>
                <a:latin typeface="DM Sans"/>
                <a:ea typeface="DM Sans"/>
                <a:cs typeface="DM Sans"/>
              </a:defRPr>
            </a:lvl6pPr>
            <a:lvl7pPr algn="l">
              <a:defRPr sz="1575" b="0">
                <a:solidFill>
                  <a:srgbClr val="FAFAFA"/>
                </a:solidFill>
                <a:latin typeface="DM Sans"/>
                <a:ea typeface="DM Sans"/>
                <a:cs typeface="DM Sans"/>
              </a:defRPr>
            </a:lvl7pPr>
            <a:lvl8pPr algn="l">
              <a:defRPr sz="1575" b="0">
                <a:solidFill>
                  <a:srgbClr val="FAFAFA"/>
                </a:solidFill>
                <a:latin typeface="DM Sans"/>
                <a:ea typeface="DM Sans"/>
                <a:cs typeface="DM Sans"/>
              </a:defRPr>
            </a:lvl8pPr>
            <a:lvl9pPr algn="l">
              <a:defRPr sz="1575" b="0">
                <a:solidFill>
                  <a:srgbClr val="FAFAFA"/>
                </a:solidFill>
                <a:latin typeface="DM Sans"/>
                <a:ea typeface="DM Sans"/>
                <a:cs typeface="DM Sans"/>
              </a:defRPr>
            </a:lvl9pPr>
          </a:lstStyle>
          <a:p xmlns:a="http://schemas.openxmlformats.org/drawingml/2006/main">
            <a:pPr algn="l">
              <a:defRPr sz="1575" b="0">
                <a:solidFill>
                  <a:srgbClr val="FAFAFA"/>
                </a:solidFill>
                <a:latin typeface="DM Sans"/>
                <a:ea typeface="DM Sans"/>
                <a:cs typeface="DM Sans"/>
              </a:defRPr>
            </a:pPr>
            <a:r>
              <a:rPr sz="1575" b="0">
                <a:solidFill>
                  <a:srgbClr val="FAFAFA"/>
                </a:solidFill>
                <a:latin typeface="DM Sans"/>
                <a:ea typeface="DM Sans"/>
                <a:cs typeface="DM Sans"/>
              </a:rPr>
              <a:t>Simulation</a:t>
            </a:r>
          </a:p>
        </p:txBody>
      </p:sp>
      <p:sp>
        <p:nvSpPr>
          <p:cNvPr id="25" name="">
            <a:extLst xmlns:a="http://schemas.openxmlformats.org/drawingml/2006/main">
              <a:ext uri="{FF2B5EF4-FFF2-40B4-BE49-F238E27FC236}">
                <a16:creationId xmlns:a16="http://schemas.microsoft.com/office/drawing/2014/main" id="{FE418C96-961F-43AC-BCC5-4CE0E24D98CA}"/>
              </a:ext>
            </a:extLst>
          </p:cNvPr>
          <p:cNvSpPr>
            <a:spLocks xmlns:a="http://schemas.openxmlformats.org/drawingml/2006/main" noGrp="1"/>
          </p:cNvSpPr>
          <p:nvPr/>
        </p:nvSpPr>
        <p:spPr>
          <a:xfrm xmlns:a="http://schemas.openxmlformats.org/drawingml/2006/main" rot="0">
            <a:off x="2124075" y="4657725"/>
            <a:ext cx="3905250" cy="2571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FAFAFA"/>
                </a:solidFill>
                <a:latin typeface="DM Sans"/>
                <a:ea typeface="DM Sans"/>
                <a:cs typeface="DM Sans"/>
              </a:defRPr>
            </a:defPPr>
            <a:lvl1pPr algn="l">
              <a:defRPr sz="1350" b="0">
                <a:solidFill>
                  <a:srgbClr val="FAFAFA"/>
                </a:solidFill>
                <a:latin typeface="DM Sans"/>
                <a:ea typeface="DM Sans"/>
                <a:cs typeface="DM Sans"/>
              </a:defRPr>
            </a:lvl1pPr>
            <a:lvl2pPr algn="l">
              <a:defRPr sz="1350" b="0">
                <a:solidFill>
                  <a:srgbClr val="FAFAFA"/>
                </a:solidFill>
                <a:latin typeface="DM Sans"/>
                <a:ea typeface="DM Sans"/>
                <a:cs typeface="DM Sans"/>
              </a:defRPr>
            </a:lvl2pPr>
            <a:lvl3pPr algn="l">
              <a:defRPr sz="1350" b="0">
                <a:solidFill>
                  <a:srgbClr val="FAFAFA"/>
                </a:solidFill>
                <a:latin typeface="DM Sans"/>
                <a:ea typeface="DM Sans"/>
                <a:cs typeface="DM Sans"/>
              </a:defRPr>
            </a:lvl3pPr>
            <a:lvl4pPr algn="l">
              <a:defRPr sz="1350" b="0">
                <a:solidFill>
                  <a:srgbClr val="FAFAFA"/>
                </a:solidFill>
                <a:latin typeface="DM Sans"/>
                <a:ea typeface="DM Sans"/>
                <a:cs typeface="DM Sans"/>
              </a:defRPr>
            </a:lvl4pPr>
            <a:lvl5pPr algn="l">
              <a:defRPr sz="1350" b="0">
                <a:solidFill>
                  <a:srgbClr val="FAFAFA"/>
                </a:solidFill>
                <a:latin typeface="DM Sans"/>
                <a:ea typeface="DM Sans"/>
                <a:cs typeface="DM Sans"/>
              </a:defRPr>
            </a:lvl5pPr>
            <a:lvl6pPr algn="l">
              <a:defRPr sz="1350" b="0">
                <a:solidFill>
                  <a:srgbClr val="FAFAFA"/>
                </a:solidFill>
                <a:latin typeface="DM Sans"/>
                <a:ea typeface="DM Sans"/>
                <a:cs typeface="DM Sans"/>
              </a:defRPr>
            </a:lvl6pPr>
            <a:lvl7pPr algn="l">
              <a:defRPr sz="1350" b="0">
                <a:solidFill>
                  <a:srgbClr val="FAFAFA"/>
                </a:solidFill>
                <a:latin typeface="DM Sans"/>
                <a:ea typeface="DM Sans"/>
                <a:cs typeface="DM Sans"/>
              </a:defRPr>
            </a:lvl7pPr>
            <a:lvl8pPr algn="l">
              <a:defRPr sz="1350" b="0">
                <a:solidFill>
                  <a:srgbClr val="FAFAFA"/>
                </a:solidFill>
                <a:latin typeface="DM Sans"/>
                <a:ea typeface="DM Sans"/>
                <a:cs typeface="DM Sans"/>
              </a:defRPr>
            </a:lvl8pPr>
            <a:lvl9pPr algn="l">
              <a:defRPr sz="1350" b="0">
                <a:solidFill>
                  <a:srgbClr val="FAFAFA"/>
                </a:solidFill>
                <a:latin typeface="DM Sans"/>
                <a:ea typeface="DM Sans"/>
                <a:cs typeface="DM Sans"/>
              </a:defRPr>
            </a:lvl9pPr>
          </a:lstStyle>
          <a:p xmlns:a="http://schemas.openxmlformats.org/drawingml/2006/main">
            <a:pPr algn="l">
              <a:defRPr sz="1350" b="0">
                <a:solidFill>
                  <a:srgbClr val="FAFAFA"/>
                </a:solidFill>
                <a:latin typeface="DM Sans"/>
                <a:ea typeface="DM Sans"/>
                <a:cs typeface="DM Sans"/>
              </a:defRPr>
            </a:pPr>
            <a:r>
              <a:rPr sz="1350" b="0">
                <a:solidFill>
                  <a:srgbClr val="FAFAFA"/>
                </a:solidFill>
                <a:latin typeface="DM Sans"/>
                <a:ea typeface="DM Sans"/>
                <a:cs typeface="DM Sans"/>
              </a:rPr>
              <a:t>Five simulated days</a:t>
            </a:r>
          </a:p>
        </p:txBody>
      </p:sp>
      <p:sp>
        <p:nvSpPr>
          <p:cNvPr id="26" name="">
            <a:extLst xmlns:a="http://schemas.openxmlformats.org/drawingml/2006/main">
              <a:ext uri="{FF2B5EF4-FFF2-40B4-BE49-F238E27FC236}">
                <a16:creationId xmlns:a16="http://schemas.microsoft.com/office/drawing/2014/main" id="{F9AFA998-7FEF-4537-BFE2-AABF9437761A}"/>
              </a:ext>
            </a:extLst>
          </p:cNvPr>
          <p:cNvSpPr>
            <a:spLocks xmlns:a="http://schemas.openxmlformats.org/drawingml/2006/main" noGrp="1"/>
          </p:cNvSpPr>
          <p:nvPr/>
        </p:nvSpPr>
        <p:spPr>
          <a:xfrm xmlns:a="http://schemas.openxmlformats.org/drawingml/2006/main" rot="0">
            <a:off x="8477250" y="4657725"/>
            <a:ext cx="31432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FAFAFA"/>
                </a:solidFill>
                <a:latin typeface="DM Sans"/>
                <a:ea typeface="DM Sans"/>
                <a:cs typeface="DM Sans"/>
              </a:defRPr>
            </a:defPPr>
            <a:lvl1pPr algn="l">
              <a:defRPr sz="1050" b="0">
                <a:solidFill>
                  <a:srgbClr val="FAFAFA"/>
                </a:solidFill>
                <a:latin typeface="DM Sans"/>
                <a:ea typeface="DM Sans"/>
                <a:cs typeface="DM Sans"/>
              </a:defRPr>
            </a:lvl1pPr>
            <a:lvl2pPr algn="l">
              <a:defRPr sz="1050" b="0">
                <a:solidFill>
                  <a:srgbClr val="FAFAFA"/>
                </a:solidFill>
                <a:latin typeface="DM Sans"/>
                <a:ea typeface="DM Sans"/>
                <a:cs typeface="DM Sans"/>
              </a:defRPr>
            </a:lvl2pPr>
            <a:lvl3pPr algn="l">
              <a:defRPr sz="1050" b="0">
                <a:solidFill>
                  <a:srgbClr val="FAFAFA"/>
                </a:solidFill>
                <a:latin typeface="DM Sans"/>
                <a:ea typeface="DM Sans"/>
                <a:cs typeface="DM Sans"/>
              </a:defRPr>
            </a:lvl3pPr>
            <a:lvl4pPr algn="l">
              <a:defRPr sz="1050" b="0">
                <a:solidFill>
                  <a:srgbClr val="FAFAFA"/>
                </a:solidFill>
                <a:latin typeface="DM Sans"/>
                <a:ea typeface="DM Sans"/>
                <a:cs typeface="DM Sans"/>
              </a:defRPr>
            </a:lvl4pPr>
            <a:lvl5pPr algn="l">
              <a:defRPr sz="1050" b="0">
                <a:solidFill>
                  <a:srgbClr val="FAFAFA"/>
                </a:solidFill>
                <a:latin typeface="DM Sans"/>
                <a:ea typeface="DM Sans"/>
                <a:cs typeface="DM Sans"/>
              </a:defRPr>
            </a:lvl5pPr>
            <a:lvl6pPr algn="l">
              <a:defRPr sz="1050" b="0">
                <a:solidFill>
                  <a:srgbClr val="FAFAFA"/>
                </a:solidFill>
                <a:latin typeface="DM Sans"/>
                <a:ea typeface="DM Sans"/>
                <a:cs typeface="DM Sans"/>
              </a:defRPr>
            </a:lvl6pPr>
            <a:lvl7pPr algn="l">
              <a:defRPr sz="1050" b="0">
                <a:solidFill>
                  <a:srgbClr val="FAFAFA"/>
                </a:solidFill>
                <a:latin typeface="DM Sans"/>
                <a:ea typeface="DM Sans"/>
                <a:cs typeface="DM Sans"/>
              </a:defRPr>
            </a:lvl7pPr>
            <a:lvl8pPr algn="l">
              <a:defRPr sz="1050" b="0">
                <a:solidFill>
                  <a:srgbClr val="FAFAFA"/>
                </a:solidFill>
                <a:latin typeface="DM Sans"/>
                <a:ea typeface="DM Sans"/>
                <a:cs typeface="DM Sans"/>
              </a:defRPr>
            </a:lvl8pPr>
            <a:lvl9pPr algn="l">
              <a:defRPr sz="1050" b="0">
                <a:solidFill>
                  <a:srgbClr val="FAFAFA"/>
                </a:solidFill>
                <a:latin typeface="DM Sans"/>
                <a:ea typeface="DM Sans"/>
                <a:cs typeface="DM Sans"/>
              </a:defRPr>
            </a:lvl9pPr>
          </a:lstStyle>
          <a:p xmlns:a="http://schemas.openxmlformats.org/drawingml/2006/main">
            <a:pPr algn="l">
              <a:defRPr sz="1050" b="0">
                <a:solidFill>
                  <a:srgbClr val="FAFAFA"/>
                </a:solidFill>
                <a:latin typeface="DM Sans"/>
                <a:ea typeface="DM Sans"/>
                <a:cs typeface="DM Sans"/>
              </a:defRPr>
            </a:pPr>
            <a:r>
              <a:rPr sz="1050" b="0">
                <a:solidFill>
                  <a:srgbClr val="FAFAFA"/>
                </a:solidFill>
                <a:latin typeface="DM Sans"/>
                <a:ea typeface="DM Sans"/>
                <a:cs typeface="DM Sans"/>
              </a:rPr>
              <a:t>News at day 3</a:t>
            </a:r>
          </a:p>
        </p:txBody>
      </p:sp>
      <p:sp>
        <p:nvSpPr>
          <p:cNvPr id="27" name="">
            <a:extLst xmlns:a="http://schemas.openxmlformats.org/drawingml/2006/main">
              <a:ext uri="{FF2B5EF4-FFF2-40B4-BE49-F238E27FC236}">
                <a16:creationId xmlns:a16="http://schemas.microsoft.com/office/drawing/2014/main" id="{F275E2A4-2893-4FC1-B580-C8B90169D8DD}"/>
              </a:ext>
            </a:extLst>
          </p:cNvPr>
          <p:cNvSpPr>
            <a:spLocks xmlns:a="http://schemas.openxmlformats.org/drawingml/2006/main" noGrp="1"/>
          </p:cNvSpPr>
          <p:nvPr/>
        </p:nvSpPr>
        <p:spPr>
          <a:xfrm xmlns:a="http://schemas.openxmlformats.org/drawingml/2006/main">
            <a:off x="2124075" y="5105400"/>
            <a:ext cx="9677400" cy="95"/>
          </a:xfrm>
          <a:custGeom xmlns:a="http://schemas.openxmlformats.org/drawingml/2006/main">
            <a:pathLst>
              <a:path w="9677400" h="95">
                <a:moveTo>
                  <a:pt x="0" y="0"/>
                </a:moveTo>
                <a:lnTo>
                  <a:pt x="9677400" y="0"/>
                </a:lnTo>
              </a:path>
            </a:pathLst>
          </a:custGeom>
          <a:noFill xmlns:a="http://schemas.openxmlformats.org/drawingml/2006/main"/>
          <a:ln xmlns:a="http://schemas.openxmlformats.org/drawingml/2006/main" w="7620">
            <a:solidFill>
              <a:srgbClr val="FAFAFA">
                <a:alpha val="75000"/>
              </a:srgbClr>
            </a:solidFill>
            <a:prstDash val="solid"/>
          </a:ln>
        </p:spPr>
      </p:sp>
      <p:sp>
        <p:nvSpPr>
          <p:cNvPr id="28" name="">
            <a:extLst xmlns:a="http://schemas.openxmlformats.org/drawingml/2006/main">
              <a:ext uri="{FF2B5EF4-FFF2-40B4-BE49-F238E27FC236}">
                <a16:creationId xmlns:a16="http://schemas.microsoft.com/office/drawing/2014/main" id="{45A09CCA-D3AE-4DDA-A9F3-0A7E4EE7C48E}"/>
              </a:ext>
            </a:extLst>
          </p:cNvPr>
          <p:cNvSpPr>
            <a:spLocks xmlns:a="http://schemas.openxmlformats.org/drawingml/2006/main" noGrp="1"/>
          </p:cNvSpPr>
          <p:nvPr/>
        </p:nvSpPr>
        <p:spPr>
          <a:xfrm xmlns:a="http://schemas.openxmlformats.org/drawingml/2006/main">
            <a:off x="2257425" y="5057775"/>
            <a:ext cx="95" cy="95250"/>
          </a:xfrm>
          <a:custGeom xmlns:a="http://schemas.openxmlformats.org/drawingml/2006/main">
            <a:pathLst>
              <a:path w="95" h="95250">
                <a:moveTo>
                  <a:pt x="0" y="0"/>
                </a:moveTo>
                <a:lnTo>
                  <a:pt x="0" y="95250"/>
                </a:lnTo>
              </a:path>
            </a:pathLst>
          </a:custGeom>
          <a:noFill xmlns:a="http://schemas.openxmlformats.org/drawingml/2006/main"/>
          <a:ln xmlns:a="http://schemas.openxmlformats.org/drawingml/2006/main" w="6668">
            <a:solidFill>
              <a:srgbClr val="FAFAFA"/>
            </a:solidFill>
            <a:prstDash val="solid"/>
          </a:ln>
        </p:spPr>
      </p:sp>
      <p:sp>
        <p:nvSpPr>
          <p:cNvPr id="29" name="">
            <a:extLst xmlns:a="http://schemas.openxmlformats.org/drawingml/2006/main">
              <a:ext uri="{FF2B5EF4-FFF2-40B4-BE49-F238E27FC236}">
                <a16:creationId xmlns:a16="http://schemas.microsoft.com/office/drawing/2014/main" id="{EF8B817D-610F-4513-81FD-582ED4991353}"/>
              </a:ext>
            </a:extLst>
          </p:cNvPr>
          <p:cNvSpPr>
            <a:spLocks xmlns:a="http://schemas.openxmlformats.org/drawingml/2006/main" noGrp="1"/>
          </p:cNvSpPr>
          <p:nvPr/>
        </p:nvSpPr>
        <p:spPr>
          <a:xfrm xmlns:a="http://schemas.openxmlformats.org/drawingml/2006/main" rot="0">
            <a:off x="1943100" y="522922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FAFAFA"/>
                </a:solidFill>
                <a:latin typeface="DM Sans"/>
                <a:ea typeface="DM Sans"/>
                <a:cs typeface="DM Sans"/>
              </a:defRPr>
            </a:defPPr>
            <a:lvl1pPr algn="ctr">
              <a:defRPr sz="750" b="0">
                <a:solidFill>
                  <a:srgbClr val="FAFAFA"/>
                </a:solidFill>
                <a:latin typeface="DM Sans"/>
                <a:ea typeface="DM Sans"/>
                <a:cs typeface="DM Sans"/>
              </a:defRPr>
            </a:lvl1pPr>
            <a:lvl2pPr algn="ctr">
              <a:defRPr sz="750" b="0">
                <a:solidFill>
                  <a:srgbClr val="FAFAFA"/>
                </a:solidFill>
                <a:latin typeface="DM Sans"/>
                <a:ea typeface="DM Sans"/>
                <a:cs typeface="DM Sans"/>
              </a:defRPr>
            </a:lvl2pPr>
            <a:lvl3pPr algn="ctr">
              <a:defRPr sz="750" b="0">
                <a:solidFill>
                  <a:srgbClr val="FAFAFA"/>
                </a:solidFill>
                <a:latin typeface="DM Sans"/>
                <a:ea typeface="DM Sans"/>
                <a:cs typeface="DM Sans"/>
              </a:defRPr>
            </a:lvl3pPr>
            <a:lvl4pPr algn="ctr">
              <a:defRPr sz="750" b="0">
                <a:solidFill>
                  <a:srgbClr val="FAFAFA"/>
                </a:solidFill>
                <a:latin typeface="DM Sans"/>
                <a:ea typeface="DM Sans"/>
                <a:cs typeface="DM Sans"/>
              </a:defRPr>
            </a:lvl4pPr>
            <a:lvl5pPr algn="ctr">
              <a:defRPr sz="750" b="0">
                <a:solidFill>
                  <a:srgbClr val="FAFAFA"/>
                </a:solidFill>
                <a:latin typeface="DM Sans"/>
                <a:ea typeface="DM Sans"/>
                <a:cs typeface="DM Sans"/>
              </a:defRPr>
            </a:lvl5pPr>
            <a:lvl6pPr algn="ctr">
              <a:defRPr sz="750" b="0">
                <a:solidFill>
                  <a:srgbClr val="FAFAFA"/>
                </a:solidFill>
                <a:latin typeface="DM Sans"/>
                <a:ea typeface="DM Sans"/>
                <a:cs typeface="DM Sans"/>
              </a:defRPr>
            </a:lvl6pPr>
            <a:lvl7pPr algn="ctr">
              <a:defRPr sz="750" b="0">
                <a:solidFill>
                  <a:srgbClr val="FAFAFA"/>
                </a:solidFill>
                <a:latin typeface="DM Sans"/>
                <a:ea typeface="DM Sans"/>
                <a:cs typeface="DM Sans"/>
              </a:defRPr>
            </a:lvl7pPr>
            <a:lvl8pPr algn="ctr">
              <a:defRPr sz="750" b="0">
                <a:solidFill>
                  <a:srgbClr val="FAFAFA"/>
                </a:solidFill>
                <a:latin typeface="DM Sans"/>
                <a:ea typeface="DM Sans"/>
                <a:cs typeface="DM Sans"/>
              </a:defRPr>
            </a:lvl8pPr>
            <a:lvl9pPr algn="ctr">
              <a:defRPr sz="750" b="0">
                <a:solidFill>
                  <a:srgbClr val="FAFAFA"/>
                </a:solidFill>
                <a:latin typeface="DM Sans"/>
                <a:ea typeface="DM Sans"/>
                <a:cs typeface="DM Sans"/>
              </a:defRPr>
            </a:lvl9pPr>
          </a:lstStyle>
          <a:p xmlns:a="http://schemas.openxmlformats.org/drawingml/2006/main">
            <a:pPr algn="ctr">
              <a:defRPr sz="750" b="0">
                <a:solidFill>
                  <a:srgbClr val="FAFAFA"/>
                </a:solidFill>
                <a:latin typeface="DM Sans"/>
                <a:ea typeface="DM Sans"/>
                <a:cs typeface="DM Sans"/>
              </a:defRPr>
            </a:pPr>
            <a:r>
              <a:rPr sz="750" b="0">
                <a:solidFill>
                  <a:srgbClr val="FAFAFA"/>
                </a:solidFill>
                <a:latin typeface="DM Sans"/>
                <a:ea typeface="DM Sans"/>
                <a:cs typeface="DM Sans"/>
              </a:rPr>
              <a:t>DAY 1</a:t>
            </a:r>
          </a:p>
        </p:txBody>
      </p:sp>
      <p:sp>
        <p:nvSpPr>
          <p:cNvPr id="30" name="">
            <a:extLst xmlns:a="http://schemas.openxmlformats.org/drawingml/2006/main">
              <a:ext uri="{FF2B5EF4-FFF2-40B4-BE49-F238E27FC236}">
                <a16:creationId xmlns:a16="http://schemas.microsoft.com/office/drawing/2014/main" id="{4C025C06-7646-45CB-B094-4FE98ACBC3E1}"/>
              </a:ext>
            </a:extLst>
          </p:cNvPr>
          <p:cNvSpPr>
            <a:spLocks xmlns:a="http://schemas.openxmlformats.org/drawingml/2006/main" noGrp="1"/>
          </p:cNvSpPr>
          <p:nvPr/>
        </p:nvSpPr>
        <p:spPr>
          <a:xfrm xmlns:a="http://schemas.openxmlformats.org/drawingml/2006/main">
            <a:off x="4562475" y="5057775"/>
            <a:ext cx="95" cy="95250"/>
          </a:xfrm>
          <a:custGeom xmlns:a="http://schemas.openxmlformats.org/drawingml/2006/main">
            <a:pathLst>
              <a:path w="95" h="95250">
                <a:moveTo>
                  <a:pt x="0" y="0"/>
                </a:moveTo>
                <a:lnTo>
                  <a:pt x="0" y="95250"/>
                </a:lnTo>
              </a:path>
            </a:pathLst>
          </a:custGeom>
          <a:noFill xmlns:a="http://schemas.openxmlformats.org/drawingml/2006/main"/>
          <a:ln xmlns:a="http://schemas.openxmlformats.org/drawingml/2006/main" w="6668">
            <a:solidFill>
              <a:srgbClr val="FAFAFA"/>
            </a:solidFill>
            <a:prstDash val="solid"/>
          </a:ln>
        </p:spPr>
      </p:sp>
      <p:sp>
        <p:nvSpPr>
          <p:cNvPr id="31" name="">
            <a:extLst xmlns:a="http://schemas.openxmlformats.org/drawingml/2006/main">
              <a:ext uri="{FF2B5EF4-FFF2-40B4-BE49-F238E27FC236}">
                <a16:creationId xmlns:a16="http://schemas.microsoft.com/office/drawing/2014/main" id="{D70FA231-6651-4DAC-962D-F70AC2A3572C}"/>
              </a:ext>
            </a:extLst>
          </p:cNvPr>
          <p:cNvSpPr>
            <a:spLocks xmlns:a="http://schemas.openxmlformats.org/drawingml/2006/main" noGrp="1"/>
          </p:cNvSpPr>
          <p:nvPr/>
        </p:nvSpPr>
        <p:spPr>
          <a:xfrm xmlns:a="http://schemas.openxmlformats.org/drawingml/2006/main" rot="0">
            <a:off x="4248150" y="522922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FAFAFA"/>
                </a:solidFill>
                <a:latin typeface="DM Sans"/>
                <a:ea typeface="DM Sans"/>
                <a:cs typeface="DM Sans"/>
              </a:defRPr>
            </a:defPPr>
            <a:lvl1pPr algn="ctr">
              <a:defRPr sz="750" b="0">
                <a:solidFill>
                  <a:srgbClr val="FAFAFA"/>
                </a:solidFill>
                <a:latin typeface="DM Sans"/>
                <a:ea typeface="DM Sans"/>
                <a:cs typeface="DM Sans"/>
              </a:defRPr>
            </a:lvl1pPr>
            <a:lvl2pPr algn="ctr">
              <a:defRPr sz="750" b="0">
                <a:solidFill>
                  <a:srgbClr val="FAFAFA"/>
                </a:solidFill>
                <a:latin typeface="DM Sans"/>
                <a:ea typeface="DM Sans"/>
                <a:cs typeface="DM Sans"/>
              </a:defRPr>
            </a:lvl2pPr>
            <a:lvl3pPr algn="ctr">
              <a:defRPr sz="750" b="0">
                <a:solidFill>
                  <a:srgbClr val="FAFAFA"/>
                </a:solidFill>
                <a:latin typeface="DM Sans"/>
                <a:ea typeface="DM Sans"/>
                <a:cs typeface="DM Sans"/>
              </a:defRPr>
            </a:lvl3pPr>
            <a:lvl4pPr algn="ctr">
              <a:defRPr sz="750" b="0">
                <a:solidFill>
                  <a:srgbClr val="FAFAFA"/>
                </a:solidFill>
                <a:latin typeface="DM Sans"/>
                <a:ea typeface="DM Sans"/>
                <a:cs typeface="DM Sans"/>
              </a:defRPr>
            </a:lvl4pPr>
            <a:lvl5pPr algn="ctr">
              <a:defRPr sz="750" b="0">
                <a:solidFill>
                  <a:srgbClr val="FAFAFA"/>
                </a:solidFill>
                <a:latin typeface="DM Sans"/>
                <a:ea typeface="DM Sans"/>
                <a:cs typeface="DM Sans"/>
              </a:defRPr>
            </a:lvl5pPr>
            <a:lvl6pPr algn="ctr">
              <a:defRPr sz="750" b="0">
                <a:solidFill>
                  <a:srgbClr val="FAFAFA"/>
                </a:solidFill>
                <a:latin typeface="DM Sans"/>
                <a:ea typeface="DM Sans"/>
                <a:cs typeface="DM Sans"/>
              </a:defRPr>
            </a:lvl6pPr>
            <a:lvl7pPr algn="ctr">
              <a:defRPr sz="750" b="0">
                <a:solidFill>
                  <a:srgbClr val="FAFAFA"/>
                </a:solidFill>
                <a:latin typeface="DM Sans"/>
                <a:ea typeface="DM Sans"/>
                <a:cs typeface="DM Sans"/>
              </a:defRPr>
            </a:lvl7pPr>
            <a:lvl8pPr algn="ctr">
              <a:defRPr sz="750" b="0">
                <a:solidFill>
                  <a:srgbClr val="FAFAFA"/>
                </a:solidFill>
                <a:latin typeface="DM Sans"/>
                <a:ea typeface="DM Sans"/>
                <a:cs typeface="DM Sans"/>
              </a:defRPr>
            </a:lvl8pPr>
            <a:lvl9pPr algn="ctr">
              <a:defRPr sz="750" b="0">
                <a:solidFill>
                  <a:srgbClr val="FAFAFA"/>
                </a:solidFill>
                <a:latin typeface="DM Sans"/>
                <a:ea typeface="DM Sans"/>
                <a:cs typeface="DM Sans"/>
              </a:defRPr>
            </a:lvl9pPr>
          </a:lstStyle>
          <a:p xmlns:a="http://schemas.openxmlformats.org/drawingml/2006/main">
            <a:pPr algn="ctr">
              <a:defRPr sz="750" b="0">
                <a:solidFill>
                  <a:srgbClr val="FAFAFA"/>
                </a:solidFill>
                <a:latin typeface="DM Sans"/>
                <a:ea typeface="DM Sans"/>
                <a:cs typeface="DM Sans"/>
              </a:defRPr>
            </a:pPr>
            <a:r>
              <a:rPr sz="750" b="0">
                <a:solidFill>
                  <a:srgbClr val="FAFAFA"/>
                </a:solidFill>
                <a:latin typeface="DM Sans"/>
                <a:ea typeface="DM Sans"/>
                <a:cs typeface="DM Sans"/>
              </a:rPr>
              <a:t>DAY 2</a:t>
            </a:r>
          </a:p>
        </p:txBody>
      </p:sp>
      <p:sp>
        <p:nvSpPr>
          <p:cNvPr id="32" name="">
            <a:extLst xmlns:a="http://schemas.openxmlformats.org/drawingml/2006/main">
              <a:ext uri="{FF2B5EF4-FFF2-40B4-BE49-F238E27FC236}">
                <a16:creationId xmlns:a16="http://schemas.microsoft.com/office/drawing/2014/main" id="{5C3AF474-6DDE-40F9-B29C-6E7481A06BA3}"/>
              </a:ext>
            </a:extLst>
          </p:cNvPr>
          <p:cNvSpPr>
            <a:spLocks xmlns:a="http://schemas.openxmlformats.org/drawingml/2006/main" noGrp="1"/>
          </p:cNvSpPr>
          <p:nvPr/>
        </p:nvSpPr>
        <p:spPr>
          <a:xfrm xmlns:a="http://schemas.openxmlformats.org/drawingml/2006/main">
            <a:off x="6867525" y="5057775"/>
            <a:ext cx="95" cy="95250"/>
          </a:xfrm>
          <a:custGeom xmlns:a="http://schemas.openxmlformats.org/drawingml/2006/main">
            <a:pathLst>
              <a:path w="95" h="95250">
                <a:moveTo>
                  <a:pt x="0" y="0"/>
                </a:moveTo>
                <a:lnTo>
                  <a:pt x="0" y="95250"/>
                </a:lnTo>
              </a:path>
            </a:pathLst>
          </a:custGeom>
          <a:noFill xmlns:a="http://schemas.openxmlformats.org/drawingml/2006/main"/>
          <a:ln xmlns:a="http://schemas.openxmlformats.org/drawingml/2006/main" w="6668">
            <a:solidFill>
              <a:srgbClr val="FAFAFA"/>
            </a:solidFill>
            <a:prstDash val="solid"/>
          </a:ln>
        </p:spPr>
      </p:sp>
      <p:sp>
        <p:nvSpPr>
          <p:cNvPr id="33" name="">
            <a:extLst xmlns:a="http://schemas.openxmlformats.org/drawingml/2006/main">
              <a:ext uri="{FF2B5EF4-FFF2-40B4-BE49-F238E27FC236}">
                <a16:creationId xmlns:a16="http://schemas.microsoft.com/office/drawing/2014/main" id="{84AF300F-B9E5-40E1-BE5A-D9E5A30DA8F8}"/>
              </a:ext>
            </a:extLst>
          </p:cNvPr>
          <p:cNvSpPr>
            <a:spLocks xmlns:a="http://schemas.openxmlformats.org/drawingml/2006/main" noGrp="1"/>
          </p:cNvSpPr>
          <p:nvPr/>
        </p:nvSpPr>
        <p:spPr>
          <a:xfrm xmlns:a="http://schemas.openxmlformats.org/drawingml/2006/main" rot="0">
            <a:off x="6553200" y="522922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22C55E"/>
                </a:solidFill>
                <a:latin typeface="DM Sans"/>
                <a:ea typeface="DM Sans"/>
                <a:cs typeface="DM Sans"/>
              </a:defRPr>
            </a:defPPr>
            <a:lvl1pPr algn="ctr">
              <a:defRPr sz="750" b="0">
                <a:solidFill>
                  <a:srgbClr val="22C55E"/>
                </a:solidFill>
                <a:latin typeface="DM Sans"/>
                <a:ea typeface="DM Sans"/>
                <a:cs typeface="DM Sans"/>
              </a:defRPr>
            </a:lvl1pPr>
            <a:lvl2pPr algn="ctr">
              <a:defRPr sz="750" b="0">
                <a:solidFill>
                  <a:srgbClr val="22C55E"/>
                </a:solidFill>
                <a:latin typeface="DM Sans"/>
                <a:ea typeface="DM Sans"/>
                <a:cs typeface="DM Sans"/>
              </a:defRPr>
            </a:lvl2pPr>
            <a:lvl3pPr algn="ctr">
              <a:defRPr sz="750" b="0">
                <a:solidFill>
                  <a:srgbClr val="22C55E"/>
                </a:solidFill>
                <a:latin typeface="DM Sans"/>
                <a:ea typeface="DM Sans"/>
                <a:cs typeface="DM Sans"/>
              </a:defRPr>
            </a:lvl3pPr>
            <a:lvl4pPr algn="ctr">
              <a:defRPr sz="750" b="0">
                <a:solidFill>
                  <a:srgbClr val="22C55E"/>
                </a:solidFill>
                <a:latin typeface="DM Sans"/>
                <a:ea typeface="DM Sans"/>
                <a:cs typeface="DM Sans"/>
              </a:defRPr>
            </a:lvl4pPr>
            <a:lvl5pPr algn="ctr">
              <a:defRPr sz="750" b="0">
                <a:solidFill>
                  <a:srgbClr val="22C55E"/>
                </a:solidFill>
                <a:latin typeface="DM Sans"/>
                <a:ea typeface="DM Sans"/>
                <a:cs typeface="DM Sans"/>
              </a:defRPr>
            </a:lvl5pPr>
            <a:lvl6pPr algn="ctr">
              <a:defRPr sz="750" b="0">
                <a:solidFill>
                  <a:srgbClr val="22C55E"/>
                </a:solidFill>
                <a:latin typeface="DM Sans"/>
                <a:ea typeface="DM Sans"/>
                <a:cs typeface="DM Sans"/>
              </a:defRPr>
            </a:lvl6pPr>
            <a:lvl7pPr algn="ctr">
              <a:defRPr sz="750" b="0">
                <a:solidFill>
                  <a:srgbClr val="22C55E"/>
                </a:solidFill>
                <a:latin typeface="DM Sans"/>
                <a:ea typeface="DM Sans"/>
                <a:cs typeface="DM Sans"/>
              </a:defRPr>
            </a:lvl7pPr>
            <a:lvl8pPr algn="ctr">
              <a:defRPr sz="750" b="0">
                <a:solidFill>
                  <a:srgbClr val="22C55E"/>
                </a:solidFill>
                <a:latin typeface="DM Sans"/>
                <a:ea typeface="DM Sans"/>
                <a:cs typeface="DM Sans"/>
              </a:defRPr>
            </a:lvl8pPr>
            <a:lvl9pPr algn="ctr">
              <a:defRPr sz="750" b="0">
                <a:solidFill>
                  <a:srgbClr val="22C55E"/>
                </a:solidFill>
                <a:latin typeface="DM Sans"/>
                <a:ea typeface="DM Sans"/>
                <a:cs typeface="DM Sans"/>
              </a:defRPr>
            </a:lvl9pPr>
          </a:lstStyle>
          <a:p xmlns:a="http://schemas.openxmlformats.org/drawingml/2006/main">
            <a:pPr algn="ctr">
              <a:defRPr sz="750" b="0">
                <a:solidFill>
                  <a:srgbClr val="22C55E"/>
                </a:solidFill>
                <a:latin typeface="DM Sans"/>
                <a:ea typeface="DM Sans"/>
                <a:cs typeface="DM Sans"/>
              </a:defRPr>
            </a:pPr>
            <a:r>
              <a:rPr sz="750" b="0">
                <a:solidFill>
                  <a:srgbClr val="22C55E"/>
                </a:solidFill>
                <a:latin typeface="DM Sans"/>
                <a:ea typeface="DM Sans"/>
                <a:cs typeface="DM Sans"/>
              </a:rPr>
              <a:t>DAY 3</a:t>
            </a:r>
          </a:p>
        </p:txBody>
      </p:sp>
      <p:sp>
        <p:nvSpPr>
          <p:cNvPr id="34" name="">
            <a:extLst xmlns:a="http://schemas.openxmlformats.org/drawingml/2006/main">
              <a:ext uri="{FF2B5EF4-FFF2-40B4-BE49-F238E27FC236}">
                <a16:creationId xmlns:a16="http://schemas.microsoft.com/office/drawing/2014/main" id="{305F0336-1A87-463C-8B6C-B3F2A13FC7F6}"/>
              </a:ext>
            </a:extLst>
          </p:cNvPr>
          <p:cNvSpPr>
            <a:spLocks xmlns:a="http://schemas.openxmlformats.org/drawingml/2006/main" noGrp="1"/>
          </p:cNvSpPr>
          <p:nvPr/>
        </p:nvSpPr>
        <p:spPr>
          <a:xfrm xmlns:a="http://schemas.openxmlformats.org/drawingml/2006/main">
            <a:off x="9172575" y="5057775"/>
            <a:ext cx="95" cy="95250"/>
          </a:xfrm>
          <a:custGeom xmlns:a="http://schemas.openxmlformats.org/drawingml/2006/main">
            <a:pathLst>
              <a:path w="95" h="95250">
                <a:moveTo>
                  <a:pt x="0" y="0"/>
                </a:moveTo>
                <a:lnTo>
                  <a:pt x="0" y="95250"/>
                </a:lnTo>
              </a:path>
            </a:pathLst>
          </a:custGeom>
          <a:noFill xmlns:a="http://schemas.openxmlformats.org/drawingml/2006/main"/>
          <a:ln xmlns:a="http://schemas.openxmlformats.org/drawingml/2006/main" w="6668">
            <a:solidFill>
              <a:srgbClr val="FAFAFA"/>
            </a:solidFill>
            <a:prstDash val="solid"/>
          </a:ln>
        </p:spPr>
      </p:sp>
      <p:sp>
        <p:nvSpPr>
          <p:cNvPr id="35" name="">
            <a:extLst xmlns:a="http://schemas.openxmlformats.org/drawingml/2006/main">
              <a:ext uri="{FF2B5EF4-FFF2-40B4-BE49-F238E27FC236}">
                <a16:creationId xmlns:a16="http://schemas.microsoft.com/office/drawing/2014/main" id="{F5869ECC-9582-4A08-93D2-3758EE6631B7}"/>
              </a:ext>
            </a:extLst>
          </p:cNvPr>
          <p:cNvSpPr>
            <a:spLocks xmlns:a="http://schemas.openxmlformats.org/drawingml/2006/main" noGrp="1"/>
          </p:cNvSpPr>
          <p:nvPr/>
        </p:nvSpPr>
        <p:spPr>
          <a:xfrm xmlns:a="http://schemas.openxmlformats.org/drawingml/2006/main" rot="0">
            <a:off x="8858250" y="522922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FAFAFA"/>
                </a:solidFill>
                <a:latin typeface="DM Sans"/>
                <a:ea typeface="DM Sans"/>
                <a:cs typeface="DM Sans"/>
              </a:defRPr>
            </a:defPPr>
            <a:lvl1pPr algn="ctr">
              <a:defRPr sz="750" b="0">
                <a:solidFill>
                  <a:srgbClr val="FAFAFA"/>
                </a:solidFill>
                <a:latin typeface="DM Sans"/>
                <a:ea typeface="DM Sans"/>
                <a:cs typeface="DM Sans"/>
              </a:defRPr>
            </a:lvl1pPr>
            <a:lvl2pPr algn="ctr">
              <a:defRPr sz="750" b="0">
                <a:solidFill>
                  <a:srgbClr val="FAFAFA"/>
                </a:solidFill>
                <a:latin typeface="DM Sans"/>
                <a:ea typeface="DM Sans"/>
                <a:cs typeface="DM Sans"/>
              </a:defRPr>
            </a:lvl2pPr>
            <a:lvl3pPr algn="ctr">
              <a:defRPr sz="750" b="0">
                <a:solidFill>
                  <a:srgbClr val="FAFAFA"/>
                </a:solidFill>
                <a:latin typeface="DM Sans"/>
                <a:ea typeface="DM Sans"/>
                <a:cs typeface="DM Sans"/>
              </a:defRPr>
            </a:lvl3pPr>
            <a:lvl4pPr algn="ctr">
              <a:defRPr sz="750" b="0">
                <a:solidFill>
                  <a:srgbClr val="FAFAFA"/>
                </a:solidFill>
                <a:latin typeface="DM Sans"/>
                <a:ea typeface="DM Sans"/>
                <a:cs typeface="DM Sans"/>
              </a:defRPr>
            </a:lvl4pPr>
            <a:lvl5pPr algn="ctr">
              <a:defRPr sz="750" b="0">
                <a:solidFill>
                  <a:srgbClr val="FAFAFA"/>
                </a:solidFill>
                <a:latin typeface="DM Sans"/>
                <a:ea typeface="DM Sans"/>
                <a:cs typeface="DM Sans"/>
              </a:defRPr>
            </a:lvl5pPr>
            <a:lvl6pPr algn="ctr">
              <a:defRPr sz="750" b="0">
                <a:solidFill>
                  <a:srgbClr val="FAFAFA"/>
                </a:solidFill>
                <a:latin typeface="DM Sans"/>
                <a:ea typeface="DM Sans"/>
                <a:cs typeface="DM Sans"/>
              </a:defRPr>
            </a:lvl6pPr>
            <a:lvl7pPr algn="ctr">
              <a:defRPr sz="750" b="0">
                <a:solidFill>
                  <a:srgbClr val="FAFAFA"/>
                </a:solidFill>
                <a:latin typeface="DM Sans"/>
                <a:ea typeface="DM Sans"/>
                <a:cs typeface="DM Sans"/>
              </a:defRPr>
            </a:lvl7pPr>
            <a:lvl8pPr algn="ctr">
              <a:defRPr sz="750" b="0">
                <a:solidFill>
                  <a:srgbClr val="FAFAFA"/>
                </a:solidFill>
                <a:latin typeface="DM Sans"/>
                <a:ea typeface="DM Sans"/>
                <a:cs typeface="DM Sans"/>
              </a:defRPr>
            </a:lvl8pPr>
            <a:lvl9pPr algn="ctr">
              <a:defRPr sz="750" b="0">
                <a:solidFill>
                  <a:srgbClr val="FAFAFA"/>
                </a:solidFill>
                <a:latin typeface="DM Sans"/>
                <a:ea typeface="DM Sans"/>
                <a:cs typeface="DM Sans"/>
              </a:defRPr>
            </a:lvl9pPr>
          </a:lstStyle>
          <a:p xmlns:a="http://schemas.openxmlformats.org/drawingml/2006/main">
            <a:pPr algn="ctr">
              <a:defRPr sz="750" b="0">
                <a:solidFill>
                  <a:srgbClr val="FAFAFA"/>
                </a:solidFill>
                <a:latin typeface="DM Sans"/>
                <a:ea typeface="DM Sans"/>
                <a:cs typeface="DM Sans"/>
              </a:defRPr>
            </a:pPr>
            <a:r>
              <a:rPr sz="750" b="0">
                <a:solidFill>
                  <a:srgbClr val="FAFAFA"/>
                </a:solidFill>
                <a:latin typeface="DM Sans"/>
                <a:ea typeface="DM Sans"/>
                <a:cs typeface="DM Sans"/>
              </a:rPr>
              <a:t>DAY 4</a:t>
            </a:r>
          </a:p>
        </p:txBody>
      </p:sp>
      <p:sp>
        <p:nvSpPr>
          <p:cNvPr id="36" name="">
            <a:extLst xmlns:a="http://schemas.openxmlformats.org/drawingml/2006/main">
              <a:ext uri="{FF2B5EF4-FFF2-40B4-BE49-F238E27FC236}">
                <a16:creationId xmlns:a16="http://schemas.microsoft.com/office/drawing/2014/main" id="{E52F86F9-3F12-445D-9E0D-BB6E085EDFF9}"/>
              </a:ext>
            </a:extLst>
          </p:cNvPr>
          <p:cNvSpPr>
            <a:spLocks xmlns:a="http://schemas.openxmlformats.org/drawingml/2006/main" noGrp="1"/>
          </p:cNvSpPr>
          <p:nvPr/>
        </p:nvSpPr>
        <p:spPr>
          <a:xfrm xmlns:a="http://schemas.openxmlformats.org/drawingml/2006/main">
            <a:off x="11477625" y="5057775"/>
            <a:ext cx="95" cy="95250"/>
          </a:xfrm>
          <a:custGeom xmlns:a="http://schemas.openxmlformats.org/drawingml/2006/main">
            <a:pathLst>
              <a:path w="95" h="95250">
                <a:moveTo>
                  <a:pt x="0" y="0"/>
                </a:moveTo>
                <a:lnTo>
                  <a:pt x="0" y="95250"/>
                </a:lnTo>
              </a:path>
            </a:pathLst>
          </a:custGeom>
          <a:noFill xmlns:a="http://schemas.openxmlformats.org/drawingml/2006/main"/>
          <a:ln xmlns:a="http://schemas.openxmlformats.org/drawingml/2006/main" w="6668">
            <a:solidFill>
              <a:srgbClr val="FAFAFA"/>
            </a:solidFill>
            <a:prstDash val="solid"/>
          </a:ln>
        </p:spPr>
      </p:sp>
      <p:sp>
        <p:nvSpPr>
          <p:cNvPr id="37" name="">
            <a:extLst xmlns:a="http://schemas.openxmlformats.org/drawingml/2006/main">
              <a:ext uri="{FF2B5EF4-FFF2-40B4-BE49-F238E27FC236}">
                <a16:creationId xmlns:a16="http://schemas.microsoft.com/office/drawing/2014/main" id="{9626245E-980D-4F72-9ABB-A8CFF6A749BB}"/>
              </a:ext>
            </a:extLst>
          </p:cNvPr>
          <p:cNvSpPr>
            <a:spLocks xmlns:a="http://schemas.openxmlformats.org/drawingml/2006/main" noGrp="1"/>
          </p:cNvSpPr>
          <p:nvPr/>
        </p:nvSpPr>
        <p:spPr>
          <a:xfrm xmlns:a="http://schemas.openxmlformats.org/drawingml/2006/main" rot="0">
            <a:off x="11163300" y="5229225"/>
            <a:ext cx="6286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FAFAFA"/>
                </a:solidFill>
                <a:latin typeface="DM Sans"/>
                <a:ea typeface="DM Sans"/>
                <a:cs typeface="DM Sans"/>
              </a:defRPr>
            </a:defPPr>
            <a:lvl1pPr algn="ctr">
              <a:defRPr sz="750" b="0">
                <a:solidFill>
                  <a:srgbClr val="FAFAFA"/>
                </a:solidFill>
                <a:latin typeface="DM Sans"/>
                <a:ea typeface="DM Sans"/>
                <a:cs typeface="DM Sans"/>
              </a:defRPr>
            </a:lvl1pPr>
            <a:lvl2pPr algn="ctr">
              <a:defRPr sz="750" b="0">
                <a:solidFill>
                  <a:srgbClr val="FAFAFA"/>
                </a:solidFill>
                <a:latin typeface="DM Sans"/>
                <a:ea typeface="DM Sans"/>
                <a:cs typeface="DM Sans"/>
              </a:defRPr>
            </a:lvl2pPr>
            <a:lvl3pPr algn="ctr">
              <a:defRPr sz="750" b="0">
                <a:solidFill>
                  <a:srgbClr val="FAFAFA"/>
                </a:solidFill>
                <a:latin typeface="DM Sans"/>
                <a:ea typeface="DM Sans"/>
                <a:cs typeface="DM Sans"/>
              </a:defRPr>
            </a:lvl3pPr>
            <a:lvl4pPr algn="ctr">
              <a:defRPr sz="750" b="0">
                <a:solidFill>
                  <a:srgbClr val="FAFAFA"/>
                </a:solidFill>
                <a:latin typeface="DM Sans"/>
                <a:ea typeface="DM Sans"/>
                <a:cs typeface="DM Sans"/>
              </a:defRPr>
            </a:lvl4pPr>
            <a:lvl5pPr algn="ctr">
              <a:defRPr sz="750" b="0">
                <a:solidFill>
                  <a:srgbClr val="FAFAFA"/>
                </a:solidFill>
                <a:latin typeface="DM Sans"/>
                <a:ea typeface="DM Sans"/>
                <a:cs typeface="DM Sans"/>
              </a:defRPr>
            </a:lvl5pPr>
            <a:lvl6pPr algn="ctr">
              <a:defRPr sz="750" b="0">
                <a:solidFill>
                  <a:srgbClr val="FAFAFA"/>
                </a:solidFill>
                <a:latin typeface="DM Sans"/>
                <a:ea typeface="DM Sans"/>
                <a:cs typeface="DM Sans"/>
              </a:defRPr>
            </a:lvl6pPr>
            <a:lvl7pPr algn="ctr">
              <a:defRPr sz="750" b="0">
                <a:solidFill>
                  <a:srgbClr val="FAFAFA"/>
                </a:solidFill>
                <a:latin typeface="DM Sans"/>
                <a:ea typeface="DM Sans"/>
                <a:cs typeface="DM Sans"/>
              </a:defRPr>
            </a:lvl7pPr>
            <a:lvl8pPr algn="ctr">
              <a:defRPr sz="750" b="0">
                <a:solidFill>
                  <a:srgbClr val="FAFAFA"/>
                </a:solidFill>
                <a:latin typeface="DM Sans"/>
                <a:ea typeface="DM Sans"/>
                <a:cs typeface="DM Sans"/>
              </a:defRPr>
            </a:lvl8pPr>
            <a:lvl9pPr algn="ctr">
              <a:defRPr sz="750" b="0">
                <a:solidFill>
                  <a:srgbClr val="FAFAFA"/>
                </a:solidFill>
                <a:latin typeface="DM Sans"/>
                <a:ea typeface="DM Sans"/>
                <a:cs typeface="DM Sans"/>
              </a:defRPr>
            </a:lvl9pPr>
          </a:lstStyle>
          <a:p xmlns:a="http://schemas.openxmlformats.org/drawingml/2006/main">
            <a:pPr algn="ctr">
              <a:defRPr sz="750" b="0">
                <a:solidFill>
                  <a:srgbClr val="FAFAFA"/>
                </a:solidFill>
                <a:latin typeface="DM Sans"/>
                <a:ea typeface="DM Sans"/>
                <a:cs typeface="DM Sans"/>
              </a:defRPr>
            </a:pPr>
            <a:r>
              <a:rPr sz="750" b="0">
                <a:solidFill>
                  <a:srgbClr val="FAFAFA"/>
                </a:solidFill>
                <a:latin typeface="DM Sans"/>
                <a:ea typeface="DM Sans"/>
                <a:cs typeface="DM Sans"/>
              </a:rPr>
              <a:t>DAY 5</a:t>
            </a:r>
          </a:p>
        </p:txBody>
      </p:sp>
      <p:sp>
        <p:nvSpPr>
          <p:cNvPr id="38" name="">
            <a:extLst xmlns:a="http://schemas.openxmlformats.org/drawingml/2006/main">
              <a:ext uri="{FF2B5EF4-FFF2-40B4-BE49-F238E27FC236}">
                <a16:creationId xmlns:a16="http://schemas.microsoft.com/office/drawing/2014/main" id="{FF078E8F-9B67-4B93-8E79-815D261898E5}"/>
              </a:ext>
            </a:extLst>
          </p:cNvPr>
          <p:cNvSpPr>
            <a:spLocks xmlns:a="http://schemas.openxmlformats.org/drawingml/2006/main" noGrp="1"/>
          </p:cNvSpPr>
          <p:nvPr/>
        </p:nvSpPr>
        <p:spPr>
          <a:xfrm xmlns:a="http://schemas.openxmlformats.org/drawingml/2006/main" rot="0">
            <a:off x="400050" y="5753100"/>
            <a:ext cx="1600200"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FAFAFA"/>
                </a:solidFill>
                <a:latin typeface="DM Sans"/>
                <a:ea typeface="DM Sans"/>
                <a:cs typeface="DM Sans"/>
              </a:defRPr>
            </a:defPPr>
            <a:lvl1pPr algn="l">
              <a:defRPr sz="1575" b="0">
                <a:solidFill>
                  <a:srgbClr val="FAFAFA"/>
                </a:solidFill>
                <a:latin typeface="DM Sans"/>
                <a:ea typeface="DM Sans"/>
                <a:cs typeface="DM Sans"/>
              </a:defRPr>
            </a:lvl1pPr>
            <a:lvl2pPr algn="l">
              <a:defRPr sz="1575" b="0">
                <a:solidFill>
                  <a:srgbClr val="FAFAFA"/>
                </a:solidFill>
                <a:latin typeface="DM Sans"/>
                <a:ea typeface="DM Sans"/>
                <a:cs typeface="DM Sans"/>
              </a:defRPr>
            </a:lvl2pPr>
            <a:lvl3pPr algn="l">
              <a:defRPr sz="1575" b="0">
                <a:solidFill>
                  <a:srgbClr val="FAFAFA"/>
                </a:solidFill>
                <a:latin typeface="DM Sans"/>
                <a:ea typeface="DM Sans"/>
                <a:cs typeface="DM Sans"/>
              </a:defRPr>
            </a:lvl3pPr>
            <a:lvl4pPr algn="l">
              <a:defRPr sz="1575" b="0">
                <a:solidFill>
                  <a:srgbClr val="FAFAFA"/>
                </a:solidFill>
                <a:latin typeface="DM Sans"/>
                <a:ea typeface="DM Sans"/>
                <a:cs typeface="DM Sans"/>
              </a:defRPr>
            </a:lvl4pPr>
            <a:lvl5pPr algn="l">
              <a:defRPr sz="1575" b="0">
                <a:solidFill>
                  <a:srgbClr val="FAFAFA"/>
                </a:solidFill>
                <a:latin typeface="DM Sans"/>
                <a:ea typeface="DM Sans"/>
                <a:cs typeface="DM Sans"/>
              </a:defRPr>
            </a:lvl5pPr>
            <a:lvl6pPr algn="l">
              <a:defRPr sz="1575" b="0">
                <a:solidFill>
                  <a:srgbClr val="FAFAFA"/>
                </a:solidFill>
                <a:latin typeface="DM Sans"/>
                <a:ea typeface="DM Sans"/>
                <a:cs typeface="DM Sans"/>
              </a:defRPr>
            </a:lvl6pPr>
            <a:lvl7pPr algn="l">
              <a:defRPr sz="1575" b="0">
                <a:solidFill>
                  <a:srgbClr val="FAFAFA"/>
                </a:solidFill>
                <a:latin typeface="DM Sans"/>
                <a:ea typeface="DM Sans"/>
                <a:cs typeface="DM Sans"/>
              </a:defRPr>
            </a:lvl7pPr>
            <a:lvl8pPr algn="l">
              <a:defRPr sz="1575" b="0">
                <a:solidFill>
                  <a:srgbClr val="FAFAFA"/>
                </a:solidFill>
                <a:latin typeface="DM Sans"/>
                <a:ea typeface="DM Sans"/>
                <a:cs typeface="DM Sans"/>
              </a:defRPr>
            </a:lvl8pPr>
            <a:lvl9pPr algn="l">
              <a:defRPr sz="1575" b="0">
                <a:solidFill>
                  <a:srgbClr val="FAFAFA"/>
                </a:solidFill>
                <a:latin typeface="DM Sans"/>
                <a:ea typeface="DM Sans"/>
                <a:cs typeface="DM Sans"/>
              </a:defRPr>
            </a:lvl9pPr>
          </a:lstStyle>
          <a:p xmlns:a="http://schemas.openxmlformats.org/drawingml/2006/main">
            <a:pPr algn="l">
              <a:defRPr sz="1575" b="0">
                <a:solidFill>
                  <a:srgbClr val="FAFAFA"/>
                </a:solidFill>
                <a:latin typeface="DM Sans"/>
                <a:ea typeface="DM Sans"/>
                <a:cs typeface="DM Sans"/>
              </a:defRPr>
            </a:pPr>
            <a:r>
              <a:rPr sz="1575" b="0">
                <a:solidFill>
                  <a:srgbClr val="FAFAFA"/>
                </a:solidFill>
                <a:latin typeface="DM Sans"/>
                <a:ea typeface="DM Sans"/>
                <a:cs typeface="DM Sans"/>
              </a:rPr>
              <a:t>Assignment</a:t>
            </a:r>
          </a:p>
        </p:txBody>
      </p:sp>
      <p:sp>
        <p:nvSpPr>
          <p:cNvPr id="39" name="">
            <a:extLst xmlns:a="http://schemas.openxmlformats.org/drawingml/2006/main">
              <a:ext uri="{FF2B5EF4-FFF2-40B4-BE49-F238E27FC236}">
                <a16:creationId xmlns:a16="http://schemas.microsoft.com/office/drawing/2014/main" id="{82DE1175-E0D2-4ADB-A5FA-147231501371}"/>
              </a:ext>
            </a:extLst>
          </p:cNvPr>
          <p:cNvSpPr>
            <a:spLocks xmlns:a="http://schemas.openxmlformats.org/drawingml/2006/main" noGrp="1"/>
          </p:cNvSpPr>
          <p:nvPr/>
        </p:nvSpPr>
        <p:spPr>
          <a:xfrm xmlns:a="http://schemas.openxmlformats.org/drawingml/2006/main" rot="0">
            <a:off x="2124075" y="5600700"/>
            <a:ext cx="238125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AFAFA"/>
                </a:solidFill>
                <a:latin typeface="DM Sans"/>
                <a:ea typeface="DM Sans"/>
                <a:cs typeface="DM Sans"/>
              </a:defRPr>
            </a:defPPr>
            <a:lvl1pPr algn="l">
              <a:defRPr sz="750" b="0">
                <a:solidFill>
                  <a:srgbClr val="FAFAFA"/>
                </a:solidFill>
                <a:latin typeface="DM Sans"/>
                <a:ea typeface="DM Sans"/>
                <a:cs typeface="DM Sans"/>
              </a:defRPr>
            </a:lvl1pPr>
            <a:lvl2pPr algn="l">
              <a:defRPr sz="750" b="0">
                <a:solidFill>
                  <a:srgbClr val="FAFAFA"/>
                </a:solidFill>
                <a:latin typeface="DM Sans"/>
                <a:ea typeface="DM Sans"/>
                <a:cs typeface="DM Sans"/>
              </a:defRPr>
            </a:lvl2pPr>
            <a:lvl3pPr algn="l">
              <a:defRPr sz="750" b="0">
                <a:solidFill>
                  <a:srgbClr val="FAFAFA"/>
                </a:solidFill>
                <a:latin typeface="DM Sans"/>
                <a:ea typeface="DM Sans"/>
                <a:cs typeface="DM Sans"/>
              </a:defRPr>
            </a:lvl3pPr>
            <a:lvl4pPr algn="l">
              <a:defRPr sz="750" b="0">
                <a:solidFill>
                  <a:srgbClr val="FAFAFA"/>
                </a:solidFill>
                <a:latin typeface="DM Sans"/>
                <a:ea typeface="DM Sans"/>
                <a:cs typeface="DM Sans"/>
              </a:defRPr>
            </a:lvl4pPr>
            <a:lvl5pPr algn="l">
              <a:defRPr sz="750" b="0">
                <a:solidFill>
                  <a:srgbClr val="FAFAFA"/>
                </a:solidFill>
                <a:latin typeface="DM Sans"/>
                <a:ea typeface="DM Sans"/>
                <a:cs typeface="DM Sans"/>
              </a:defRPr>
            </a:lvl5pPr>
            <a:lvl6pPr algn="l">
              <a:defRPr sz="750" b="0">
                <a:solidFill>
                  <a:srgbClr val="FAFAFA"/>
                </a:solidFill>
                <a:latin typeface="DM Sans"/>
                <a:ea typeface="DM Sans"/>
                <a:cs typeface="DM Sans"/>
              </a:defRPr>
            </a:lvl6pPr>
            <a:lvl7pPr algn="l">
              <a:defRPr sz="750" b="0">
                <a:solidFill>
                  <a:srgbClr val="FAFAFA"/>
                </a:solidFill>
                <a:latin typeface="DM Sans"/>
                <a:ea typeface="DM Sans"/>
                <a:cs typeface="DM Sans"/>
              </a:defRPr>
            </a:lvl7pPr>
            <a:lvl8pPr algn="l">
              <a:defRPr sz="750" b="0">
                <a:solidFill>
                  <a:srgbClr val="FAFAFA"/>
                </a:solidFill>
                <a:latin typeface="DM Sans"/>
                <a:ea typeface="DM Sans"/>
                <a:cs typeface="DM Sans"/>
              </a:defRPr>
            </a:lvl8pPr>
            <a:lvl9pPr algn="l">
              <a:defRPr sz="750" b="0">
                <a:solidFill>
                  <a:srgbClr val="FAFAFA"/>
                </a:solidFill>
                <a:latin typeface="DM Sans"/>
                <a:ea typeface="DM Sans"/>
                <a:cs typeface="DM Sans"/>
              </a:defRPr>
            </a:lvl9pPr>
          </a:lstStyle>
          <a:p xmlns:a="http://schemas.openxmlformats.org/drawingml/2006/main">
            <a:pPr algn="l">
              <a:defRPr sz="750" b="0">
                <a:solidFill>
                  <a:srgbClr val="FAFAFA"/>
                </a:solidFill>
                <a:latin typeface="DM Sans"/>
                <a:ea typeface="DM Sans"/>
                <a:cs typeface="DM Sans"/>
              </a:defRPr>
            </a:pPr>
            <a:r>
              <a:rPr sz="750" b="0">
                <a:solidFill>
                  <a:srgbClr val="FAFAFA"/>
                </a:solidFill>
                <a:latin typeface="DM Sans"/>
                <a:ea typeface="DM Sans"/>
                <a:cs typeface="DM Sans"/>
              </a:rPr>
              <a:t>HOLDING PERIOD</a:t>
            </a:r>
          </a:p>
        </p:txBody>
      </p:sp>
      <p:sp>
        <p:nvSpPr>
          <p:cNvPr id="40" name="">
            <a:extLst xmlns:a="http://schemas.openxmlformats.org/drawingml/2006/main">
              <a:ext uri="{FF2B5EF4-FFF2-40B4-BE49-F238E27FC236}">
                <a16:creationId xmlns:a16="http://schemas.microsoft.com/office/drawing/2014/main" id="{2FAB3A05-9DD7-49C5-B370-425F45DB6615}"/>
              </a:ext>
            </a:extLst>
          </p:cNvPr>
          <p:cNvSpPr>
            <a:spLocks xmlns:a="http://schemas.openxmlformats.org/drawingml/2006/main" noGrp="1"/>
          </p:cNvSpPr>
          <p:nvPr/>
        </p:nvSpPr>
        <p:spPr>
          <a:xfrm xmlns:a="http://schemas.openxmlformats.org/drawingml/2006/main">
            <a:off x="2124075" y="5962650"/>
            <a:ext cx="9677400" cy="95"/>
          </a:xfrm>
          <a:custGeom xmlns:a="http://schemas.openxmlformats.org/drawingml/2006/main">
            <a:pathLst>
              <a:path w="9677400" h="95">
                <a:moveTo>
                  <a:pt x="0" y="0"/>
                </a:moveTo>
                <a:lnTo>
                  <a:pt x="9677400" y="0"/>
                </a:lnTo>
              </a:path>
            </a:pathLst>
          </a:custGeom>
          <a:noFill xmlns:a="http://schemas.openxmlformats.org/drawingml/2006/main"/>
          <a:ln xmlns:a="http://schemas.openxmlformats.org/drawingml/2006/main" w="7620">
            <a:solidFill>
              <a:srgbClr val="FAFAFA">
                <a:alpha val="75000"/>
              </a:srgbClr>
            </a:solidFill>
            <a:prstDash val="solid"/>
          </a:ln>
        </p:spPr>
      </p:sp>
      <p:sp>
        <p:nvSpPr>
          <p:cNvPr id="41" name="">
            <a:extLst xmlns:a="http://schemas.openxmlformats.org/drawingml/2006/main">
              <a:ext uri="{FF2B5EF4-FFF2-40B4-BE49-F238E27FC236}">
                <a16:creationId xmlns:a16="http://schemas.microsoft.com/office/drawing/2014/main" id="{CE8C2609-A80B-406A-B58A-634D78C34106}"/>
              </a:ext>
            </a:extLst>
          </p:cNvPr>
          <p:cNvSpPr>
            <a:spLocks xmlns:a="http://schemas.openxmlformats.org/drawingml/2006/main" noGrp="1"/>
          </p:cNvSpPr>
          <p:nvPr/>
        </p:nvSpPr>
        <p:spPr>
          <a:xfrm xmlns:a="http://schemas.openxmlformats.org/drawingml/2006/main">
            <a:off x="3733800" y="5905500"/>
            <a:ext cx="95" cy="114300"/>
          </a:xfrm>
          <a:custGeom xmlns:a="http://schemas.openxmlformats.org/drawingml/2006/main">
            <a:pathLst>
              <a:path w="95" h="114300">
                <a:moveTo>
                  <a:pt x="0" y="0"/>
                </a:moveTo>
                <a:lnTo>
                  <a:pt x="0" y="114300"/>
                </a:lnTo>
              </a:path>
            </a:pathLst>
          </a:custGeom>
          <a:noFill xmlns:a="http://schemas.openxmlformats.org/drawingml/2006/main"/>
          <a:ln xmlns:a="http://schemas.openxmlformats.org/drawingml/2006/main" w="7620">
            <a:solidFill>
              <a:srgbClr val="FAFAFA"/>
            </a:solidFill>
            <a:prstDash val="solid"/>
          </a:ln>
        </p:spPr>
      </p:sp>
      <p:sp>
        <p:nvSpPr>
          <p:cNvPr id="42" name="">
            <a:extLst xmlns:a="http://schemas.openxmlformats.org/drawingml/2006/main">
              <a:ext uri="{FF2B5EF4-FFF2-40B4-BE49-F238E27FC236}">
                <a16:creationId xmlns:a16="http://schemas.microsoft.com/office/drawing/2014/main" id="{92E3D830-A704-4F2E-B188-A8FB91E9D0CA}"/>
              </a:ext>
            </a:extLst>
          </p:cNvPr>
          <p:cNvSpPr>
            <a:spLocks xmlns:a="http://schemas.openxmlformats.org/drawingml/2006/main" noGrp="1"/>
          </p:cNvSpPr>
          <p:nvPr/>
        </p:nvSpPr>
        <p:spPr>
          <a:xfrm xmlns:a="http://schemas.openxmlformats.org/drawingml/2006/main" rot="0">
            <a:off x="3295650" y="613410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FAFAFA"/>
                </a:solidFill>
                <a:latin typeface="DM Sans"/>
                <a:ea typeface="DM Sans"/>
                <a:cs typeface="DM Sans"/>
              </a:defRPr>
            </a:defPPr>
            <a:lvl1pPr algn="ctr">
              <a:defRPr sz="900" b="0">
                <a:solidFill>
                  <a:srgbClr val="FAFAFA"/>
                </a:solidFill>
                <a:latin typeface="DM Sans"/>
                <a:ea typeface="DM Sans"/>
                <a:cs typeface="DM Sans"/>
              </a:defRPr>
            </a:lvl1pPr>
            <a:lvl2pPr algn="ctr">
              <a:defRPr sz="900" b="0">
                <a:solidFill>
                  <a:srgbClr val="FAFAFA"/>
                </a:solidFill>
                <a:latin typeface="DM Sans"/>
                <a:ea typeface="DM Sans"/>
                <a:cs typeface="DM Sans"/>
              </a:defRPr>
            </a:lvl2pPr>
            <a:lvl3pPr algn="ctr">
              <a:defRPr sz="900" b="0">
                <a:solidFill>
                  <a:srgbClr val="FAFAFA"/>
                </a:solidFill>
                <a:latin typeface="DM Sans"/>
                <a:ea typeface="DM Sans"/>
                <a:cs typeface="DM Sans"/>
              </a:defRPr>
            </a:lvl3pPr>
            <a:lvl4pPr algn="ctr">
              <a:defRPr sz="900" b="0">
                <a:solidFill>
                  <a:srgbClr val="FAFAFA"/>
                </a:solidFill>
                <a:latin typeface="DM Sans"/>
                <a:ea typeface="DM Sans"/>
                <a:cs typeface="DM Sans"/>
              </a:defRPr>
            </a:lvl4pPr>
            <a:lvl5pPr algn="ctr">
              <a:defRPr sz="900" b="0">
                <a:solidFill>
                  <a:srgbClr val="FAFAFA"/>
                </a:solidFill>
                <a:latin typeface="DM Sans"/>
                <a:ea typeface="DM Sans"/>
                <a:cs typeface="DM Sans"/>
              </a:defRPr>
            </a:lvl5pPr>
            <a:lvl6pPr algn="ctr">
              <a:defRPr sz="900" b="0">
                <a:solidFill>
                  <a:srgbClr val="FAFAFA"/>
                </a:solidFill>
                <a:latin typeface="DM Sans"/>
                <a:ea typeface="DM Sans"/>
                <a:cs typeface="DM Sans"/>
              </a:defRPr>
            </a:lvl6pPr>
            <a:lvl7pPr algn="ctr">
              <a:defRPr sz="900" b="0">
                <a:solidFill>
                  <a:srgbClr val="FAFAFA"/>
                </a:solidFill>
                <a:latin typeface="DM Sans"/>
                <a:ea typeface="DM Sans"/>
                <a:cs typeface="DM Sans"/>
              </a:defRPr>
            </a:lvl7pPr>
            <a:lvl8pPr algn="ctr">
              <a:defRPr sz="900" b="0">
                <a:solidFill>
                  <a:srgbClr val="FAFAFA"/>
                </a:solidFill>
                <a:latin typeface="DM Sans"/>
                <a:ea typeface="DM Sans"/>
                <a:cs typeface="DM Sans"/>
              </a:defRPr>
            </a:lvl8pPr>
            <a:lvl9pPr algn="ctr">
              <a:defRPr sz="900" b="0">
                <a:solidFill>
                  <a:srgbClr val="FAFAFA"/>
                </a:solidFill>
                <a:latin typeface="DM Sans"/>
                <a:ea typeface="DM Sans"/>
                <a:cs typeface="DM Sans"/>
              </a:defRPr>
            </a:lvl9pPr>
          </a:lstStyle>
          <a:p xmlns:a="http://schemas.openxmlformats.org/drawingml/2006/main">
            <a:pPr algn="ctr">
              <a:defRPr sz="900" b="0">
                <a:solidFill>
                  <a:srgbClr val="FAFAFA"/>
                </a:solidFill>
                <a:latin typeface="DM Sans"/>
                <a:ea typeface="DM Sans"/>
                <a:cs typeface="DM Sans"/>
              </a:defRPr>
            </a:pPr>
            <a:r>
              <a:rPr sz="900" b="0">
                <a:solidFill>
                  <a:srgbClr val="FAFAFA"/>
                </a:solidFill>
                <a:latin typeface="DM Sans"/>
                <a:ea typeface="DM Sans"/>
                <a:cs typeface="DM Sans"/>
              </a:rPr>
              <a:t>30 DAYS</a:t>
            </a:r>
          </a:p>
        </p:txBody>
      </p:sp>
      <p:sp>
        <p:nvSpPr>
          <p:cNvPr id="43" name="">
            <a:extLst xmlns:a="http://schemas.openxmlformats.org/drawingml/2006/main">
              <a:ext uri="{FF2B5EF4-FFF2-40B4-BE49-F238E27FC236}">
                <a16:creationId xmlns:a16="http://schemas.microsoft.com/office/drawing/2014/main" id="{4C325EBB-C1AC-4BC7-9A71-99639C092262}"/>
              </a:ext>
            </a:extLst>
          </p:cNvPr>
          <p:cNvSpPr>
            <a:spLocks xmlns:a="http://schemas.openxmlformats.org/drawingml/2006/main" noGrp="1"/>
          </p:cNvSpPr>
          <p:nvPr/>
        </p:nvSpPr>
        <p:spPr>
          <a:xfrm xmlns:a="http://schemas.openxmlformats.org/drawingml/2006/main">
            <a:off x="6962775" y="5905500"/>
            <a:ext cx="95" cy="114300"/>
          </a:xfrm>
          <a:custGeom xmlns:a="http://schemas.openxmlformats.org/drawingml/2006/main">
            <a:pathLst>
              <a:path w="95" h="114300">
                <a:moveTo>
                  <a:pt x="0" y="0"/>
                </a:moveTo>
                <a:lnTo>
                  <a:pt x="0" y="114300"/>
                </a:lnTo>
              </a:path>
            </a:pathLst>
          </a:custGeom>
          <a:noFill xmlns:a="http://schemas.openxmlformats.org/drawingml/2006/main"/>
          <a:ln xmlns:a="http://schemas.openxmlformats.org/drawingml/2006/main" w="7620">
            <a:solidFill>
              <a:srgbClr val="FAFAFA"/>
            </a:solidFill>
            <a:prstDash val="solid"/>
          </a:ln>
        </p:spPr>
      </p:sp>
      <p:sp>
        <p:nvSpPr>
          <p:cNvPr id="44" name="">
            <a:extLst xmlns:a="http://schemas.openxmlformats.org/drawingml/2006/main">
              <a:ext uri="{FF2B5EF4-FFF2-40B4-BE49-F238E27FC236}">
                <a16:creationId xmlns:a16="http://schemas.microsoft.com/office/drawing/2014/main" id="{813049CB-5552-4265-903B-5B5C2944EDD0}"/>
              </a:ext>
            </a:extLst>
          </p:cNvPr>
          <p:cNvSpPr>
            <a:spLocks xmlns:a="http://schemas.openxmlformats.org/drawingml/2006/main" noGrp="1"/>
          </p:cNvSpPr>
          <p:nvPr/>
        </p:nvSpPr>
        <p:spPr>
          <a:xfrm xmlns:a="http://schemas.openxmlformats.org/drawingml/2006/main" rot="0">
            <a:off x="6524625" y="613410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22C55E"/>
                </a:solidFill>
                <a:latin typeface="DM Sans"/>
                <a:ea typeface="DM Sans"/>
                <a:cs typeface="DM Sans"/>
              </a:defRPr>
            </a:defPPr>
            <a:lvl1pPr algn="ctr">
              <a:defRPr sz="900" b="0">
                <a:solidFill>
                  <a:srgbClr val="22C55E"/>
                </a:solidFill>
                <a:latin typeface="DM Sans"/>
                <a:ea typeface="DM Sans"/>
                <a:cs typeface="DM Sans"/>
              </a:defRPr>
            </a:lvl1pPr>
            <a:lvl2pPr algn="ctr">
              <a:defRPr sz="900" b="0">
                <a:solidFill>
                  <a:srgbClr val="22C55E"/>
                </a:solidFill>
                <a:latin typeface="DM Sans"/>
                <a:ea typeface="DM Sans"/>
                <a:cs typeface="DM Sans"/>
              </a:defRPr>
            </a:lvl2pPr>
            <a:lvl3pPr algn="ctr">
              <a:defRPr sz="900" b="0">
                <a:solidFill>
                  <a:srgbClr val="22C55E"/>
                </a:solidFill>
                <a:latin typeface="DM Sans"/>
                <a:ea typeface="DM Sans"/>
                <a:cs typeface="DM Sans"/>
              </a:defRPr>
            </a:lvl3pPr>
            <a:lvl4pPr algn="ctr">
              <a:defRPr sz="900" b="0">
                <a:solidFill>
                  <a:srgbClr val="22C55E"/>
                </a:solidFill>
                <a:latin typeface="DM Sans"/>
                <a:ea typeface="DM Sans"/>
                <a:cs typeface="DM Sans"/>
              </a:defRPr>
            </a:lvl4pPr>
            <a:lvl5pPr algn="ctr">
              <a:defRPr sz="900" b="0">
                <a:solidFill>
                  <a:srgbClr val="22C55E"/>
                </a:solidFill>
                <a:latin typeface="DM Sans"/>
                <a:ea typeface="DM Sans"/>
                <a:cs typeface="DM Sans"/>
              </a:defRPr>
            </a:lvl5pPr>
            <a:lvl6pPr algn="ctr">
              <a:defRPr sz="900" b="0">
                <a:solidFill>
                  <a:srgbClr val="22C55E"/>
                </a:solidFill>
                <a:latin typeface="DM Sans"/>
                <a:ea typeface="DM Sans"/>
                <a:cs typeface="DM Sans"/>
              </a:defRPr>
            </a:lvl6pPr>
            <a:lvl7pPr algn="ctr">
              <a:defRPr sz="900" b="0">
                <a:solidFill>
                  <a:srgbClr val="22C55E"/>
                </a:solidFill>
                <a:latin typeface="DM Sans"/>
                <a:ea typeface="DM Sans"/>
                <a:cs typeface="DM Sans"/>
              </a:defRPr>
            </a:lvl7pPr>
            <a:lvl8pPr algn="ctr">
              <a:defRPr sz="900" b="0">
                <a:solidFill>
                  <a:srgbClr val="22C55E"/>
                </a:solidFill>
                <a:latin typeface="DM Sans"/>
                <a:ea typeface="DM Sans"/>
                <a:cs typeface="DM Sans"/>
              </a:defRPr>
            </a:lvl8pPr>
            <a:lvl9pPr algn="ctr">
              <a:defRPr sz="900" b="0">
                <a:solidFill>
                  <a:srgbClr val="22C55E"/>
                </a:solidFill>
                <a:latin typeface="DM Sans"/>
                <a:ea typeface="DM Sans"/>
                <a:cs typeface="DM Sans"/>
              </a:defRPr>
            </a:lvl9pPr>
          </a:lstStyle>
          <a:p xmlns:a="http://schemas.openxmlformats.org/drawingml/2006/main">
            <a:pPr algn="ctr">
              <a:defRPr sz="900" b="0">
                <a:solidFill>
                  <a:srgbClr val="22C55E"/>
                </a:solidFill>
                <a:latin typeface="DM Sans"/>
                <a:ea typeface="DM Sans"/>
                <a:cs typeface="DM Sans"/>
              </a:defRPr>
            </a:pPr>
            <a:r>
              <a:rPr sz="900" b="0">
                <a:solidFill>
                  <a:srgbClr val="22C55E"/>
                </a:solidFill>
                <a:latin typeface="DM Sans"/>
                <a:ea typeface="DM Sans"/>
                <a:cs typeface="DM Sans"/>
              </a:rPr>
              <a:t>90 DAYS</a:t>
            </a:r>
          </a:p>
        </p:txBody>
      </p:sp>
      <p:sp>
        <p:nvSpPr>
          <p:cNvPr id="45" name="">
            <a:extLst xmlns:a="http://schemas.openxmlformats.org/drawingml/2006/main">
              <a:ext uri="{FF2B5EF4-FFF2-40B4-BE49-F238E27FC236}">
                <a16:creationId xmlns:a16="http://schemas.microsoft.com/office/drawing/2014/main" id="{6C5D530C-54F8-4C33-8E9B-C5858157974C}"/>
              </a:ext>
            </a:extLst>
          </p:cNvPr>
          <p:cNvSpPr>
            <a:spLocks xmlns:a="http://schemas.openxmlformats.org/drawingml/2006/main" noGrp="1"/>
          </p:cNvSpPr>
          <p:nvPr/>
        </p:nvSpPr>
        <p:spPr>
          <a:xfrm xmlns:a="http://schemas.openxmlformats.org/drawingml/2006/main">
            <a:off x="11525250" y="5905500"/>
            <a:ext cx="95" cy="114300"/>
          </a:xfrm>
          <a:custGeom xmlns:a="http://schemas.openxmlformats.org/drawingml/2006/main">
            <a:pathLst>
              <a:path w="95" h="114300">
                <a:moveTo>
                  <a:pt x="0" y="0"/>
                </a:moveTo>
                <a:lnTo>
                  <a:pt x="0" y="114300"/>
                </a:lnTo>
              </a:path>
            </a:pathLst>
          </a:custGeom>
          <a:noFill xmlns:a="http://schemas.openxmlformats.org/drawingml/2006/main"/>
          <a:ln xmlns:a="http://schemas.openxmlformats.org/drawingml/2006/main" w="7620">
            <a:solidFill>
              <a:srgbClr val="FAFAFA"/>
            </a:solidFill>
            <a:prstDash val="solid"/>
          </a:ln>
        </p:spPr>
      </p:sp>
      <p:sp>
        <p:nvSpPr>
          <p:cNvPr id="46" name="">
            <a:extLst xmlns:a="http://schemas.openxmlformats.org/drawingml/2006/main">
              <a:ext uri="{FF2B5EF4-FFF2-40B4-BE49-F238E27FC236}">
                <a16:creationId xmlns:a16="http://schemas.microsoft.com/office/drawing/2014/main" id="{C7587112-55EF-4D6F-ADBA-5BB9F88A1534}"/>
              </a:ext>
            </a:extLst>
          </p:cNvPr>
          <p:cNvSpPr>
            <a:spLocks xmlns:a="http://schemas.openxmlformats.org/drawingml/2006/main" noGrp="1"/>
          </p:cNvSpPr>
          <p:nvPr/>
        </p:nvSpPr>
        <p:spPr>
          <a:xfrm xmlns:a="http://schemas.openxmlformats.org/drawingml/2006/main" rot="0">
            <a:off x="11087100" y="6134100"/>
            <a:ext cx="8763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00" b="0">
                <a:solidFill>
                  <a:srgbClr val="FAFAFA"/>
                </a:solidFill>
                <a:latin typeface="DM Sans"/>
                <a:ea typeface="DM Sans"/>
                <a:cs typeface="DM Sans"/>
              </a:defRPr>
            </a:defPPr>
            <a:lvl1pPr algn="ctr">
              <a:defRPr sz="900" b="0">
                <a:solidFill>
                  <a:srgbClr val="FAFAFA"/>
                </a:solidFill>
                <a:latin typeface="DM Sans"/>
                <a:ea typeface="DM Sans"/>
                <a:cs typeface="DM Sans"/>
              </a:defRPr>
            </a:lvl1pPr>
            <a:lvl2pPr algn="ctr">
              <a:defRPr sz="900" b="0">
                <a:solidFill>
                  <a:srgbClr val="FAFAFA"/>
                </a:solidFill>
                <a:latin typeface="DM Sans"/>
                <a:ea typeface="DM Sans"/>
                <a:cs typeface="DM Sans"/>
              </a:defRPr>
            </a:lvl2pPr>
            <a:lvl3pPr algn="ctr">
              <a:defRPr sz="900" b="0">
                <a:solidFill>
                  <a:srgbClr val="FAFAFA"/>
                </a:solidFill>
                <a:latin typeface="DM Sans"/>
                <a:ea typeface="DM Sans"/>
                <a:cs typeface="DM Sans"/>
              </a:defRPr>
            </a:lvl3pPr>
            <a:lvl4pPr algn="ctr">
              <a:defRPr sz="900" b="0">
                <a:solidFill>
                  <a:srgbClr val="FAFAFA"/>
                </a:solidFill>
                <a:latin typeface="DM Sans"/>
                <a:ea typeface="DM Sans"/>
                <a:cs typeface="DM Sans"/>
              </a:defRPr>
            </a:lvl4pPr>
            <a:lvl5pPr algn="ctr">
              <a:defRPr sz="900" b="0">
                <a:solidFill>
                  <a:srgbClr val="FAFAFA"/>
                </a:solidFill>
                <a:latin typeface="DM Sans"/>
                <a:ea typeface="DM Sans"/>
                <a:cs typeface="DM Sans"/>
              </a:defRPr>
            </a:lvl5pPr>
            <a:lvl6pPr algn="ctr">
              <a:defRPr sz="900" b="0">
                <a:solidFill>
                  <a:srgbClr val="FAFAFA"/>
                </a:solidFill>
                <a:latin typeface="DM Sans"/>
                <a:ea typeface="DM Sans"/>
                <a:cs typeface="DM Sans"/>
              </a:defRPr>
            </a:lvl6pPr>
            <a:lvl7pPr algn="ctr">
              <a:defRPr sz="900" b="0">
                <a:solidFill>
                  <a:srgbClr val="FAFAFA"/>
                </a:solidFill>
                <a:latin typeface="DM Sans"/>
                <a:ea typeface="DM Sans"/>
                <a:cs typeface="DM Sans"/>
              </a:defRPr>
            </a:lvl7pPr>
            <a:lvl8pPr algn="ctr">
              <a:defRPr sz="900" b="0">
                <a:solidFill>
                  <a:srgbClr val="FAFAFA"/>
                </a:solidFill>
                <a:latin typeface="DM Sans"/>
                <a:ea typeface="DM Sans"/>
                <a:cs typeface="DM Sans"/>
              </a:defRPr>
            </a:lvl8pPr>
            <a:lvl9pPr algn="ctr">
              <a:defRPr sz="900" b="0">
                <a:solidFill>
                  <a:srgbClr val="FAFAFA"/>
                </a:solidFill>
                <a:latin typeface="DM Sans"/>
                <a:ea typeface="DM Sans"/>
                <a:cs typeface="DM Sans"/>
              </a:defRPr>
            </a:lvl9pPr>
          </a:lstStyle>
          <a:p xmlns:a="http://schemas.openxmlformats.org/drawingml/2006/main">
            <a:pPr algn="ctr">
              <a:defRPr sz="900" b="0">
                <a:solidFill>
                  <a:srgbClr val="FAFAFA"/>
                </a:solidFill>
                <a:latin typeface="DM Sans"/>
                <a:ea typeface="DM Sans"/>
                <a:cs typeface="DM Sans"/>
              </a:defRPr>
            </a:pPr>
            <a:r>
              <a:rPr sz="900" b="0">
                <a:solidFill>
                  <a:srgbClr val="FAFAFA"/>
                </a:solidFill>
                <a:latin typeface="DM Sans"/>
                <a:ea typeface="DM Sans"/>
                <a:cs typeface="DM Sans"/>
              </a:rPr>
              <a:t>180 DAYS</a:t>
            </a:r>
          </a:p>
        </p:txBody>
      </p:sp>
      <p:sp>
        <p:nvSpPr>
          <p:cNvPr id="47" name="">
            <a:extLst xmlns:a="http://schemas.openxmlformats.org/drawingml/2006/main">
              <a:ext uri="{FF2B5EF4-FFF2-40B4-BE49-F238E27FC236}">
                <a16:creationId xmlns:a16="http://schemas.microsoft.com/office/drawing/2014/main" id="{EFFBFDCC-15DD-4959-9A4B-4CDB1FA98B4B}"/>
              </a:ext>
            </a:extLst>
          </p:cNvPr>
          <p:cNvSpPr>
            <a:spLocks xmlns:a="http://schemas.openxmlformats.org/drawingml/2006/main" noGrp="1"/>
          </p:cNvSpPr>
          <p:nvPr/>
        </p:nvSpPr>
        <p:spPr>
          <a:xfrm xmlns:a="http://schemas.openxmlformats.org/drawingml/2006/main" rot="0">
            <a:off x="400050" y="6486525"/>
            <a:ext cx="1095375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A3A3A3"/>
                </a:solidFill>
                <a:latin typeface="DM Sans"/>
                <a:ea typeface="DM Sans"/>
                <a:cs typeface="DM Sans"/>
              </a:defRPr>
            </a:defPPr>
            <a:lvl1pPr algn="l">
              <a:defRPr sz="750" b="0">
                <a:solidFill>
                  <a:srgbClr val="A3A3A3"/>
                </a:solidFill>
                <a:latin typeface="DM Sans"/>
                <a:ea typeface="DM Sans"/>
                <a:cs typeface="DM Sans"/>
              </a:defRPr>
            </a:lvl1pPr>
            <a:lvl2pPr algn="l">
              <a:defRPr sz="750" b="0">
                <a:solidFill>
                  <a:srgbClr val="A3A3A3"/>
                </a:solidFill>
                <a:latin typeface="DM Sans"/>
                <a:ea typeface="DM Sans"/>
                <a:cs typeface="DM Sans"/>
              </a:defRPr>
            </a:lvl2pPr>
            <a:lvl3pPr algn="l">
              <a:defRPr sz="750" b="0">
                <a:solidFill>
                  <a:srgbClr val="A3A3A3"/>
                </a:solidFill>
                <a:latin typeface="DM Sans"/>
                <a:ea typeface="DM Sans"/>
                <a:cs typeface="DM Sans"/>
              </a:defRPr>
            </a:lvl3pPr>
            <a:lvl4pPr algn="l">
              <a:defRPr sz="750" b="0">
                <a:solidFill>
                  <a:srgbClr val="A3A3A3"/>
                </a:solidFill>
                <a:latin typeface="DM Sans"/>
                <a:ea typeface="DM Sans"/>
                <a:cs typeface="DM Sans"/>
              </a:defRPr>
            </a:lvl4pPr>
            <a:lvl5pPr algn="l">
              <a:defRPr sz="750" b="0">
                <a:solidFill>
                  <a:srgbClr val="A3A3A3"/>
                </a:solidFill>
                <a:latin typeface="DM Sans"/>
                <a:ea typeface="DM Sans"/>
                <a:cs typeface="DM Sans"/>
              </a:defRPr>
            </a:lvl5pPr>
            <a:lvl6pPr algn="l">
              <a:defRPr sz="750" b="0">
                <a:solidFill>
                  <a:srgbClr val="A3A3A3"/>
                </a:solidFill>
                <a:latin typeface="DM Sans"/>
                <a:ea typeface="DM Sans"/>
                <a:cs typeface="DM Sans"/>
              </a:defRPr>
            </a:lvl6pPr>
            <a:lvl7pPr algn="l">
              <a:defRPr sz="750" b="0">
                <a:solidFill>
                  <a:srgbClr val="A3A3A3"/>
                </a:solidFill>
                <a:latin typeface="DM Sans"/>
                <a:ea typeface="DM Sans"/>
                <a:cs typeface="DM Sans"/>
              </a:defRPr>
            </a:lvl7pPr>
            <a:lvl8pPr algn="l">
              <a:defRPr sz="750" b="0">
                <a:solidFill>
                  <a:srgbClr val="A3A3A3"/>
                </a:solidFill>
                <a:latin typeface="DM Sans"/>
                <a:ea typeface="DM Sans"/>
                <a:cs typeface="DM Sans"/>
              </a:defRPr>
            </a:lvl8pPr>
            <a:lvl9pPr algn="l">
              <a:defRPr sz="750" b="0">
                <a:solidFill>
                  <a:srgbClr val="A3A3A3"/>
                </a:solidFill>
                <a:latin typeface="DM Sans"/>
                <a:ea typeface="DM Sans"/>
                <a:cs typeface="DM Sans"/>
              </a:defRPr>
            </a:lvl9pPr>
          </a:lstStyle>
          <a:p xmlns:a="http://schemas.openxmlformats.org/drawingml/2006/main">
            <a:pPr algn="l">
              <a:defRPr sz="750" b="0">
                <a:solidFill>
                  <a:srgbClr val="A3A3A3"/>
                </a:solidFill>
                <a:latin typeface="DM Sans"/>
                <a:ea typeface="DM Sans"/>
                <a:cs typeface="DM Sans"/>
              </a:defRPr>
            </a:pPr>
            <a:r>
              <a:rPr sz="750" b="0">
                <a:solidFill>
                  <a:srgbClr val="A3A3A3"/>
                </a:solidFill>
                <a:latin typeface="DM Sans"/>
                <a:ea typeface="DM Sans"/>
                <a:cs typeface="DM Sans"/>
              </a:rPr>
              <a:t>Timelines are illustrative. The holding period and closing buffer must fit before expiry.</a:t>
            </a:r>
          </a:p>
        </p:txBody>
      </p:sp>
    </p:spTree>
    <p:extLst>
      <p:ext uri="{BB962C8B-B14F-4D97-AF65-F5344CB8AC3E}">
        <p14:creationId xmlns:p14="http://schemas.microsoft.com/office/powerpoint/2010/main" val="89521166"/>
      </p:ext>
    </p:extLst>
  </p:cSld>
</p:sld>
</file>

<file path=ppt/slides/slide3.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47088CDB-31C1-4326-9C90-D4E6E2210B6D}"/>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AC976F65-925D-4EDA-A292-CC8DE80630D2}"/>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02</a:t>
            </a:r>
          </a:p>
        </p:txBody>
      </p:sp>
      <p:sp>
        <p:nvSpPr>
          <p:cNvPr id="3" name="">
            <a:extLst xmlns:a="http://schemas.openxmlformats.org/drawingml/2006/main">
              <a:ext uri="{FF2B5EF4-FFF2-40B4-BE49-F238E27FC236}">
                <a16:creationId xmlns:a16="http://schemas.microsoft.com/office/drawing/2014/main" id="{E55F83D2-AF29-45C2-B65B-91139A640C24}"/>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67449545-B16E-4AC8-8E3F-E48BD3EBA92B}"/>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23B94812-D860-4306-8262-377CB7FB3469}"/>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278B3527-76C3-4AA3-9D3E-ACD1905DE2B5}"/>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Observed evidence</a:t>
            </a:r>
          </a:p>
        </p:txBody>
      </p:sp>
      <p:sp>
        <p:nvSpPr>
          <p:cNvPr id="7" name="">
            <a:extLst xmlns:a="http://schemas.openxmlformats.org/drawingml/2006/main">
              <a:ext uri="{FF2B5EF4-FFF2-40B4-BE49-F238E27FC236}">
                <a16:creationId xmlns:a16="http://schemas.microsoft.com/office/drawing/2014/main" id="{8B5F9450-2911-4285-8CC8-48D4FA2DF0E1}"/>
              </a:ext>
            </a:extLst>
          </p:cNvPr>
          <p:cNvSpPr>
            <a:spLocks xmlns:a="http://schemas.openxmlformats.org/drawingml/2006/main" noGrp="1"/>
          </p:cNvSpPr>
          <p:nvPr/>
        </p:nvSpPr>
        <p:spPr>
          <a:xfrm xmlns:a="http://schemas.openxmlformats.org/drawingml/2006/main" rot="0">
            <a:off x="400050" y="1857375"/>
            <a:ext cx="5143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0A0A0A"/>
                </a:solidFill>
                <a:latin typeface="DM Sans"/>
                <a:ea typeface="DM Sans"/>
                <a:cs typeface="DM Sans"/>
              </a:defRPr>
            </a:defPPr>
            <a:lvl1pPr algn="l">
              <a:defRPr sz="2775" b="0">
                <a:solidFill>
                  <a:srgbClr val="0A0A0A"/>
                </a:solidFill>
                <a:latin typeface="DM Sans"/>
                <a:ea typeface="DM Sans"/>
                <a:cs typeface="DM Sans"/>
              </a:defRPr>
            </a:lvl1pPr>
            <a:lvl2pPr algn="l">
              <a:defRPr sz="2775" b="0">
                <a:solidFill>
                  <a:srgbClr val="0A0A0A"/>
                </a:solidFill>
                <a:latin typeface="DM Sans"/>
                <a:ea typeface="DM Sans"/>
                <a:cs typeface="DM Sans"/>
              </a:defRPr>
            </a:lvl2pPr>
            <a:lvl3pPr algn="l">
              <a:defRPr sz="2775" b="0">
                <a:solidFill>
                  <a:srgbClr val="0A0A0A"/>
                </a:solidFill>
                <a:latin typeface="DM Sans"/>
                <a:ea typeface="DM Sans"/>
                <a:cs typeface="DM Sans"/>
              </a:defRPr>
            </a:lvl3pPr>
            <a:lvl4pPr algn="l">
              <a:defRPr sz="2775" b="0">
                <a:solidFill>
                  <a:srgbClr val="0A0A0A"/>
                </a:solidFill>
                <a:latin typeface="DM Sans"/>
                <a:ea typeface="DM Sans"/>
                <a:cs typeface="DM Sans"/>
              </a:defRPr>
            </a:lvl4pPr>
            <a:lvl5pPr algn="l">
              <a:defRPr sz="2775" b="0">
                <a:solidFill>
                  <a:srgbClr val="0A0A0A"/>
                </a:solidFill>
                <a:latin typeface="DM Sans"/>
                <a:ea typeface="DM Sans"/>
                <a:cs typeface="DM Sans"/>
              </a:defRPr>
            </a:lvl5pPr>
            <a:lvl6pPr algn="l">
              <a:defRPr sz="2775" b="0">
                <a:solidFill>
                  <a:srgbClr val="0A0A0A"/>
                </a:solidFill>
                <a:latin typeface="DM Sans"/>
                <a:ea typeface="DM Sans"/>
                <a:cs typeface="DM Sans"/>
              </a:defRPr>
            </a:lvl6pPr>
            <a:lvl7pPr algn="l">
              <a:defRPr sz="2775" b="0">
                <a:solidFill>
                  <a:srgbClr val="0A0A0A"/>
                </a:solidFill>
                <a:latin typeface="DM Sans"/>
                <a:ea typeface="DM Sans"/>
                <a:cs typeface="DM Sans"/>
              </a:defRPr>
            </a:lvl7pPr>
            <a:lvl8pPr algn="l">
              <a:defRPr sz="2775" b="0">
                <a:solidFill>
                  <a:srgbClr val="0A0A0A"/>
                </a:solidFill>
                <a:latin typeface="DM Sans"/>
                <a:ea typeface="DM Sans"/>
                <a:cs typeface="DM Sans"/>
              </a:defRPr>
            </a:lvl8pPr>
            <a:lvl9pPr algn="l">
              <a:defRPr sz="2775" b="0">
                <a:solidFill>
                  <a:srgbClr val="0A0A0A"/>
                </a:solidFill>
                <a:latin typeface="DM Sans"/>
                <a:ea typeface="DM Sans"/>
                <a:cs typeface="DM Sans"/>
              </a:defRPr>
            </a:lvl9pPr>
          </a:lstStyle>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We begin with</a:t>
            </a:r>
          </a:p>
        </p:txBody>
      </p:sp>
      <p:sp>
        <p:nvSpPr>
          <p:cNvPr id="8" name="">
            <a:extLst xmlns:a="http://schemas.openxmlformats.org/drawingml/2006/main">
              <a:ext uri="{FF2B5EF4-FFF2-40B4-BE49-F238E27FC236}">
                <a16:creationId xmlns:a16="http://schemas.microsoft.com/office/drawing/2014/main" id="{F5EC1D65-85C7-418E-B067-3FC1B8374E02}"/>
              </a:ext>
            </a:extLst>
          </p:cNvPr>
          <p:cNvSpPr>
            <a:spLocks xmlns:a="http://schemas.openxmlformats.org/drawingml/2006/main" noGrp="1"/>
          </p:cNvSpPr>
          <p:nvPr/>
        </p:nvSpPr>
        <p:spPr>
          <a:xfrm xmlns:a="http://schemas.openxmlformats.org/drawingml/2006/main" rot="0">
            <a:off x="400050" y="2314575"/>
            <a:ext cx="2571750" cy="1371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475" b="0">
                <a:solidFill>
                  <a:srgbClr val="0A0A0A"/>
                </a:solidFill>
                <a:latin typeface="DM Sans Light"/>
                <a:ea typeface="DM Sans Light"/>
                <a:cs typeface="DM Sans Light"/>
              </a:defRPr>
            </a:defPPr>
            <a:lvl1pPr algn="l">
              <a:defRPr sz="8475" b="0">
                <a:solidFill>
                  <a:srgbClr val="0A0A0A"/>
                </a:solidFill>
                <a:latin typeface="DM Sans Light"/>
                <a:ea typeface="DM Sans Light"/>
                <a:cs typeface="DM Sans Light"/>
              </a:defRPr>
            </a:lvl1pPr>
            <a:lvl2pPr algn="l">
              <a:defRPr sz="8475" b="0">
                <a:solidFill>
                  <a:srgbClr val="0A0A0A"/>
                </a:solidFill>
                <a:latin typeface="DM Sans Light"/>
                <a:ea typeface="DM Sans Light"/>
                <a:cs typeface="DM Sans Light"/>
              </a:defRPr>
            </a:lvl2pPr>
            <a:lvl3pPr algn="l">
              <a:defRPr sz="8475" b="0">
                <a:solidFill>
                  <a:srgbClr val="0A0A0A"/>
                </a:solidFill>
                <a:latin typeface="DM Sans Light"/>
                <a:ea typeface="DM Sans Light"/>
                <a:cs typeface="DM Sans Light"/>
              </a:defRPr>
            </a:lvl3pPr>
            <a:lvl4pPr algn="l">
              <a:defRPr sz="8475" b="0">
                <a:solidFill>
                  <a:srgbClr val="0A0A0A"/>
                </a:solidFill>
                <a:latin typeface="DM Sans Light"/>
                <a:ea typeface="DM Sans Light"/>
                <a:cs typeface="DM Sans Light"/>
              </a:defRPr>
            </a:lvl4pPr>
            <a:lvl5pPr algn="l">
              <a:defRPr sz="8475" b="0">
                <a:solidFill>
                  <a:srgbClr val="0A0A0A"/>
                </a:solidFill>
                <a:latin typeface="DM Sans Light"/>
                <a:ea typeface="DM Sans Light"/>
                <a:cs typeface="DM Sans Light"/>
              </a:defRPr>
            </a:lvl5pPr>
            <a:lvl6pPr algn="l">
              <a:defRPr sz="8475" b="0">
                <a:solidFill>
                  <a:srgbClr val="0A0A0A"/>
                </a:solidFill>
                <a:latin typeface="DM Sans Light"/>
                <a:ea typeface="DM Sans Light"/>
                <a:cs typeface="DM Sans Light"/>
              </a:defRPr>
            </a:lvl6pPr>
            <a:lvl7pPr algn="l">
              <a:defRPr sz="8475" b="0">
                <a:solidFill>
                  <a:srgbClr val="0A0A0A"/>
                </a:solidFill>
                <a:latin typeface="DM Sans Light"/>
                <a:ea typeface="DM Sans Light"/>
                <a:cs typeface="DM Sans Light"/>
              </a:defRPr>
            </a:lvl7pPr>
            <a:lvl8pPr algn="l">
              <a:defRPr sz="8475" b="0">
                <a:solidFill>
                  <a:srgbClr val="0A0A0A"/>
                </a:solidFill>
                <a:latin typeface="DM Sans Light"/>
                <a:ea typeface="DM Sans Light"/>
                <a:cs typeface="DM Sans Light"/>
              </a:defRPr>
            </a:lvl8pPr>
            <a:lvl9pPr algn="l">
              <a:defRPr sz="8475" b="0">
                <a:solidFill>
                  <a:srgbClr val="0A0A0A"/>
                </a:solidFill>
                <a:latin typeface="DM Sans Light"/>
                <a:ea typeface="DM Sans Light"/>
                <a:cs typeface="DM Sans Light"/>
              </a:defRPr>
            </a:lvl9pPr>
          </a:lstStyle>
          <a:p xmlns:a="http://schemas.openxmlformats.org/drawingml/2006/main">
            <a:pPr algn="l">
              <a:defRPr sz="8475" b="0">
                <a:solidFill>
                  <a:srgbClr val="0A0A0A"/>
                </a:solidFill>
                <a:latin typeface="DM Sans Light"/>
                <a:ea typeface="DM Sans Light"/>
                <a:cs typeface="DM Sans Light"/>
              </a:defRPr>
            </a:pPr>
            <a:r>
              <a:rPr sz="8475" b="0">
                <a:solidFill>
                  <a:srgbClr val="0A0A0A"/>
                </a:solidFill>
                <a:latin typeface="DM Sans Light"/>
                <a:ea typeface="DM Sans Light"/>
                <a:cs typeface="DM Sans Light"/>
              </a:rPr>
              <a:t>67</a:t>
            </a:r>
          </a:p>
        </p:txBody>
      </p:sp>
      <p:sp>
        <p:nvSpPr>
          <p:cNvPr id="9" name="">
            <a:extLst xmlns:a="http://schemas.openxmlformats.org/drawingml/2006/main">
              <a:ext uri="{FF2B5EF4-FFF2-40B4-BE49-F238E27FC236}">
                <a16:creationId xmlns:a16="http://schemas.microsoft.com/office/drawing/2014/main" id="{9805D460-27FF-493C-BB36-56419C5C4252}"/>
              </a:ext>
            </a:extLst>
          </p:cNvPr>
          <p:cNvSpPr>
            <a:spLocks xmlns:a="http://schemas.openxmlformats.org/drawingml/2006/main" noGrp="1"/>
          </p:cNvSpPr>
          <p:nvPr/>
        </p:nvSpPr>
        <p:spPr>
          <a:xfrm xmlns:a="http://schemas.openxmlformats.org/drawingml/2006/main">
            <a:off x="447675" y="3609975"/>
            <a:ext cx="1381125" cy="95"/>
          </a:xfrm>
          <a:custGeom xmlns:a="http://schemas.openxmlformats.org/drawingml/2006/main">
            <a:pathLst>
              <a:path w="1381125" h="95">
                <a:moveTo>
                  <a:pt x="0" y="0"/>
                </a:moveTo>
                <a:lnTo>
                  <a:pt x="1381125" y="0"/>
                </a:lnTo>
              </a:path>
            </a:pathLst>
          </a:custGeom>
          <a:noFill xmlns:a="http://schemas.openxmlformats.org/drawingml/2006/main"/>
          <a:ln xmlns:a="http://schemas.openxmlformats.org/drawingml/2006/main" w="17145">
            <a:solidFill>
              <a:srgbClr val="0A0A0A"/>
            </a:solidFill>
            <a:prstDash val="solid"/>
          </a:ln>
        </p:spPr>
      </p:sp>
      <p:sp>
        <p:nvSpPr>
          <p:cNvPr id="10" name="">
            <a:extLst xmlns:a="http://schemas.openxmlformats.org/drawingml/2006/main">
              <a:ext uri="{FF2B5EF4-FFF2-40B4-BE49-F238E27FC236}">
                <a16:creationId xmlns:a16="http://schemas.microsoft.com/office/drawing/2014/main" id="{CA4C2426-1FBD-474E-BF3A-8D60C77FD7C6}"/>
              </a:ext>
            </a:extLst>
          </p:cNvPr>
          <p:cNvSpPr>
            <a:spLocks xmlns:a="http://schemas.openxmlformats.org/drawingml/2006/main" noGrp="1"/>
          </p:cNvSpPr>
          <p:nvPr/>
        </p:nvSpPr>
        <p:spPr>
          <a:xfrm xmlns:a="http://schemas.openxmlformats.org/drawingml/2006/main" rot="0">
            <a:off x="400050" y="3848100"/>
            <a:ext cx="5429250" cy="933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0A0A0A"/>
                </a:solidFill>
                <a:latin typeface="DM Sans"/>
                <a:ea typeface="DM Sans"/>
                <a:cs typeface="DM Sans"/>
              </a:defRPr>
            </a:defPPr>
            <a:lvl1pPr algn="l">
              <a:defRPr sz="2775" b="0">
                <a:solidFill>
                  <a:srgbClr val="0A0A0A"/>
                </a:solidFill>
                <a:latin typeface="DM Sans"/>
                <a:ea typeface="DM Sans"/>
                <a:cs typeface="DM Sans"/>
              </a:defRPr>
            </a:lvl1pPr>
            <a:lvl2pPr algn="l">
              <a:defRPr sz="2775" b="0">
                <a:solidFill>
                  <a:srgbClr val="0A0A0A"/>
                </a:solidFill>
                <a:latin typeface="DM Sans"/>
                <a:ea typeface="DM Sans"/>
                <a:cs typeface="DM Sans"/>
              </a:defRPr>
            </a:lvl2pPr>
            <a:lvl3pPr algn="l">
              <a:defRPr sz="2775" b="0">
                <a:solidFill>
                  <a:srgbClr val="0A0A0A"/>
                </a:solidFill>
                <a:latin typeface="DM Sans"/>
                <a:ea typeface="DM Sans"/>
                <a:cs typeface="DM Sans"/>
              </a:defRPr>
            </a:lvl3pPr>
            <a:lvl4pPr algn="l">
              <a:defRPr sz="2775" b="0">
                <a:solidFill>
                  <a:srgbClr val="0A0A0A"/>
                </a:solidFill>
                <a:latin typeface="DM Sans"/>
                <a:ea typeface="DM Sans"/>
                <a:cs typeface="DM Sans"/>
              </a:defRPr>
            </a:lvl4pPr>
            <a:lvl5pPr algn="l">
              <a:defRPr sz="2775" b="0">
                <a:solidFill>
                  <a:srgbClr val="0A0A0A"/>
                </a:solidFill>
                <a:latin typeface="DM Sans"/>
                <a:ea typeface="DM Sans"/>
                <a:cs typeface="DM Sans"/>
              </a:defRPr>
            </a:lvl5pPr>
            <a:lvl6pPr algn="l">
              <a:defRPr sz="2775" b="0">
                <a:solidFill>
                  <a:srgbClr val="0A0A0A"/>
                </a:solidFill>
                <a:latin typeface="DM Sans"/>
                <a:ea typeface="DM Sans"/>
                <a:cs typeface="DM Sans"/>
              </a:defRPr>
            </a:lvl6pPr>
            <a:lvl7pPr algn="l">
              <a:defRPr sz="2775" b="0">
                <a:solidFill>
                  <a:srgbClr val="0A0A0A"/>
                </a:solidFill>
                <a:latin typeface="DM Sans"/>
                <a:ea typeface="DM Sans"/>
                <a:cs typeface="DM Sans"/>
              </a:defRPr>
            </a:lvl7pPr>
            <a:lvl8pPr algn="l">
              <a:defRPr sz="2775" b="0">
                <a:solidFill>
                  <a:srgbClr val="0A0A0A"/>
                </a:solidFill>
                <a:latin typeface="DM Sans"/>
                <a:ea typeface="DM Sans"/>
                <a:cs typeface="DM Sans"/>
              </a:defRPr>
            </a:lvl8pPr>
            <a:lvl9pPr algn="l">
              <a:defRPr sz="2775" b="0">
                <a:solidFill>
                  <a:srgbClr val="0A0A0A"/>
                </a:solidFill>
                <a:latin typeface="DM Sans"/>
                <a:ea typeface="DM Sans"/>
                <a:cs typeface="DM Sans"/>
              </a:defRPr>
            </a:lvl9pPr>
          </a:lstStyle>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measured sediment samples</a:t>
            </a:r>
          </a:p>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from Tok River, Alaska.</a:t>
            </a:r>
          </a:p>
        </p:txBody>
      </p:sp>
      <p:sp>
        <p:nvSpPr>
          <p:cNvPr id="11" name="">
            <a:extLst xmlns:a="http://schemas.openxmlformats.org/drawingml/2006/main">
              <a:ext uri="{FF2B5EF4-FFF2-40B4-BE49-F238E27FC236}">
                <a16:creationId xmlns:a16="http://schemas.microsoft.com/office/drawing/2014/main" id="{EF3E348B-92BE-45E8-823A-C242BE3253EF}"/>
              </a:ext>
            </a:extLst>
          </p:cNvPr>
          <p:cNvSpPr>
            <a:spLocks xmlns:a="http://schemas.openxmlformats.org/drawingml/2006/main" noGrp="1"/>
          </p:cNvSpPr>
          <p:nvPr/>
        </p:nvSpPr>
        <p:spPr>
          <a:xfrm xmlns:a="http://schemas.openxmlformats.org/drawingml/2006/main" rot="0">
            <a:off x="400050" y="5219700"/>
            <a:ext cx="5334000" cy="609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0A0A0A"/>
                </a:solidFill>
                <a:latin typeface="DM Sans"/>
                <a:ea typeface="DM Sans"/>
                <a:cs typeface="DM Sans"/>
              </a:defRPr>
            </a:defPPr>
            <a:lvl1pPr algn="l">
              <a:defRPr sz="1725" b="0">
                <a:solidFill>
                  <a:srgbClr val="0A0A0A"/>
                </a:solidFill>
                <a:latin typeface="DM Sans"/>
                <a:ea typeface="DM Sans"/>
                <a:cs typeface="DM Sans"/>
              </a:defRPr>
            </a:lvl1pPr>
            <a:lvl2pPr algn="l">
              <a:defRPr sz="1725" b="0">
                <a:solidFill>
                  <a:srgbClr val="0A0A0A"/>
                </a:solidFill>
                <a:latin typeface="DM Sans"/>
                <a:ea typeface="DM Sans"/>
                <a:cs typeface="DM Sans"/>
              </a:defRPr>
            </a:lvl2pPr>
            <a:lvl3pPr algn="l">
              <a:defRPr sz="1725" b="0">
                <a:solidFill>
                  <a:srgbClr val="0A0A0A"/>
                </a:solidFill>
                <a:latin typeface="DM Sans"/>
                <a:ea typeface="DM Sans"/>
                <a:cs typeface="DM Sans"/>
              </a:defRPr>
            </a:lvl3pPr>
            <a:lvl4pPr algn="l">
              <a:defRPr sz="1725" b="0">
                <a:solidFill>
                  <a:srgbClr val="0A0A0A"/>
                </a:solidFill>
                <a:latin typeface="DM Sans"/>
                <a:ea typeface="DM Sans"/>
                <a:cs typeface="DM Sans"/>
              </a:defRPr>
            </a:lvl4pPr>
            <a:lvl5pPr algn="l">
              <a:defRPr sz="1725" b="0">
                <a:solidFill>
                  <a:srgbClr val="0A0A0A"/>
                </a:solidFill>
                <a:latin typeface="DM Sans"/>
                <a:ea typeface="DM Sans"/>
                <a:cs typeface="DM Sans"/>
              </a:defRPr>
            </a:lvl5pPr>
            <a:lvl6pPr algn="l">
              <a:defRPr sz="1725" b="0">
                <a:solidFill>
                  <a:srgbClr val="0A0A0A"/>
                </a:solidFill>
                <a:latin typeface="DM Sans"/>
                <a:ea typeface="DM Sans"/>
                <a:cs typeface="DM Sans"/>
              </a:defRPr>
            </a:lvl6pPr>
            <a:lvl7pPr algn="l">
              <a:defRPr sz="1725" b="0">
                <a:solidFill>
                  <a:srgbClr val="0A0A0A"/>
                </a:solidFill>
                <a:latin typeface="DM Sans"/>
                <a:ea typeface="DM Sans"/>
                <a:cs typeface="DM Sans"/>
              </a:defRPr>
            </a:lvl7pPr>
            <a:lvl8pPr algn="l">
              <a:defRPr sz="1725" b="0">
                <a:solidFill>
                  <a:srgbClr val="0A0A0A"/>
                </a:solidFill>
                <a:latin typeface="DM Sans"/>
                <a:ea typeface="DM Sans"/>
                <a:cs typeface="DM Sans"/>
              </a:defRPr>
            </a:lvl8pPr>
            <a:lvl9pPr algn="l">
              <a:defRPr sz="1725" b="0">
                <a:solidFill>
                  <a:srgbClr val="0A0A0A"/>
                </a:solidFill>
                <a:latin typeface="DM Sans"/>
                <a:ea typeface="DM Sans"/>
                <a:cs typeface="DM Sans"/>
              </a:defRPr>
            </a:lvl9pPr>
          </a:lstStyle>
          <a:p xmlns:a="http://schemas.openxmlformats.org/drawingml/2006/main">
            <a:pPr algn="l">
              <a:defRPr sz="1725" b="0">
                <a:solidFill>
                  <a:srgbClr val="0A0A0A"/>
                </a:solidFill>
                <a:latin typeface="DM Sans"/>
                <a:ea typeface="DM Sans"/>
                <a:cs typeface="DM Sans"/>
              </a:defRPr>
            </a:pPr>
            <a:r>
              <a:rPr sz="1725" b="0">
                <a:solidFill>
                  <a:srgbClr val="0A0A0A"/>
                </a:solidFill>
                <a:latin typeface="DM Sans"/>
                <a:ea typeface="DM Sans"/>
                <a:cs typeface="DM Sans"/>
              </a:rPr>
              <a:t>A has 33 samples. B has 34.</a:t>
            </a:r>
          </a:p>
          <a:p xmlns:a="http://schemas.openxmlformats.org/drawingml/2006/main">
            <a:pPr algn="l">
              <a:defRPr sz="1725" b="0">
                <a:solidFill>
                  <a:srgbClr val="0A0A0A"/>
                </a:solidFill>
                <a:latin typeface="DM Sans"/>
                <a:ea typeface="DM Sans"/>
                <a:cs typeface="DM Sans"/>
              </a:defRPr>
            </a:pPr>
            <a:r>
              <a:rPr sz="1725" b="0">
                <a:solidFill>
                  <a:srgbClr val="0A0A0A"/>
                </a:solidFill>
                <a:latin typeface="DM Sans"/>
                <a:ea typeface="DM Sans"/>
                <a:cs typeface="DM Sans"/>
              </a:rPr>
              <a:t>Primary gold assays screen the evidence.</a:t>
            </a:r>
          </a:p>
        </p:txBody>
      </p:sp>
      <p:sp>
        <p:nvSpPr>
          <p:cNvPr id="12" name="">
            <a:extLst xmlns:a="http://schemas.openxmlformats.org/drawingml/2006/main">
              <a:ext uri="{FF2B5EF4-FFF2-40B4-BE49-F238E27FC236}">
                <a16:creationId xmlns:a16="http://schemas.microsoft.com/office/drawing/2014/main" id="{84A1935E-C5E0-48EA-B439-FECE712802F2}"/>
              </a:ext>
            </a:extLst>
          </p:cNvPr>
          <p:cNvSpPr>
            <a:spLocks xmlns:a="http://schemas.openxmlformats.org/drawingml/2006/main" noGrp="1"/>
          </p:cNvSpPr>
          <p:nvPr/>
        </p:nvSpPr>
        <p:spPr>
          <a:xfrm xmlns:a="http://schemas.openxmlformats.org/drawingml/2006/main" rot="0">
            <a:off x="400050" y="6200775"/>
            <a:ext cx="5334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737373"/>
                </a:solidFill>
                <a:latin typeface="DM Sans"/>
                <a:ea typeface="DM Sans"/>
                <a:cs typeface="DM Sans"/>
              </a:defRPr>
            </a:defPPr>
            <a:lvl1pPr algn="l">
              <a:defRPr sz="900" b="0">
                <a:solidFill>
                  <a:srgbClr val="737373"/>
                </a:solidFill>
                <a:latin typeface="DM Sans"/>
                <a:ea typeface="DM Sans"/>
                <a:cs typeface="DM Sans"/>
              </a:defRPr>
            </a:lvl1pPr>
            <a:lvl2pPr algn="l">
              <a:defRPr sz="900" b="0">
                <a:solidFill>
                  <a:srgbClr val="737373"/>
                </a:solidFill>
                <a:latin typeface="DM Sans"/>
                <a:ea typeface="DM Sans"/>
                <a:cs typeface="DM Sans"/>
              </a:defRPr>
            </a:lvl2pPr>
            <a:lvl3pPr algn="l">
              <a:defRPr sz="900" b="0">
                <a:solidFill>
                  <a:srgbClr val="737373"/>
                </a:solidFill>
                <a:latin typeface="DM Sans"/>
                <a:ea typeface="DM Sans"/>
                <a:cs typeface="DM Sans"/>
              </a:defRPr>
            </a:lvl3pPr>
            <a:lvl4pPr algn="l">
              <a:defRPr sz="900" b="0">
                <a:solidFill>
                  <a:srgbClr val="737373"/>
                </a:solidFill>
                <a:latin typeface="DM Sans"/>
                <a:ea typeface="DM Sans"/>
                <a:cs typeface="DM Sans"/>
              </a:defRPr>
            </a:lvl4pPr>
            <a:lvl5pPr algn="l">
              <a:defRPr sz="900" b="0">
                <a:solidFill>
                  <a:srgbClr val="737373"/>
                </a:solidFill>
                <a:latin typeface="DM Sans"/>
                <a:ea typeface="DM Sans"/>
                <a:cs typeface="DM Sans"/>
              </a:defRPr>
            </a:lvl5pPr>
            <a:lvl6pPr algn="l">
              <a:defRPr sz="900" b="0">
                <a:solidFill>
                  <a:srgbClr val="737373"/>
                </a:solidFill>
                <a:latin typeface="DM Sans"/>
                <a:ea typeface="DM Sans"/>
                <a:cs typeface="DM Sans"/>
              </a:defRPr>
            </a:lvl6pPr>
            <a:lvl7pPr algn="l">
              <a:defRPr sz="900" b="0">
                <a:solidFill>
                  <a:srgbClr val="737373"/>
                </a:solidFill>
                <a:latin typeface="DM Sans"/>
                <a:ea typeface="DM Sans"/>
                <a:cs typeface="DM Sans"/>
              </a:defRPr>
            </a:lvl7pPr>
            <a:lvl8pPr algn="l">
              <a:defRPr sz="900" b="0">
                <a:solidFill>
                  <a:srgbClr val="737373"/>
                </a:solidFill>
                <a:latin typeface="DM Sans"/>
                <a:ea typeface="DM Sans"/>
                <a:cs typeface="DM Sans"/>
              </a:defRPr>
            </a:lvl8pPr>
            <a:lvl9pPr algn="l">
              <a:defRPr sz="900" b="0">
                <a:solidFill>
                  <a:srgbClr val="737373"/>
                </a:solidFill>
                <a:latin typeface="DM Sans"/>
                <a:ea typeface="DM Sans"/>
                <a:cs typeface="DM Sans"/>
              </a:defRPr>
            </a:lvl9pPr>
          </a:lstStyle>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Recoverable ounces remain a separate assumption.</a:t>
            </a:r>
          </a:p>
        </p:txBody>
      </p:sp>
      <p:sp>
        <p:nvSpPr>
          <p:cNvPr id="13" name="">
            <a:extLst xmlns:a="http://schemas.openxmlformats.org/drawingml/2006/main">
              <a:ext uri="{FF2B5EF4-FFF2-40B4-BE49-F238E27FC236}">
                <a16:creationId xmlns:a16="http://schemas.microsoft.com/office/drawing/2014/main" id="{9D524C33-C2DF-4E4B-80F8-4711BDC1E5FC}"/>
              </a:ext>
            </a:extLst>
          </p:cNvPr>
          <p:cNvSpPr>
            <a:spLocks xmlns:a="http://schemas.openxmlformats.org/drawingml/2006/main" noGrp="1"/>
          </p:cNvSpPr>
          <p:nvPr/>
        </p:nvSpPr>
        <p:spPr>
          <a:xfrm xmlns:a="http://schemas.openxmlformats.org/drawingml/2006/main">
            <a:off x="6172200" y="152400"/>
            <a:ext cx="5867400" cy="6553200"/>
          </a:xfrm>
          <a:prstGeom xmlns:a="http://schemas.openxmlformats.org/drawingml/2006/main" prst="roundRect">
            <a:avLst>
              <a:gd name="adj" fmla="val 4058"/>
            </a:avLst>
          </a:prstGeom>
          <a:solidFill xmlns:a="http://schemas.openxmlformats.org/drawingml/2006/main">
            <a:srgbClr val="0A0A0A"/>
          </a:solidFill>
          <a:ln xmlns:a="http://schemas.openxmlformats.org/drawingml/2006/main" w="0">
            <a:noFill/>
            <a:prstDash val="solid"/>
          </a:ln>
        </p:spPr>
      </p:sp>
      <p:sp>
        <p:nvSpPr>
          <p:cNvPr id="14" name="">
            <a:extLst xmlns:a="http://schemas.openxmlformats.org/drawingml/2006/main">
              <a:ext uri="{FF2B5EF4-FFF2-40B4-BE49-F238E27FC236}">
                <a16:creationId xmlns:a16="http://schemas.microsoft.com/office/drawing/2014/main" id="{68F1D2A0-6587-42A4-9F7C-A4B74781EC41}"/>
              </a:ext>
            </a:extLst>
          </p:cNvPr>
          <p:cNvSpPr>
            <a:spLocks xmlns:a="http://schemas.openxmlformats.org/drawingml/2006/main" noGrp="1"/>
          </p:cNvSpPr>
          <p:nvPr/>
        </p:nvSpPr>
        <p:spPr>
          <a:xfrm xmlns:a="http://schemas.openxmlformats.org/drawingml/2006/main" rot="0">
            <a:off x="6438900" y="409575"/>
            <a:ext cx="4000500" cy="4000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0">
                <a:solidFill>
                  <a:srgbClr val="FAFAFA"/>
                </a:solidFill>
                <a:latin typeface="DM Sans"/>
                <a:ea typeface="DM Sans"/>
                <a:cs typeface="DM Sans"/>
              </a:defRPr>
            </a:defPPr>
            <a:lvl1pPr algn="l">
              <a:defRPr sz="2175" b="0">
                <a:solidFill>
                  <a:srgbClr val="FAFAFA"/>
                </a:solidFill>
                <a:latin typeface="DM Sans"/>
                <a:ea typeface="DM Sans"/>
                <a:cs typeface="DM Sans"/>
              </a:defRPr>
            </a:lvl1pPr>
            <a:lvl2pPr algn="l">
              <a:defRPr sz="2175" b="0">
                <a:solidFill>
                  <a:srgbClr val="FAFAFA"/>
                </a:solidFill>
                <a:latin typeface="DM Sans"/>
                <a:ea typeface="DM Sans"/>
                <a:cs typeface="DM Sans"/>
              </a:defRPr>
            </a:lvl2pPr>
            <a:lvl3pPr algn="l">
              <a:defRPr sz="2175" b="0">
                <a:solidFill>
                  <a:srgbClr val="FAFAFA"/>
                </a:solidFill>
                <a:latin typeface="DM Sans"/>
                <a:ea typeface="DM Sans"/>
                <a:cs typeface="DM Sans"/>
              </a:defRPr>
            </a:lvl3pPr>
            <a:lvl4pPr algn="l">
              <a:defRPr sz="2175" b="0">
                <a:solidFill>
                  <a:srgbClr val="FAFAFA"/>
                </a:solidFill>
                <a:latin typeface="DM Sans"/>
                <a:ea typeface="DM Sans"/>
                <a:cs typeface="DM Sans"/>
              </a:defRPr>
            </a:lvl4pPr>
            <a:lvl5pPr algn="l">
              <a:defRPr sz="2175" b="0">
                <a:solidFill>
                  <a:srgbClr val="FAFAFA"/>
                </a:solidFill>
                <a:latin typeface="DM Sans"/>
                <a:ea typeface="DM Sans"/>
                <a:cs typeface="DM Sans"/>
              </a:defRPr>
            </a:lvl5pPr>
            <a:lvl6pPr algn="l">
              <a:defRPr sz="2175" b="0">
                <a:solidFill>
                  <a:srgbClr val="FAFAFA"/>
                </a:solidFill>
                <a:latin typeface="DM Sans"/>
                <a:ea typeface="DM Sans"/>
                <a:cs typeface="DM Sans"/>
              </a:defRPr>
            </a:lvl6pPr>
            <a:lvl7pPr algn="l">
              <a:defRPr sz="2175" b="0">
                <a:solidFill>
                  <a:srgbClr val="FAFAFA"/>
                </a:solidFill>
                <a:latin typeface="DM Sans"/>
                <a:ea typeface="DM Sans"/>
                <a:cs typeface="DM Sans"/>
              </a:defRPr>
            </a:lvl7pPr>
            <a:lvl8pPr algn="l">
              <a:defRPr sz="2175" b="0">
                <a:solidFill>
                  <a:srgbClr val="FAFAFA"/>
                </a:solidFill>
                <a:latin typeface="DM Sans"/>
                <a:ea typeface="DM Sans"/>
                <a:cs typeface="DM Sans"/>
              </a:defRPr>
            </a:lvl8pPr>
            <a:lvl9pPr algn="l">
              <a:defRPr sz="2175" b="0">
                <a:solidFill>
                  <a:srgbClr val="FAFAFA"/>
                </a:solidFill>
                <a:latin typeface="DM Sans"/>
                <a:ea typeface="DM Sans"/>
                <a:cs typeface="DM Sans"/>
              </a:defRPr>
            </a:lvl9pPr>
          </a:lstStyle>
          <a:p xmlns:a="http://schemas.openxmlformats.org/drawingml/2006/main">
            <a:pPr algn="l">
              <a:defRPr sz="2175" b="0">
                <a:solidFill>
                  <a:srgbClr val="FAFAFA"/>
                </a:solidFill>
                <a:latin typeface="DM Sans"/>
                <a:ea typeface="DM Sans"/>
                <a:cs typeface="DM Sans"/>
              </a:defRPr>
            </a:pPr>
            <a:r>
              <a:rPr sz="2175" b="0">
                <a:solidFill>
                  <a:srgbClr val="FAFAFA"/>
                </a:solidFill>
                <a:latin typeface="DM Sans"/>
                <a:ea typeface="DM Sans"/>
                <a:cs typeface="DM Sans"/>
              </a:rPr>
              <a:t>The evidence explorer</a:t>
            </a:r>
          </a:p>
        </p:txBody>
      </p:sp>
      <p:sp>
        <p:nvSpPr>
          <p:cNvPr id="15" name="">
            <a:extLst xmlns:a="http://schemas.openxmlformats.org/drawingml/2006/main">
              <a:ext uri="{FF2B5EF4-FFF2-40B4-BE49-F238E27FC236}">
                <a16:creationId xmlns:a16="http://schemas.microsoft.com/office/drawing/2014/main" id="{E07D500F-9F32-4CAE-928C-5004CD475A49}"/>
              </a:ext>
            </a:extLst>
          </p:cNvPr>
          <p:cNvSpPr>
            <a:spLocks xmlns:a="http://schemas.openxmlformats.org/drawingml/2006/main" noGrp="1"/>
          </p:cNvSpPr>
          <p:nvPr/>
        </p:nvSpPr>
        <p:spPr>
          <a:xfrm xmlns:a="http://schemas.openxmlformats.org/drawingml/2006/main" rot="0">
            <a:off x="11039475" y="4191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FAFAFA"/>
                </a:solidFill>
                <a:latin typeface="DM Sans"/>
                <a:ea typeface="DM Sans"/>
                <a:cs typeface="DM Sans"/>
              </a:defRPr>
            </a:defPPr>
            <a:lvl1pPr algn="r">
              <a:defRPr sz="900" b="0">
                <a:solidFill>
                  <a:srgbClr val="FAFAFA"/>
                </a:solidFill>
                <a:latin typeface="DM Sans"/>
                <a:ea typeface="DM Sans"/>
                <a:cs typeface="DM Sans"/>
              </a:defRPr>
            </a:lvl1pPr>
            <a:lvl2pPr algn="r">
              <a:defRPr sz="900" b="0">
                <a:solidFill>
                  <a:srgbClr val="FAFAFA"/>
                </a:solidFill>
                <a:latin typeface="DM Sans"/>
                <a:ea typeface="DM Sans"/>
                <a:cs typeface="DM Sans"/>
              </a:defRPr>
            </a:lvl2pPr>
            <a:lvl3pPr algn="r">
              <a:defRPr sz="900" b="0">
                <a:solidFill>
                  <a:srgbClr val="FAFAFA"/>
                </a:solidFill>
                <a:latin typeface="DM Sans"/>
                <a:ea typeface="DM Sans"/>
                <a:cs typeface="DM Sans"/>
              </a:defRPr>
            </a:lvl3pPr>
            <a:lvl4pPr algn="r">
              <a:defRPr sz="900" b="0">
                <a:solidFill>
                  <a:srgbClr val="FAFAFA"/>
                </a:solidFill>
                <a:latin typeface="DM Sans"/>
                <a:ea typeface="DM Sans"/>
                <a:cs typeface="DM Sans"/>
              </a:defRPr>
            </a:lvl4pPr>
            <a:lvl5pPr algn="r">
              <a:defRPr sz="900" b="0">
                <a:solidFill>
                  <a:srgbClr val="FAFAFA"/>
                </a:solidFill>
                <a:latin typeface="DM Sans"/>
                <a:ea typeface="DM Sans"/>
                <a:cs typeface="DM Sans"/>
              </a:defRPr>
            </a:lvl5pPr>
            <a:lvl6pPr algn="r">
              <a:defRPr sz="900" b="0">
                <a:solidFill>
                  <a:srgbClr val="FAFAFA"/>
                </a:solidFill>
                <a:latin typeface="DM Sans"/>
                <a:ea typeface="DM Sans"/>
                <a:cs typeface="DM Sans"/>
              </a:defRPr>
            </a:lvl6pPr>
            <a:lvl7pPr algn="r">
              <a:defRPr sz="900" b="0">
                <a:solidFill>
                  <a:srgbClr val="FAFAFA"/>
                </a:solidFill>
                <a:latin typeface="DM Sans"/>
                <a:ea typeface="DM Sans"/>
                <a:cs typeface="DM Sans"/>
              </a:defRPr>
            </a:lvl7pPr>
            <a:lvl8pPr algn="r">
              <a:defRPr sz="900" b="0">
                <a:solidFill>
                  <a:srgbClr val="FAFAFA"/>
                </a:solidFill>
                <a:latin typeface="DM Sans"/>
                <a:ea typeface="DM Sans"/>
                <a:cs typeface="DM Sans"/>
              </a:defRPr>
            </a:lvl8pPr>
            <a:lvl9pPr algn="r">
              <a:defRPr sz="900" b="0">
                <a:solidFill>
                  <a:srgbClr val="FAFAFA"/>
                </a:solidFill>
                <a:latin typeface="DM Sans"/>
                <a:ea typeface="DM Sans"/>
                <a:cs typeface="DM Sans"/>
              </a:defRPr>
            </a:lvl9pPr>
          </a:lstStyle>
          <a:p xmlns:a="http://schemas.openxmlformats.org/drawingml/2006/main">
            <a:pPr algn="r">
              <a:defRPr sz="900" b="0">
                <a:solidFill>
                  <a:srgbClr val="FAFAFA"/>
                </a:solidFill>
                <a:latin typeface="DM Sans"/>
                <a:ea typeface="DM Sans"/>
                <a:cs typeface="DM Sans"/>
              </a:defRPr>
            </a:pPr>
            <a:r>
              <a:rPr sz="900" b="0">
                <a:solidFill>
                  <a:srgbClr val="FAFAFA"/>
                </a:solidFill>
                <a:latin typeface="DM Sans"/>
                <a:ea typeface="DM Sans"/>
                <a:cs typeface="DM Sans"/>
              </a:rPr>
              <a:t>Orecast</a:t>
            </a:r>
          </a:p>
        </p:txBody>
      </p:sp>
      <p:pic>
        <p:nvPicPr>
          <p:cNvPr id="16" name="">
            <a:extLst xmlns:a="http://schemas.openxmlformats.org/drawingml/2006/main">
              <a:ext uri="{FF2B5EF4-FFF2-40B4-BE49-F238E27FC236}">
                <a16:creationId xmlns:a16="http://schemas.microsoft.com/office/drawing/2014/main" id="{F81463F0-49EB-4698-84C2-850F467AEA61}"/>
              </a:ext>
            </a:extLst>
          </p:cNvPr>
          <p:cNvPicPr>
            <a:picLocks xmlns:a="http://schemas.openxmlformats.org/drawingml/2006/main" noChangeAspect="1"/>
          </p:cNvPicPr>
          <p:nvPr/>
        </p:nvPicPr>
        <p:blipFill>
          <a:blip xmlns:r="http://schemas.openxmlformats.org/officeDocument/2006/relationships" xmlns:a="http://schemas.openxmlformats.org/drawingml/2006/main" r:embed="Re036ef73374f4187"/>
          <a:srcRect xmlns:a="http://schemas.openxmlformats.org/drawingml/2006/main" l="11057" t="0" r="11057" b="0"/>
          <a:stretch xmlns:a="http://schemas.openxmlformats.org/drawingml/2006/main">
            <a:fillRect l="0" t="0" r="0" b="0"/>
          </a:stretch>
        </p:blipFill>
        <p:spPr>
          <a:xfrm xmlns:a="http://schemas.openxmlformats.org/drawingml/2006/main">
            <a:off x="6381750" y="1066800"/>
            <a:ext cx="5448300" cy="4857750"/>
          </a:xfrm>
          <a:prstGeom xmlns:a="http://schemas.openxmlformats.org/drawingml/2006/main" prst="roundRect">
            <a:avLst>
              <a:gd name="adj" fmla="val 3137"/>
            </a:avLst>
          </a:prstGeom>
        </p:spPr>
      </p:pic>
      <p:sp>
        <p:nvSpPr>
          <p:cNvPr id="17" name="">
            <a:extLst xmlns:a="http://schemas.openxmlformats.org/drawingml/2006/main">
              <a:ext uri="{FF2B5EF4-FFF2-40B4-BE49-F238E27FC236}">
                <a16:creationId xmlns:a16="http://schemas.microsoft.com/office/drawing/2014/main" id="{C11129CA-A6CA-4051-968C-BECB564A6BD0}"/>
              </a:ext>
            </a:extLst>
          </p:cNvPr>
          <p:cNvSpPr>
            <a:spLocks xmlns:a="http://schemas.openxmlformats.org/drawingml/2006/main" noGrp="1"/>
          </p:cNvSpPr>
          <p:nvPr/>
        </p:nvSpPr>
        <p:spPr>
          <a:xfrm xmlns:a="http://schemas.openxmlformats.org/drawingml/2006/main" rot="0">
            <a:off x="6438900" y="6219825"/>
            <a:ext cx="52387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FAFAFA"/>
                </a:solidFill>
                <a:latin typeface="DM Sans"/>
                <a:ea typeface="DM Sans"/>
                <a:cs typeface="DM Sans"/>
              </a:defRPr>
            </a:defPPr>
            <a:lvl1pPr algn="l">
              <a:defRPr sz="900" b="0">
                <a:solidFill>
                  <a:srgbClr val="FAFAFA"/>
                </a:solidFill>
                <a:latin typeface="DM Sans"/>
                <a:ea typeface="DM Sans"/>
                <a:cs typeface="DM Sans"/>
              </a:defRPr>
            </a:lvl1pPr>
            <a:lvl2pPr algn="l">
              <a:defRPr sz="900" b="0">
                <a:solidFill>
                  <a:srgbClr val="FAFAFA"/>
                </a:solidFill>
                <a:latin typeface="DM Sans"/>
                <a:ea typeface="DM Sans"/>
                <a:cs typeface="DM Sans"/>
              </a:defRPr>
            </a:lvl2pPr>
            <a:lvl3pPr algn="l">
              <a:defRPr sz="900" b="0">
                <a:solidFill>
                  <a:srgbClr val="FAFAFA"/>
                </a:solidFill>
                <a:latin typeface="DM Sans"/>
                <a:ea typeface="DM Sans"/>
                <a:cs typeface="DM Sans"/>
              </a:defRPr>
            </a:lvl3pPr>
            <a:lvl4pPr algn="l">
              <a:defRPr sz="900" b="0">
                <a:solidFill>
                  <a:srgbClr val="FAFAFA"/>
                </a:solidFill>
                <a:latin typeface="DM Sans"/>
                <a:ea typeface="DM Sans"/>
                <a:cs typeface="DM Sans"/>
              </a:defRPr>
            </a:lvl4pPr>
            <a:lvl5pPr algn="l">
              <a:defRPr sz="900" b="0">
                <a:solidFill>
                  <a:srgbClr val="FAFAFA"/>
                </a:solidFill>
                <a:latin typeface="DM Sans"/>
                <a:ea typeface="DM Sans"/>
                <a:cs typeface="DM Sans"/>
              </a:defRPr>
            </a:lvl5pPr>
            <a:lvl6pPr algn="l">
              <a:defRPr sz="900" b="0">
                <a:solidFill>
                  <a:srgbClr val="FAFAFA"/>
                </a:solidFill>
                <a:latin typeface="DM Sans"/>
                <a:ea typeface="DM Sans"/>
                <a:cs typeface="DM Sans"/>
              </a:defRPr>
            </a:lvl6pPr>
            <a:lvl7pPr algn="l">
              <a:defRPr sz="900" b="0">
                <a:solidFill>
                  <a:srgbClr val="FAFAFA"/>
                </a:solidFill>
                <a:latin typeface="DM Sans"/>
                <a:ea typeface="DM Sans"/>
                <a:cs typeface="DM Sans"/>
              </a:defRPr>
            </a:lvl7pPr>
            <a:lvl8pPr algn="l">
              <a:defRPr sz="900" b="0">
                <a:solidFill>
                  <a:srgbClr val="FAFAFA"/>
                </a:solidFill>
                <a:latin typeface="DM Sans"/>
                <a:ea typeface="DM Sans"/>
                <a:cs typeface="DM Sans"/>
              </a:defRPr>
            </a:lvl8pPr>
            <a:lvl9pPr algn="l">
              <a:defRPr sz="900" b="0">
                <a:solidFill>
                  <a:srgbClr val="FAFAFA"/>
                </a:solidFill>
                <a:latin typeface="DM Sans"/>
                <a:ea typeface="DM Sans"/>
                <a:cs typeface="DM Sans"/>
              </a:defRPr>
            </a:lvl9pPr>
          </a:lstStyle>
          <a:p xmlns:a="http://schemas.openxmlformats.org/drawingml/2006/main">
            <a:pPr algn="l">
              <a:defRPr sz="900" b="0">
                <a:solidFill>
                  <a:srgbClr val="FAFAFA"/>
                </a:solidFill>
                <a:latin typeface="DM Sans"/>
                <a:ea typeface="DM Sans"/>
                <a:cs typeface="DM Sans"/>
              </a:defRPr>
            </a:pPr>
            <a:r>
              <a:rPr sz="900" b="0">
                <a:solidFill>
                  <a:srgbClr val="FAFAFA"/>
                </a:solidFill>
                <a:latin typeface="DM Sans"/>
                <a:ea typeface="DM Sans"/>
                <a:cs typeface="DM Sans"/>
              </a:rPr>
              <a:t>Alaska DGGS RDF 2016-10. Comparison areas, not available listings.</a:t>
            </a:r>
          </a:p>
        </p:txBody>
      </p:sp>
    </p:spTree>
    <p:extLst>
      <p:ext uri="{BB962C8B-B14F-4D97-AF65-F5344CB8AC3E}">
        <p14:creationId xmlns:p14="http://schemas.microsoft.com/office/powerpoint/2010/main" val="1817432798"/>
      </p:ext>
    </p:extLst>
  </p:cSld>
</p:sld>
</file>

<file path=ppt/slides/slide4.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04" name="">
            <a:extLst xmlns:a="http://schemas.openxmlformats.org/drawingml/2006/main">
              <a:ext uri="{FF2B5EF4-FFF2-40B4-BE49-F238E27FC236}">
                <a16:creationId xmlns:a16="http://schemas.microsoft.com/office/drawing/2014/main" id="{0828B3F3-DA65-411F-AAA3-16024F6FAF4C}"/>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F8D50E0D-AE78-4500-A8A2-2925207DBC1F}"/>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03</a:t>
            </a:r>
          </a:p>
        </p:txBody>
      </p:sp>
      <p:sp>
        <p:nvSpPr>
          <p:cNvPr id="3" name="">
            <a:extLst xmlns:a="http://schemas.openxmlformats.org/drawingml/2006/main">
              <a:ext uri="{FF2B5EF4-FFF2-40B4-BE49-F238E27FC236}">
                <a16:creationId xmlns:a16="http://schemas.microsoft.com/office/drawing/2014/main" id="{48DE7E59-B054-44D4-AA10-BA03DB81C783}"/>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105BD83F-834F-4C11-9996-BA21616D025B}"/>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D3FCF878-1FDF-4C1A-9C55-FB4FC718C1D0}"/>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50CCAAA9-194F-4A30-B2AF-63AB1A903BBB}"/>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Algorithm</a:t>
            </a:r>
          </a:p>
        </p:txBody>
      </p:sp>
      <p:sp>
        <p:nvSpPr>
          <p:cNvPr id="7" name="">
            <a:extLst xmlns:a="http://schemas.openxmlformats.org/drawingml/2006/main">
              <a:ext uri="{FF2B5EF4-FFF2-40B4-BE49-F238E27FC236}">
                <a16:creationId xmlns:a16="http://schemas.microsoft.com/office/drawing/2014/main" id="{34B530C8-E44F-4041-AC4F-3CC32BDA784D}"/>
              </a:ext>
            </a:extLst>
          </p:cNvPr>
          <p:cNvSpPr>
            <a:spLocks xmlns:a="http://schemas.openxmlformats.org/drawingml/2006/main" noGrp="1"/>
          </p:cNvSpPr>
          <p:nvPr/>
        </p:nvSpPr>
        <p:spPr>
          <a:xfrm xmlns:a="http://schemas.openxmlformats.org/drawingml/2006/main" rot="0">
            <a:off x="11039475" y="4191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0A0A0A"/>
                </a:solidFill>
                <a:latin typeface="DM Sans"/>
                <a:ea typeface="DM Sans"/>
                <a:cs typeface="DM Sans"/>
              </a:defRPr>
            </a:defPPr>
            <a:lvl1pPr algn="r">
              <a:defRPr sz="900" b="0">
                <a:solidFill>
                  <a:srgbClr val="0A0A0A"/>
                </a:solidFill>
                <a:latin typeface="DM Sans"/>
                <a:ea typeface="DM Sans"/>
                <a:cs typeface="DM Sans"/>
              </a:defRPr>
            </a:lvl1pPr>
            <a:lvl2pPr algn="r">
              <a:defRPr sz="900" b="0">
                <a:solidFill>
                  <a:srgbClr val="0A0A0A"/>
                </a:solidFill>
                <a:latin typeface="DM Sans"/>
                <a:ea typeface="DM Sans"/>
                <a:cs typeface="DM Sans"/>
              </a:defRPr>
            </a:lvl2pPr>
            <a:lvl3pPr algn="r">
              <a:defRPr sz="900" b="0">
                <a:solidFill>
                  <a:srgbClr val="0A0A0A"/>
                </a:solidFill>
                <a:latin typeface="DM Sans"/>
                <a:ea typeface="DM Sans"/>
                <a:cs typeface="DM Sans"/>
              </a:defRPr>
            </a:lvl3pPr>
            <a:lvl4pPr algn="r">
              <a:defRPr sz="900" b="0">
                <a:solidFill>
                  <a:srgbClr val="0A0A0A"/>
                </a:solidFill>
                <a:latin typeface="DM Sans"/>
                <a:ea typeface="DM Sans"/>
                <a:cs typeface="DM Sans"/>
              </a:defRPr>
            </a:lvl4pPr>
            <a:lvl5pPr algn="r">
              <a:defRPr sz="900" b="0">
                <a:solidFill>
                  <a:srgbClr val="0A0A0A"/>
                </a:solidFill>
                <a:latin typeface="DM Sans"/>
                <a:ea typeface="DM Sans"/>
                <a:cs typeface="DM Sans"/>
              </a:defRPr>
            </a:lvl5pPr>
            <a:lvl6pPr algn="r">
              <a:defRPr sz="900" b="0">
                <a:solidFill>
                  <a:srgbClr val="0A0A0A"/>
                </a:solidFill>
                <a:latin typeface="DM Sans"/>
                <a:ea typeface="DM Sans"/>
                <a:cs typeface="DM Sans"/>
              </a:defRPr>
            </a:lvl6pPr>
            <a:lvl7pPr algn="r">
              <a:defRPr sz="900" b="0">
                <a:solidFill>
                  <a:srgbClr val="0A0A0A"/>
                </a:solidFill>
                <a:latin typeface="DM Sans"/>
                <a:ea typeface="DM Sans"/>
                <a:cs typeface="DM Sans"/>
              </a:defRPr>
            </a:lvl7pPr>
            <a:lvl8pPr algn="r">
              <a:defRPr sz="900" b="0">
                <a:solidFill>
                  <a:srgbClr val="0A0A0A"/>
                </a:solidFill>
                <a:latin typeface="DM Sans"/>
                <a:ea typeface="DM Sans"/>
                <a:cs typeface="DM Sans"/>
              </a:defRPr>
            </a:lvl8pPr>
            <a:lvl9pPr algn="r">
              <a:defRPr sz="900" b="0">
                <a:solidFill>
                  <a:srgbClr val="0A0A0A"/>
                </a:solidFill>
                <a:latin typeface="DM Sans"/>
                <a:ea typeface="DM Sans"/>
                <a:cs typeface="DM Sans"/>
              </a:defRPr>
            </a:lvl9pPr>
          </a:lstStyle>
          <a:p xmlns:a="http://schemas.openxmlformats.org/drawingml/2006/main">
            <a:pPr algn="r">
              <a:defRPr sz="900" b="0">
                <a:solidFill>
                  <a:srgbClr val="0A0A0A"/>
                </a:solidFill>
                <a:latin typeface="DM Sans"/>
                <a:ea typeface="DM Sans"/>
                <a:cs typeface="DM Sans"/>
              </a:defRPr>
            </a:pPr>
            <a:r>
              <a:rPr sz="900" b="0">
                <a:solidFill>
                  <a:srgbClr val="0A0A0A"/>
                </a:solidFill>
                <a:latin typeface="DM Sans"/>
                <a:ea typeface="DM Sans"/>
                <a:cs typeface="DM Sans"/>
              </a:rPr>
              <a:t>Orecast</a:t>
            </a:r>
          </a:p>
        </p:txBody>
      </p:sp>
      <p:pic>
        <p:nvPicPr>
          <p:cNvPr id="8" name="">
            <a:extLst xmlns:a="http://schemas.openxmlformats.org/drawingml/2006/main">
              <a:ext uri="{FF2B5EF4-FFF2-40B4-BE49-F238E27FC236}">
                <a16:creationId xmlns:a16="http://schemas.microsoft.com/office/drawing/2014/main" id="{DCF8EB99-2F10-41D0-9943-5A4B27237923}"/>
              </a:ext>
            </a:extLst>
          </p:cNvPr>
          <p:cNvPicPr>
            <a:picLocks xmlns:a="http://schemas.openxmlformats.org/drawingml/2006/main" noChangeAspect="1"/>
          </p:cNvPicPr>
          <p:nvPr/>
        </p:nvPicPr>
        <p:blipFill>
          <a:blip xmlns:r="http://schemas.openxmlformats.org/officeDocument/2006/relationships" xmlns:a="http://schemas.openxmlformats.org/drawingml/2006/main" r:embed="R298b74bc9fe946d7"/>
          <a:srcRect xmlns:a="http://schemas.openxmlformats.org/drawingml/2006/main" l="0" t="17874" r="0" b="17874"/>
          <a:stretch xmlns:a="http://schemas.openxmlformats.org/drawingml/2006/main">
            <a:fillRect l="0" t="0" r="0" b="0"/>
          </a:stretch>
        </p:blipFill>
        <p:spPr>
          <a:xfrm xmlns:a="http://schemas.openxmlformats.org/drawingml/2006/main">
            <a:off x="2552700" y="0"/>
            <a:ext cx="2647950" cy="1438275"/>
          </a:xfrm>
          <a:prstGeom xmlns:a="http://schemas.openxmlformats.org/drawingml/2006/main" prst="roundRect">
            <a:avLst>
              <a:gd name="adj" fmla="val 15894"/>
            </a:avLst>
          </a:prstGeom>
        </p:spPr>
      </p:pic>
      <p:sp>
        <p:nvSpPr>
          <p:cNvPr id="9" name="">
            <a:extLst xmlns:a="http://schemas.openxmlformats.org/drawingml/2006/main">
              <a:ext uri="{FF2B5EF4-FFF2-40B4-BE49-F238E27FC236}">
                <a16:creationId xmlns:a16="http://schemas.microsoft.com/office/drawing/2014/main" id="{498D591E-0D6E-4BAC-90DF-A9809AF11D63}"/>
              </a:ext>
            </a:extLst>
          </p:cNvPr>
          <p:cNvSpPr>
            <a:spLocks xmlns:a="http://schemas.openxmlformats.org/drawingml/2006/main" noGrp="1"/>
          </p:cNvSpPr>
          <p:nvPr/>
        </p:nvSpPr>
        <p:spPr>
          <a:xfrm xmlns:a="http://schemas.openxmlformats.org/drawingml/2006/main" rot="0">
            <a:off x="400050" y="2038350"/>
            <a:ext cx="4857750" cy="2200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0A0A0A"/>
                </a:solidFill>
                <a:latin typeface="DM Sans"/>
                <a:ea typeface="DM Sans"/>
                <a:cs typeface="DM Sans"/>
              </a:defRPr>
            </a:defPPr>
            <a:lvl1pPr algn="l">
              <a:defRPr sz="2775" b="0">
                <a:solidFill>
                  <a:srgbClr val="0A0A0A"/>
                </a:solidFill>
                <a:latin typeface="DM Sans"/>
                <a:ea typeface="DM Sans"/>
                <a:cs typeface="DM Sans"/>
              </a:defRPr>
            </a:lvl1pPr>
            <a:lvl2pPr algn="l">
              <a:defRPr sz="2775" b="0">
                <a:solidFill>
                  <a:srgbClr val="0A0A0A"/>
                </a:solidFill>
                <a:latin typeface="DM Sans"/>
                <a:ea typeface="DM Sans"/>
                <a:cs typeface="DM Sans"/>
              </a:defRPr>
            </a:lvl2pPr>
            <a:lvl3pPr algn="l">
              <a:defRPr sz="2775" b="0">
                <a:solidFill>
                  <a:srgbClr val="0A0A0A"/>
                </a:solidFill>
                <a:latin typeface="DM Sans"/>
                <a:ea typeface="DM Sans"/>
                <a:cs typeface="DM Sans"/>
              </a:defRPr>
            </a:lvl3pPr>
            <a:lvl4pPr algn="l">
              <a:defRPr sz="2775" b="0">
                <a:solidFill>
                  <a:srgbClr val="0A0A0A"/>
                </a:solidFill>
                <a:latin typeface="DM Sans"/>
                <a:ea typeface="DM Sans"/>
                <a:cs typeface="DM Sans"/>
              </a:defRPr>
            </a:lvl4pPr>
            <a:lvl5pPr algn="l">
              <a:defRPr sz="2775" b="0">
                <a:solidFill>
                  <a:srgbClr val="0A0A0A"/>
                </a:solidFill>
                <a:latin typeface="DM Sans"/>
                <a:ea typeface="DM Sans"/>
                <a:cs typeface="DM Sans"/>
              </a:defRPr>
            </a:lvl5pPr>
            <a:lvl6pPr algn="l">
              <a:defRPr sz="2775" b="0">
                <a:solidFill>
                  <a:srgbClr val="0A0A0A"/>
                </a:solidFill>
                <a:latin typeface="DM Sans"/>
                <a:ea typeface="DM Sans"/>
                <a:cs typeface="DM Sans"/>
              </a:defRPr>
            </a:lvl6pPr>
            <a:lvl7pPr algn="l">
              <a:defRPr sz="2775" b="0">
                <a:solidFill>
                  <a:srgbClr val="0A0A0A"/>
                </a:solidFill>
                <a:latin typeface="DM Sans"/>
                <a:ea typeface="DM Sans"/>
                <a:cs typeface="DM Sans"/>
              </a:defRPr>
            </a:lvl7pPr>
            <a:lvl8pPr algn="l">
              <a:defRPr sz="2775" b="0">
                <a:solidFill>
                  <a:srgbClr val="0A0A0A"/>
                </a:solidFill>
                <a:latin typeface="DM Sans"/>
                <a:ea typeface="DM Sans"/>
                <a:cs typeface="DM Sans"/>
              </a:defRPr>
            </a:lvl8pPr>
            <a:lvl9pPr algn="l">
              <a:defRPr sz="2775" b="0">
                <a:solidFill>
                  <a:srgbClr val="0A0A0A"/>
                </a:solidFill>
                <a:latin typeface="DM Sans"/>
                <a:ea typeface="DM Sans"/>
                <a:cs typeface="DM Sans"/>
              </a:defRPr>
            </a:lvl9pPr>
          </a:lstStyle>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Orecast adjusts the</a:t>
            </a:r>
          </a:p>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gold forecast, then</a:t>
            </a:r>
          </a:p>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recomputes mineral</a:t>
            </a:r>
          </a:p>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and interest value,</a:t>
            </a:r>
          </a:p>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assignment and cash.</a:t>
            </a:r>
          </a:p>
        </p:txBody>
      </p:sp>
      <p:sp>
        <p:nvSpPr>
          <p:cNvPr id="10" name="">
            <a:extLst xmlns:a="http://schemas.openxmlformats.org/drawingml/2006/main">
              <a:ext uri="{FF2B5EF4-FFF2-40B4-BE49-F238E27FC236}">
                <a16:creationId xmlns:a16="http://schemas.microsoft.com/office/drawing/2014/main" id="{89A57531-6F39-4782-BFCF-1666F95D66E8}"/>
              </a:ext>
            </a:extLst>
          </p:cNvPr>
          <p:cNvSpPr>
            <a:spLocks xmlns:a="http://schemas.openxmlformats.org/drawingml/2006/main" noGrp="1"/>
          </p:cNvSpPr>
          <p:nvPr/>
        </p:nvSpPr>
        <p:spPr>
          <a:xfrm xmlns:a="http://schemas.openxmlformats.org/drawingml/2006/main" rot="0">
            <a:off x="400050" y="4819650"/>
            <a:ext cx="485775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0">
                <a:solidFill>
                  <a:srgbClr val="0A0A0A"/>
                </a:solidFill>
                <a:latin typeface="DM Sans"/>
                <a:ea typeface="DM Sans"/>
                <a:cs typeface="DM Sans"/>
              </a:defRPr>
            </a:defPPr>
            <a:lvl1pPr algn="l">
              <a:defRPr sz="1575" b="0">
                <a:solidFill>
                  <a:srgbClr val="0A0A0A"/>
                </a:solidFill>
                <a:latin typeface="DM Sans"/>
                <a:ea typeface="DM Sans"/>
                <a:cs typeface="DM Sans"/>
              </a:defRPr>
            </a:lvl1pPr>
            <a:lvl2pPr algn="l">
              <a:defRPr sz="1575" b="0">
                <a:solidFill>
                  <a:srgbClr val="0A0A0A"/>
                </a:solidFill>
                <a:latin typeface="DM Sans"/>
                <a:ea typeface="DM Sans"/>
                <a:cs typeface="DM Sans"/>
              </a:defRPr>
            </a:lvl2pPr>
            <a:lvl3pPr algn="l">
              <a:defRPr sz="1575" b="0">
                <a:solidFill>
                  <a:srgbClr val="0A0A0A"/>
                </a:solidFill>
                <a:latin typeface="DM Sans"/>
                <a:ea typeface="DM Sans"/>
                <a:cs typeface="DM Sans"/>
              </a:defRPr>
            </a:lvl3pPr>
            <a:lvl4pPr algn="l">
              <a:defRPr sz="1575" b="0">
                <a:solidFill>
                  <a:srgbClr val="0A0A0A"/>
                </a:solidFill>
                <a:latin typeface="DM Sans"/>
                <a:ea typeface="DM Sans"/>
                <a:cs typeface="DM Sans"/>
              </a:defRPr>
            </a:lvl4pPr>
            <a:lvl5pPr algn="l">
              <a:defRPr sz="1575" b="0">
                <a:solidFill>
                  <a:srgbClr val="0A0A0A"/>
                </a:solidFill>
                <a:latin typeface="DM Sans"/>
                <a:ea typeface="DM Sans"/>
                <a:cs typeface="DM Sans"/>
              </a:defRPr>
            </a:lvl5pPr>
            <a:lvl6pPr algn="l">
              <a:defRPr sz="1575" b="0">
                <a:solidFill>
                  <a:srgbClr val="0A0A0A"/>
                </a:solidFill>
                <a:latin typeface="DM Sans"/>
                <a:ea typeface="DM Sans"/>
                <a:cs typeface="DM Sans"/>
              </a:defRPr>
            </a:lvl6pPr>
            <a:lvl7pPr algn="l">
              <a:defRPr sz="1575" b="0">
                <a:solidFill>
                  <a:srgbClr val="0A0A0A"/>
                </a:solidFill>
                <a:latin typeface="DM Sans"/>
                <a:ea typeface="DM Sans"/>
                <a:cs typeface="DM Sans"/>
              </a:defRPr>
            </a:lvl7pPr>
            <a:lvl8pPr algn="l">
              <a:defRPr sz="1575" b="0">
                <a:solidFill>
                  <a:srgbClr val="0A0A0A"/>
                </a:solidFill>
                <a:latin typeface="DM Sans"/>
                <a:ea typeface="DM Sans"/>
                <a:cs typeface="DM Sans"/>
              </a:defRPr>
            </a:lvl8pPr>
            <a:lvl9pPr algn="l">
              <a:defRPr sz="1575" b="0">
                <a:solidFill>
                  <a:srgbClr val="0A0A0A"/>
                </a:solidFill>
                <a:latin typeface="DM Sans"/>
                <a:ea typeface="DM Sans"/>
                <a:cs typeface="DM Sans"/>
              </a:defRPr>
            </a:lvl9pPr>
          </a:lstStyle>
          <a:p xmlns:a="http://schemas.openxmlformats.org/drawingml/2006/main">
            <a:pPr algn="l">
              <a:defRPr sz="1575" b="0">
                <a:solidFill>
                  <a:srgbClr val="0A0A0A"/>
                </a:solidFill>
                <a:latin typeface="DM Sans"/>
                <a:ea typeface="DM Sans"/>
                <a:cs typeface="DM Sans"/>
              </a:defRPr>
            </a:pPr>
            <a:r>
              <a:rPr sz="1575" b="0">
                <a:solidFill>
                  <a:srgbClr val="0A0A0A"/>
                </a:solidFill>
                <a:latin typeface="DM Sans"/>
                <a:ea typeface="DM Sans"/>
                <a:cs typeface="DM Sans"/>
              </a:rPr>
              <a:t>Observed assays screen evidence.</a:t>
            </a:r>
          </a:p>
          <a:p xmlns:a="http://schemas.openxmlformats.org/drawingml/2006/main">
            <a:pPr algn="l">
              <a:defRPr sz="1575" b="0">
                <a:solidFill>
                  <a:srgbClr val="0A0A0A"/>
                </a:solidFill>
                <a:latin typeface="DM Sans"/>
                <a:ea typeface="DM Sans"/>
                <a:cs typeface="DM Sans"/>
              </a:defRPr>
            </a:pPr>
            <a:r>
              <a:rPr sz="1575" b="0">
                <a:solidFill>
                  <a:srgbClr val="0A0A0A"/>
                </a:solidFill>
                <a:latin typeface="DM Sans"/>
                <a:ea typeface="DM Sans"/>
                <a:cs typeface="DM Sans"/>
              </a:rPr>
              <a:t>The synthetic exposure stays fixed.</a:t>
            </a:r>
          </a:p>
          <a:p xmlns:a="http://schemas.openxmlformats.org/drawingml/2006/main">
            <a:pPr algn="l">
              <a:defRPr sz="1575" b="0">
                <a:solidFill>
                  <a:srgbClr val="0A0A0A"/>
                </a:solidFill>
                <a:latin typeface="DM Sans"/>
                <a:ea typeface="DM Sans"/>
                <a:cs typeface="DM Sans"/>
              </a:defRPr>
            </a:pPr>
            <a:r>
              <a:rPr sz="1575" b="0">
                <a:solidFill>
                  <a:srgbClr val="0A0A0A"/>
                </a:solidFill>
                <a:latin typeface="DM Sans"/>
                <a:ea typeface="DM Sans"/>
                <a:cs typeface="DM Sans"/>
              </a:rPr>
              <a:t>Gold response, fees and liquidity are assumed.</a:t>
            </a:r>
          </a:p>
        </p:txBody>
      </p:sp>
      <p:sp>
        <p:nvSpPr>
          <p:cNvPr id="11" name="">
            <a:extLst xmlns:a="http://schemas.openxmlformats.org/drawingml/2006/main">
              <a:ext uri="{FF2B5EF4-FFF2-40B4-BE49-F238E27FC236}">
                <a16:creationId xmlns:a16="http://schemas.microsoft.com/office/drawing/2014/main" id="{C6EBBA4E-7524-419E-9EB8-3A671786EA70}"/>
              </a:ext>
            </a:extLst>
          </p:cNvPr>
          <p:cNvSpPr>
            <a:spLocks xmlns:a="http://schemas.openxmlformats.org/drawingml/2006/main" noGrp="1"/>
          </p:cNvSpPr>
          <p:nvPr/>
        </p:nvSpPr>
        <p:spPr>
          <a:xfrm xmlns:a="http://schemas.openxmlformats.org/drawingml/2006/main">
            <a:off x="5581650" y="4419600"/>
            <a:ext cx="4895850" cy="1866900"/>
          </a:xfrm>
          <a:custGeom xmlns:a="http://schemas.openxmlformats.org/drawingml/2006/main">
            <a:pathLst>
              <a:path w="4895850" h="1866900">
                <a:moveTo>
                  <a:pt x="2447925" y="0"/>
                </a:moveTo>
                <a:lnTo>
                  <a:pt x="4895850" y="933450"/>
                </a:lnTo>
                <a:lnTo>
                  <a:pt x="2447925" y="1866900"/>
                </a:lnTo>
                <a:lnTo>
                  <a:pt x="0" y="933450"/>
                </a:lnTo>
                <a:close/>
              </a:path>
            </a:pathLst>
          </a:custGeom>
          <a:solidFill xmlns:a="http://schemas.openxmlformats.org/drawingml/2006/main">
            <a:srgbClr val="FAFAFA"/>
          </a:solidFill>
          <a:ln xmlns:a="http://schemas.openxmlformats.org/drawingml/2006/main" w="7144">
            <a:solidFill>
              <a:srgbClr val="0A0A0A"/>
            </a:solidFill>
            <a:prstDash val="solid"/>
          </a:ln>
        </p:spPr>
      </p:sp>
      <p:sp>
        <p:nvSpPr>
          <p:cNvPr id="12" name="">
            <a:extLst xmlns:a="http://schemas.openxmlformats.org/drawingml/2006/main">
              <a:ext uri="{FF2B5EF4-FFF2-40B4-BE49-F238E27FC236}">
                <a16:creationId xmlns:a16="http://schemas.microsoft.com/office/drawing/2014/main" id="{EAC66B14-0009-48EB-88AE-703E1E0D84AF}"/>
              </a:ext>
            </a:extLst>
          </p:cNvPr>
          <p:cNvSpPr>
            <a:spLocks xmlns:a="http://schemas.openxmlformats.org/drawingml/2006/main" noGrp="1"/>
          </p:cNvSpPr>
          <p:nvPr/>
        </p:nvSpPr>
        <p:spPr>
          <a:xfrm xmlns:a="http://schemas.openxmlformats.org/drawingml/2006/main">
            <a:off x="7539990" y="4606290"/>
            <a:ext cx="2447925" cy="933450"/>
          </a:xfrm>
          <a:custGeom xmlns:a="http://schemas.openxmlformats.org/drawingml/2006/main">
            <a:pathLst>
              <a:path w="2447925" h="933450">
                <a:moveTo>
                  <a:pt x="0" y="0"/>
                </a:moveTo>
                <a:lnTo>
                  <a:pt x="2447925" y="933450"/>
                </a:lnTo>
              </a:path>
            </a:pathLst>
          </a:custGeom>
          <a:noFill xmlns:a="http://schemas.openxmlformats.org/drawingml/2006/main"/>
          <a:ln xmlns:a="http://schemas.openxmlformats.org/drawingml/2006/main" w="3334">
            <a:solidFill>
              <a:srgbClr val="B6B6B6"/>
            </a:solidFill>
            <a:prstDash val="solid"/>
          </a:ln>
        </p:spPr>
      </p:sp>
      <p:sp>
        <p:nvSpPr>
          <p:cNvPr id="13" name="">
            <a:extLst xmlns:a="http://schemas.openxmlformats.org/drawingml/2006/main">
              <a:ext uri="{FF2B5EF4-FFF2-40B4-BE49-F238E27FC236}">
                <a16:creationId xmlns:a16="http://schemas.microsoft.com/office/drawing/2014/main" id="{7BF30C59-EA49-4217-A328-CAC7FD7A34C8}"/>
              </a:ext>
            </a:extLst>
          </p:cNvPr>
          <p:cNvSpPr>
            <a:spLocks xmlns:a="http://schemas.openxmlformats.org/drawingml/2006/main" noGrp="1"/>
          </p:cNvSpPr>
          <p:nvPr/>
        </p:nvSpPr>
        <p:spPr>
          <a:xfrm xmlns:a="http://schemas.openxmlformats.org/drawingml/2006/main">
            <a:off x="6071235" y="4606290"/>
            <a:ext cx="2447925" cy="933450"/>
          </a:xfrm>
          <a:custGeom xmlns:a="http://schemas.openxmlformats.org/drawingml/2006/main">
            <a:pathLst>
              <a:path w="2447925" h="933450">
                <a:moveTo>
                  <a:pt x="2447925" y="0"/>
                </a:moveTo>
                <a:lnTo>
                  <a:pt x="0" y="933450"/>
                </a:lnTo>
              </a:path>
            </a:pathLst>
          </a:custGeom>
          <a:noFill xmlns:a="http://schemas.openxmlformats.org/drawingml/2006/main"/>
          <a:ln xmlns:a="http://schemas.openxmlformats.org/drawingml/2006/main" w="3334">
            <a:solidFill>
              <a:srgbClr val="B6B6B6"/>
            </a:solidFill>
            <a:prstDash val="solid"/>
          </a:ln>
        </p:spPr>
      </p:sp>
      <p:sp>
        <p:nvSpPr>
          <p:cNvPr id="14" name="">
            <a:extLst xmlns:a="http://schemas.openxmlformats.org/drawingml/2006/main">
              <a:ext uri="{FF2B5EF4-FFF2-40B4-BE49-F238E27FC236}">
                <a16:creationId xmlns:a16="http://schemas.microsoft.com/office/drawing/2014/main" id="{F29F783C-BD01-4C95-BD2C-BAC751516AAE}"/>
              </a:ext>
            </a:extLst>
          </p:cNvPr>
          <p:cNvSpPr>
            <a:spLocks xmlns:a="http://schemas.openxmlformats.org/drawingml/2006/main" noGrp="1"/>
          </p:cNvSpPr>
          <p:nvPr/>
        </p:nvSpPr>
        <p:spPr>
          <a:xfrm xmlns:a="http://schemas.openxmlformats.org/drawingml/2006/main">
            <a:off x="7050405" y="4792980"/>
            <a:ext cx="2447925" cy="933450"/>
          </a:xfrm>
          <a:custGeom xmlns:a="http://schemas.openxmlformats.org/drawingml/2006/main">
            <a:pathLst>
              <a:path w="2447925" h="933450">
                <a:moveTo>
                  <a:pt x="0" y="0"/>
                </a:moveTo>
                <a:lnTo>
                  <a:pt x="2447925" y="933450"/>
                </a:lnTo>
              </a:path>
            </a:pathLst>
          </a:custGeom>
          <a:noFill xmlns:a="http://schemas.openxmlformats.org/drawingml/2006/main"/>
          <a:ln xmlns:a="http://schemas.openxmlformats.org/drawingml/2006/main" w="3334">
            <a:solidFill>
              <a:srgbClr val="B6B6B6"/>
            </a:solidFill>
            <a:prstDash val="solid"/>
          </a:ln>
        </p:spPr>
      </p:sp>
      <p:sp>
        <p:nvSpPr>
          <p:cNvPr id="15" name="">
            <a:extLst xmlns:a="http://schemas.openxmlformats.org/drawingml/2006/main">
              <a:ext uri="{FF2B5EF4-FFF2-40B4-BE49-F238E27FC236}">
                <a16:creationId xmlns:a16="http://schemas.microsoft.com/office/drawing/2014/main" id="{A64CFFD2-7FA9-4D73-B56E-3FE7A9982821}"/>
              </a:ext>
            </a:extLst>
          </p:cNvPr>
          <p:cNvSpPr>
            <a:spLocks xmlns:a="http://schemas.openxmlformats.org/drawingml/2006/main" noGrp="1"/>
          </p:cNvSpPr>
          <p:nvPr/>
        </p:nvSpPr>
        <p:spPr>
          <a:xfrm xmlns:a="http://schemas.openxmlformats.org/drawingml/2006/main">
            <a:off x="6560820" y="4792980"/>
            <a:ext cx="2447925" cy="933450"/>
          </a:xfrm>
          <a:custGeom xmlns:a="http://schemas.openxmlformats.org/drawingml/2006/main">
            <a:pathLst>
              <a:path w="2447925" h="933450">
                <a:moveTo>
                  <a:pt x="2447925" y="0"/>
                </a:moveTo>
                <a:lnTo>
                  <a:pt x="0" y="933450"/>
                </a:lnTo>
              </a:path>
            </a:pathLst>
          </a:custGeom>
          <a:noFill xmlns:a="http://schemas.openxmlformats.org/drawingml/2006/main"/>
          <a:ln xmlns:a="http://schemas.openxmlformats.org/drawingml/2006/main" w="3334">
            <a:solidFill>
              <a:srgbClr val="B6B6B6"/>
            </a:solidFill>
            <a:prstDash val="solid"/>
          </a:ln>
        </p:spPr>
      </p:sp>
      <p:sp>
        <p:nvSpPr>
          <p:cNvPr id="16" name="">
            <a:extLst xmlns:a="http://schemas.openxmlformats.org/drawingml/2006/main">
              <a:ext uri="{FF2B5EF4-FFF2-40B4-BE49-F238E27FC236}">
                <a16:creationId xmlns:a16="http://schemas.microsoft.com/office/drawing/2014/main" id="{16B29D4A-395B-45D3-AFB4-C288480E03CC}"/>
              </a:ext>
            </a:extLst>
          </p:cNvPr>
          <p:cNvSpPr>
            <a:spLocks xmlns:a="http://schemas.openxmlformats.org/drawingml/2006/main" noGrp="1"/>
          </p:cNvSpPr>
          <p:nvPr/>
        </p:nvSpPr>
        <p:spPr>
          <a:xfrm xmlns:a="http://schemas.openxmlformats.org/drawingml/2006/main">
            <a:off x="6560820" y="4979670"/>
            <a:ext cx="2447925" cy="933450"/>
          </a:xfrm>
          <a:custGeom xmlns:a="http://schemas.openxmlformats.org/drawingml/2006/main">
            <a:pathLst>
              <a:path w="2447925" h="933450">
                <a:moveTo>
                  <a:pt x="0" y="0"/>
                </a:moveTo>
                <a:lnTo>
                  <a:pt x="2447925" y="933450"/>
                </a:lnTo>
              </a:path>
            </a:pathLst>
          </a:custGeom>
          <a:noFill xmlns:a="http://schemas.openxmlformats.org/drawingml/2006/main"/>
          <a:ln xmlns:a="http://schemas.openxmlformats.org/drawingml/2006/main" w="3334">
            <a:solidFill>
              <a:srgbClr val="B6B6B6"/>
            </a:solidFill>
            <a:prstDash val="solid"/>
          </a:ln>
        </p:spPr>
      </p:sp>
      <p:sp>
        <p:nvSpPr>
          <p:cNvPr id="17" name="">
            <a:extLst xmlns:a="http://schemas.openxmlformats.org/drawingml/2006/main">
              <a:ext uri="{FF2B5EF4-FFF2-40B4-BE49-F238E27FC236}">
                <a16:creationId xmlns:a16="http://schemas.microsoft.com/office/drawing/2014/main" id="{B688839B-ED13-4C29-9D79-EEF8F3258953}"/>
              </a:ext>
            </a:extLst>
          </p:cNvPr>
          <p:cNvSpPr>
            <a:spLocks xmlns:a="http://schemas.openxmlformats.org/drawingml/2006/main" noGrp="1"/>
          </p:cNvSpPr>
          <p:nvPr/>
        </p:nvSpPr>
        <p:spPr>
          <a:xfrm xmlns:a="http://schemas.openxmlformats.org/drawingml/2006/main">
            <a:off x="7050405" y="4979670"/>
            <a:ext cx="2447925" cy="933450"/>
          </a:xfrm>
          <a:custGeom xmlns:a="http://schemas.openxmlformats.org/drawingml/2006/main">
            <a:pathLst>
              <a:path w="2447925" h="933450">
                <a:moveTo>
                  <a:pt x="2447925" y="0"/>
                </a:moveTo>
                <a:lnTo>
                  <a:pt x="0" y="933450"/>
                </a:lnTo>
              </a:path>
            </a:pathLst>
          </a:custGeom>
          <a:noFill xmlns:a="http://schemas.openxmlformats.org/drawingml/2006/main"/>
          <a:ln xmlns:a="http://schemas.openxmlformats.org/drawingml/2006/main" w="3334">
            <a:solidFill>
              <a:srgbClr val="B6B6B6"/>
            </a:solidFill>
            <a:prstDash val="solid"/>
          </a:ln>
        </p:spPr>
      </p:sp>
      <p:sp>
        <p:nvSpPr>
          <p:cNvPr id="18" name="">
            <a:extLst xmlns:a="http://schemas.openxmlformats.org/drawingml/2006/main">
              <a:ext uri="{FF2B5EF4-FFF2-40B4-BE49-F238E27FC236}">
                <a16:creationId xmlns:a16="http://schemas.microsoft.com/office/drawing/2014/main" id="{9FC04324-10D9-4A47-A15D-89A20E578403}"/>
              </a:ext>
            </a:extLst>
          </p:cNvPr>
          <p:cNvSpPr>
            <a:spLocks xmlns:a="http://schemas.openxmlformats.org/drawingml/2006/main" noGrp="1"/>
          </p:cNvSpPr>
          <p:nvPr/>
        </p:nvSpPr>
        <p:spPr>
          <a:xfrm xmlns:a="http://schemas.openxmlformats.org/drawingml/2006/main">
            <a:off x="6071235" y="5166360"/>
            <a:ext cx="2447925" cy="933450"/>
          </a:xfrm>
          <a:custGeom xmlns:a="http://schemas.openxmlformats.org/drawingml/2006/main">
            <a:pathLst>
              <a:path w="2447925" h="933450">
                <a:moveTo>
                  <a:pt x="0" y="0"/>
                </a:moveTo>
                <a:lnTo>
                  <a:pt x="2447925" y="933450"/>
                </a:lnTo>
              </a:path>
            </a:pathLst>
          </a:custGeom>
          <a:noFill xmlns:a="http://schemas.openxmlformats.org/drawingml/2006/main"/>
          <a:ln xmlns:a="http://schemas.openxmlformats.org/drawingml/2006/main" w="3334">
            <a:solidFill>
              <a:srgbClr val="B6B6B6"/>
            </a:solidFill>
            <a:prstDash val="solid"/>
          </a:ln>
        </p:spPr>
      </p:sp>
      <p:sp>
        <p:nvSpPr>
          <p:cNvPr id="19" name="">
            <a:extLst xmlns:a="http://schemas.openxmlformats.org/drawingml/2006/main">
              <a:ext uri="{FF2B5EF4-FFF2-40B4-BE49-F238E27FC236}">
                <a16:creationId xmlns:a16="http://schemas.microsoft.com/office/drawing/2014/main" id="{45E9DFE0-D15B-4C53-974D-FB6FBB7E7906}"/>
              </a:ext>
            </a:extLst>
          </p:cNvPr>
          <p:cNvSpPr>
            <a:spLocks xmlns:a="http://schemas.openxmlformats.org/drawingml/2006/main" noGrp="1"/>
          </p:cNvSpPr>
          <p:nvPr/>
        </p:nvSpPr>
        <p:spPr>
          <a:xfrm xmlns:a="http://schemas.openxmlformats.org/drawingml/2006/main">
            <a:off x="7539990" y="5166360"/>
            <a:ext cx="2447925" cy="933450"/>
          </a:xfrm>
          <a:custGeom xmlns:a="http://schemas.openxmlformats.org/drawingml/2006/main">
            <a:pathLst>
              <a:path w="2447925" h="933450">
                <a:moveTo>
                  <a:pt x="2447925" y="0"/>
                </a:moveTo>
                <a:lnTo>
                  <a:pt x="0" y="933450"/>
                </a:lnTo>
              </a:path>
            </a:pathLst>
          </a:custGeom>
          <a:noFill xmlns:a="http://schemas.openxmlformats.org/drawingml/2006/main"/>
          <a:ln xmlns:a="http://schemas.openxmlformats.org/drawingml/2006/main" w="3334">
            <a:solidFill>
              <a:srgbClr val="B6B6B6"/>
            </a:solidFill>
            <a:prstDash val="solid"/>
          </a:ln>
        </p:spPr>
      </p:sp>
      <p:sp>
        <p:nvSpPr>
          <p:cNvPr id="20" name="">
            <a:extLst xmlns:a="http://schemas.openxmlformats.org/drawingml/2006/main">
              <a:ext uri="{FF2B5EF4-FFF2-40B4-BE49-F238E27FC236}">
                <a16:creationId xmlns:a16="http://schemas.microsoft.com/office/drawing/2014/main" id="{208A46EC-3384-4EA0-A130-DDCACC1CC643}"/>
              </a:ext>
            </a:extLst>
          </p:cNvPr>
          <p:cNvSpPr>
            <a:spLocks xmlns:a="http://schemas.openxmlformats.org/drawingml/2006/main" noGrp="1"/>
          </p:cNvSpPr>
          <p:nvPr/>
        </p:nvSpPr>
        <p:spPr>
          <a:xfrm xmlns:a="http://schemas.openxmlformats.org/drawingml/2006/main">
            <a:off x="7784783" y="4893945"/>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21" name="">
            <a:extLst xmlns:a="http://schemas.openxmlformats.org/drawingml/2006/main">
              <a:ext uri="{FF2B5EF4-FFF2-40B4-BE49-F238E27FC236}">
                <a16:creationId xmlns:a16="http://schemas.microsoft.com/office/drawing/2014/main" id="{13694E92-57E0-47FF-9325-31CE1F5A1FB2}"/>
              </a:ext>
            </a:extLst>
          </p:cNvPr>
          <p:cNvSpPr>
            <a:spLocks xmlns:a="http://schemas.openxmlformats.org/drawingml/2006/main" noGrp="1"/>
          </p:cNvSpPr>
          <p:nvPr/>
        </p:nvSpPr>
        <p:spPr>
          <a:xfrm xmlns:a="http://schemas.openxmlformats.org/drawingml/2006/main">
            <a:off x="7784783" y="4979670"/>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22" name="">
            <a:extLst xmlns:a="http://schemas.openxmlformats.org/drawingml/2006/main">
              <a:ext uri="{FF2B5EF4-FFF2-40B4-BE49-F238E27FC236}">
                <a16:creationId xmlns:a16="http://schemas.microsoft.com/office/drawing/2014/main" id="{F32C6E52-115E-4962-BA5A-F7899AE33F18}"/>
              </a:ext>
            </a:extLst>
          </p:cNvPr>
          <p:cNvSpPr>
            <a:spLocks xmlns:a="http://schemas.openxmlformats.org/drawingml/2006/main" noGrp="1"/>
          </p:cNvSpPr>
          <p:nvPr/>
        </p:nvSpPr>
        <p:spPr>
          <a:xfrm xmlns:a="http://schemas.openxmlformats.org/drawingml/2006/main">
            <a:off x="7956233" y="4979670"/>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23" name="">
            <a:extLst xmlns:a="http://schemas.openxmlformats.org/drawingml/2006/main">
              <a:ext uri="{FF2B5EF4-FFF2-40B4-BE49-F238E27FC236}">
                <a16:creationId xmlns:a16="http://schemas.microsoft.com/office/drawing/2014/main" id="{BA8378F1-4843-4C6B-8209-472441B89EF0}"/>
              </a:ext>
            </a:extLst>
          </p:cNvPr>
          <p:cNvSpPr>
            <a:spLocks xmlns:a="http://schemas.openxmlformats.org/drawingml/2006/main" noGrp="1"/>
          </p:cNvSpPr>
          <p:nvPr/>
        </p:nvSpPr>
        <p:spPr>
          <a:xfrm xmlns:a="http://schemas.openxmlformats.org/drawingml/2006/main">
            <a:off x="8249888" y="5295328"/>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24" name="">
            <a:extLst xmlns:a="http://schemas.openxmlformats.org/drawingml/2006/main">
              <a:ext uri="{FF2B5EF4-FFF2-40B4-BE49-F238E27FC236}">
                <a16:creationId xmlns:a16="http://schemas.microsoft.com/office/drawing/2014/main" id="{08DFEFC4-921C-425A-B4DC-A631F4DDAA19}"/>
              </a:ext>
            </a:extLst>
          </p:cNvPr>
          <p:cNvSpPr>
            <a:spLocks xmlns:a="http://schemas.openxmlformats.org/drawingml/2006/main" noGrp="1"/>
          </p:cNvSpPr>
          <p:nvPr/>
        </p:nvSpPr>
        <p:spPr>
          <a:xfrm xmlns:a="http://schemas.openxmlformats.org/drawingml/2006/main">
            <a:off x="8249888" y="5381053"/>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25" name="">
            <a:extLst xmlns:a="http://schemas.openxmlformats.org/drawingml/2006/main">
              <a:ext uri="{FF2B5EF4-FFF2-40B4-BE49-F238E27FC236}">
                <a16:creationId xmlns:a16="http://schemas.microsoft.com/office/drawing/2014/main" id="{81B5A177-E0AE-4B6E-959E-BCAFB41D442C}"/>
              </a:ext>
            </a:extLst>
          </p:cNvPr>
          <p:cNvSpPr>
            <a:spLocks xmlns:a="http://schemas.openxmlformats.org/drawingml/2006/main" noGrp="1"/>
          </p:cNvSpPr>
          <p:nvPr/>
        </p:nvSpPr>
        <p:spPr>
          <a:xfrm xmlns:a="http://schemas.openxmlformats.org/drawingml/2006/main">
            <a:off x="8421338" y="5381053"/>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26" name="">
            <a:extLst xmlns:a="http://schemas.openxmlformats.org/drawingml/2006/main">
              <a:ext uri="{FF2B5EF4-FFF2-40B4-BE49-F238E27FC236}">
                <a16:creationId xmlns:a16="http://schemas.microsoft.com/office/drawing/2014/main" id="{89A3312F-8BC7-4642-8D53-56327EEA0BB2}"/>
              </a:ext>
            </a:extLst>
          </p:cNvPr>
          <p:cNvSpPr>
            <a:spLocks xmlns:a="http://schemas.openxmlformats.org/drawingml/2006/main" noGrp="1"/>
          </p:cNvSpPr>
          <p:nvPr/>
        </p:nvSpPr>
        <p:spPr>
          <a:xfrm xmlns:a="http://schemas.openxmlformats.org/drawingml/2006/main">
            <a:off x="10306050" y="5353050"/>
            <a:ext cx="76200" cy="95"/>
          </a:xfrm>
          <a:custGeom xmlns:a="http://schemas.openxmlformats.org/drawingml/2006/main">
            <a:pathLst>
              <a:path w="76200" h="95">
                <a:moveTo>
                  <a:pt x="76200" y="0"/>
                </a:moveTo>
                <a:lnTo>
                  <a:pt x="0" y="0"/>
                </a:lnTo>
              </a:path>
            </a:pathLst>
          </a:custGeom>
          <a:noFill xmlns:a="http://schemas.openxmlformats.org/drawingml/2006/main"/>
          <a:ln xmlns:a="http://schemas.openxmlformats.org/drawingml/2006/main" w="5715">
            <a:solidFill>
              <a:srgbClr val="0A0A0A"/>
            </a:solidFill>
            <a:prstDash val="solid"/>
          </a:ln>
        </p:spPr>
      </p:sp>
      <p:sp>
        <p:nvSpPr>
          <p:cNvPr id="27" name="">
            <a:extLst xmlns:a="http://schemas.openxmlformats.org/drawingml/2006/main">
              <a:ext uri="{FF2B5EF4-FFF2-40B4-BE49-F238E27FC236}">
                <a16:creationId xmlns:a16="http://schemas.microsoft.com/office/drawing/2014/main" id="{B1D1B493-1513-4162-96BC-00832C79D578}"/>
              </a:ext>
            </a:extLst>
          </p:cNvPr>
          <p:cNvSpPr>
            <a:spLocks xmlns:a="http://schemas.openxmlformats.org/drawingml/2006/main" noGrp="1"/>
          </p:cNvSpPr>
          <p:nvPr/>
        </p:nvSpPr>
        <p:spPr>
          <a:xfrm xmlns:a="http://schemas.openxmlformats.org/drawingml/2006/main" rot="0">
            <a:off x="10382250" y="4572000"/>
            <a:ext cx="15621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Assignment</a:t>
            </a:r>
          </a:p>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and cash</a:t>
            </a:r>
          </a:p>
        </p:txBody>
      </p:sp>
      <p:sp>
        <p:nvSpPr>
          <p:cNvPr id="28" name="">
            <a:extLst xmlns:a="http://schemas.openxmlformats.org/drawingml/2006/main">
              <a:ext uri="{FF2B5EF4-FFF2-40B4-BE49-F238E27FC236}">
                <a16:creationId xmlns:a16="http://schemas.microsoft.com/office/drawing/2014/main" id="{1E4FE99C-04C1-4A93-9CB2-4E0AD8C0737B}"/>
              </a:ext>
            </a:extLst>
          </p:cNvPr>
          <p:cNvSpPr>
            <a:spLocks xmlns:a="http://schemas.openxmlformats.org/drawingml/2006/main" noGrp="1"/>
          </p:cNvSpPr>
          <p:nvPr/>
        </p:nvSpPr>
        <p:spPr>
          <a:xfrm xmlns:a="http://schemas.openxmlformats.org/drawingml/2006/main" rot="0">
            <a:off x="10382250" y="5029200"/>
            <a:ext cx="1562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737373"/>
                </a:solidFill>
                <a:latin typeface="DM Sans"/>
                <a:ea typeface="DM Sans"/>
                <a:cs typeface="DM Sans"/>
              </a:defRPr>
            </a:defPPr>
            <a:lvl1pPr algn="l">
              <a:defRPr sz="825" b="0">
                <a:solidFill>
                  <a:srgbClr val="737373"/>
                </a:solidFill>
                <a:latin typeface="DM Sans"/>
                <a:ea typeface="DM Sans"/>
                <a:cs typeface="DM Sans"/>
              </a:defRPr>
            </a:lvl1pPr>
            <a:lvl2pPr algn="l">
              <a:defRPr sz="825" b="0">
                <a:solidFill>
                  <a:srgbClr val="737373"/>
                </a:solidFill>
                <a:latin typeface="DM Sans"/>
                <a:ea typeface="DM Sans"/>
                <a:cs typeface="DM Sans"/>
              </a:defRPr>
            </a:lvl2pPr>
            <a:lvl3pPr algn="l">
              <a:defRPr sz="825" b="0">
                <a:solidFill>
                  <a:srgbClr val="737373"/>
                </a:solidFill>
                <a:latin typeface="DM Sans"/>
                <a:ea typeface="DM Sans"/>
                <a:cs typeface="DM Sans"/>
              </a:defRPr>
            </a:lvl3pPr>
            <a:lvl4pPr algn="l">
              <a:defRPr sz="825" b="0">
                <a:solidFill>
                  <a:srgbClr val="737373"/>
                </a:solidFill>
                <a:latin typeface="DM Sans"/>
                <a:ea typeface="DM Sans"/>
                <a:cs typeface="DM Sans"/>
              </a:defRPr>
            </a:lvl4pPr>
            <a:lvl5pPr algn="l">
              <a:defRPr sz="825" b="0">
                <a:solidFill>
                  <a:srgbClr val="737373"/>
                </a:solidFill>
                <a:latin typeface="DM Sans"/>
                <a:ea typeface="DM Sans"/>
                <a:cs typeface="DM Sans"/>
              </a:defRPr>
            </a:lvl5pPr>
            <a:lvl6pPr algn="l">
              <a:defRPr sz="825" b="0">
                <a:solidFill>
                  <a:srgbClr val="737373"/>
                </a:solidFill>
                <a:latin typeface="DM Sans"/>
                <a:ea typeface="DM Sans"/>
                <a:cs typeface="DM Sans"/>
              </a:defRPr>
            </a:lvl6pPr>
            <a:lvl7pPr algn="l">
              <a:defRPr sz="825" b="0">
                <a:solidFill>
                  <a:srgbClr val="737373"/>
                </a:solidFill>
                <a:latin typeface="DM Sans"/>
                <a:ea typeface="DM Sans"/>
                <a:cs typeface="DM Sans"/>
              </a:defRPr>
            </a:lvl7pPr>
            <a:lvl8pPr algn="l">
              <a:defRPr sz="825" b="0">
                <a:solidFill>
                  <a:srgbClr val="737373"/>
                </a:solidFill>
                <a:latin typeface="DM Sans"/>
                <a:ea typeface="DM Sans"/>
                <a:cs typeface="DM Sans"/>
              </a:defRPr>
            </a:lvl8pPr>
            <a:lvl9pPr algn="l">
              <a:defRPr sz="825" b="0">
                <a:solidFill>
                  <a:srgbClr val="737373"/>
                </a:solidFill>
                <a:latin typeface="DM Sans"/>
                <a:ea typeface="DM Sans"/>
                <a:cs typeface="DM Sans"/>
              </a:defRPr>
            </a:lvl9pPr>
          </a:lstStyle>
          <a:p xmlns:a="http://schemas.openxmlformats.org/drawingml/2006/main">
            <a:pPr algn="l">
              <a:defRPr sz="825" b="0">
                <a:solidFill>
                  <a:srgbClr val="737373"/>
                </a:solidFill>
                <a:latin typeface="DM Sans"/>
                <a:ea typeface="DM Sans"/>
                <a:cs typeface="DM Sans"/>
              </a:defRPr>
            </a:pPr>
            <a:r>
              <a:rPr sz="825" b="0">
                <a:solidFill>
                  <a:srgbClr val="737373"/>
                </a:solidFill>
                <a:latin typeface="DM Sans"/>
                <a:ea typeface="DM Sans"/>
                <a:cs typeface="DM Sans"/>
              </a:rPr>
              <a:t>Assumed</a:t>
            </a:r>
          </a:p>
        </p:txBody>
      </p:sp>
      <p:sp>
        <p:nvSpPr>
          <p:cNvPr id="29" name="">
            <a:extLst xmlns:a="http://schemas.openxmlformats.org/drawingml/2006/main">
              <a:ext uri="{FF2B5EF4-FFF2-40B4-BE49-F238E27FC236}">
                <a16:creationId xmlns:a16="http://schemas.microsoft.com/office/drawing/2014/main" id="{F62C3FAE-93CE-43D4-BE01-BF40B20C37DC}"/>
              </a:ext>
            </a:extLst>
          </p:cNvPr>
          <p:cNvSpPr>
            <a:spLocks xmlns:a="http://schemas.openxmlformats.org/drawingml/2006/main" noGrp="1"/>
          </p:cNvSpPr>
          <p:nvPr/>
        </p:nvSpPr>
        <p:spPr>
          <a:xfrm xmlns:a="http://schemas.openxmlformats.org/drawingml/2006/main">
            <a:off x="5876925" y="2905125"/>
            <a:ext cx="4305300" cy="1628775"/>
          </a:xfrm>
          <a:custGeom xmlns:a="http://schemas.openxmlformats.org/drawingml/2006/main">
            <a:pathLst>
              <a:path w="4305300" h="1628775">
                <a:moveTo>
                  <a:pt x="2152650" y="0"/>
                </a:moveTo>
                <a:lnTo>
                  <a:pt x="4305300" y="814388"/>
                </a:lnTo>
                <a:lnTo>
                  <a:pt x="2152650" y="1628775"/>
                </a:lnTo>
                <a:lnTo>
                  <a:pt x="0" y="814388"/>
                </a:lnTo>
                <a:close/>
              </a:path>
            </a:pathLst>
          </a:custGeom>
          <a:solidFill xmlns:a="http://schemas.openxmlformats.org/drawingml/2006/main">
            <a:srgbClr val="FAFAFA"/>
          </a:solidFill>
          <a:ln xmlns:a="http://schemas.openxmlformats.org/drawingml/2006/main" w="7144">
            <a:solidFill>
              <a:srgbClr val="22C55E"/>
            </a:solidFill>
            <a:prstDash val="solid"/>
          </a:ln>
        </p:spPr>
      </p:sp>
      <p:sp>
        <p:nvSpPr>
          <p:cNvPr id="30" name="">
            <a:extLst xmlns:a="http://schemas.openxmlformats.org/drawingml/2006/main">
              <a:ext uri="{FF2B5EF4-FFF2-40B4-BE49-F238E27FC236}">
                <a16:creationId xmlns:a16="http://schemas.microsoft.com/office/drawing/2014/main" id="{26CF8B9D-7F4B-4780-BA92-099FC6AD8FDB}"/>
              </a:ext>
            </a:extLst>
          </p:cNvPr>
          <p:cNvSpPr>
            <a:spLocks xmlns:a="http://schemas.openxmlformats.org/drawingml/2006/main" noGrp="1"/>
          </p:cNvSpPr>
          <p:nvPr/>
        </p:nvSpPr>
        <p:spPr>
          <a:xfrm xmlns:a="http://schemas.openxmlformats.org/drawingml/2006/main">
            <a:off x="7599045" y="3068003"/>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31" name="">
            <a:extLst xmlns:a="http://schemas.openxmlformats.org/drawingml/2006/main">
              <a:ext uri="{FF2B5EF4-FFF2-40B4-BE49-F238E27FC236}">
                <a16:creationId xmlns:a16="http://schemas.microsoft.com/office/drawing/2014/main" id="{5C46C41B-7AFA-41C1-9516-92E27677C84F}"/>
              </a:ext>
            </a:extLst>
          </p:cNvPr>
          <p:cNvSpPr>
            <a:spLocks xmlns:a="http://schemas.openxmlformats.org/drawingml/2006/main" noGrp="1"/>
          </p:cNvSpPr>
          <p:nvPr/>
        </p:nvSpPr>
        <p:spPr>
          <a:xfrm xmlns:a="http://schemas.openxmlformats.org/drawingml/2006/main">
            <a:off x="6307455" y="3068003"/>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32" name="">
            <a:extLst xmlns:a="http://schemas.openxmlformats.org/drawingml/2006/main">
              <a:ext uri="{FF2B5EF4-FFF2-40B4-BE49-F238E27FC236}">
                <a16:creationId xmlns:a16="http://schemas.microsoft.com/office/drawing/2014/main" id="{BA3EE1A2-6C36-4F3C-9F96-6D06A7CB6652}"/>
              </a:ext>
            </a:extLst>
          </p:cNvPr>
          <p:cNvSpPr>
            <a:spLocks xmlns:a="http://schemas.openxmlformats.org/drawingml/2006/main" noGrp="1"/>
          </p:cNvSpPr>
          <p:nvPr/>
        </p:nvSpPr>
        <p:spPr>
          <a:xfrm xmlns:a="http://schemas.openxmlformats.org/drawingml/2006/main">
            <a:off x="7168515" y="3230880"/>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33" name="">
            <a:extLst xmlns:a="http://schemas.openxmlformats.org/drawingml/2006/main">
              <a:ext uri="{FF2B5EF4-FFF2-40B4-BE49-F238E27FC236}">
                <a16:creationId xmlns:a16="http://schemas.microsoft.com/office/drawing/2014/main" id="{5231F6F6-A081-4F49-9CA1-03126CEB9559}"/>
              </a:ext>
            </a:extLst>
          </p:cNvPr>
          <p:cNvSpPr>
            <a:spLocks xmlns:a="http://schemas.openxmlformats.org/drawingml/2006/main" noGrp="1"/>
          </p:cNvSpPr>
          <p:nvPr/>
        </p:nvSpPr>
        <p:spPr>
          <a:xfrm xmlns:a="http://schemas.openxmlformats.org/drawingml/2006/main">
            <a:off x="6737985" y="3230880"/>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34" name="">
            <a:extLst xmlns:a="http://schemas.openxmlformats.org/drawingml/2006/main">
              <a:ext uri="{FF2B5EF4-FFF2-40B4-BE49-F238E27FC236}">
                <a16:creationId xmlns:a16="http://schemas.microsoft.com/office/drawing/2014/main" id="{D34B9E06-8BAD-4FBA-9D59-CB1CD30E9955}"/>
              </a:ext>
            </a:extLst>
          </p:cNvPr>
          <p:cNvSpPr>
            <a:spLocks xmlns:a="http://schemas.openxmlformats.org/drawingml/2006/main" noGrp="1"/>
          </p:cNvSpPr>
          <p:nvPr/>
        </p:nvSpPr>
        <p:spPr>
          <a:xfrm xmlns:a="http://schemas.openxmlformats.org/drawingml/2006/main">
            <a:off x="6737985" y="3393758"/>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35" name="">
            <a:extLst xmlns:a="http://schemas.openxmlformats.org/drawingml/2006/main">
              <a:ext uri="{FF2B5EF4-FFF2-40B4-BE49-F238E27FC236}">
                <a16:creationId xmlns:a16="http://schemas.microsoft.com/office/drawing/2014/main" id="{7F163434-7B8A-4439-B9D2-63C0C1AB7A4A}"/>
              </a:ext>
            </a:extLst>
          </p:cNvPr>
          <p:cNvSpPr>
            <a:spLocks xmlns:a="http://schemas.openxmlformats.org/drawingml/2006/main" noGrp="1"/>
          </p:cNvSpPr>
          <p:nvPr/>
        </p:nvSpPr>
        <p:spPr>
          <a:xfrm xmlns:a="http://schemas.openxmlformats.org/drawingml/2006/main">
            <a:off x="7168515" y="3393758"/>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36" name="">
            <a:extLst xmlns:a="http://schemas.openxmlformats.org/drawingml/2006/main">
              <a:ext uri="{FF2B5EF4-FFF2-40B4-BE49-F238E27FC236}">
                <a16:creationId xmlns:a16="http://schemas.microsoft.com/office/drawing/2014/main" id="{61075147-5DAA-4A20-A68B-50B9DEAE82EA}"/>
              </a:ext>
            </a:extLst>
          </p:cNvPr>
          <p:cNvSpPr>
            <a:spLocks xmlns:a="http://schemas.openxmlformats.org/drawingml/2006/main" noGrp="1"/>
          </p:cNvSpPr>
          <p:nvPr/>
        </p:nvSpPr>
        <p:spPr>
          <a:xfrm xmlns:a="http://schemas.openxmlformats.org/drawingml/2006/main">
            <a:off x="6307455" y="3556635"/>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37" name="">
            <a:extLst xmlns:a="http://schemas.openxmlformats.org/drawingml/2006/main">
              <a:ext uri="{FF2B5EF4-FFF2-40B4-BE49-F238E27FC236}">
                <a16:creationId xmlns:a16="http://schemas.microsoft.com/office/drawing/2014/main" id="{602A7A9E-4423-4632-A1D5-88BA7AB3B656}"/>
              </a:ext>
            </a:extLst>
          </p:cNvPr>
          <p:cNvSpPr>
            <a:spLocks xmlns:a="http://schemas.openxmlformats.org/drawingml/2006/main" noGrp="1"/>
          </p:cNvSpPr>
          <p:nvPr/>
        </p:nvSpPr>
        <p:spPr>
          <a:xfrm xmlns:a="http://schemas.openxmlformats.org/drawingml/2006/main">
            <a:off x="7599045" y="3556635"/>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38" name="">
            <a:extLst xmlns:a="http://schemas.openxmlformats.org/drawingml/2006/main">
              <a:ext uri="{FF2B5EF4-FFF2-40B4-BE49-F238E27FC236}">
                <a16:creationId xmlns:a16="http://schemas.microsoft.com/office/drawing/2014/main" id="{DD8D787C-378A-480F-9F32-C86C4F46CF79}"/>
              </a:ext>
            </a:extLst>
          </p:cNvPr>
          <p:cNvSpPr>
            <a:spLocks xmlns:a="http://schemas.openxmlformats.org/drawingml/2006/main" noGrp="1"/>
          </p:cNvSpPr>
          <p:nvPr/>
        </p:nvSpPr>
        <p:spPr>
          <a:xfrm xmlns:a="http://schemas.openxmlformats.org/drawingml/2006/main">
            <a:off x="7835837" y="3185874"/>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39" name="">
            <a:extLst xmlns:a="http://schemas.openxmlformats.org/drawingml/2006/main">
              <a:ext uri="{FF2B5EF4-FFF2-40B4-BE49-F238E27FC236}">
                <a16:creationId xmlns:a16="http://schemas.microsoft.com/office/drawing/2014/main" id="{D451A09A-37C8-4B76-8354-9C00A756C226}"/>
              </a:ext>
            </a:extLst>
          </p:cNvPr>
          <p:cNvSpPr>
            <a:spLocks xmlns:a="http://schemas.openxmlformats.org/drawingml/2006/main" noGrp="1"/>
          </p:cNvSpPr>
          <p:nvPr/>
        </p:nvSpPr>
        <p:spPr>
          <a:xfrm xmlns:a="http://schemas.openxmlformats.org/drawingml/2006/main">
            <a:off x="7835837" y="3271599"/>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0" name="">
            <a:extLst xmlns:a="http://schemas.openxmlformats.org/drawingml/2006/main">
              <a:ext uri="{FF2B5EF4-FFF2-40B4-BE49-F238E27FC236}">
                <a16:creationId xmlns:a16="http://schemas.microsoft.com/office/drawing/2014/main" id="{3FE3F260-9FF4-4DE2-A031-C0CC753A7098}"/>
              </a:ext>
            </a:extLst>
          </p:cNvPr>
          <p:cNvSpPr>
            <a:spLocks xmlns:a="http://schemas.openxmlformats.org/drawingml/2006/main" noGrp="1"/>
          </p:cNvSpPr>
          <p:nvPr/>
        </p:nvSpPr>
        <p:spPr>
          <a:xfrm xmlns:a="http://schemas.openxmlformats.org/drawingml/2006/main">
            <a:off x="8007287" y="3271599"/>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1" name="">
            <a:extLst xmlns:a="http://schemas.openxmlformats.org/drawingml/2006/main">
              <a:ext uri="{FF2B5EF4-FFF2-40B4-BE49-F238E27FC236}">
                <a16:creationId xmlns:a16="http://schemas.microsoft.com/office/drawing/2014/main" id="{B01C8F9C-5FF0-4AC9-876C-76853BD2BBA2}"/>
              </a:ext>
            </a:extLst>
          </p:cNvPr>
          <p:cNvSpPr>
            <a:spLocks xmlns:a="http://schemas.openxmlformats.org/drawingml/2006/main" noGrp="1"/>
          </p:cNvSpPr>
          <p:nvPr/>
        </p:nvSpPr>
        <p:spPr>
          <a:xfrm xmlns:a="http://schemas.openxmlformats.org/drawingml/2006/main">
            <a:off x="8460105" y="3405759"/>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2" name="">
            <a:extLst xmlns:a="http://schemas.openxmlformats.org/drawingml/2006/main">
              <a:ext uri="{FF2B5EF4-FFF2-40B4-BE49-F238E27FC236}">
                <a16:creationId xmlns:a16="http://schemas.microsoft.com/office/drawing/2014/main" id="{5B7A01C6-00B0-4E9F-ACC9-B959B4043892}"/>
              </a:ext>
            </a:extLst>
          </p:cNvPr>
          <p:cNvSpPr>
            <a:spLocks xmlns:a="http://schemas.openxmlformats.org/drawingml/2006/main" noGrp="1"/>
          </p:cNvSpPr>
          <p:nvPr/>
        </p:nvSpPr>
        <p:spPr>
          <a:xfrm xmlns:a="http://schemas.openxmlformats.org/drawingml/2006/main">
            <a:off x="8460105" y="3491484"/>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3" name="">
            <a:extLst xmlns:a="http://schemas.openxmlformats.org/drawingml/2006/main">
              <a:ext uri="{FF2B5EF4-FFF2-40B4-BE49-F238E27FC236}">
                <a16:creationId xmlns:a16="http://schemas.microsoft.com/office/drawing/2014/main" id="{1AF51143-E406-4524-A553-E72ACC884B1A}"/>
              </a:ext>
            </a:extLst>
          </p:cNvPr>
          <p:cNvSpPr>
            <a:spLocks xmlns:a="http://schemas.openxmlformats.org/drawingml/2006/main" noGrp="1"/>
          </p:cNvSpPr>
          <p:nvPr/>
        </p:nvSpPr>
        <p:spPr>
          <a:xfrm xmlns:a="http://schemas.openxmlformats.org/drawingml/2006/main">
            <a:off x="8631555" y="3491484"/>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4" name="">
            <a:extLst xmlns:a="http://schemas.openxmlformats.org/drawingml/2006/main">
              <a:ext uri="{FF2B5EF4-FFF2-40B4-BE49-F238E27FC236}">
                <a16:creationId xmlns:a16="http://schemas.microsoft.com/office/drawing/2014/main" id="{0D6A251E-428A-4091-8BFC-B3AA33B3FF2E}"/>
              </a:ext>
            </a:extLst>
          </p:cNvPr>
          <p:cNvSpPr>
            <a:spLocks xmlns:a="http://schemas.openxmlformats.org/drawingml/2006/main" noGrp="1"/>
          </p:cNvSpPr>
          <p:nvPr/>
        </p:nvSpPr>
        <p:spPr>
          <a:xfrm xmlns:a="http://schemas.openxmlformats.org/drawingml/2006/main">
            <a:off x="8266367" y="3755946"/>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5" name="">
            <a:extLst xmlns:a="http://schemas.openxmlformats.org/drawingml/2006/main">
              <a:ext uri="{FF2B5EF4-FFF2-40B4-BE49-F238E27FC236}">
                <a16:creationId xmlns:a16="http://schemas.microsoft.com/office/drawing/2014/main" id="{66E10EB5-5151-424B-B827-EC9E84F31022}"/>
              </a:ext>
            </a:extLst>
          </p:cNvPr>
          <p:cNvSpPr>
            <a:spLocks xmlns:a="http://schemas.openxmlformats.org/drawingml/2006/main" noGrp="1"/>
          </p:cNvSpPr>
          <p:nvPr/>
        </p:nvSpPr>
        <p:spPr>
          <a:xfrm xmlns:a="http://schemas.openxmlformats.org/drawingml/2006/main">
            <a:off x="8266367" y="3841671"/>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6" name="">
            <a:extLst xmlns:a="http://schemas.openxmlformats.org/drawingml/2006/main">
              <a:ext uri="{FF2B5EF4-FFF2-40B4-BE49-F238E27FC236}">
                <a16:creationId xmlns:a16="http://schemas.microsoft.com/office/drawing/2014/main" id="{8F58FAA6-22F6-4CA2-B9DA-BBDB047FB33C}"/>
              </a:ext>
            </a:extLst>
          </p:cNvPr>
          <p:cNvSpPr>
            <a:spLocks xmlns:a="http://schemas.openxmlformats.org/drawingml/2006/main" noGrp="1"/>
          </p:cNvSpPr>
          <p:nvPr/>
        </p:nvSpPr>
        <p:spPr>
          <a:xfrm xmlns:a="http://schemas.openxmlformats.org/drawingml/2006/main">
            <a:off x="8437817" y="3841671"/>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7" name="">
            <a:extLst xmlns:a="http://schemas.openxmlformats.org/drawingml/2006/main">
              <a:ext uri="{FF2B5EF4-FFF2-40B4-BE49-F238E27FC236}">
                <a16:creationId xmlns:a16="http://schemas.microsoft.com/office/drawing/2014/main" id="{19DC40D8-A846-43E4-9806-3E400EFB5CFA}"/>
              </a:ext>
            </a:extLst>
          </p:cNvPr>
          <p:cNvSpPr>
            <a:spLocks xmlns:a="http://schemas.openxmlformats.org/drawingml/2006/main" noGrp="1"/>
          </p:cNvSpPr>
          <p:nvPr/>
        </p:nvSpPr>
        <p:spPr>
          <a:xfrm xmlns:a="http://schemas.openxmlformats.org/drawingml/2006/main">
            <a:off x="7319201" y="3609356"/>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8" name="">
            <a:extLst xmlns:a="http://schemas.openxmlformats.org/drawingml/2006/main">
              <a:ext uri="{FF2B5EF4-FFF2-40B4-BE49-F238E27FC236}">
                <a16:creationId xmlns:a16="http://schemas.microsoft.com/office/drawing/2014/main" id="{6490A213-328E-4755-8F9C-CA22B558B5B8}"/>
              </a:ext>
            </a:extLst>
          </p:cNvPr>
          <p:cNvSpPr>
            <a:spLocks xmlns:a="http://schemas.openxmlformats.org/drawingml/2006/main" noGrp="1"/>
          </p:cNvSpPr>
          <p:nvPr/>
        </p:nvSpPr>
        <p:spPr>
          <a:xfrm xmlns:a="http://schemas.openxmlformats.org/drawingml/2006/main">
            <a:off x="7319201" y="3695081"/>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49" name="">
            <a:extLst xmlns:a="http://schemas.openxmlformats.org/drawingml/2006/main">
              <a:ext uri="{FF2B5EF4-FFF2-40B4-BE49-F238E27FC236}">
                <a16:creationId xmlns:a16="http://schemas.microsoft.com/office/drawing/2014/main" id="{D4B92E2E-9D55-4F4A-AA3E-9FEC60D240F1}"/>
              </a:ext>
            </a:extLst>
          </p:cNvPr>
          <p:cNvSpPr>
            <a:spLocks xmlns:a="http://schemas.openxmlformats.org/drawingml/2006/main" noGrp="1"/>
          </p:cNvSpPr>
          <p:nvPr/>
        </p:nvSpPr>
        <p:spPr>
          <a:xfrm xmlns:a="http://schemas.openxmlformats.org/drawingml/2006/main">
            <a:off x="7490651" y="3695081"/>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22C55E">
              <a:alpha val="9000"/>
            </a:srgbClr>
          </a:solidFill>
          <a:ln xmlns:a="http://schemas.openxmlformats.org/drawingml/2006/main" w="5239">
            <a:solidFill>
              <a:srgbClr val="22C55E"/>
            </a:solidFill>
            <a:prstDash val="solid"/>
          </a:ln>
        </p:spPr>
      </p:sp>
      <p:sp>
        <p:nvSpPr>
          <p:cNvPr id="50" name="">
            <a:extLst xmlns:a="http://schemas.openxmlformats.org/drawingml/2006/main">
              <a:ext uri="{FF2B5EF4-FFF2-40B4-BE49-F238E27FC236}">
                <a16:creationId xmlns:a16="http://schemas.microsoft.com/office/drawing/2014/main" id="{FAE73767-AB57-43BF-A8B5-6548DBE31B07}"/>
              </a:ext>
            </a:extLst>
          </p:cNvPr>
          <p:cNvSpPr>
            <a:spLocks xmlns:a="http://schemas.openxmlformats.org/drawingml/2006/main" noGrp="1"/>
          </p:cNvSpPr>
          <p:nvPr/>
        </p:nvSpPr>
        <p:spPr>
          <a:xfrm xmlns:a="http://schemas.openxmlformats.org/drawingml/2006/main">
            <a:off x="10086975" y="3719513"/>
            <a:ext cx="219075" cy="95"/>
          </a:xfrm>
          <a:custGeom xmlns:a="http://schemas.openxmlformats.org/drawingml/2006/main">
            <a:pathLst>
              <a:path w="219075" h="95">
                <a:moveTo>
                  <a:pt x="0" y="0"/>
                </a:moveTo>
                <a:lnTo>
                  <a:pt x="219075" y="0"/>
                </a:lnTo>
              </a:path>
            </a:pathLst>
          </a:custGeom>
          <a:noFill xmlns:a="http://schemas.openxmlformats.org/drawingml/2006/main"/>
          <a:ln xmlns:a="http://schemas.openxmlformats.org/drawingml/2006/main" w="5715">
            <a:solidFill>
              <a:srgbClr val="22C55E"/>
            </a:solidFill>
            <a:prstDash val="solid"/>
          </a:ln>
        </p:spPr>
      </p:sp>
      <p:sp>
        <p:nvSpPr>
          <p:cNvPr id="51" name="">
            <a:extLst xmlns:a="http://schemas.openxmlformats.org/drawingml/2006/main">
              <a:ext uri="{FF2B5EF4-FFF2-40B4-BE49-F238E27FC236}">
                <a16:creationId xmlns:a16="http://schemas.microsoft.com/office/drawing/2014/main" id="{489E9251-51B3-40B2-902D-39EE1DCC82AE}"/>
              </a:ext>
            </a:extLst>
          </p:cNvPr>
          <p:cNvSpPr>
            <a:spLocks xmlns:a="http://schemas.openxmlformats.org/drawingml/2006/main" noGrp="1"/>
          </p:cNvSpPr>
          <p:nvPr/>
        </p:nvSpPr>
        <p:spPr>
          <a:xfrm xmlns:a="http://schemas.openxmlformats.org/drawingml/2006/main" rot="0">
            <a:off x="10382250" y="3529013"/>
            <a:ext cx="15621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Gold</a:t>
            </a:r>
          </a:p>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forecast</a:t>
            </a:r>
          </a:p>
        </p:txBody>
      </p:sp>
      <p:sp>
        <p:nvSpPr>
          <p:cNvPr id="52" name="">
            <a:extLst xmlns:a="http://schemas.openxmlformats.org/drawingml/2006/main">
              <a:ext uri="{FF2B5EF4-FFF2-40B4-BE49-F238E27FC236}">
                <a16:creationId xmlns:a16="http://schemas.microsoft.com/office/drawing/2014/main" id="{763DAB82-0B45-4D75-A4EC-2D737ABB7903}"/>
              </a:ext>
            </a:extLst>
          </p:cNvPr>
          <p:cNvSpPr>
            <a:spLocks xmlns:a="http://schemas.openxmlformats.org/drawingml/2006/main" noGrp="1"/>
          </p:cNvSpPr>
          <p:nvPr/>
        </p:nvSpPr>
        <p:spPr>
          <a:xfrm xmlns:a="http://schemas.openxmlformats.org/drawingml/2006/main" rot="0">
            <a:off x="10382250" y="3986213"/>
            <a:ext cx="1562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737373"/>
                </a:solidFill>
                <a:latin typeface="DM Sans"/>
                <a:ea typeface="DM Sans"/>
                <a:cs typeface="DM Sans"/>
              </a:defRPr>
            </a:defPPr>
            <a:lvl1pPr algn="l">
              <a:defRPr sz="825" b="0">
                <a:solidFill>
                  <a:srgbClr val="737373"/>
                </a:solidFill>
                <a:latin typeface="DM Sans"/>
                <a:ea typeface="DM Sans"/>
                <a:cs typeface="DM Sans"/>
              </a:defRPr>
            </a:lvl1pPr>
            <a:lvl2pPr algn="l">
              <a:defRPr sz="825" b="0">
                <a:solidFill>
                  <a:srgbClr val="737373"/>
                </a:solidFill>
                <a:latin typeface="DM Sans"/>
                <a:ea typeface="DM Sans"/>
                <a:cs typeface="DM Sans"/>
              </a:defRPr>
            </a:lvl2pPr>
            <a:lvl3pPr algn="l">
              <a:defRPr sz="825" b="0">
                <a:solidFill>
                  <a:srgbClr val="737373"/>
                </a:solidFill>
                <a:latin typeface="DM Sans"/>
                <a:ea typeface="DM Sans"/>
                <a:cs typeface="DM Sans"/>
              </a:defRPr>
            </a:lvl3pPr>
            <a:lvl4pPr algn="l">
              <a:defRPr sz="825" b="0">
                <a:solidFill>
                  <a:srgbClr val="737373"/>
                </a:solidFill>
                <a:latin typeface="DM Sans"/>
                <a:ea typeface="DM Sans"/>
                <a:cs typeface="DM Sans"/>
              </a:defRPr>
            </a:lvl4pPr>
            <a:lvl5pPr algn="l">
              <a:defRPr sz="825" b="0">
                <a:solidFill>
                  <a:srgbClr val="737373"/>
                </a:solidFill>
                <a:latin typeface="DM Sans"/>
                <a:ea typeface="DM Sans"/>
                <a:cs typeface="DM Sans"/>
              </a:defRPr>
            </a:lvl5pPr>
            <a:lvl6pPr algn="l">
              <a:defRPr sz="825" b="0">
                <a:solidFill>
                  <a:srgbClr val="737373"/>
                </a:solidFill>
                <a:latin typeface="DM Sans"/>
                <a:ea typeface="DM Sans"/>
                <a:cs typeface="DM Sans"/>
              </a:defRPr>
            </a:lvl6pPr>
            <a:lvl7pPr algn="l">
              <a:defRPr sz="825" b="0">
                <a:solidFill>
                  <a:srgbClr val="737373"/>
                </a:solidFill>
                <a:latin typeface="DM Sans"/>
                <a:ea typeface="DM Sans"/>
                <a:cs typeface="DM Sans"/>
              </a:defRPr>
            </a:lvl7pPr>
            <a:lvl8pPr algn="l">
              <a:defRPr sz="825" b="0">
                <a:solidFill>
                  <a:srgbClr val="737373"/>
                </a:solidFill>
                <a:latin typeface="DM Sans"/>
                <a:ea typeface="DM Sans"/>
                <a:cs typeface="DM Sans"/>
              </a:defRPr>
            </a:lvl8pPr>
            <a:lvl9pPr algn="l">
              <a:defRPr sz="825" b="0">
                <a:solidFill>
                  <a:srgbClr val="737373"/>
                </a:solidFill>
                <a:latin typeface="DM Sans"/>
                <a:ea typeface="DM Sans"/>
                <a:cs typeface="DM Sans"/>
              </a:defRPr>
            </a:lvl9pPr>
          </a:lstStyle>
          <a:p xmlns:a="http://schemas.openxmlformats.org/drawingml/2006/main">
            <a:pPr algn="l">
              <a:defRPr sz="825" b="0">
                <a:solidFill>
                  <a:srgbClr val="737373"/>
                </a:solidFill>
                <a:latin typeface="DM Sans"/>
                <a:ea typeface="DM Sans"/>
                <a:cs typeface="DM Sans"/>
              </a:defRPr>
            </a:pPr>
            <a:r>
              <a:rPr sz="825" b="0">
                <a:solidFill>
                  <a:srgbClr val="737373"/>
                </a:solidFill>
                <a:latin typeface="DM Sans"/>
                <a:ea typeface="DM Sans"/>
                <a:cs typeface="DM Sans"/>
              </a:rPr>
              <a:t>Assumed</a:t>
            </a:r>
          </a:p>
        </p:txBody>
      </p:sp>
      <p:sp>
        <p:nvSpPr>
          <p:cNvPr id="53" name="">
            <a:extLst xmlns:a="http://schemas.openxmlformats.org/drawingml/2006/main">
              <a:ext uri="{FF2B5EF4-FFF2-40B4-BE49-F238E27FC236}">
                <a16:creationId xmlns:a16="http://schemas.microsoft.com/office/drawing/2014/main" id="{111B8145-9F51-4E43-A2E2-2A1240F7E1BD}"/>
              </a:ext>
            </a:extLst>
          </p:cNvPr>
          <p:cNvSpPr>
            <a:spLocks xmlns:a="http://schemas.openxmlformats.org/drawingml/2006/main" noGrp="1"/>
          </p:cNvSpPr>
          <p:nvPr/>
        </p:nvSpPr>
        <p:spPr>
          <a:xfrm xmlns:a="http://schemas.openxmlformats.org/drawingml/2006/main">
            <a:off x="5876925" y="1685925"/>
            <a:ext cx="4305300" cy="1628775"/>
          </a:xfrm>
          <a:custGeom xmlns:a="http://schemas.openxmlformats.org/drawingml/2006/main">
            <a:pathLst>
              <a:path w="4305300" h="1628775">
                <a:moveTo>
                  <a:pt x="2152650" y="0"/>
                </a:moveTo>
                <a:lnTo>
                  <a:pt x="4305300" y="814388"/>
                </a:lnTo>
                <a:lnTo>
                  <a:pt x="2152650" y="1628775"/>
                </a:lnTo>
                <a:lnTo>
                  <a:pt x="0" y="814388"/>
                </a:lnTo>
                <a:close/>
              </a:path>
            </a:pathLst>
          </a:custGeom>
          <a:solidFill xmlns:a="http://schemas.openxmlformats.org/drawingml/2006/main">
            <a:srgbClr val="FAFAFA"/>
          </a:solidFill>
          <a:ln xmlns:a="http://schemas.openxmlformats.org/drawingml/2006/main" w="7144">
            <a:solidFill>
              <a:srgbClr val="B6B6B6"/>
            </a:solidFill>
            <a:prstDash val="solid"/>
          </a:ln>
        </p:spPr>
      </p:sp>
      <p:sp>
        <p:nvSpPr>
          <p:cNvPr id="54" name="">
            <a:extLst xmlns:a="http://schemas.openxmlformats.org/drawingml/2006/main">
              <a:ext uri="{FF2B5EF4-FFF2-40B4-BE49-F238E27FC236}">
                <a16:creationId xmlns:a16="http://schemas.microsoft.com/office/drawing/2014/main" id="{B956D8DA-6B5E-4888-99D4-B21A27B2B95F}"/>
              </a:ext>
            </a:extLst>
          </p:cNvPr>
          <p:cNvSpPr>
            <a:spLocks xmlns:a="http://schemas.openxmlformats.org/drawingml/2006/main" noGrp="1"/>
          </p:cNvSpPr>
          <p:nvPr/>
        </p:nvSpPr>
        <p:spPr>
          <a:xfrm xmlns:a="http://schemas.openxmlformats.org/drawingml/2006/main">
            <a:off x="7599045" y="1848803"/>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55" name="">
            <a:extLst xmlns:a="http://schemas.openxmlformats.org/drawingml/2006/main">
              <a:ext uri="{FF2B5EF4-FFF2-40B4-BE49-F238E27FC236}">
                <a16:creationId xmlns:a16="http://schemas.microsoft.com/office/drawing/2014/main" id="{90D9C7A8-1C06-429D-ABB1-E815F3C9670F}"/>
              </a:ext>
            </a:extLst>
          </p:cNvPr>
          <p:cNvSpPr>
            <a:spLocks xmlns:a="http://schemas.openxmlformats.org/drawingml/2006/main" noGrp="1"/>
          </p:cNvSpPr>
          <p:nvPr/>
        </p:nvSpPr>
        <p:spPr>
          <a:xfrm xmlns:a="http://schemas.openxmlformats.org/drawingml/2006/main">
            <a:off x="6307455" y="1848803"/>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56" name="">
            <a:extLst xmlns:a="http://schemas.openxmlformats.org/drawingml/2006/main">
              <a:ext uri="{FF2B5EF4-FFF2-40B4-BE49-F238E27FC236}">
                <a16:creationId xmlns:a16="http://schemas.microsoft.com/office/drawing/2014/main" id="{1A12D732-B904-4539-B13F-EDD8D101E86F}"/>
              </a:ext>
            </a:extLst>
          </p:cNvPr>
          <p:cNvSpPr>
            <a:spLocks xmlns:a="http://schemas.openxmlformats.org/drawingml/2006/main" noGrp="1"/>
          </p:cNvSpPr>
          <p:nvPr/>
        </p:nvSpPr>
        <p:spPr>
          <a:xfrm xmlns:a="http://schemas.openxmlformats.org/drawingml/2006/main">
            <a:off x="7168515" y="2011680"/>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57" name="">
            <a:extLst xmlns:a="http://schemas.openxmlformats.org/drawingml/2006/main">
              <a:ext uri="{FF2B5EF4-FFF2-40B4-BE49-F238E27FC236}">
                <a16:creationId xmlns:a16="http://schemas.microsoft.com/office/drawing/2014/main" id="{8513D9C1-8215-4EB2-8CF5-34F5BD6DD5E8}"/>
              </a:ext>
            </a:extLst>
          </p:cNvPr>
          <p:cNvSpPr>
            <a:spLocks xmlns:a="http://schemas.openxmlformats.org/drawingml/2006/main" noGrp="1"/>
          </p:cNvSpPr>
          <p:nvPr/>
        </p:nvSpPr>
        <p:spPr>
          <a:xfrm xmlns:a="http://schemas.openxmlformats.org/drawingml/2006/main">
            <a:off x="6737985" y="2011680"/>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58" name="">
            <a:extLst xmlns:a="http://schemas.openxmlformats.org/drawingml/2006/main">
              <a:ext uri="{FF2B5EF4-FFF2-40B4-BE49-F238E27FC236}">
                <a16:creationId xmlns:a16="http://schemas.microsoft.com/office/drawing/2014/main" id="{1DEAD3AD-7546-4199-96F0-E27A09575F45}"/>
              </a:ext>
            </a:extLst>
          </p:cNvPr>
          <p:cNvSpPr>
            <a:spLocks xmlns:a="http://schemas.openxmlformats.org/drawingml/2006/main" noGrp="1"/>
          </p:cNvSpPr>
          <p:nvPr/>
        </p:nvSpPr>
        <p:spPr>
          <a:xfrm xmlns:a="http://schemas.openxmlformats.org/drawingml/2006/main">
            <a:off x="6737985" y="2174558"/>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59" name="">
            <a:extLst xmlns:a="http://schemas.openxmlformats.org/drawingml/2006/main">
              <a:ext uri="{FF2B5EF4-FFF2-40B4-BE49-F238E27FC236}">
                <a16:creationId xmlns:a16="http://schemas.microsoft.com/office/drawing/2014/main" id="{B14827EF-E2D1-4049-B502-B629F9788995}"/>
              </a:ext>
            </a:extLst>
          </p:cNvPr>
          <p:cNvSpPr>
            <a:spLocks xmlns:a="http://schemas.openxmlformats.org/drawingml/2006/main" noGrp="1"/>
          </p:cNvSpPr>
          <p:nvPr/>
        </p:nvSpPr>
        <p:spPr>
          <a:xfrm xmlns:a="http://schemas.openxmlformats.org/drawingml/2006/main">
            <a:off x="7168515" y="2174558"/>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60" name="">
            <a:extLst xmlns:a="http://schemas.openxmlformats.org/drawingml/2006/main">
              <a:ext uri="{FF2B5EF4-FFF2-40B4-BE49-F238E27FC236}">
                <a16:creationId xmlns:a16="http://schemas.microsoft.com/office/drawing/2014/main" id="{3318415D-301C-4059-B20F-B3D201F9DC6A}"/>
              </a:ext>
            </a:extLst>
          </p:cNvPr>
          <p:cNvSpPr>
            <a:spLocks xmlns:a="http://schemas.openxmlformats.org/drawingml/2006/main" noGrp="1"/>
          </p:cNvSpPr>
          <p:nvPr/>
        </p:nvSpPr>
        <p:spPr>
          <a:xfrm xmlns:a="http://schemas.openxmlformats.org/drawingml/2006/main">
            <a:off x="6307455" y="2337435"/>
            <a:ext cx="2152650" cy="814387"/>
          </a:xfrm>
          <a:custGeom xmlns:a="http://schemas.openxmlformats.org/drawingml/2006/main">
            <a:pathLst>
              <a:path w="2152650" h="814387">
                <a:moveTo>
                  <a:pt x="0" y="0"/>
                </a:moveTo>
                <a:lnTo>
                  <a:pt x="2152650" y="814387"/>
                </a:lnTo>
              </a:path>
            </a:pathLst>
          </a:custGeom>
          <a:noFill xmlns:a="http://schemas.openxmlformats.org/drawingml/2006/main"/>
          <a:ln xmlns:a="http://schemas.openxmlformats.org/drawingml/2006/main" w="3334">
            <a:solidFill>
              <a:srgbClr val="B6B6B6"/>
            </a:solidFill>
            <a:prstDash val="solid"/>
          </a:ln>
        </p:spPr>
      </p:sp>
      <p:sp>
        <p:nvSpPr>
          <p:cNvPr id="61" name="">
            <a:extLst xmlns:a="http://schemas.openxmlformats.org/drawingml/2006/main">
              <a:ext uri="{FF2B5EF4-FFF2-40B4-BE49-F238E27FC236}">
                <a16:creationId xmlns:a16="http://schemas.microsoft.com/office/drawing/2014/main" id="{8E7E66D7-5AE6-4793-ABCB-1F0C7CB5142E}"/>
              </a:ext>
            </a:extLst>
          </p:cNvPr>
          <p:cNvSpPr>
            <a:spLocks xmlns:a="http://schemas.openxmlformats.org/drawingml/2006/main" noGrp="1"/>
          </p:cNvSpPr>
          <p:nvPr/>
        </p:nvSpPr>
        <p:spPr>
          <a:xfrm xmlns:a="http://schemas.openxmlformats.org/drawingml/2006/main">
            <a:off x="7599045" y="2337435"/>
            <a:ext cx="2152650" cy="814387"/>
          </a:xfrm>
          <a:custGeom xmlns:a="http://schemas.openxmlformats.org/drawingml/2006/main">
            <a:pathLst>
              <a:path w="2152650" h="814387">
                <a:moveTo>
                  <a:pt x="2152650" y="0"/>
                </a:moveTo>
                <a:lnTo>
                  <a:pt x="0" y="814387"/>
                </a:lnTo>
              </a:path>
            </a:pathLst>
          </a:custGeom>
          <a:noFill xmlns:a="http://schemas.openxmlformats.org/drawingml/2006/main"/>
          <a:ln xmlns:a="http://schemas.openxmlformats.org/drawingml/2006/main" w="3334">
            <a:solidFill>
              <a:srgbClr val="B6B6B6"/>
            </a:solidFill>
            <a:prstDash val="solid"/>
          </a:ln>
        </p:spPr>
      </p:sp>
      <p:sp>
        <p:nvSpPr>
          <p:cNvPr id="62" name="">
            <a:extLst xmlns:a="http://schemas.openxmlformats.org/drawingml/2006/main">
              <a:ext uri="{FF2B5EF4-FFF2-40B4-BE49-F238E27FC236}">
                <a16:creationId xmlns:a16="http://schemas.microsoft.com/office/drawing/2014/main" id="{AA6C4F9D-F058-4237-8F4D-4B299B0FAF14}"/>
              </a:ext>
            </a:extLst>
          </p:cNvPr>
          <p:cNvSpPr>
            <a:spLocks xmlns:a="http://schemas.openxmlformats.org/drawingml/2006/main" noGrp="1"/>
          </p:cNvSpPr>
          <p:nvPr/>
        </p:nvSpPr>
        <p:spPr>
          <a:xfrm xmlns:a="http://schemas.openxmlformats.org/drawingml/2006/main">
            <a:off x="7835837" y="1966674"/>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3" name="">
            <a:extLst xmlns:a="http://schemas.openxmlformats.org/drawingml/2006/main">
              <a:ext uri="{FF2B5EF4-FFF2-40B4-BE49-F238E27FC236}">
                <a16:creationId xmlns:a16="http://schemas.microsoft.com/office/drawing/2014/main" id="{7888CBCD-F6EB-49DC-98F6-C5C0A1BFBCEF}"/>
              </a:ext>
            </a:extLst>
          </p:cNvPr>
          <p:cNvSpPr>
            <a:spLocks xmlns:a="http://schemas.openxmlformats.org/drawingml/2006/main" noGrp="1"/>
          </p:cNvSpPr>
          <p:nvPr/>
        </p:nvSpPr>
        <p:spPr>
          <a:xfrm xmlns:a="http://schemas.openxmlformats.org/drawingml/2006/main">
            <a:off x="7835837" y="2052399"/>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4" name="">
            <a:extLst xmlns:a="http://schemas.openxmlformats.org/drawingml/2006/main">
              <a:ext uri="{FF2B5EF4-FFF2-40B4-BE49-F238E27FC236}">
                <a16:creationId xmlns:a16="http://schemas.microsoft.com/office/drawing/2014/main" id="{878EECDA-3504-48D0-ADB5-E2B83E5B5577}"/>
              </a:ext>
            </a:extLst>
          </p:cNvPr>
          <p:cNvSpPr>
            <a:spLocks xmlns:a="http://schemas.openxmlformats.org/drawingml/2006/main" noGrp="1"/>
          </p:cNvSpPr>
          <p:nvPr/>
        </p:nvSpPr>
        <p:spPr>
          <a:xfrm xmlns:a="http://schemas.openxmlformats.org/drawingml/2006/main">
            <a:off x="8007287" y="2052399"/>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5" name="">
            <a:extLst xmlns:a="http://schemas.openxmlformats.org/drawingml/2006/main">
              <a:ext uri="{FF2B5EF4-FFF2-40B4-BE49-F238E27FC236}">
                <a16:creationId xmlns:a16="http://schemas.microsoft.com/office/drawing/2014/main" id="{48EE44D3-C7AD-49DC-944C-382C9028E1F9}"/>
              </a:ext>
            </a:extLst>
          </p:cNvPr>
          <p:cNvSpPr>
            <a:spLocks xmlns:a="http://schemas.openxmlformats.org/drawingml/2006/main" noGrp="1"/>
          </p:cNvSpPr>
          <p:nvPr/>
        </p:nvSpPr>
        <p:spPr>
          <a:xfrm xmlns:a="http://schemas.openxmlformats.org/drawingml/2006/main">
            <a:off x="8460105" y="2186559"/>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6" name="">
            <a:extLst xmlns:a="http://schemas.openxmlformats.org/drawingml/2006/main">
              <a:ext uri="{FF2B5EF4-FFF2-40B4-BE49-F238E27FC236}">
                <a16:creationId xmlns:a16="http://schemas.microsoft.com/office/drawing/2014/main" id="{656AD83E-97D9-4619-A02B-F1207E6B1ED7}"/>
              </a:ext>
            </a:extLst>
          </p:cNvPr>
          <p:cNvSpPr>
            <a:spLocks xmlns:a="http://schemas.openxmlformats.org/drawingml/2006/main" noGrp="1"/>
          </p:cNvSpPr>
          <p:nvPr/>
        </p:nvSpPr>
        <p:spPr>
          <a:xfrm xmlns:a="http://schemas.openxmlformats.org/drawingml/2006/main">
            <a:off x="8460105" y="2272284"/>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7" name="">
            <a:extLst xmlns:a="http://schemas.openxmlformats.org/drawingml/2006/main">
              <a:ext uri="{FF2B5EF4-FFF2-40B4-BE49-F238E27FC236}">
                <a16:creationId xmlns:a16="http://schemas.microsoft.com/office/drawing/2014/main" id="{274843BD-6354-49F9-9BB1-42400CAC56F5}"/>
              </a:ext>
            </a:extLst>
          </p:cNvPr>
          <p:cNvSpPr>
            <a:spLocks xmlns:a="http://schemas.openxmlformats.org/drawingml/2006/main" noGrp="1"/>
          </p:cNvSpPr>
          <p:nvPr/>
        </p:nvSpPr>
        <p:spPr>
          <a:xfrm xmlns:a="http://schemas.openxmlformats.org/drawingml/2006/main">
            <a:off x="8631555" y="2272284"/>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8" name="">
            <a:extLst xmlns:a="http://schemas.openxmlformats.org/drawingml/2006/main">
              <a:ext uri="{FF2B5EF4-FFF2-40B4-BE49-F238E27FC236}">
                <a16:creationId xmlns:a16="http://schemas.microsoft.com/office/drawing/2014/main" id="{BCA88C78-FD84-4844-8D1E-D865D60C353F}"/>
              </a:ext>
            </a:extLst>
          </p:cNvPr>
          <p:cNvSpPr>
            <a:spLocks xmlns:a="http://schemas.openxmlformats.org/drawingml/2006/main" noGrp="1"/>
          </p:cNvSpPr>
          <p:nvPr/>
        </p:nvSpPr>
        <p:spPr>
          <a:xfrm xmlns:a="http://schemas.openxmlformats.org/drawingml/2006/main">
            <a:off x="8266367" y="2536746"/>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69" name="">
            <a:extLst xmlns:a="http://schemas.openxmlformats.org/drawingml/2006/main">
              <a:ext uri="{FF2B5EF4-FFF2-40B4-BE49-F238E27FC236}">
                <a16:creationId xmlns:a16="http://schemas.microsoft.com/office/drawing/2014/main" id="{BD1C9FC3-06F7-4FB5-B08B-3548D729563B}"/>
              </a:ext>
            </a:extLst>
          </p:cNvPr>
          <p:cNvSpPr>
            <a:spLocks xmlns:a="http://schemas.openxmlformats.org/drawingml/2006/main" noGrp="1"/>
          </p:cNvSpPr>
          <p:nvPr/>
        </p:nvSpPr>
        <p:spPr>
          <a:xfrm xmlns:a="http://schemas.openxmlformats.org/drawingml/2006/main">
            <a:off x="8266367" y="2622471"/>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70" name="">
            <a:extLst xmlns:a="http://schemas.openxmlformats.org/drawingml/2006/main">
              <a:ext uri="{FF2B5EF4-FFF2-40B4-BE49-F238E27FC236}">
                <a16:creationId xmlns:a16="http://schemas.microsoft.com/office/drawing/2014/main" id="{DF169421-A1BC-41F6-887C-79F9F031AA7F}"/>
              </a:ext>
            </a:extLst>
          </p:cNvPr>
          <p:cNvSpPr>
            <a:spLocks xmlns:a="http://schemas.openxmlformats.org/drawingml/2006/main" noGrp="1"/>
          </p:cNvSpPr>
          <p:nvPr/>
        </p:nvSpPr>
        <p:spPr>
          <a:xfrm xmlns:a="http://schemas.openxmlformats.org/drawingml/2006/main">
            <a:off x="8437817" y="2622471"/>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71" name="">
            <a:extLst xmlns:a="http://schemas.openxmlformats.org/drawingml/2006/main">
              <a:ext uri="{FF2B5EF4-FFF2-40B4-BE49-F238E27FC236}">
                <a16:creationId xmlns:a16="http://schemas.microsoft.com/office/drawing/2014/main" id="{93825C8D-A623-48EE-9134-BBF69889462A}"/>
              </a:ext>
            </a:extLst>
          </p:cNvPr>
          <p:cNvSpPr>
            <a:spLocks xmlns:a="http://schemas.openxmlformats.org/drawingml/2006/main" noGrp="1"/>
          </p:cNvSpPr>
          <p:nvPr/>
        </p:nvSpPr>
        <p:spPr>
          <a:xfrm xmlns:a="http://schemas.openxmlformats.org/drawingml/2006/main">
            <a:off x="7319201" y="2390156"/>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72" name="">
            <a:extLst xmlns:a="http://schemas.openxmlformats.org/drawingml/2006/main">
              <a:ext uri="{FF2B5EF4-FFF2-40B4-BE49-F238E27FC236}">
                <a16:creationId xmlns:a16="http://schemas.microsoft.com/office/drawing/2014/main" id="{32646CB6-EA8F-428C-A4E9-A9B6085CEFBD}"/>
              </a:ext>
            </a:extLst>
          </p:cNvPr>
          <p:cNvSpPr>
            <a:spLocks xmlns:a="http://schemas.openxmlformats.org/drawingml/2006/main" noGrp="1"/>
          </p:cNvSpPr>
          <p:nvPr/>
        </p:nvSpPr>
        <p:spPr>
          <a:xfrm xmlns:a="http://schemas.openxmlformats.org/drawingml/2006/main">
            <a:off x="7319201" y="2475881"/>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73" name="">
            <a:extLst xmlns:a="http://schemas.openxmlformats.org/drawingml/2006/main">
              <a:ext uri="{FF2B5EF4-FFF2-40B4-BE49-F238E27FC236}">
                <a16:creationId xmlns:a16="http://schemas.microsoft.com/office/drawing/2014/main" id="{3B150D57-2264-4834-A9EA-74375EE39D1C}"/>
              </a:ext>
            </a:extLst>
          </p:cNvPr>
          <p:cNvSpPr>
            <a:spLocks xmlns:a="http://schemas.openxmlformats.org/drawingml/2006/main" noGrp="1"/>
          </p:cNvSpPr>
          <p:nvPr/>
        </p:nvSpPr>
        <p:spPr>
          <a:xfrm xmlns:a="http://schemas.openxmlformats.org/drawingml/2006/main">
            <a:off x="7490651" y="2475881"/>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74" name="">
            <a:extLst xmlns:a="http://schemas.openxmlformats.org/drawingml/2006/main">
              <a:ext uri="{FF2B5EF4-FFF2-40B4-BE49-F238E27FC236}">
                <a16:creationId xmlns:a16="http://schemas.microsoft.com/office/drawing/2014/main" id="{FEB5779A-6E7E-49A1-838B-DF8D4DFE965F}"/>
              </a:ext>
            </a:extLst>
          </p:cNvPr>
          <p:cNvSpPr>
            <a:spLocks xmlns:a="http://schemas.openxmlformats.org/drawingml/2006/main" noGrp="1"/>
          </p:cNvSpPr>
          <p:nvPr/>
        </p:nvSpPr>
        <p:spPr>
          <a:xfrm xmlns:a="http://schemas.openxmlformats.org/drawingml/2006/main">
            <a:off x="10086975" y="2500313"/>
            <a:ext cx="219075" cy="95"/>
          </a:xfrm>
          <a:custGeom xmlns:a="http://schemas.openxmlformats.org/drawingml/2006/main">
            <a:pathLst>
              <a:path w="219075" h="95">
                <a:moveTo>
                  <a:pt x="0" y="0"/>
                </a:moveTo>
                <a:lnTo>
                  <a:pt x="219075" y="0"/>
                </a:lnTo>
              </a:path>
            </a:pathLst>
          </a:custGeom>
          <a:noFill xmlns:a="http://schemas.openxmlformats.org/drawingml/2006/main"/>
          <a:ln xmlns:a="http://schemas.openxmlformats.org/drawingml/2006/main" w="5715">
            <a:solidFill>
              <a:srgbClr val="B6B6B6"/>
            </a:solidFill>
            <a:prstDash val="solid"/>
          </a:ln>
        </p:spPr>
      </p:sp>
      <p:sp>
        <p:nvSpPr>
          <p:cNvPr id="75" name="">
            <a:extLst xmlns:a="http://schemas.openxmlformats.org/drawingml/2006/main">
              <a:ext uri="{FF2B5EF4-FFF2-40B4-BE49-F238E27FC236}">
                <a16:creationId xmlns:a16="http://schemas.microsoft.com/office/drawing/2014/main" id="{EAC6F2BB-8116-4C5A-868E-189D827F6BF6}"/>
              </a:ext>
            </a:extLst>
          </p:cNvPr>
          <p:cNvSpPr>
            <a:spLocks xmlns:a="http://schemas.openxmlformats.org/drawingml/2006/main" noGrp="1"/>
          </p:cNvSpPr>
          <p:nvPr/>
        </p:nvSpPr>
        <p:spPr>
          <a:xfrm xmlns:a="http://schemas.openxmlformats.org/drawingml/2006/main" rot="0">
            <a:off x="10382250" y="2309813"/>
            <a:ext cx="15621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Recorded</a:t>
            </a:r>
          </a:p>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support</a:t>
            </a:r>
          </a:p>
        </p:txBody>
      </p:sp>
      <p:sp>
        <p:nvSpPr>
          <p:cNvPr id="76" name="">
            <a:extLst xmlns:a="http://schemas.openxmlformats.org/drawingml/2006/main">
              <a:ext uri="{FF2B5EF4-FFF2-40B4-BE49-F238E27FC236}">
                <a16:creationId xmlns:a16="http://schemas.microsoft.com/office/drawing/2014/main" id="{82746302-E329-46C4-A16C-86A0142419A4}"/>
              </a:ext>
            </a:extLst>
          </p:cNvPr>
          <p:cNvSpPr>
            <a:spLocks xmlns:a="http://schemas.openxmlformats.org/drawingml/2006/main" noGrp="1"/>
          </p:cNvSpPr>
          <p:nvPr/>
        </p:nvSpPr>
        <p:spPr>
          <a:xfrm xmlns:a="http://schemas.openxmlformats.org/drawingml/2006/main" rot="0">
            <a:off x="10382250" y="2767013"/>
            <a:ext cx="1562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737373"/>
                </a:solidFill>
                <a:latin typeface="DM Sans"/>
                <a:ea typeface="DM Sans"/>
                <a:cs typeface="DM Sans"/>
              </a:defRPr>
            </a:defPPr>
            <a:lvl1pPr algn="l">
              <a:defRPr sz="825" b="0">
                <a:solidFill>
                  <a:srgbClr val="737373"/>
                </a:solidFill>
                <a:latin typeface="DM Sans"/>
                <a:ea typeface="DM Sans"/>
                <a:cs typeface="DM Sans"/>
              </a:defRPr>
            </a:lvl1pPr>
            <a:lvl2pPr algn="l">
              <a:defRPr sz="825" b="0">
                <a:solidFill>
                  <a:srgbClr val="737373"/>
                </a:solidFill>
                <a:latin typeface="DM Sans"/>
                <a:ea typeface="DM Sans"/>
                <a:cs typeface="DM Sans"/>
              </a:defRPr>
            </a:lvl2pPr>
            <a:lvl3pPr algn="l">
              <a:defRPr sz="825" b="0">
                <a:solidFill>
                  <a:srgbClr val="737373"/>
                </a:solidFill>
                <a:latin typeface="DM Sans"/>
                <a:ea typeface="DM Sans"/>
                <a:cs typeface="DM Sans"/>
              </a:defRPr>
            </a:lvl3pPr>
            <a:lvl4pPr algn="l">
              <a:defRPr sz="825" b="0">
                <a:solidFill>
                  <a:srgbClr val="737373"/>
                </a:solidFill>
                <a:latin typeface="DM Sans"/>
                <a:ea typeface="DM Sans"/>
                <a:cs typeface="DM Sans"/>
              </a:defRPr>
            </a:lvl4pPr>
            <a:lvl5pPr algn="l">
              <a:defRPr sz="825" b="0">
                <a:solidFill>
                  <a:srgbClr val="737373"/>
                </a:solidFill>
                <a:latin typeface="DM Sans"/>
                <a:ea typeface="DM Sans"/>
                <a:cs typeface="DM Sans"/>
              </a:defRPr>
            </a:lvl5pPr>
            <a:lvl6pPr algn="l">
              <a:defRPr sz="825" b="0">
                <a:solidFill>
                  <a:srgbClr val="737373"/>
                </a:solidFill>
                <a:latin typeface="DM Sans"/>
                <a:ea typeface="DM Sans"/>
                <a:cs typeface="DM Sans"/>
              </a:defRPr>
            </a:lvl6pPr>
            <a:lvl7pPr algn="l">
              <a:defRPr sz="825" b="0">
                <a:solidFill>
                  <a:srgbClr val="737373"/>
                </a:solidFill>
                <a:latin typeface="DM Sans"/>
                <a:ea typeface="DM Sans"/>
                <a:cs typeface="DM Sans"/>
              </a:defRPr>
            </a:lvl7pPr>
            <a:lvl8pPr algn="l">
              <a:defRPr sz="825" b="0">
                <a:solidFill>
                  <a:srgbClr val="737373"/>
                </a:solidFill>
                <a:latin typeface="DM Sans"/>
                <a:ea typeface="DM Sans"/>
                <a:cs typeface="DM Sans"/>
              </a:defRPr>
            </a:lvl8pPr>
            <a:lvl9pPr algn="l">
              <a:defRPr sz="825" b="0">
                <a:solidFill>
                  <a:srgbClr val="737373"/>
                </a:solidFill>
                <a:latin typeface="DM Sans"/>
                <a:ea typeface="DM Sans"/>
                <a:cs typeface="DM Sans"/>
              </a:defRPr>
            </a:lvl9pPr>
          </a:lstStyle>
          <a:p xmlns:a="http://schemas.openxmlformats.org/drawingml/2006/main">
            <a:pPr algn="l">
              <a:defRPr sz="825" b="0">
                <a:solidFill>
                  <a:srgbClr val="737373"/>
                </a:solidFill>
                <a:latin typeface="DM Sans"/>
                <a:ea typeface="DM Sans"/>
                <a:cs typeface="DM Sans"/>
              </a:defRPr>
            </a:pPr>
            <a:r>
              <a:rPr sz="825" b="0">
                <a:solidFill>
                  <a:srgbClr val="737373"/>
                </a:solidFill>
                <a:latin typeface="DM Sans"/>
                <a:ea typeface="DM Sans"/>
                <a:cs typeface="DM Sans"/>
              </a:rPr>
              <a:t>Simulated</a:t>
            </a:r>
          </a:p>
        </p:txBody>
      </p:sp>
      <p:sp>
        <p:nvSpPr>
          <p:cNvPr id="77" name="">
            <a:extLst xmlns:a="http://schemas.openxmlformats.org/drawingml/2006/main">
              <a:ext uri="{FF2B5EF4-FFF2-40B4-BE49-F238E27FC236}">
                <a16:creationId xmlns:a16="http://schemas.microsoft.com/office/drawing/2014/main" id="{52B5AED8-3C4F-4097-A15B-BBD948940FDD}"/>
              </a:ext>
            </a:extLst>
          </p:cNvPr>
          <p:cNvSpPr>
            <a:spLocks xmlns:a="http://schemas.openxmlformats.org/drawingml/2006/main" noGrp="1"/>
          </p:cNvSpPr>
          <p:nvPr/>
        </p:nvSpPr>
        <p:spPr>
          <a:xfrm xmlns:a="http://schemas.openxmlformats.org/drawingml/2006/main">
            <a:off x="5876925" y="466725"/>
            <a:ext cx="4305300" cy="1628775"/>
          </a:xfrm>
          <a:custGeom xmlns:a="http://schemas.openxmlformats.org/drawingml/2006/main">
            <a:pathLst>
              <a:path w="4305300" h="1628775">
                <a:moveTo>
                  <a:pt x="2152650" y="0"/>
                </a:moveTo>
                <a:lnTo>
                  <a:pt x="4305300" y="814388"/>
                </a:lnTo>
                <a:lnTo>
                  <a:pt x="2152650" y="1628775"/>
                </a:lnTo>
                <a:lnTo>
                  <a:pt x="0" y="814388"/>
                </a:lnTo>
                <a:close/>
              </a:path>
            </a:pathLst>
          </a:custGeom>
          <a:solidFill xmlns:a="http://schemas.openxmlformats.org/drawingml/2006/main">
            <a:srgbClr val="FAFAFA"/>
          </a:solidFill>
          <a:ln xmlns:a="http://schemas.openxmlformats.org/drawingml/2006/main" w="7144">
            <a:solidFill>
              <a:srgbClr val="B6B6B6"/>
            </a:solidFill>
            <a:prstDash val="solid"/>
          </a:ln>
        </p:spPr>
      </p:sp>
      <p:sp>
        <p:nvSpPr>
          <p:cNvPr id="78" name="">
            <a:extLst xmlns:a="http://schemas.openxmlformats.org/drawingml/2006/main">
              <a:ext uri="{FF2B5EF4-FFF2-40B4-BE49-F238E27FC236}">
                <a16:creationId xmlns:a16="http://schemas.microsoft.com/office/drawing/2014/main" id="{2E1042EA-5D60-4FC2-B3CF-B6A2A9F7D1D1}"/>
              </a:ext>
            </a:extLst>
          </p:cNvPr>
          <p:cNvSpPr>
            <a:spLocks xmlns:a="http://schemas.openxmlformats.org/drawingml/2006/main" noGrp="1"/>
          </p:cNvSpPr>
          <p:nvPr/>
        </p:nvSpPr>
        <p:spPr>
          <a:xfrm xmlns:a="http://schemas.openxmlformats.org/drawingml/2006/main">
            <a:off x="7599045" y="629603"/>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79" name="">
            <a:extLst xmlns:a="http://schemas.openxmlformats.org/drawingml/2006/main">
              <a:ext uri="{FF2B5EF4-FFF2-40B4-BE49-F238E27FC236}">
                <a16:creationId xmlns:a16="http://schemas.microsoft.com/office/drawing/2014/main" id="{2AE615C2-798D-4A1C-A832-8CFA3A2DDC82}"/>
              </a:ext>
            </a:extLst>
          </p:cNvPr>
          <p:cNvSpPr>
            <a:spLocks xmlns:a="http://schemas.openxmlformats.org/drawingml/2006/main" noGrp="1"/>
          </p:cNvSpPr>
          <p:nvPr/>
        </p:nvSpPr>
        <p:spPr>
          <a:xfrm xmlns:a="http://schemas.openxmlformats.org/drawingml/2006/main">
            <a:off x="6307455" y="629603"/>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80" name="">
            <a:extLst xmlns:a="http://schemas.openxmlformats.org/drawingml/2006/main">
              <a:ext uri="{FF2B5EF4-FFF2-40B4-BE49-F238E27FC236}">
                <a16:creationId xmlns:a16="http://schemas.microsoft.com/office/drawing/2014/main" id="{08FAB7F5-F8A2-45A3-B244-5B36B24F3A1C}"/>
              </a:ext>
            </a:extLst>
          </p:cNvPr>
          <p:cNvSpPr>
            <a:spLocks xmlns:a="http://schemas.openxmlformats.org/drawingml/2006/main" noGrp="1"/>
          </p:cNvSpPr>
          <p:nvPr/>
        </p:nvSpPr>
        <p:spPr>
          <a:xfrm xmlns:a="http://schemas.openxmlformats.org/drawingml/2006/main">
            <a:off x="7168515" y="792480"/>
            <a:ext cx="2152650" cy="814387"/>
          </a:xfrm>
          <a:custGeom xmlns:a="http://schemas.openxmlformats.org/drawingml/2006/main">
            <a:pathLst>
              <a:path w="2152650" h="814387">
                <a:moveTo>
                  <a:pt x="0" y="0"/>
                </a:moveTo>
                <a:lnTo>
                  <a:pt x="2152650" y="814387"/>
                </a:lnTo>
              </a:path>
            </a:pathLst>
          </a:custGeom>
          <a:noFill xmlns:a="http://schemas.openxmlformats.org/drawingml/2006/main"/>
          <a:ln xmlns:a="http://schemas.openxmlformats.org/drawingml/2006/main" w="3334">
            <a:solidFill>
              <a:srgbClr val="B6B6B6"/>
            </a:solidFill>
            <a:prstDash val="solid"/>
          </a:ln>
        </p:spPr>
      </p:sp>
      <p:sp>
        <p:nvSpPr>
          <p:cNvPr id="81" name="">
            <a:extLst xmlns:a="http://schemas.openxmlformats.org/drawingml/2006/main">
              <a:ext uri="{FF2B5EF4-FFF2-40B4-BE49-F238E27FC236}">
                <a16:creationId xmlns:a16="http://schemas.microsoft.com/office/drawing/2014/main" id="{96DEC222-0340-4DA5-8890-A42D16FBACE2}"/>
              </a:ext>
            </a:extLst>
          </p:cNvPr>
          <p:cNvSpPr>
            <a:spLocks xmlns:a="http://schemas.openxmlformats.org/drawingml/2006/main" noGrp="1"/>
          </p:cNvSpPr>
          <p:nvPr/>
        </p:nvSpPr>
        <p:spPr>
          <a:xfrm xmlns:a="http://schemas.openxmlformats.org/drawingml/2006/main">
            <a:off x="6737985" y="792480"/>
            <a:ext cx="2152650" cy="814387"/>
          </a:xfrm>
          <a:custGeom xmlns:a="http://schemas.openxmlformats.org/drawingml/2006/main">
            <a:pathLst>
              <a:path w="2152650" h="814387">
                <a:moveTo>
                  <a:pt x="2152650" y="0"/>
                </a:moveTo>
                <a:lnTo>
                  <a:pt x="0" y="814387"/>
                </a:lnTo>
              </a:path>
            </a:pathLst>
          </a:custGeom>
          <a:noFill xmlns:a="http://schemas.openxmlformats.org/drawingml/2006/main"/>
          <a:ln xmlns:a="http://schemas.openxmlformats.org/drawingml/2006/main" w="3334">
            <a:solidFill>
              <a:srgbClr val="B6B6B6"/>
            </a:solidFill>
            <a:prstDash val="solid"/>
          </a:ln>
        </p:spPr>
      </p:sp>
      <p:sp>
        <p:nvSpPr>
          <p:cNvPr id="82" name="">
            <a:extLst xmlns:a="http://schemas.openxmlformats.org/drawingml/2006/main">
              <a:ext uri="{FF2B5EF4-FFF2-40B4-BE49-F238E27FC236}">
                <a16:creationId xmlns:a16="http://schemas.microsoft.com/office/drawing/2014/main" id="{E35529CD-6966-4D4A-80BD-DF308B87B8B1}"/>
              </a:ext>
            </a:extLst>
          </p:cNvPr>
          <p:cNvSpPr>
            <a:spLocks xmlns:a="http://schemas.openxmlformats.org/drawingml/2006/main" noGrp="1"/>
          </p:cNvSpPr>
          <p:nvPr/>
        </p:nvSpPr>
        <p:spPr>
          <a:xfrm xmlns:a="http://schemas.openxmlformats.org/drawingml/2006/main">
            <a:off x="6737985" y="955358"/>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83" name="">
            <a:extLst xmlns:a="http://schemas.openxmlformats.org/drawingml/2006/main">
              <a:ext uri="{FF2B5EF4-FFF2-40B4-BE49-F238E27FC236}">
                <a16:creationId xmlns:a16="http://schemas.microsoft.com/office/drawing/2014/main" id="{24129A9E-2A2D-4785-9BCD-21C937F48E9C}"/>
              </a:ext>
            </a:extLst>
          </p:cNvPr>
          <p:cNvSpPr>
            <a:spLocks xmlns:a="http://schemas.openxmlformats.org/drawingml/2006/main" noGrp="1"/>
          </p:cNvSpPr>
          <p:nvPr/>
        </p:nvSpPr>
        <p:spPr>
          <a:xfrm xmlns:a="http://schemas.openxmlformats.org/drawingml/2006/main">
            <a:off x="7168515" y="955358"/>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84" name="">
            <a:extLst xmlns:a="http://schemas.openxmlformats.org/drawingml/2006/main">
              <a:ext uri="{FF2B5EF4-FFF2-40B4-BE49-F238E27FC236}">
                <a16:creationId xmlns:a16="http://schemas.microsoft.com/office/drawing/2014/main" id="{EAFB6E22-C250-48F0-9834-F61170D3609F}"/>
              </a:ext>
            </a:extLst>
          </p:cNvPr>
          <p:cNvSpPr>
            <a:spLocks xmlns:a="http://schemas.openxmlformats.org/drawingml/2006/main" noGrp="1"/>
          </p:cNvSpPr>
          <p:nvPr/>
        </p:nvSpPr>
        <p:spPr>
          <a:xfrm xmlns:a="http://schemas.openxmlformats.org/drawingml/2006/main">
            <a:off x="6307455" y="1118235"/>
            <a:ext cx="2152650" cy="814388"/>
          </a:xfrm>
          <a:custGeom xmlns:a="http://schemas.openxmlformats.org/drawingml/2006/main">
            <a:pathLst>
              <a:path w="2152650" h="814388">
                <a:moveTo>
                  <a:pt x="0" y="0"/>
                </a:moveTo>
                <a:lnTo>
                  <a:pt x="2152650" y="814388"/>
                </a:lnTo>
              </a:path>
            </a:pathLst>
          </a:custGeom>
          <a:noFill xmlns:a="http://schemas.openxmlformats.org/drawingml/2006/main"/>
          <a:ln xmlns:a="http://schemas.openxmlformats.org/drawingml/2006/main" w="3334">
            <a:solidFill>
              <a:srgbClr val="B6B6B6"/>
            </a:solidFill>
            <a:prstDash val="solid"/>
          </a:ln>
        </p:spPr>
      </p:sp>
      <p:sp>
        <p:nvSpPr>
          <p:cNvPr id="85" name="">
            <a:extLst xmlns:a="http://schemas.openxmlformats.org/drawingml/2006/main">
              <a:ext uri="{FF2B5EF4-FFF2-40B4-BE49-F238E27FC236}">
                <a16:creationId xmlns:a16="http://schemas.microsoft.com/office/drawing/2014/main" id="{0BE017D9-381D-4A8D-A8DE-599464A7A817}"/>
              </a:ext>
            </a:extLst>
          </p:cNvPr>
          <p:cNvSpPr>
            <a:spLocks xmlns:a="http://schemas.openxmlformats.org/drawingml/2006/main" noGrp="1"/>
          </p:cNvSpPr>
          <p:nvPr/>
        </p:nvSpPr>
        <p:spPr>
          <a:xfrm xmlns:a="http://schemas.openxmlformats.org/drawingml/2006/main">
            <a:off x="7599045" y="1118235"/>
            <a:ext cx="2152650" cy="814388"/>
          </a:xfrm>
          <a:custGeom xmlns:a="http://schemas.openxmlformats.org/drawingml/2006/main">
            <a:pathLst>
              <a:path w="2152650" h="814388">
                <a:moveTo>
                  <a:pt x="2152650" y="0"/>
                </a:moveTo>
                <a:lnTo>
                  <a:pt x="0" y="814388"/>
                </a:lnTo>
              </a:path>
            </a:pathLst>
          </a:custGeom>
          <a:noFill xmlns:a="http://schemas.openxmlformats.org/drawingml/2006/main"/>
          <a:ln xmlns:a="http://schemas.openxmlformats.org/drawingml/2006/main" w="3334">
            <a:solidFill>
              <a:srgbClr val="B6B6B6"/>
            </a:solidFill>
            <a:prstDash val="solid"/>
          </a:ln>
        </p:spPr>
      </p:sp>
      <p:sp>
        <p:nvSpPr>
          <p:cNvPr id="86" name="">
            <a:extLst xmlns:a="http://schemas.openxmlformats.org/drawingml/2006/main">
              <a:ext uri="{FF2B5EF4-FFF2-40B4-BE49-F238E27FC236}">
                <a16:creationId xmlns:a16="http://schemas.microsoft.com/office/drawing/2014/main" id="{9735249F-5C72-4D62-BA32-C8EC9C38E5F0}"/>
              </a:ext>
            </a:extLst>
          </p:cNvPr>
          <p:cNvSpPr>
            <a:spLocks xmlns:a="http://schemas.openxmlformats.org/drawingml/2006/main" noGrp="1"/>
          </p:cNvSpPr>
          <p:nvPr/>
        </p:nvSpPr>
        <p:spPr>
          <a:xfrm xmlns:a="http://schemas.openxmlformats.org/drawingml/2006/main">
            <a:off x="7835837" y="747474"/>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87" name="">
            <a:extLst xmlns:a="http://schemas.openxmlformats.org/drawingml/2006/main">
              <a:ext uri="{FF2B5EF4-FFF2-40B4-BE49-F238E27FC236}">
                <a16:creationId xmlns:a16="http://schemas.microsoft.com/office/drawing/2014/main" id="{5FA249F1-646E-4C59-8B7F-36875E1A410A}"/>
              </a:ext>
            </a:extLst>
          </p:cNvPr>
          <p:cNvSpPr>
            <a:spLocks xmlns:a="http://schemas.openxmlformats.org/drawingml/2006/main" noGrp="1"/>
          </p:cNvSpPr>
          <p:nvPr/>
        </p:nvSpPr>
        <p:spPr>
          <a:xfrm xmlns:a="http://schemas.openxmlformats.org/drawingml/2006/main">
            <a:off x="7835837" y="833199"/>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88" name="">
            <a:extLst xmlns:a="http://schemas.openxmlformats.org/drawingml/2006/main">
              <a:ext uri="{FF2B5EF4-FFF2-40B4-BE49-F238E27FC236}">
                <a16:creationId xmlns:a16="http://schemas.microsoft.com/office/drawing/2014/main" id="{4F469F21-FED3-41E0-B75D-9D8AA65BF23D}"/>
              </a:ext>
            </a:extLst>
          </p:cNvPr>
          <p:cNvSpPr>
            <a:spLocks xmlns:a="http://schemas.openxmlformats.org/drawingml/2006/main" noGrp="1"/>
          </p:cNvSpPr>
          <p:nvPr/>
        </p:nvSpPr>
        <p:spPr>
          <a:xfrm xmlns:a="http://schemas.openxmlformats.org/drawingml/2006/main">
            <a:off x="8007287" y="833199"/>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89" name="">
            <a:extLst xmlns:a="http://schemas.openxmlformats.org/drawingml/2006/main">
              <a:ext uri="{FF2B5EF4-FFF2-40B4-BE49-F238E27FC236}">
                <a16:creationId xmlns:a16="http://schemas.microsoft.com/office/drawing/2014/main" id="{B3AB31D6-DFC6-4BAD-B750-EF0463AE86E4}"/>
              </a:ext>
            </a:extLst>
          </p:cNvPr>
          <p:cNvSpPr>
            <a:spLocks xmlns:a="http://schemas.openxmlformats.org/drawingml/2006/main" noGrp="1"/>
          </p:cNvSpPr>
          <p:nvPr/>
        </p:nvSpPr>
        <p:spPr>
          <a:xfrm xmlns:a="http://schemas.openxmlformats.org/drawingml/2006/main">
            <a:off x="8460105" y="967359"/>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0" name="">
            <a:extLst xmlns:a="http://schemas.openxmlformats.org/drawingml/2006/main">
              <a:ext uri="{FF2B5EF4-FFF2-40B4-BE49-F238E27FC236}">
                <a16:creationId xmlns:a16="http://schemas.microsoft.com/office/drawing/2014/main" id="{57B32966-DADD-4A20-BCE1-B5CB245AE82D}"/>
              </a:ext>
            </a:extLst>
          </p:cNvPr>
          <p:cNvSpPr>
            <a:spLocks xmlns:a="http://schemas.openxmlformats.org/drawingml/2006/main" noGrp="1"/>
          </p:cNvSpPr>
          <p:nvPr/>
        </p:nvSpPr>
        <p:spPr>
          <a:xfrm xmlns:a="http://schemas.openxmlformats.org/drawingml/2006/main">
            <a:off x="8460105" y="1053084"/>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1" name="">
            <a:extLst xmlns:a="http://schemas.openxmlformats.org/drawingml/2006/main">
              <a:ext uri="{FF2B5EF4-FFF2-40B4-BE49-F238E27FC236}">
                <a16:creationId xmlns:a16="http://schemas.microsoft.com/office/drawing/2014/main" id="{508533FD-E850-4ADD-B6A9-33EBBD3E74D3}"/>
              </a:ext>
            </a:extLst>
          </p:cNvPr>
          <p:cNvSpPr>
            <a:spLocks xmlns:a="http://schemas.openxmlformats.org/drawingml/2006/main" noGrp="1"/>
          </p:cNvSpPr>
          <p:nvPr/>
        </p:nvSpPr>
        <p:spPr>
          <a:xfrm xmlns:a="http://schemas.openxmlformats.org/drawingml/2006/main">
            <a:off x="8631555" y="1053084"/>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2" name="">
            <a:extLst xmlns:a="http://schemas.openxmlformats.org/drawingml/2006/main">
              <a:ext uri="{FF2B5EF4-FFF2-40B4-BE49-F238E27FC236}">
                <a16:creationId xmlns:a16="http://schemas.microsoft.com/office/drawing/2014/main" id="{03020435-0845-4275-B5CD-8935D0FE2509}"/>
              </a:ext>
            </a:extLst>
          </p:cNvPr>
          <p:cNvSpPr>
            <a:spLocks xmlns:a="http://schemas.openxmlformats.org/drawingml/2006/main" noGrp="1"/>
          </p:cNvSpPr>
          <p:nvPr/>
        </p:nvSpPr>
        <p:spPr>
          <a:xfrm xmlns:a="http://schemas.openxmlformats.org/drawingml/2006/main">
            <a:off x="8266367" y="1317546"/>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3" name="">
            <a:extLst xmlns:a="http://schemas.openxmlformats.org/drawingml/2006/main">
              <a:ext uri="{FF2B5EF4-FFF2-40B4-BE49-F238E27FC236}">
                <a16:creationId xmlns:a16="http://schemas.microsoft.com/office/drawing/2014/main" id="{1CBFA71B-31BD-4F2A-B1C8-D51DC9DEBDDB}"/>
              </a:ext>
            </a:extLst>
          </p:cNvPr>
          <p:cNvSpPr>
            <a:spLocks xmlns:a="http://schemas.openxmlformats.org/drawingml/2006/main" noGrp="1"/>
          </p:cNvSpPr>
          <p:nvPr/>
        </p:nvSpPr>
        <p:spPr>
          <a:xfrm xmlns:a="http://schemas.openxmlformats.org/drawingml/2006/main">
            <a:off x="8266367" y="1403271"/>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4" name="">
            <a:extLst xmlns:a="http://schemas.openxmlformats.org/drawingml/2006/main">
              <a:ext uri="{FF2B5EF4-FFF2-40B4-BE49-F238E27FC236}">
                <a16:creationId xmlns:a16="http://schemas.microsoft.com/office/drawing/2014/main" id="{C0C0A1D6-AD41-4DBB-BC42-65800A538159}"/>
              </a:ext>
            </a:extLst>
          </p:cNvPr>
          <p:cNvSpPr>
            <a:spLocks xmlns:a="http://schemas.openxmlformats.org/drawingml/2006/main" noGrp="1"/>
          </p:cNvSpPr>
          <p:nvPr/>
        </p:nvSpPr>
        <p:spPr>
          <a:xfrm xmlns:a="http://schemas.openxmlformats.org/drawingml/2006/main">
            <a:off x="8437817" y="1403271"/>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5" name="">
            <a:extLst xmlns:a="http://schemas.openxmlformats.org/drawingml/2006/main">
              <a:ext uri="{FF2B5EF4-FFF2-40B4-BE49-F238E27FC236}">
                <a16:creationId xmlns:a16="http://schemas.microsoft.com/office/drawing/2014/main" id="{5D50100F-3E17-43C7-8BF4-23AB6CBD8509}"/>
              </a:ext>
            </a:extLst>
          </p:cNvPr>
          <p:cNvSpPr>
            <a:spLocks xmlns:a="http://schemas.openxmlformats.org/drawingml/2006/main" noGrp="1"/>
          </p:cNvSpPr>
          <p:nvPr/>
        </p:nvSpPr>
        <p:spPr>
          <a:xfrm xmlns:a="http://schemas.openxmlformats.org/drawingml/2006/main">
            <a:off x="7319201" y="1170956"/>
            <a:ext cx="342900" cy="171450"/>
          </a:xfrm>
          <a:custGeom xmlns:a="http://schemas.openxmlformats.org/drawingml/2006/main">
            <a:pathLst>
              <a:path w="342900" h="171450">
                <a:moveTo>
                  <a:pt x="0" y="85725"/>
                </a:moveTo>
                <a:lnTo>
                  <a:pt x="171450" y="0"/>
                </a:lnTo>
                <a:lnTo>
                  <a:pt x="342900" y="85725"/>
                </a:lnTo>
                <a:lnTo>
                  <a:pt x="171450" y="17145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6" name="">
            <a:extLst xmlns:a="http://schemas.openxmlformats.org/drawingml/2006/main">
              <a:ext uri="{FF2B5EF4-FFF2-40B4-BE49-F238E27FC236}">
                <a16:creationId xmlns:a16="http://schemas.microsoft.com/office/drawing/2014/main" id="{104041EF-C693-4DA6-A54F-47645B56036F}"/>
              </a:ext>
            </a:extLst>
          </p:cNvPr>
          <p:cNvSpPr>
            <a:spLocks xmlns:a="http://schemas.openxmlformats.org/drawingml/2006/main" noGrp="1"/>
          </p:cNvSpPr>
          <p:nvPr/>
        </p:nvSpPr>
        <p:spPr>
          <a:xfrm xmlns:a="http://schemas.openxmlformats.org/drawingml/2006/main">
            <a:off x="7319201" y="1256681"/>
            <a:ext cx="171450" cy="314325"/>
          </a:xfrm>
          <a:custGeom xmlns:a="http://schemas.openxmlformats.org/drawingml/2006/main">
            <a:pathLst>
              <a:path w="171450" h="314325">
                <a:moveTo>
                  <a:pt x="0" y="0"/>
                </a:moveTo>
                <a:lnTo>
                  <a:pt x="171450" y="85725"/>
                </a:lnTo>
                <a:lnTo>
                  <a:pt x="171450" y="314325"/>
                </a:lnTo>
                <a:lnTo>
                  <a:pt x="0" y="228600"/>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7" name="">
            <a:extLst xmlns:a="http://schemas.openxmlformats.org/drawingml/2006/main">
              <a:ext uri="{FF2B5EF4-FFF2-40B4-BE49-F238E27FC236}">
                <a16:creationId xmlns:a16="http://schemas.microsoft.com/office/drawing/2014/main" id="{8E3CB715-E84C-4013-873F-ED9E6033B252}"/>
              </a:ext>
            </a:extLst>
          </p:cNvPr>
          <p:cNvSpPr>
            <a:spLocks xmlns:a="http://schemas.openxmlformats.org/drawingml/2006/main" noGrp="1"/>
          </p:cNvSpPr>
          <p:nvPr/>
        </p:nvSpPr>
        <p:spPr>
          <a:xfrm xmlns:a="http://schemas.openxmlformats.org/drawingml/2006/main">
            <a:off x="7490651" y="1256681"/>
            <a:ext cx="171450" cy="314325"/>
          </a:xfrm>
          <a:custGeom xmlns:a="http://schemas.openxmlformats.org/drawingml/2006/main">
            <a:pathLst>
              <a:path w="171450" h="314325">
                <a:moveTo>
                  <a:pt x="0" y="85725"/>
                </a:moveTo>
                <a:lnTo>
                  <a:pt x="171450" y="0"/>
                </a:lnTo>
                <a:lnTo>
                  <a:pt x="171450" y="228600"/>
                </a:lnTo>
                <a:lnTo>
                  <a:pt x="0" y="314325"/>
                </a:lnTo>
                <a:close/>
              </a:path>
            </a:pathLst>
          </a:custGeom>
          <a:solidFill xmlns:a="http://schemas.openxmlformats.org/drawingml/2006/main">
            <a:srgbClr val="FAFAFA"/>
          </a:solidFill>
          <a:ln xmlns:a="http://schemas.openxmlformats.org/drawingml/2006/main" w="5239">
            <a:solidFill>
              <a:srgbClr val="B6B6B6"/>
            </a:solidFill>
            <a:prstDash val="solid"/>
          </a:ln>
        </p:spPr>
      </p:sp>
      <p:sp>
        <p:nvSpPr>
          <p:cNvPr id="98" name="">
            <a:extLst xmlns:a="http://schemas.openxmlformats.org/drawingml/2006/main">
              <a:ext uri="{FF2B5EF4-FFF2-40B4-BE49-F238E27FC236}">
                <a16:creationId xmlns:a16="http://schemas.microsoft.com/office/drawing/2014/main" id="{65959E5D-EDC2-46AF-BDFA-E6444B5DE537}"/>
              </a:ext>
            </a:extLst>
          </p:cNvPr>
          <p:cNvSpPr>
            <a:spLocks xmlns:a="http://schemas.openxmlformats.org/drawingml/2006/main" noGrp="1"/>
          </p:cNvSpPr>
          <p:nvPr/>
        </p:nvSpPr>
        <p:spPr>
          <a:xfrm xmlns:a="http://schemas.openxmlformats.org/drawingml/2006/main">
            <a:off x="10086975" y="1281113"/>
            <a:ext cx="219075" cy="95"/>
          </a:xfrm>
          <a:custGeom xmlns:a="http://schemas.openxmlformats.org/drawingml/2006/main">
            <a:pathLst>
              <a:path w="219075" h="95">
                <a:moveTo>
                  <a:pt x="0" y="0"/>
                </a:moveTo>
                <a:lnTo>
                  <a:pt x="219075" y="0"/>
                </a:lnTo>
              </a:path>
            </a:pathLst>
          </a:custGeom>
          <a:noFill xmlns:a="http://schemas.openxmlformats.org/drawingml/2006/main"/>
          <a:ln xmlns:a="http://schemas.openxmlformats.org/drawingml/2006/main" w="5715">
            <a:solidFill>
              <a:srgbClr val="B6B6B6"/>
            </a:solidFill>
            <a:prstDash val="solid"/>
          </a:ln>
        </p:spPr>
      </p:sp>
      <p:sp>
        <p:nvSpPr>
          <p:cNvPr id="99" name="">
            <a:extLst xmlns:a="http://schemas.openxmlformats.org/drawingml/2006/main">
              <a:ext uri="{FF2B5EF4-FFF2-40B4-BE49-F238E27FC236}">
                <a16:creationId xmlns:a16="http://schemas.microsoft.com/office/drawing/2014/main" id="{299D84AA-A14D-428B-98F9-7CA821505D70}"/>
              </a:ext>
            </a:extLst>
          </p:cNvPr>
          <p:cNvSpPr>
            <a:spLocks xmlns:a="http://schemas.openxmlformats.org/drawingml/2006/main" noGrp="1"/>
          </p:cNvSpPr>
          <p:nvPr/>
        </p:nvSpPr>
        <p:spPr>
          <a:xfrm xmlns:a="http://schemas.openxmlformats.org/drawingml/2006/main" rot="0">
            <a:off x="10382250" y="1090613"/>
            <a:ext cx="156210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Observed</a:t>
            </a:r>
          </a:p>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evidence</a:t>
            </a:r>
          </a:p>
        </p:txBody>
      </p:sp>
      <p:sp>
        <p:nvSpPr>
          <p:cNvPr id="100" name="">
            <a:extLst xmlns:a="http://schemas.openxmlformats.org/drawingml/2006/main">
              <a:ext uri="{FF2B5EF4-FFF2-40B4-BE49-F238E27FC236}">
                <a16:creationId xmlns:a16="http://schemas.microsoft.com/office/drawing/2014/main" id="{CA4E5F49-460B-411B-BF26-0309CB93A667}"/>
              </a:ext>
            </a:extLst>
          </p:cNvPr>
          <p:cNvSpPr>
            <a:spLocks xmlns:a="http://schemas.openxmlformats.org/drawingml/2006/main" noGrp="1"/>
          </p:cNvSpPr>
          <p:nvPr/>
        </p:nvSpPr>
        <p:spPr>
          <a:xfrm xmlns:a="http://schemas.openxmlformats.org/drawingml/2006/main" rot="0">
            <a:off x="10382250" y="1547813"/>
            <a:ext cx="15621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25" b="0">
                <a:solidFill>
                  <a:srgbClr val="737373"/>
                </a:solidFill>
                <a:latin typeface="DM Sans"/>
                <a:ea typeface="DM Sans"/>
                <a:cs typeface="DM Sans"/>
              </a:defRPr>
            </a:defPPr>
            <a:lvl1pPr algn="l">
              <a:defRPr sz="825" b="0">
                <a:solidFill>
                  <a:srgbClr val="737373"/>
                </a:solidFill>
                <a:latin typeface="DM Sans"/>
                <a:ea typeface="DM Sans"/>
                <a:cs typeface="DM Sans"/>
              </a:defRPr>
            </a:lvl1pPr>
            <a:lvl2pPr algn="l">
              <a:defRPr sz="825" b="0">
                <a:solidFill>
                  <a:srgbClr val="737373"/>
                </a:solidFill>
                <a:latin typeface="DM Sans"/>
                <a:ea typeface="DM Sans"/>
                <a:cs typeface="DM Sans"/>
              </a:defRPr>
            </a:lvl2pPr>
            <a:lvl3pPr algn="l">
              <a:defRPr sz="825" b="0">
                <a:solidFill>
                  <a:srgbClr val="737373"/>
                </a:solidFill>
                <a:latin typeface="DM Sans"/>
                <a:ea typeface="DM Sans"/>
                <a:cs typeface="DM Sans"/>
              </a:defRPr>
            </a:lvl3pPr>
            <a:lvl4pPr algn="l">
              <a:defRPr sz="825" b="0">
                <a:solidFill>
                  <a:srgbClr val="737373"/>
                </a:solidFill>
                <a:latin typeface="DM Sans"/>
                <a:ea typeface="DM Sans"/>
                <a:cs typeface="DM Sans"/>
              </a:defRPr>
            </a:lvl4pPr>
            <a:lvl5pPr algn="l">
              <a:defRPr sz="825" b="0">
                <a:solidFill>
                  <a:srgbClr val="737373"/>
                </a:solidFill>
                <a:latin typeface="DM Sans"/>
                <a:ea typeface="DM Sans"/>
                <a:cs typeface="DM Sans"/>
              </a:defRPr>
            </a:lvl5pPr>
            <a:lvl6pPr algn="l">
              <a:defRPr sz="825" b="0">
                <a:solidFill>
                  <a:srgbClr val="737373"/>
                </a:solidFill>
                <a:latin typeface="DM Sans"/>
                <a:ea typeface="DM Sans"/>
                <a:cs typeface="DM Sans"/>
              </a:defRPr>
            </a:lvl6pPr>
            <a:lvl7pPr algn="l">
              <a:defRPr sz="825" b="0">
                <a:solidFill>
                  <a:srgbClr val="737373"/>
                </a:solidFill>
                <a:latin typeface="DM Sans"/>
                <a:ea typeface="DM Sans"/>
                <a:cs typeface="DM Sans"/>
              </a:defRPr>
            </a:lvl7pPr>
            <a:lvl8pPr algn="l">
              <a:defRPr sz="825" b="0">
                <a:solidFill>
                  <a:srgbClr val="737373"/>
                </a:solidFill>
                <a:latin typeface="DM Sans"/>
                <a:ea typeface="DM Sans"/>
                <a:cs typeface="DM Sans"/>
              </a:defRPr>
            </a:lvl8pPr>
            <a:lvl9pPr algn="l">
              <a:defRPr sz="825" b="0">
                <a:solidFill>
                  <a:srgbClr val="737373"/>
                </a:solidFill>
                <a:latin typeface="DM Sans"/>
                <a:ea typeface="DM Sans"/>
                <a:cs typeface="DM Sans"/>
              </a:defRPr>
            </a:lvl9pPr>
          </a:lstStyle>
          <a:p xmlns:a="http://schemas.openxmlformats.org/drawingml/2006/main">
            <a:pPr algn="l">
              <a:defRPr sz="825" b="0">
                <a:solidFill>
                  <a:srgbClr val="737373"/>
                </a:solidFill>
                <a:latin typeface="DM Sans"/>
                <a:ea typeface="DM Sans"/>
                <a:cs typeface="DM Sans"/>
              </a:defRPr>
            </a:pPr>
            <a:r>
              <a:rPr sz="825" b="0">
                <a:solidFill>
                  <a:srgbClr val="737373"/>
                </a:solidFill>
                <a:latin typeface="DM Sans"/>
                <a:ea typeface="DM Sans"/>
                <a:cs typeface="DM Sans"/>
              </a:rPr>
              <a:t>Primary assays</a:t>
            </a:r>
          </a:p>
        </p:txBody>
      </p:sp>
      <p:pic>
        <p:nvPicPr>
          <p:cNvPr id="101" name="">
            <a:extLst xmlns:a="http://schemas.openxmlformats.org/drawingml/2006/main">
              <a:ext uri="{FF2B5EF4-FFF2-40B4-BE49-F238E27FC236}">
                <a16:creationId xmlns:a16="http://schemas.microsoft.com/office/drawing/2014/main" id="{E40BB091-2D5C-4119-A2C7-28AFBC6E063B}"/>
              </a:ext>
            </a:extLst>
          </p:cNvPr>
          <p:cNvPicPr>
            <a:picLocks xmlns:a="http://schemas.openxmlformats.org/drawingml/2006/main" noChangeAspect="1"/>
          </p:cNvPicPr>
          <p:nvPr/>
        </p:nvPicPr>
        <p:blipFill>
          <a:blip xmlns:r="http://schemas.openxmlformats.org/officeDocument/2006/relationships" xmlns:a="http://schemas.openxmlformats.org/drawingml/2006/main" r:embed="Ree6c29ce98584a4d"/>
          <a:srcRect xmlns:a="http://schemas.openxmlformats.org/drawingml/2006/main" l="3448" t="0" r="3448" b="0"/>
          <a:stretch xmlns:a="http://schemas.openxmlformats.org/drawingml/2006/main">
            <a:fillRect l="0" t="0" r="0" b="0"/>
          </a:stretch>
        </p:blipFill>
        <p:spPr>
          <a:xfrm xmlns:a="http://schemas.openxmlformats.org/drawingml/2006/main">
            <a:off x="9906000" y="5476875"/>
            <a:ext cx="2286000" cy="1381125"/>
          </a:xfrm>
          <a:prstGeom xmlns:a="http://schemas.openxmlformats.org/drawingml/2006/main" prst="roundRect">
            <a:avLst>
              <a:gd name="adj" fmla="val 16552"/>
            </a:avLst>
          </a:prstGeom>
        </p:spPr>
      </p:pic>
      <p:sp>
        <p:nvSpPr>
          <p:cNvPr id="102" name="">
            <a:extLst xmlns:a="http://schemas.openxmlformats.org/drawingml/2006/main">
              <a:ext uri="{FF2B5EF4-FFF2-40B4-BE49-F238E27FC236}">
                <a16:creationId xmlns:a16="http://schemas.microsoft.com/office/drawing/2014/main" id="{C286B655-1966-4819-A31E-2A6394F844B5}"/>
              </a:ext>
            </a:extLst>
          </p:cNvPr>
          <p:cNvSpPr>
            <a:spLocks xmlns:a="http://schemas.openxmlformats.org/drawingml/2006/main" noGrp="1"/>
          </p:cNvSpPr>
          <p:nvPr/>
        </p:nvSpPr>
        <p:spPr>
          <a:xfrm xmlns:a="http://schemas.openxmlformats.org/drawingml/2006/main">
            <a:off x="5857875" y="1285875"/>
            <a:ext cx="95" cy="2428875"/>
          </a:xfrm>
          <a:custGeom xmlns:a="http://schemas.openxmlformats.org/drawingml/2006/main">
            <a:pathLst>
              <a:path w="95" h="2428875">
                <a:moveTo>
                  <a:pt x="0" y="0"/>
                </a:moveTo>
                <a:lnTo>
                  <a:pt x="0" y="2428875"/>
                </a:lnTo>
              </a:path>
            </a:pathLst>
          </a:custGeom>
          <a:noFill xmlns:a="http://schemas.openxmlformats.org/drawingml/2006/main"/>
          <a:ln xmlns:a="http://schemas.openxmlformats.org/drawingml/2006/main" w="4763">
            <a:solidFill>
              <a:srgbClr val="B6B6B6"/>
            </a:solidFill>
            <a:prstDash val="dot"/>
          </a:ln>
        </p:spPr>
      </p:sp>
      <p:sp>
        <p:nvSpPr>
          <p:cNvPr id="103" name="">
            <a:extLst xmlns:a="http://schemas.openxmlformats.org/drawingml/2006/main">
              <a:ext uri="{FF2B5EF4-FFF2-40B4-BE49-F238E27FC236}">
                <a16:creationId xmlns:a16="http://schemas.microsoft.com/office/drawing/2014/main" id="{4DFE3082-5512-4384-8253-8E8B640C17AF}"/>
              </a:ext>
            </a:extLst>
          </p:cNvPr>
          <p:cNvSpPr>
            <a:spLocks xmlns:a="http://schemas.openxmlformats.org/drawingml/2006/main" noGrp="1"/>
          </p:cNvSpPr>
          <p:nvPr/>
        </p:nvSpPr>
        <p:spPr>
          <a:xfrm xmlns:a="http://schemas.openxmlformats.org/drawingml/2006/main">
            <a:off x="10201275" y="1285875"/>
            <a:ext cx="95" cy="2428875"/>
          </a:xfrm>
          <a:custGeom xmlns:a="http://schemas.openxmlformats.org/drawingml/2006/main">
            <a:pathLst>
              <a:path w="95" h="2428875">
                <a:moveTo>
                  <a:pt x="0" y="0"/>
                </a:moveTo>
                <a:lnTo>
                  <a:pt x="0" y="2428875"/>
                </a:lnTo>
              </a:path>
            </a:pathLst>
          </a:custGeom>
          <a:noFill xmlns:a="http://schemas.openxmlformats.org/drawingml/2006/main"/>
          <a:ln xmlns:a="http://schemas.openxmlformats.org/drawingml/2006/main" w="4763">
            <a:solidFill>
              <a:srgbClr val="B6B6B6"/>
            </a:solidFill>
            <a:prstDash val="dot"/>
          </a:ln>
        </p:spPr>
      </p:sp>
    </p:spTree>
    <p:extLst>
      <p:ext uri="{BB962C8B-B14F-4D97-AF65-F5344CB8AC3E}">
        <p14:creationId xmlns:p14="http://schemas.microsoft.com/office/powerpoint/2010/main" val="1012652714"/>
      </p:ext>
    </p:extLst>
  </p:cSld>
</p:sld>
</file>

<file path=ppt/slides/slide5.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0" name="">
            <a:extLst xmlns:a="http://schemas.openxmlformats.org/drawingml/2006/main">
              <a:ext uri="{FF2B5EF4-FFF2-40B4-BE49-F238E27FC236}">
                <a16:creationId xmlns:a16="http://schemas.microsoft.com/office/drawing/2014/main" id="{CE0E2608-DBD9-4096-9BFD-7B21EF8074B1}"/>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A8BC38A9-C90E-4924-98B9-A9760C81E989}"/>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03</a:t>
            </a:r>
          </a:p>
        </p:txBody>
      </p:sp>
      <p:sp>
        <p:nvSpPr>
          <p:cNvPr id="3" name="">
            <a:extLst xmlns:a="http://schemas.openxmlformats.org/drawingml/2006/main">
              <a:ext uri="{FF2B5EF4-FFF2-40B4-BE49-F238E27FC236}">
                <a16:creationId xmlns:a16="http://schemas.microsoft.com/office/drawing/2014/main" id="{AF168B7A-F347-4F20-A5EC-93AEB44B87D1}"/>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A9D79A9D-997B-49E3-B9E8-E12EC37321FA}"/>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6189B6E2-FBCD-4405-B8C0-D774DCE9B7C2}"/>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715080AE-E998-4536-B21B-78247A38F6BE}"/>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Recorded scenario contrast</a:t>
            </a:r>
          </a:p>
        </p:txBody>
      </p:sp>
      <p:sp>
        <p:nvSpPr>
          <p:cNvPr id="7" name="">
            <a:extLst xmlns:a="http://schemas.openxmlformats.org/drawingml/2006/main">
              <a:ext uri="{FF2B5EF4-FFF2-40B4-BE49-F238E27FC236}">
                <a16:creationId xmlns:a16="http://schemas.microsoft.com/office/drawing/2014/main" id="{E3585B7C-4328-4D13-8F7D-E2C7AA3A451F}"/>
              </a:ext>
            </a:extLst>
          </p:cNvPr>
          <p:cNvSpPr>
            <a:spLocks xmlns:a="http://schemas.openxmlformats.org/drawingml/2006/main" noGrp="1"/>
          </p:cNvSpPr>
          <p:nvPr/>
        </p:nvSpPr>
        <p:spPr>
          <a:xfrm xmlns:a="http://schemas.openxmlformats.org/drawingml/2006/main" rot="0">
            <a:off x="11039475" y="4191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0A0A0A"/>
                </a:solidFill>
                <a:latin typeface="DM Sans"/>
                <a:ea typeface="DM Sans"/>
                <a:cs typeface="DM Sans"/>
              </a:defRPr>
            </a:defPPr>
            <a:lvl1pPr algn="r">
              <a:defRPr sz="900" b="0">
                <a:solidFill>
                  <a:srgbClr val="0A0A0A"/>
                </a:solidFill>
                <a:latin typeface="DM Sans"/>
                <a:ea typeface="DM Sans"/>
                <a:cs typeface="DM Sans"/>
              </a:defRPr>
            </a:lvl1pPr>
            <a:lvl2pPr algn="r">
              <a:defRPr sz="900" b="0">
                <a:solidFill>
                  <a:srgbClr val="0A0A0A"/>
                </a:solidFill>
                <a:latin typeface="DM Sans"/>
                <a:ea typeface="DM Sans"/>
                <a:cs typeface="DM Sans"/>
              </a:defRPr>
            </a:lvl2pPr>
            <a:lvl3pPr algn="r">
              <a:defRPr sz="900" b="0">
                <a:solidFill>
                  <a:srgbClr val="0A0A0A"/>
                </a:solidFill>
                <a:latin typeface="DM Sans"/>
                <a:ea typeface="DM Sans"/>
                <a:cs typeface="DM Sans"/>
              </a:defRPr>
            </a:lvl3pPr>
            <a:lvl4pPr algn="r">
              <a:defRPr sz="900" b="0">
                <a:solidFill>
                  <a:srgbClr val="0A0A0A"/>
                </a:solidFill>
                <a:latin typeface="DM Sans"/>
                <a:ea typeface="DM Sans"/>
                <a:cs typeface="DM Sans"/>
              </a:defRPr>
            </a:lvl4pPr>
            <a:lvl5pPr algn="r">
              <a:defRPr sz="900" b="0">
                <a:solidFill>
                  <a:srgbClr val="0A0A0A"/>
                </a:solidFill>
                <a:latin typeface="DM Sans"/>
                <a:ea typeface="DM Sans"/>
                <a:cs typeface="DM Sans"/>
              </a:defRPr>
            </a:lvl5pPr>
            <a:lvl6pPr algn="r">
              <a:defRPr sz="900" b="0">
                <a:solidFill>
                  <a:srgbClr val="0A0A0A"/>
                </a:solidFill>
                <a:latin typeface="DM Sans"/>
                <a:ea typeface="DM Sans"/>
                <a:cs typeface="DM Sans"/>
              </a:defRPr>
            </a:lvl6pPr>
            <a:lvl7pPr algn="r">
              <a:defRPr sz="900" b="0">
                <a:solidFill>
                  <a:srgbClr val="0A0A0A"/>
                </a:solidFill>
                <a:latin typeface="DM Sans"/>
                <a:ea typeface="DM Sans"/>
                <a:cs typeface="DM Sans"/>
              </a:defRPr>
            </a:lvl7pPr>
            <a:lvl8pPr algn="r">
              <a:defRPr sz="900" b="0">
                <a:solidFill>
                  <a:srgbClr val="0A0A0A"/>
                </a:solidFill>
                <a:latin typeface="DM Sans"/>
                <a:ea typeface="DM Sans"/>
                <a:cs typeface="DM Sans"/>
              </a:defRPr>
            </a:lvl8pPr>
            <a:lvl9pPr algn="r">
              <a:defRPr sz="900" b="0">
                <a:solidFill>
                  <a:srgbClr val="0A0A0A"/>
                </a:solidFill>
                <a:latin typeface="DM Sans"/>
                <a:ea typeface="DM Sans"/>
                <a:cs typeface="DM Sans"/>
              </a:defRPr>
            </a:lvl9pPr>
          </a:lstStyle>
          <a:p xmlns:a="http://schemas.openxmlformats.org/drawingml/2006/main">
            <a:pPr algn="r">
              <a:defRPr sz="900" b="0">
                <a:solidFill>
                  <a:srgbClr val="0A0A0A"/>
                </a:solidFill>
                <a:latin typeface="DM Sans"/>
                <a:ea typeface="DM Sans"/>
                <a:cs typeface="DM Sans"/>
              </a:defRPr>
            </a:pPr>
            <a:r>
              <a:rPr sz="900" b="0">
                <a:solidFill>
                  <a:srgbClr val="0A0A0A"/>
                </a:solidFill>
                <a:latin typeface="DM Sans"/>
                <a:ea typeface="DM Sans"/>
                <a:cs typeface="DM Sans"/>
              </a:rPr>
              <a:t>Orecast</a:t>
            </a:r>
          </a:p>
        </p:txBody>
      </p:sp>
      <p:sp>
        <p:nvSpPr>
          <p:cNvPr id="8" name="">
            <a:extLst xmlns:a="http://schemas.openxmlformats.org/drawingml/2006/main">
              <a:ext uri="{FF2B5EF4-FFF2-40B4-BE49-F238E27FC236}">
                <a16:creationId xmlns:a16="http://schemas.microsoft.com/office/drawing/2014/main" id="{39D95B03-CFD8-4039-91C4-E315FF24BCAB}"/>
              </a:ext>
            </a:extLst>
          </p:cNvPr>
          <p:cNvSpPr>
            <a:spLocks xmlns:a="http://schemas.openxmlformats.org/drawingml/2006/main" noGrp="1"/>
          </p:cNvSpPr>
          <p:nvPr/>
        </p:nvSpPr>
        <p:spPr>
          <a:xfrm xmlns:a="http://schemas.openxmlformats.org/drawingml/2006/main" rot="0">
            <a:off x="400050" y="895350"/>
            <a:ext cx="11287125"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775" b="0">
                <a:solidFill>
                  <a:srgbClr val="0A0A0A"/>
                </a:solidFill>
                <a:latin typeface="DM Sans"/>
                <a:ea typeface="DM Sans"/>
                <a:cs typeface="DM Sans"/>
              </a:defRPr>
            </a:defPPr>
            <a:lvl1pPr algn="l">
              <a:defRPr sz="2775" b="0">
                <a:solidFill>
                  <a:srgbClr val="0A0A0A"/>
                </a:solidFill>
                <a:latin typeface="DM Sans"/>
                <a:ea typeface="DM Sans"/>
                <a:cs typeface="DM Sans"/>
              </a:defRPr>
            </a:lvl1pPr>
            <a:lvl2pPr algn="l">
              <a:defRPr sz="2775" b="0">
                <a:solidFill>
                  <a:srgbClr val="0A0A0A"/>
                </a:solidFill>
                <a:latin typeface="DM Sans"/>
                <a:ea typeface="DM Sans"/>
                <a:cs typeface="DM Sans"/>
              </a:defRPr>
            </a:lvl2pPr>
            <a:lvl3pPr algn="l">
              <a:defRPr sz="2775" b="0">
                <a:solidFill>
                  <a:srgbClr val="0A0A0A"/>
                </a:solidFill>
                <a:latin typeface="DM Sans"/>
                <a:ea typeface="DM Sans"/>
                <a:cs typeface="DM Sans"/>
              </a:defRPr>
            </a:lvl3pPr>
            <a:lvl4pPr algn="l">
              <a:defRPr sz="2775" b="0">
                <a:solidFill>
                  <a:srgbClr val="0A0A0A"/>
                </a:solidFill>
                <a:latin typeface="DM Sans"/>
                <a:ea typeface="DM Sans"/>
                <a:cs typeface="DM Sans"/>
              </a:defRPr>
            </a:lvl4pPr>
            <a:lvl5pPr algn="l">
              <a:defRPr sz="2775" b="0">
                <a:solidFill>
                  <a:srgbClr val="0A0A0A"/>
                </a:solidFill>
                <a:latin typeface="DM Sans"/>
                <a:ea typeface="DM Sans"/>
                <a:cs typeface="DM Sans"/>
              </a:defRPr>
            </a:lvl5pPr>
            <a:lvl6pPr algn="l">
              <a:defRPr sz="2775" b="0">
                <a:solidFill>
                  <a:srgbClr val="0A0A0A"/>
                </a:solidFill>
                <a:latin typeface="DM Sans"/>
                <a:ea typeface="DM Sans"/>
                <a:cs typeface="DM Sans"/>
              </a:defRPr>
            </a:lvl6pPr>
            <a:lvl7pPr algn="l">
              <a:defRPr sz="2775" b="0">
                <a:solidFill>
                  <a:srgbClr val="0A0A0A"/>
                </a:solidFill>
                <a:latin typeface="DM Sans"/>
                <a:ea typeface="DM Sans"/>
                <a:cs typeface="DM Sans"/>
              </a:defRPr>
            </a:lvl7pPr>
            <a:lvl8pPr algn="l">
              <a:defRPr sz="2775" b="0">
                <a:solidFill>
                  <a:srgbClr val="0A0A0A"/>
                </a:solidFill>
                <a:latin typeface="DM Sans"/>
                <a:ea typeface="DM Sans"/>
                <a:cs typeface="DM Sans"/>
              </a:defRPr>
            </a:lvl8pPr>
            <a:lvl9pPr algn="l">
              <a:defRPr sz="2775" b="0">
                <a:solidFill>
                  <a:srgbClr val="0A0A0A"/>
                </a:solidFill>
                <a:latin typeface="DM Sans"/>
                <a:ea typeface="DM Sans"/>
                <a:cs typeface="DM Sans"/>
              </a:defRPr>
            </a:lvl9pPr>
          </a:lstStyle>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Recorded support changes assumed gold.</a:t>
            </a:r>
          </a:p>
          <a:p xmlns:a="http://schemas.openxmlformats.org/drawingml/2006/main">
            <a:pPr algn="l">
              <a:defRPr sz="2775" b="0">
                <a:solidFill>
                  <a:srgbClr val="0A0A0A"/>
                </a:solidFill>
                <a:latin typeface="DM Sans"/>
                <a:ea typeface="DM Sans"/>
                <a:cs typeface="DM Sans"/>
              </a:defRPr>
            </a:pPr>
            <a:r>
              <a:rPr sz="2775" b="0">
                <a:solidFill>
                  <a:srgbClr val="0A0A0A"/>
                </a:solidFill>
                <a:latin typeface="DM Sans"/>
                <a:ea typeface="DM Sans"/>
                <a:cs typeface="DM Sans"/>
              </a:rPr>
              <a:t>The same synthetic contract is held fixed.</a:t>
            </a:r>
          </a:p>
        </p:txBody>
      </p:sp>
      <p:sp>
        <p:nvSpPr>
          <p:cNvPr id="9" name="">
            <a:extLst xmlns:a="http://schemas.openxmlformats.org/drawingml/2006/main">
              <a:ext uri="{FF2B5EF4-FFF2-40B4-BE49-F238E27FC236}">
                <a16:creationId xmlns:a16="http://schemas.microsoft.com/office/drawing/2014/main" id="{9C0DF30B-2D5E-4A55-9C38-AA4D5517461A}"/>
              </a:ext>
            </a:extLst>
          </p:cNvPr>
          <p:cNvSpPr>
            <a:spLocks xmlns:a="http://schemas.openxmlformats.org/drawingml/2006/main" noGrp="1"/>
          </p:cNvSpPr>
          <p:nvPr/>
        </p:nvSpPr>
        <p:spPr>
          <a:xfrm xmlns:a="http://schemas.openxmlformats.org/drawingml/2006/main" rot="0">
            <a:off x="400050" y="2009775"/>
            <a:ext cx="52387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0A0A0A"/>
                </a:solidFill>
                <a:latin typeface="DM Sans"/>
                <a:ea typeface="DM Sans"/>
                <a:cs typeface="DM Sans"/>
              </a:defRPr>
            </a:defPPr>
            <a:lvl1pPr algn="l">
              <a:defRPr sz="1875" b="0">
                <a:solidFill>
                  <a:srgbClr val="0A0A0A"/>
                </a:solidFill>
                <a:latin typeface="DM Sans"/>
                <a:ea typeface="DM Sans"/>
                <a:cs typeface="DM Sans"/>
              </a:defRPr>
            </a:lvl1pPr>
            <a:lvl2pPr algn="l">
              <a:defRPr sz="1875" b="0">
                <a:solidFill>
                  <a:srgbClr val="0A0A0A"/>
                </a:solidFill>
                <a:latin typeface="DM Sans"/>
                <a:ea typeface="DM Sans"/>
                <a:cs typeface="DM Sans"/>
              </a:defRPr>
            </a:lvl2pPr>
            <a:lvl3pPr algn="l">
              <a:defRPr sz="1875" b="0">
                <a:solidFill>
                  <a:srgbClr val="0A0A0A"/>
                </a:solidFill>
                <a:latin typeface="DM Sans"/>
                <a:ea typeface="DM Sans"/>
                <a:cs typeface="DM Sans"/>
              </a:defRPr>
            </a:lvl3pPr>
            <a:lvl4pPr algn="l">
              <a:defRPr sz="1875" b="0">
                <a:solidFill>
                  <a:srgbClr val="0A0A0A"/>
                </a:solidFill>
                <a:latin typeface="DM Sans"/>
                <a:ea typeface="DM Sans"/>
                <a:cs typeface="DM Sans"/>
              </a:defRPr>
            </a:lvl4pPr>
            <a:lvl5pPr algn="l">
              <a:defRPr sz="1875" b="0">
                <a:solidFill>
                  <a:srgbClr val="0A0A0A"/>
                </a:solidFill>
                <a:latin typeface="DM Sans"/>
                <a:ea typeface="DM Sans"/>
                <a:cs typeface="DM Sans"/>
              </a:defRPr>
            </a:lvl5pPr>
            <a:lvl6pPr algn="l">
              <a:defRPr sz="1875" b="0">
                <a:solidFill>
                  <a:srgbClr val="0A0A0A"/>
                </a:solidFill>
                <a:latin typeface="DM Sans"/>
                <a:ea typeface="DM Sans"/>
                <a:cs typeface="DM Sans"/>
              </a:defRPr>
            </a:lvl6pPr>
            <a:lvl7pPr algn="l">
              <a:defRPr sz="1875" b="0">
                <a:solidFill>
                  <a:srgbClr val="0A0A0A"/>
                </a:solidFill>
                <a:latin typeface="DM Sans"/>
                <a:ea typeface="DM Sans"/>
                <a:cs typeface="DM Sans"/>
              </a:defRPr>
            </a:lvl7pPr>
            <a:lvl8pPr algn="l">
              <a:defRPr sz="1875" b="0">
                <a:solidFill>
                  <a:srgbClr val="0A0A0A"/>
                </a:solidFill>
                <a:latin typeface="DM Sans"/>
                <a:ea typeface="DM Sans"/>
                <a:cs typeface="DM Sans"/>
              </a:defRPr>
            </a:lvl8pPr>
            <a:lvl9pPr algn="l">
              <a:defRPr sz="1875" b="0">
                <a:solidFill>
                  <a:srgbClr val="0A0A0A"/>
                </a:solidFill>
                <a:latin typeface="DM Sans"/>
                <a:ea typeface="DM Sans"/>
                <a:cs typeface="DM Sans"/>
              </a:defRPr>
            </a:lvl9pPr>
          </a:lstStyle>
          <a:p xmlns:a="http://schemas.openxmlformats.org/drawingml/2006/main">
            <a:pPr algn="l">
              <a:defRPr sz="1875" b="0">
                <a:solidFill>
                  <a:srgbClr val="0A0A0A"/>
                </a:solidFill>
                <a:latin typeface="DM Sans"/>
                <a:ea typeface="DM Sans"/>
                <a:cs typeface="DM Sans"/>
              </a:defRPr>
            </a:pPr>
            <a:r>
              <a:rPr sz="1875" b="0">
                <a:solidFill>
                  <a:srgbClr val="0A0A0A"/>
                </a:solidFill>
                <a:latin typeface="DM Sans"/>
                <a:ea typeface="DM Sans"/>
                <a:cs typeface="DM Sans"/>
              </a:rPr>
              <a:t>Mine approval</a:t>
            </a:r>
          </a:p>
        </p:txBody>
      </p:sp>
      <p:sp>
        <p:nvSpPr>
          <p:cNvPr id="10" name="">
            <a:extLst xmlns:a="http://schemas.openxmlformats.org/drawingml/2006/main">
              <a:ext uri="{FF2B5EF4-FFF2-40B4-BE49-F238E27FC236}">
                <a16:creationId xmlns:a16="http://schemas.microsoft.com/office/drawing/2014/main" id="{1E5A363A-5761-4015-8E5C-78BAB863D1AE}"/>
              </a:ext>
            </a:extLst>
          </p:cNvPr>
          <p:cNvSpPr>
            <a:spLocks xmlns:a="http://schemas.openxmlformats.org/drawingml/2006/main" noGrp="1"/>
          </p:cNvSpPr>
          <p:nvPr/>
        </p:nvSpPr>
        <p:spPr>
          <a:xfrm xmlns:a="http://schemas.openxmlformats.org/drawingml/2006/main" rot="0">
            <a:off x="400050" y="240030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−0.0252 support · $1,996.47/oz gold</a:t>
            </a:r>
          </a:p>
        </p:txBody>
      </p:sp>
      <p:sp>
        <p:nvSpPr>
          <p:cNvPr id="11" name="">
            <a:extLst xmlns:a="http://schemas.openxmlformats.org/drawingml/2006/main">
              <a:ext uri="{FF2B5EF4-FFF2-40B4-BE49-F238E27FC236}">
                <a16:creationId xmlns:a16="http://schemas.microsoft.com/office/drawing/2014/main" id="{9D5583B7-88B1-4CE9-8076-5BCFCC22A53B}"/>
              </a:ext>
            </a:extLst>
          </p:cNvPr>
          <p:cNvSpPr>
            <a:spLocks xmlns:a="http://schemas.openxmlformats.org/drawingml/2006/main" noGrp="1"/>
          </p:cNvSpPr>
          <p:nvPr/>
        </p:nvSpPr>
        <p:spPr>
          <a:xfrm xmlns:a="http://schemas.openxmlformats.org/drawingml/2006/main" rot="0">
            <a:off x="400050" y="2686050"/>
            <a:ext cx="52387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$3,610.97 cash · 12.02% return</a:t>
            </a:r>
          </a:p>
        </p:txBody>
      </p:sp>
      <p:sp>
        <p:nvSpPr>
          <p:cNvPr id="12" name="">
            <a:extLst xmlns:a="http://schemas.openxmlformats.org/drawingml/2006/main">
              <a:ext uri="{FF2B5EF4-FFF2-40B4-BE49-F238E27FC236}">
                <a16:creationId xmlns:a16="http://schemas.microsoft.com/office/drawing/2014/main" id="{7E3AFD98-36A2-40CB-9314-C7F93CB2A598}"/>
              </a:ext>
            </a:extLst>
          </p:cNvPr>
          <p:cNvSpPr>
            <a:spLocks xmlns:a="http://schemas.openxmlformats.org/drawingml/2006/main" noGrp="1"/>
          </p:cNvSpPr>
          <p:nvPr/>
        </p:nvSpPr>
        <p:spPr>
          <a:xfrm xmlns:a="http://schemas.openxmlformats.org/drawingml/2006/main" rot="0">
            <a:off x="6286500" y="2009775"/>
            <a:ext cx="5429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0A0A0A"/>
                </a:solidFill>
                <a:latin typeface="DM Sans"/>
                <a:ea typeface="DM Sans"/>
                <a:cs typeface="DM Sans"/>
              </a:defRPr>
            </a:defPPr>
            <a:lvl1pPr algn="l">
              <a:defRPr sz="1875" b="0">
                <a:solidFill>
                  <a:srgbClr val="0A0A0A"/>
                </a:solidFill>
                <a:latin typeface="DM Sans"/>
                <a:ea typeface="DM Sans"/>
                <a:cs typeface="DM Sans"/>
              </a:defRPr>
            </a:lvl1pPr>
            <a:lvl2pPr algn="l">
              <a:defRPr sz="1875" b="0">
                <a:solidFill>
                  <a:srgbClr val="0A0A0A"/>
                </a:solidFill>
                <a:latin typeface="DM Sans"/>
                <a:ea typeface="DM Sans"/>
                <a:cs typeface="DM Sans"/>
              </a:defRPr>
            </a:lvl2pPr>
            <a:lvl3pPr algn="l">
              <a:defRPr sz="1875" b="0">
                <a:solidFill>
                  <a:srgbClr val="0A0A0A"/>
                </a:solidFill>
                <a:latin typeface="DM Sans"/>
                <a:ea typeface="DM Sans"/>
                <a:cs typeface="DM Sans"/>
              </a:defRPr>
            </a:lvl3pPr>
            <a:lvl4pPr algn="l">
              <a:defRPr sz="1875" b="0">
                <a:solidFill>
                  <a:srgbClr val="0A0A0A"/>
                </a:solidFill>
                <a:latin typeface="DM Sans"/>
                <a:ea typeface="DM Sans"/>
                <a:cs typeface="DM Sans"/>
              </a:defRPr>
            </a:lvl4pPr>
            <a:lvl5pPr algn="l">
              <a:defRPr sz="1875" b="0">
                <a:solidFill>
                  <a:srgbClr val="0A0A0A"/>
                </a:solidFill>
                <a:latin typeface="DM Sans"/>
                <a:ea typeface="DM Sans"/>
                <a:cs typeface="DM Sans"/>
              </a:defRPr>
            </a:lvl5pPr>
            <a:lvl6pPr algn="l">
              <a:defRPr sz="1875" b="0">
                <a:solidFill>
                  <a:srgbClr val="0A0A0A"/>
                </a:solidFill>
                <a:latin typeface="DM Sans"/>
                <a:ea typeface="DM Sans"/>
                <a:cs typeface="DM Sans"/>
              </a:defRPr>
            </a:lvl6pPr>
            <a:lvl7pPr algn="l">
              <a:defRPr sz="1875" b="0">
                <a:solidFill>
                  <a:srgbClr val="0A0A0A"/>
                </a:solidFill>
                <a:latin typeface="DM Sans"/>
                <a:ea typeface="DM Sans"/>
                <a:cs typeface="DM Sans"/>
              </a:defRPr>
            </a:lvl7pPr>
            <a:lvl8pPr algn="l">
              <a:defRPr sz="1875" b="0">
                <a:solidFill>
                  <a:srgbClr val="0A0A0A"/>
                </a:solidFill>
                <a:latin typeface="DM Sans"/>
                <a:ea typeface="DM Sans"/>
                <a:cs typeface="DM Sans"/>
              </a:defRPr>
            </a:lvl8pPr>
            <a:lvl9pPr algn="l">
              <a:defRPr sz="1875" b="0">
                <a:solidFill>
                  <a:srgbClr val="0A0A0A"/>
                </a:solidFill>
                <a:latin typeface="DM Sans"/>
                <a:ea typeface="DM Sans"/>
                <a:cs typeface="DM Sans"/>
              </a:defRPr>
            </a:lvl9pPr>
          </a:lstStyle>
          <a:p xmlns:a="http://schemas.openxmlformats.org/drawingml/2006/main">
            <a:pPr algn="l">
              <a:defRPr sz="1875" b="0">
                <a:solidFill>
                  <a:srgbClr val="0A0A0A"/>
                </a:solidFill>
                <a:latin typeface="DM Sans"/>
                <a:ea typeface="DM Sans"/>
                <a:cs typeface="DM Sans"/>
              </a:defRPr>
            </a:pPr>
            <a:r>
              <a:rPr sz="1875" b="0">
                <a:solidFill>
                  <a:srgbClr val="0A0A0A"/>
                </a:solidFill>
                <a:latin typeface="DM Sans"/>
                <a:ea typeface="DM Sans"/>
                <a:cs typeface="DM Sans"/>
              </a:rPr>
              <a:t>Court blockage</a:t>
            </a:r>
          </a:p>
        </p:txBody>
      </p:sp>
      <p:sp>
        <p:nvSpPr>
          <p:cNvPr id="13" name="">
            <a:extLst xmlns:a="http://schemas.openxmlformats.org/drawingml/2006/main">
              <a:ext uri="{FF2B5EF4-FFF2-40B4-BE49-F238E27FC236}">
                <a16:creationId xmlns:a16="http://schemas.microsoft.com/office/drawing/2014/main" id="{81C8F5D2-DF51-4673-8087-7361F7BBCDD0}"/>
              </a:ext>
            </a:extLst>
          </p:cNvPr>
          <p:cNvSpPr>
            <a:spLocks xmlns:a="http://schemas.openxmlformats.org/drawingml/2006/main" noGrp="1"/>
          </p:cNvSpPr>
          <p:nvPr/>
        </p:nvSpPr>
        <p:spPr>
          <a:xfrm xmlns:a="http://schemas.openxmlformats.org/drawingml/2006/main" rot="0">
            <a:off x="6286500" y="2400300"/>
            <a:ext cx="542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+0.0307 support · $2,004.30/oz gold</a:t>
            </a:r>
          </a:p>
        </p:txBody>
      </p:sp>
      <p:sp>
        <p:nvSpPr>
          <p:cNvPr id="14" name="">
            <a:extLst xmlns:a="http://schemas.openxmlformats.org/drawingml/2006/main">
              <a:ext uri="{FF2B5EF4-FFF2-40B4-BE49-F238E27FC236}">
                <a16:creationId xmlns:a16="http://schemas.microsoft.com/office/drawing/2014/main" id="{BE26B865-309D-4959-8BED-C1BEF3DFADFA}"/>
              </a:ext>
            </a:extLst>
          </p:cNvPr>
          <p:cNvSpPr>
            <a:spLocks xmlns:a="http://schemas.openxmlformats.org/drawingml/2006/main" noGrp="1"/>
          </p:cNvSpPr>
          <p:nvPr/>
        </p:nvSpPr>
        <p:spPr>
          <a:xfrm xmlns:a="http://schemas.openxmlformats.org/drawingml/2006/main" rot="0">
            <a:off x="6286500" y="2686050"/>
            <a:ext cx="54292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350" b="0">
                <a:solidFill>
                  <a:srgbClr val="0A0A0A"/>
                </a:solidFill>
                <a:latin typeface="DM Sans"/>
                <a:ea typeface="DM Sans"/>
                <a:cs typeface="DM Sans"/>
              </a:defRPr>
            </a:defPPr>
            <a:lvl1pPr algn="l">
              <a:defRPr sz="1350" b="0">
                <a:solidFill>
                  <a:srgbClr val="0A0A0A"/>
                </a:solidFill>
                <a:latin typeface="DM Sans"/>
                <a:ea typeface="DM Sans"/>
                <a:cs typeface="DM Sans"/>
              </a:defRPr>
            </a:lvl1pPr>
            <a:lvl2pPr algn="l">
              <a:defRPr sz="1350" b="0">
                <a:solidFill>
                  <a:srgbClr val="0A0A0A"/>
                </a:solidFill>
                <a:latin typeface="DM Sans"/>
                <a:ea typeface="DM Sans"/>
                <a:cs typeface="DM Sans"/>
              </a:defRPr>
            </a:lvl2pPr>
            <a:lvl3pPr algn="l">
              <a:defRPr sz="1350" b="0">
                <a:solidFill>
                  <a:srgbClr val="0A0A0A"/>
                </a:solidFill>
                <a:latin typeface="DM Sans"/>
                <a:ea typeface="DM Sans"/>
                <a:cs typeface="DM Sans"/>
              </a:defRPr>
            </a:lvl3pPr>
            <a:lvl4pPr algn="l">
              <a:defRPr sz="1350" b="0">
                <a:solidFill>
                  <a:srgbClr val="0A0A0A"/>
                </a:solidFill>
                <a:latin typeface="DM Sans"/>
                <a:ea typeface="DM Sans"/>
                <a:cs typeface="DM Sans"/>
              </a:defRPr>
            </a:lvl4pPr>
            <a:lvl5pPr algn="l">
              <a:defRPr sz="1350" b="0">
                <a:solidFill>
                  <a:srgbClr val="0A0A0A"/>
                </a:solidFill>
                <a:latin typeface="DM Sans"/>
                <a:ea typeface="DM Sans"/>
                <a:cs typeface="DM Sans"/>
              </a:defRPr>
            </a:lvl5pPr>
            <a:lvl6pPr algn="l">
              <a:defRPr sz="1350" b="0">
                <a:solidFill>
                  <a:srgbClr val="0A0A0A"/>
                </a:solidFill>
                <a:latin typeface="DM Sans"/>
                <a:ea typeface="DM Sans"/>
                <a:cs typeface="DM Sans"/>
              </a:defRPr>
            </a:lvl6pPr>
            <a:lvl7pPr algn="l">
              <a:defRPr sz="1350" b="0">
                <a:solidFill>
                  <a:srgbClr val="0A0A0A"/>
                </a:solidFill>
                <a:latin typeface="DM Sans"/>
                <a:ea typeface="DM Sans"/>
                <a:cs typeface="DM Sans"/>
              </a:defRPr>
            </a:lvl7pPr>
            <a:lvl8pPr algn="l">
              <a:defRPr sz="1350" b="0">
                <a:solidFill>
                  <a:srgbClr val="0A0A0A"/>
                </a:solidFill>
                <a:latin typeface="DM Sans"/>
                <a:ea typeface="DM Sans"/>
                <a:cs typeface="DM Sans"/>
              </a:defRPr>
            </a:lvl8pPr>
            <a:lvl9pPr algn="l">
              <a:defRPr sz="1350" b="0">
                <a:solidFill>
                  <a:srgbClr val="0A0A0A"/>
                </a:solidFill>
                <a:latin typeface="DM Sans"/>
                <a:ea typeface="DM Sans"/>
                <a:cs typeface="DM Sans"/>
              </a:defRPr>
            </a:lvl9pPr>
          </a:lstStyle>
          <a:p xmlns:a="http://schemas.openxmlformats.org/drawingml/2006/main">
            <a:pPr algn="l">
              <a:defRPr sz="1350" b="0">
                <a:solidFill>
                  <a:srgbClr val="0A0A0A"/>
                </a:solidFill>
                <a:latin typeface="DM Sans"/>
                <a:ea typeface="DM Sans"/>
                <a:cs typeface="DM Sans"/>
              </a:defRPr>
            </a:pPr>
            <a:r>
              <a:rPr sz="1350" b="0">
                <a:solidFill>
                  <a:srgbClr val="0A0A0A"/>
                </a:solidFill>
                <a:latin typeface="DM Sans"/>
                <a:ea typeface="DM Sans"/>
                <a:cs typeface="DM Sans"/>
              </a:rPr>
              <a:t>$3,831.36 cash · 12.75% return</a:t>
            </a:r>
          </a:p>
        </p:txBody>
      </p:sp>
      <p:pic>
        <p:nvPicPr>
          <p:cNvPr id="15" name="">
            <a:extLst xmlns:a="http://schemas.openxmlformats.org/drawingml/2006/main">
              <a:ext uri="{FF2B5EF4-FFF2-40B4-BE49-F238E27FC236}">
                <a16:creationId xmlns:a16="http://schemas.microsoft.com/office/drawing/2014/main" id="{B92137D9-972F-4336-A194-9AF375FCA995}"/>
              </a:ext>
            </a:extLst>
          </p:cNvPr>
          <p:cNvPicPr>
            <a:picLocks xmlns:a="http://schemas.openxmlformats.org/drawingml/2006/main" noChangeAspect="1"/>
          </p:cNvPicPr>
          <p:nvPr/>
        </p:nvPicPr>
        <p:blipFill>
          <a:blip xmlns:r="http://schemas.openxmlformats.org/officeDocument/2006/relationships" xmlns:a="http://schemas.openxmlformats.org/drawingml/2006/main" r:embed="R53a1d2a1e106450f"/>
          <a:srcRect xmlns:a="http://schemas.openxmlformats.org/drawingml/2006/main" l="0" t="2537" r="0" b="2537"/>
          <a:stretch xmlns:a="http://schemas.openxmlformats.org/drawingml/2006/main">
            <a:fillRect l="0" t="0" r="0" b="0"/>
          </a:stretch>
        </p:blipFill>
        <p:spPr>
          <a:xfrm xmlns:a="http://schemas.openxmlformats.org/drawingml/2006/main">
            <a:off x="0" y="3648075"/>
            <a:ext cx="2314575" cy="1857375"/>
          </a:xfrm>
          <a:prstGeom xmlns:a="http://schemas.openxmlformats.org/drawingml/2006/main" prst="roundRect">
            <a:avLst>
              <a:gd name="adj" fmla="val 12308"/>
            </a:avLst>
          </a:prstGeom>
        </p:spPr>
      </p:pic>
      <p:pic>
        <p:nvPicPr>
          <p:cNvPr id="16" name="">
            <a:extLst xmlns:a="http://schemas.openxmlformats.org/drawingml/2006/main">
              <a:ext uri="{FF2B5EF4-FFF2-40B4-BE49-F238E27FC236}">
                <a16:creationId xmlns:a16="http://schemas.microsoft.com/office/drawing/2014/main" id="{172F384D-EC28-4116-87D0-FBC058075910}"/>
              </a:ext>
            </a:extLst>
          </p:cNvPr>
          <p:cNvPicPr>
            <a:picLocks xmlns:a="http://schemas.openxmlformats.org/drawingml/2006/main" noChangeAspect="1"/>
          </p:cNvPicPr>
          <p:nvPr/>
        </p:nvPicPr>
        <p:blipFill>
          <a:blip xmlns:r="http://schemas.openxmlformats.org/officeDocument/2006/relationships" xmlns:a="http://schemas.openxmlformats.org/drawingml/2006/main" r:embed="Rb52c2b58f72246d9"/>
          <a:srcRect xmlns:a="http://schemas.openxmlformats.org/drawingml/2006/main" l="18880" t="0" r="18880" b="0"/>
          <a:stretch xmlns:a="http://schemas.openxmlformats.org/drawingml/2006/main">
            <a:fillRect l="0" t="0" r="0" b="0"/>
          </a:stretch>
        </p:blipFill>
        <p:spPr>
          <a:xfrm xmlns:a="http://schemas.openxmlformats.org/drawingml/2006/main">
            <a:off x="2876550" y="4371975"/>
            <a:ext cx="2286000" cy="2295525"/>
          </a:xfrm>
          <a:prstGeom xmlns:a="http://schemas.openxmlformats.org/drawingml/2006/main" prst="roundRect">
            <a:avLst>
              <a:gd name="adj" fmla="val 10000"/>
            </a:avLst>
          </a:prstGeom>
        </p:spPr>
      </p:pic>
      <p:pic>
        <p:nvPicPr>
          <p:cNvPr id="17" name="">
            <a:extLst xmlns:a="http://schemas.openxmlformats.org/drawingml/2006/main">
              <a:ext uri="{FF2B5EF4-FFF2-40B4-BE49-F238E27FC236}">
                <a16:creationId xmlns:a16="http://schemas.microsoft.com/office/drawing/2014/main" id="{B544AEAD-5C79-4D31-AE06-23B9423E2664}"/>
              </a:ext>
            </a:extLst>
          </p:cNvPr>
          <p:cNvPicPr>
            <a:picLocks xmlns:a="http://schemas.openxmlformats.org/drawingml/2006/main" noChangeAspect="1"/>
          </p:cNvPicPr>
          <p:nvPr/>
        </p:nvPicPr>
        <p:blipFill>
          <a:blip xmlns:r="http://schemas.openxmlformats.org/officeDocument/2006/relationships" xmlns:a="http://schemas.openxmlformats.org/drawingml/2006/main" r:embed="Rfadf674478514da4"/>
          <a:stretch xmlns:a="http://schemas.openxmlformats.org/drawingml/2006/main"/>
        </p:blipFill>
        <p:spPr>
          <a:xfrm xmlns:a="http://schemas.openxmlformats.org/drawingml/2006/main">
            <a:off x="5468408" y="2962275"/>
            <a:ext cx="6570133" cy="3695700"/>
          </a:xfrm>
          <a:prstGeom xmlns:a="http://schemas.openxmlformats.org/drawingml/2006/main" prst="roundRect">
            <a:avLst>
              <a:gd name="adj" fmla="val 6186"/>
            </a:avLst>
          </a:prstGeom>
        </p:spPr>
      </p:pic>
      <p:sp>
        <p:nvSpPr>
          <p:cNvPr id="18" name="">
            <a:extLst xmlns:a="http://schemas.openxmlformats.org/drawingml/2006/main">
              <a:ext uri="{FF2B5EF4-FFF2-40B4-BE49-F238E27FC236}">
                <a16:creationId xmlns:a16="http://schemas.microsoft.com/office/drawing/2014/main" id="{883F6CD3-F6F8-4479-BB01-A7E932FA7E10}"/>
              </a:ext>
            </a:extLst>
          </p:cNvPr>
          <p:cNvSpPr>
            <a:spLocks xmlns:a="http://schemas.openxmlformats.org/drawingml/2006/main" noGrp="1"/>
          </p:cNvSpPr>
          <p:nvPr/>
        </p:nvSpPr>
        <p:spPr>
          <a:xfrm xmlns:a="http://schemas.openxmlformats.org/drawingml/2006/main" rot="0">
            <a:off x="400050" y="5762625"/>
            <a:ext cx="23241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737373"/>
                </a:solidFill>
                <a:latin typeface="DM Sans"/>
                <a:ea typeface="DM Sans"/>
                <a:cs typeface="DM Sans"/>
              </a:defRPr>
            </a:defPPr>
            <a:lvl1pPr algn="l">
              <a:defRPr sz="900" b="0">
                <a:solidFill>
                  <a:srgbClr val="737373"/>
                </a:solidFill>
                <a:latin typeface="DM Sans"/>
                <a:ea typeface="DM Sans"/>
                <a:cs typeface="DM Sans"/>
              </a:defRPr>
            </a:lvl1pPr>
            <a:lvl2pPr algn="l">
              <a:defRPr sz="900" b="0">
                <a:solidFill>
                  <a:srgbClr val="737373"/>
                </a:solidFill>
                <a:latin typeface="DM Sans"/>
                <a:ea typeface="DM Sans"/>
                <a:cs typeface="DM Sans"/>
              </a:defRPr>
            </a:lvl2pPr>
            <a:lvl3pPr algn="l">
              <a:defRPr sz="900" b="0">
                <a:solidFill>
                  <a:srgbClr val="737373"/>
                </a:solidFill>
                <a:latin typeface="DM Sans"/>
                <a:ea typeface="DM Sans"/>
                <a:cs typeface="DM Sans"/>
              </a:defRPr>
            </a:lvl3pPr>
            <a:lvl4pPr algn="l">
              <a:defRPr sz="900" b="0">
                <a:solidFill>
                  <a:srgbClr val="737373"/>
                </a:solidFill>
                <a:latin typeface="DM Sans"/>
                <a:ea typeface="DM Sans"/>
                <a:cs typeface="DM Sans"/>
              </a:defRPr>
            </a:lvl4pPr>
            <a:lvl5pPr algn="l">
              <a:defRPr sz="900" b="0">
                <a:solidFill>
                  <a:srgbClr val="737373"/>
                </a:solidFill>
                <a:latin typeface="DM Sans"/>
                <a:ea typeface="DM Sans"/>
                <a:cs typeface="DM Sans"/>
              </a:defRPr>
            </a:lvl5pPr>
            <a:lvl6pPr algn="l">
              <a:defRPr sz="900" b="0">
                <a:solidFill>
                  <a:srgbClr val="737373"/>
                </a:solidFill>
                <a:latin typeface="DM Sans"/>
                <a:ea typeface="DM Sans"/>
                <a:cs typeface="DM Sans"/>
              </a:defRPr>
            </a:lvl6pPr>
            <a:lvl7pPr algn="l">
              <a:defRPr sz="900" b="0">
                <a:solidFill>
                  <a:srgbClr val="737373"/>
                </a:solidFill>
                <a:latin typeface="DM Sans"/>
                <a:ea typeface="DM Sans"/>
                <a:cs typeface="DM Sans"/>
              </a:defRPr>
            </a:lvl7pPr>
            <a:lvl8pPr algn="l">
              <a:defRPr sz="900" b="0">
                <a:solidFill>
                  <a:srgbClr val="737373"/>
                </a:solidFill>
                <a:latin typeface="DM Sans"/>
                <a:ea typeface="DM Sans"/>
                <a:cs typeface="DM Sans"/>
              </a:defRPr>
            </a:lvl8pPr>
            <a:lvl9pPr algn="l">
              <a:defRPr sz="900" b="0">
                <a:solidFill>
                  <a:srgbClr val="737373"/>
                </a:solidFill>
                <a:latin typeface="DM Sans"/>
                <a:ea typeface="DM Sans"/>
                <a:cs typeface="DM Sans"/>
              </a:defRPr>
            </a:lvl9pPr>
          </a:lstStyle>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Matching sports-placebo reference, days 3–5.</a:t>
            </a:r>
          </a:p>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Support scale −1 to +1. Area A, 90 days.</a:t>
            </a:r>
          </a:p>
        </p:txBody>
      </p:sp>
      <p:sp>
        <p:nvSpPr>
          <p:cNvPr id="19" name="">
            <a:extLst xmlns:a="http://schemas.openxmlformats.org/drawingml/2006/main">
              <a:ext uri="{FF2B5EF4-FFF2-40B4-BE49-F238E27FC236}">
                <a16:creationId xmlns:a16="http://schemas.microsoft.com/office/drawing/2014/main" id="{25376C4F-9156-4FB8-B79F-EB97F2D48E3A}"/>
              </a:ext>
            </a:extLst>
          </p:cNvPr>
          <p:cNvSpPr>
            <a:spLocks xmlns:a="http://schemas.openxmlformats.org/drawingml/2006/main" noGrp="1"/>
          </p:cNvSpPr>
          <p:nvPr/>
        </p:nvSpPr>
        <p:spPr>
          <a:xfrm xmlns:a="http://schemas.openxmlformats.org/drawingml/2006/main" rot="0">
            <a:off x="2876550" y="3162300"/>
            <a:ext cx="2333625" cy="1047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737373"/>
                </a:solidFill>
                <a:latin typeface="DM Sans"/>
                <a:ea typeface="DM Sans"/>
                <a:cs typeface="DM Sans"/>
              </a:defRPr>
            </a:defPPr>
            <a:lvl1pPr algn="l">
              <a:defRPr sz="900" b="0">
                <a:solidFill>
                  <a:srgbClr val="737373"/>
                </a:solidFill>
                <a:latin typeface="DM Sans"/>
                <a:ea typeface="DM Sans"/>
                <a:cs typeface="DM Sans"/>
              </a:defRPr>
            </a:lvl1pPr>
            <a:lvl2pPr algn="l">
              <a:defRPr sz="900" b="0">
                <a:solidFill>
                  <a:srgbClr val="737373"/>
                </a:solidFill>
                <a:latin typeface="DM Sans"/>
                <a:ea typeface="DM Sans"/>
                <a:cs typeface="DM Sans"/>
              </a:defRPr>
            </a:lvl2pPr>
            <a:lvl3pPr algn="l">
              <a:defRPr sz="900" b="0">
                <a:solidFill>
                  <a:srgbClr val="737373"/>
                </a:solidFill>
                <a:latin typeface="DM Sans"/>
                <a:ea typeface="DM Sans"/>
                <a:cs typeface="DM Sans"/>
              </a:defRPr>
            </a:lvl3pPr>
            <a:lvl4pPr algn="l">
              <a:defRPr sz="900" b="0">
                <a:solidFill>
                  <a:srgbClr val="737373"/>
                </a:solidFill>
                <a:latin typeface="DM Sans"/>
                <a:ea typeface="DM Sans"/>
                <a:cs typeface="DM Sans"/>
              </a:defRPr>
            </a:lvl4pPr>
            <a:lvl5pPr algn="l">
              <a:defRPr sz="900" b="0">
                <a:solidFill>
                  <a:srgbClr val="737373"/>
                </a:solidFill>
                <a:latin typeface="DM Sans"/>
                <a:ea typeface="DM Sans"/>
                <a:cs typeface="DM Sans"/>
              </a:defRPr>
            </a:lvl5pPr>
            <a:lvl6pPr algn="l">
              <a:defRPr sz="900" b="0">
                <a:solidFill>
                  <a:srgbClr val="737373"/>
                </a:solidFill>
                <a:latin typeface="DM Sans"/>
                <a:ea typeface="DM Sans"/>
                <a:cs typeface="DM Sans"/>
              </a:defRPr>
            </a:lvl6pPr>
            <a:lvl7pPr algn="l">
              <a:defRPr sz="900" b="0">
                <a:solidFill>
                  <a:srgbClr val="737373"/>
                </a:solidFill>
                <a:latin typeface="DM Sans"/>
                <a:ea typeface="DM Sans"/>
                <a:cs typeface="DM Sans"/>
              </a:defRPr>
            </a:lvl7pPr>
            <a:lvl8pPr algn="l">
              <a:defRPr sz="900" b="0">
                <a:solidFill>
                  <a:srgbClr val="737373"/>
                </a:solidFill>
                <a:latin typeface="DM Sans"/>
                <a:ea typeface="DM Sans"/>
                <a:cs typeface="DM Sans"/>
              </a:defRPr>
            </a:lvl8pPr>
            <a:lvl9pPr algn="l">
              <a:defRPr sz="900" b="0">
                <a:solidFill>
                  <a:srgbClr val="737373"/>
                </a:solidFill>
                <a:latin typeface="DM Sans"/>
                <a:ea typeface="DM Sans"/>
                <a:cs typeface="DM Sans"/>
              </a:defRPr>
            </a:lvl9pPr>
          </a:lstStyle>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Fixed $50 entry / exit fees.</a:t>
            </a:r>
          </a:p>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Conditional candidates, not trades.</a:t>
            </a:r>
          </a:p>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Research checks failed.</a:t>
            </a:r>
          </a:p>
          <a:p xmlns:a="http://schemas.openxmlformats.org/drawingml/2006/main">
            <a:pPr algn="l">
              <a:defRPr sz="900" b="0">
                <a:solidFill>
                  <a:srgbClr val="737373"/>
                </a:solidFill>
                <a:latin typeface="DM Sans"/>
                <a:ea typeface="DM Sans"/>
                <a:cs typeface="DM Sans"/>
              </a:defRPr>
            </a:pPr>
            <a:r>
              <a:rPr sz="900" b="0">
                <a:solidFill>
                  <a:srgbClr val="737373"/>
                </a:solidFill>
                <a:latin typeface="DM Sans"/>
                <a:ea typeface="DM Sans"/>
                <a:cs typeface="DM Sans"/>
              </a:rPr>
              <a:t>Gold response uncalibrated.</a:t>
            </a:r>
          </a:p>
        </p:txBody>
      </p:sp>
    </p:spTree>
    <p:extLst>
      <p:ext uri="{BB962C8B-B14F-4D97-AF65-F5344CB8AC3E}">
        <p14:creationId xmlns:p14="http://schemas.microsoft.com/office/powerpoint/2010/main" val="1048871388"/>
      </p:ext>
    </p:extLst>
  </p:cSld>
</p:sld>
</file>

<file path=ppt/slides/slide6.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23" name="">
            <a:extLst xmlns:a="http://schemas.openxmlformats.org/drawingml/2006/main">
              <a:ext uri="{FF2B5EF4-FFF2-40B4-BE49-F238E27FC236}">
                <a16:creationId xmlns:a16="http://schemas.microsoft.com/office/drawing/2014/main" id="{87E656EC-067F-4946-BEE7-46E83A9A660D}"/>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131E05D1-6FC5-41BC-AF5E-2E3BA8587789}"/>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04</a:t>
            </a:r>
          </a:p>
        </p:txBody>
      </p:sp>
      <p:sp>
        <p:nvSpPr>
          <p:cNvPr id="3" name="">
            <a:extLst xmlns:a="http://schemas.openxmlformats.org/drawingml/2006/main">
              <a:ext uri="{FF2B5EF4-FFF2-40B4-BE49-F238E27FC236}">
                <a16:creationId xmlns:a16="http://schemas.microsoft.com/office/drawing/2014/main" id="{D41F8EB2-4E81-4002-9F7B-8FC2BDB46366}"/>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1E74DCA0-8179-49A0-9573-4C57AC5E42DA}"/>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1E39F1FB-C321-436A-9DA2-EA0142AB6B78}"/>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B3606A8F-B4FD-4CD7-87DD-AC8DA6AFB9D4}"/>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Time and return</a:t>
            </a:r>
          </a:p>
        </p:txBody>
      </p:sp>
      <p:sp>
        <p:nvSpPr>
          <p:cNvPr id="7" name="">
            <a:extLst xmlns:a="http://schemas.openxmlformats.org/drawingml/2006/main">
              <a:ext uri="{FF2B5EF4-FFF2-40B4-BE49-F238E27FC236}">
                <a16:creationId xmlns:a16="http://schemas.microsoft.com/office/drawing/2014/main" id="{D360910B-9A28-4F6D-9329-15455BB2F961}"/>
              </a:ext>
            </a:extLst>
          </p:cNvPr>
          <p:cNvSpPr>
            <a:spLocks xmlns:a="http://schemas.openxmlformats.org/drawingml/2006/main" noGrp="1"/>
          </p:cNvSpPr>
          <p:nvPr/>
        </p:nvSpPr>
        <p:spPr>
          <a:xfrm xmlns:a="http://schemas.openxmlformats.org/drawingml/2006/main" rot="0">
            <a:off x="400050" y="1304925"/>
            <a:ext cx="5572125" cy="8858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550" b="0">
                <a:solidFill>
                  <a:srgbClr val="0A0A0A"/>
                </a:solidFill>
                <a:latin typeface="DM Sans"/>
                <a:ea typeface="DM Sans"/>
                <a:cs typeface="DM Sans"/>
              </a:defRPr>
            </a:defPPr>
            <a:lvl1pPr algn="l">
              <a:defRPr sz="2550" b="0">
                <a:solidFill>
                  <a:srgbClr val="0A0A0A"/>
                </a:solidFill>
                <a:latin typeface="DM Sans"/>
                <a:ea typeface="DM Sans"/>
                <a:cs typeface="DM Sans"/>
              </a:defRPr>
            </a:lvl1pPr>
            <a:lvl2pPr algn="l">
              <a:defRPr sz="2550" b="0">
                <a:solidFill>
                  <a:srgbClr val="0A0A0A"/>
                </a:solidFill>
                <a:latin typeface="DM Sans"/>
                <a:ea typeface="DM Sans"/>
                <a:cs typeface="DM Sans"/>
              </a:defRPr>
            </a:lvl2pPr>
            <a:lvl3pPr algn="l">
              <a:defRPr sz="2550" b="0">
                <a:solidFill>
                  <a:srgbClr val="0A0A0A"/>
                </a:solidFill>
                <a:latin typeface="DM Sans"/>
                <a:ea typeface="DM Sans"/>
                <a:cs typeface="DM Sans"/>
              </a:defRPr>
            </a:lvl3pPr>
            <a:lvl4pPr algn="l">
              <a:defRPr sz="2550" b="0">
                <a:solidFill>
                  <a:srgbClr val="0A0A0A"/>
                </a:solidFill>
                <a:latin typeface="DM Sans"/>
                <a:ea typeface="DM Sans"/>
                <a:cs typeface="DM Sans"/>
              </a:defRPr>
            </a:lvl4pPr>
            <a:lvl5pPr algn="l">
              <a:defRPr sz="2550" b="0">
                <a:solidFill>
                  <a:srgbClr val="0A0A0A"/>
                </a:solidFill>
                <a:latin typeface="DM Sans"/>
                <a:ea typeface="DM Sans"/>
                <a:cs typeface="DM Sans"/>
              </a:defRPr>
            </a:lvl5pPr>
            <a:lvl6pPr algn="l">
              <a:defRPr sz="2550" b="0">
                <a:solidFill>
                  <a:srgbClr val="0A0A0A"/>
                </a:solidFill>
                <a:latin typeface="DM Sans"/>
                <a:ea typeface="DM Sans"/>
                <a:cs typeface="DM Sans"/>
              </a:defRPr>
            </a:lvl6pPr>
            <a:lvl7pPr algn="l">
              <a:defRPr sz="2550" b="0">
                <a:solidFill>
                  <a:srgbClr val="0A0A0A"/>
                </a:solidFill>
                <a:latin typeface="DM Sans"/>
                <a:ea typeface="DM Sans"/>
                <a:cs typeface="DM Sans"/>
              </a:defRPr>
            </a:lvl7pPr>
            <a:lvl8pPr algn="l">
              <a:defRPr sz="2550" b="0">
                <a:solidFill>
                  <a:srgbClr val="0A0A0A"/>
                </a:solidFill>
                <a:latin typeface="DM Sans"/>
                <a:ea typeface="DM Sans"/>
                <a:cs typeface="DM Sans"/>
              </a:defRPr>
            </a:lvl8pPr>
            <a:lvl9pPr algn="l">
              <a:defRPr sz="2550" b="0">
                <a:solidFill>
                  <a:srgbClr val="0A0A0A"/>
                </a:solidFill>
                <a:latin typeface="DM Sans"/>
                <a:ea typeface="DM Sans"/>
                <a:cs typeface="DM Sans"/>
              </a:defRPr>
            </a:lvl9pPr>
          </a:lstStyle>
          <a:p xmlns:a="http://schemas.openxmlformats.org/drawingml/2006/main">
            <a:pPr algn="l">
              <a:defRPr sz="2550" b="0">
                <a:solidFill>
                  <a:srgbClr val="0A0A0A"/>
                </a:solidFill>
                <a:latin typeface="DM Sans"/>
                <a:ea typeface="DM Sans"/>
                <a:cs typeface="DM Sans"/>
              </a:defRPr>
            </a:pPr>
            <a:r>
              <a:rPr sz="2550" b="0">
                <a:solidFill>
                  <a:srgbClr val="0A0A0A"/>
                </a:solidFill>
                <a:latin typeface="DM Sans"/>
                <a:ea typeface="DM Sans"/>
                <a:cs typeface="DM Sans"/>
              </a:rPr>
              <a:t>At $30,050 upfront,</a:t>
            </a:r>
          </a:p>
          <a:p xmlns:a="http://schemas.openxmlformats.org/drawingml/2006/main">
            <a:pPr algn="l">
              <a:defRPr sz="2550" b="0">
                <a:solidFill>
                  <a:srgbClr val="0A0A0A"/>
                </a:solidFill>
                <a:latin typeface="DM Sans"/>
                <a:ea typeface="DM Sans"/>
                <a:cs typeface="DM Sans"/>
              </a:defRPr>
            </a:pPr>
            <a:r>
              <a:rPr sz="2550" b="0">
                <a:solidFill>
                  <a:srgbClr val="0A0A0A"/>
                </a:solidFill>
                <a:latin typeface="DM Sans"/>
                <a:ea typeface="DM Sans"/>
                <a:cs typeface="DM Sans"/>
              </a:rPr>
              <a:t>the 90-day fixed-fee case has</a:t>
            </a:r>
          </a:p>
        </p:txBody>
      </p:sp>
      <p:sp>
        <p:nvSpPr>
          <p:cNvPr id="8" name="">
            <a:extLst xmlns:a="http://schemas.openxmlformats.org/drawingml/2006/main">
              <a:ext uri="{FF2B5EF4-FFF2-40B4-BE49-F238E27FC236}">
                <a16:creationId xmlns:a16="http://schemas.microsoft.com/office/drawing/2014/main" id="{20064B16-E068-4985-88F0-A4FF0D954717}"/>
              </a:ext>
            </a:extLst>
          </p:cNvPr>
          <p:cNvSpPr>
            <a:spLocks xmlns:a="http://schemas.openxmlformats.org/drawingml/2006/main" noGrp="1"/>
          </p:cNvSpPr>
          <p:nvPr/>
        </p:nvSpPr>
        <p:spPr>
          <a:xfrm xmlns:a="http://schemas.openxmlformats.org/drawingml/2006/main" rot="0">
            <a:off x="400050" y="2171700"/>
            <a:ext cx="5524500" cy="1304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00" b="0">
                <a:solidFill>
                  <a:srgbClr val="0A0A0A"/>
                </a:solidFill>
                <a:latin typeface="DM Sans Light"/>
                <a:ea typeface="DM Sans Light"/>
                <a:cs typeface="DM Sans Light"/>
              </a:defRPr>
            </a:defPPr>
            <a:lvl1pPr algn="l">
              <a:defRPr sz="7800" b="0">
                <a:solidFill>
                  <a:srgbClr val="0A0A0A"/>
                </a:solidFill>
                <a:latin typeface="DM Sans Light"/>
                <a:ea typeface="DM Sans Light"/>
                <a:cs typeface="DM Sans Light"/>
              </a:defRPr>
            </a:lvl1pPr>
            <a:lvl2pPr algn="l">
              <a:defRPr sz="7800" b="0">
                <a:solidFill>
                  <a:srgbClr val="0A0A0A"/>
                </a:solidFill>
                <a:latin typeface="DM Sans Light"/>
                <a:ea typeface="DM Sans Light"/>
                <a:cs typeface="DM Sans Light"/>
              </a:defRPr>
            </a:lvl2pPr>
            <a:lvl3pPr algn="l">
              <a:defRPr sz="7800" b="0">
                <a:solidFill>
                  <a:srgbClr val="0A0A0A"/>
                </a:solidFill>
                <a:latin typeface="DM Sans Light"/>
                <a:ea typeface="DM Sans Light"/>
                <a:cs typeface="DM Sans Light"/>
              </a:defRPr>
            </a:lvl3pPr>
            <a:lvl4pPr algn="l">
              <a:defRPr sz="7800" b="0">
                <a:solidFill>
                  <a:srgbClr val="0A0A0A"/>
                </a:solidFill>
                <a:latin typeface="DM Sans Light"/>
                <a:ea typeface="DM Sans Light"/>
                <a:cs typeface="DM Sans Light"/>
              </a:defRPr>
            </a:lvl4pPr>
            <a:lvl5pPr algn="l">
              <a:defRPr sz="7800" b="0">
                <a:solidFill>
                  <a:srgbClr val="0A0A0A"/>
                </a:solidFill>
                <a:latin typeface="DM Sans Light"/>
                <a:ea typeface="DM Sans Light"/>
                <a:cs typeface="DM Sans Light"/>
              </a:defRPr>
            </a:lvl5pPr>
            <a:lvl6pPr algn="l">
              <a:defRPr sz="7800" b="0">
                <a:solidFill>
                  <a:srgbClr val="0A0A0A"/>
                </a:solidFill>
                <a:latin typeface="DM Sans Light"/>
                <a:ea typeface="DM Sans Light"/>
                <a:cs typeface="DM Sans Light"/>
              </a:defRPr>
            </a:lvl6pPr>
            <a:lvl7pPr algn="l">
              <a:defRPr sz="7800" b="0">
                <a:solidFill>
                  <a:srgbClr val="0A0A0A"/>
                </a:solidFill>
                <a:latin typeface="DM Sans Light"/>
                <a:ea typeface="DM Sans Light"/>
                <a:cs typeface="DM Sans Light"/>
              </a:defRPr>
            </a:lvl7pPr>
            <a:lvl8pPr algn="l">
              <a:defRPr sz="7800" b="0">
                <a:solidFill>
                  <a:srgbClr val="0A0A0A"/>
                </a:solidFill>
                <a:latin typeface="DM Sans Light"/>
                <a:ea typeface="DM Sans Light"/>
                <a:cs typeface="DM Sans Light"/>
              </a:defRPr>
            </a:lvl8pPr>
            <a:lvl9pPr algn="l">
              <a:defRPr sz="7800" b="0">
                <a:solidFill>
                  <a:srgbClr val="0A0A0A"/>
                </a:solidFill>
                <a:latin typeface="DM Sans Light"/>
                <a:ea typeface="DM Sans Light"/>
                <a:cs typeface="DM Sans Light"/>
              </a:defRPr>
            </a:lvl9pPr>
          </a:lstStyle>
          <a:p xmlns:a="http://schemas.openxmlformats.org/drawingml/2006/main">
            <a:pPr algn="l">
              <a:defRPr sz="7800" b="0">
                <a:solidFill>
                  <a:srgbClr val="0A0A0A"/>
                </a:solidFill>
                <a:latin typeface="DM Sans Light"/>
                <a:ea typeface="DM Sans Light"/>
                <a:cs typeface="DM Sans Light"/>
              </a:defRPr>
            </a:pPr>
            <a:r>
              <a:rPr sz="7800" b="0">
                <a:solidFill>
                  <a:srgbClr val="0A0A0A"/>
                </a:solidFill>
                <a:latin typeface="DM Sans Light"/>
                <a:ea typeface="DM Sans Light"/>
                <a:cs typeface="DM Sans Light"/>
              </a:rPr>
              <a:t>12.35%</a:t>
            </a:r>
          </a:p>
        </p:txBody>
      </p:sp>
      <p:sp>
        <p:nvSpPr>
          <p:cNvPr id="9" name="">
            <a:extLst xmlns:a="http://schemas.openxmlformats.org/drawingml/2006/main">
              <a:ext uri="{FF2B5EF4-FFF2-40B4-BE49-F238E27FC236}">
                <a16:creationId xmlns:a16="http://schemas.microsoft.com/office/drawing/2014/main" id="{605BE9F3-D8F6-469F-8D8F-F12CDD29F36D}"/>
              </a:ext>
            </a:extLst>
          </p:cNvPr>
          <p:cNvSpPr>
            <a:spLocks xmlns:a="http://schemas.openxmlformats.org/drawingml/2006/main" noGrp="1"/>
          </p:cNvSpPr>
          <p:nvPr/>
        </p:nvSpPr>
        <p:spPr>
          <a:xfrm xmlns:a="http://schemas.openxmlformats.org/drawingml/2006/main">
            <a:off x="447675" y="3419475"/>
            <a:ext cx="4095750" cy="95"/>
          </a:xfrm>
          <a:custGeom xmlns:a="http://schemas.openxmlformats.org/drawingml/2006/main">
            <a:pathLst>
              <a:path w="4095750" h="95">
                <a:moveTo>
                  <a:pt x="0" y="0"/>
                </a:moveTo>
                <a:lnTo>
                  <a:pt x="4095750" y="0"/>
                </a:lnTo>
              </a:path>
            </a:pathLst>
          </a:custGeom>
          <a:noFill xmlns:a="http://schemas.openxmlformats.org/drawingml/2006/main"/>
          <a:ln xmlns:a="http://schemas.openxmlformats.org/drawingml/2006/main" w="17145">
            <a:solidFill>
              <a:srgbClr val="0A0A0A"/>
            </a:solidFill>
            <a:prstDash val="solid"/>
          </a:ln>
        </p:spPr>
      </p:sp>
      <p:sp>
        <p:nvSpPr>
          <p:cNvPr id="10" name="">
            <a:extLst xmlns:a="http://schemas.openxmlformats.org/drawingml/2006/main">
              <a:ext uri="{FF2B5EF4-FFF2-40B4-BE49-F238E27FC236}">
                <a16:creationId xmlns:a16="http://schemas.microsoft.com/office/drawing/2014/main" id="{1E0819DB-5451-4C84-B9B9-E619405EC44E}"/>
              </a:ext>
            </a:extLst>
          </p:cNvPr>
          <p:cNvSpPr>
            <a:spLocks xmlns:a="http://schemas.openxmlformats.org/drawingml/2006/main" noGrp="1"/>
          </p:cNvSpPr>
          <p:nvPr/>
        </p:nvSpPr>
        <p:spPr>
          <a:xfrm xmlns:a="http://schemas.openxmlformats.org/drawingml/2006/main" rot="0">
            <a:off x="400050" y="3638550"/>
            <a:ext cx="5524500" cy="495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0A0A0A"/>
                </a:solidFill>
                <a:latin typeface="DM Sans"/>
                <a:ea typeface="DM Sans"/>
                <a:cs typeface="DM Sans"/>
              </a:defRPr>
            </a:defPPr>
            <a:lvl1pPr algn="l">
              <a:defRPr sz="2400" b="0">
                <a:solidFill>
                  <a:srgbClr val="0A0A0A"/>
                </a:solidFill>
                <a:latin typeface="DM Sans"/>
                <a:ea typeface="DM Sans"/>
                <a:cs typeface="DM Sans"/>
              </a:defRPr>
            </a:lvl1pPr>
            <a:lvl2pPr algn="l">
              <a:defRPr sz="2400" b="0">
                <a:solidFill>
                  <a:srgbClr val="0A0A0A"/>
                </a:solidFill>
                <a:latin typeface="DM Sans"/>
                <a:ea typeface="DM Sans"/>
                <a:cs typeface="DM Sans"/>
              </a:defRPr>
            </a:lvl2pPr>
            <a:lvl3pPr algn="l">
              <a:defRPr sz="2400" b="0">
                <a:solidFill>
                  <a:srgbClr val="0A0A0A"/>
                </a:solidFill>
                <a:latin typeface="DM Sans"/>
                <a:ea typeface="DM Sans"/>
                <a:cs typeface="DM Sans"/>
              </a:defRPr>
            </a:lvl3pPr>
            <a:lvl4pPr algn="l">
              <a:defRPr sz="2400" b="0">
                <a:solidFill>
                  <a:srgbClr val="0A0A0A"/>
                </a:solidFill>
                <a:latin typeface="DM Sans"/>
                <a:ea typeface="DM Sans"/>
                <a:cs typeface="DM Sans"/>
              </a:defRPr>
            </a:lvl4pPr>
            <a:lvl5pPr algn="l">
              <a:defRPr sz="2400" b="0">
                <a:solidFill>
                  <a:srgbClr val="0A0A0A"/>
                </a:solidFill>
                <a:latin typeface="DM Sans"/>
                <a:ea typeface="DM Sans"/>
                <a:cs typeface="DM Sans"/>
              </a:defRPr>
            </a:lvl5pPr>
            <a:lvl6pPr algn="l">
              <a:defRPr sz="2400" b="0">
                <a:solidFill>
                  <a:srgbClr val="0A0A0A"/>
                </a:solidFill>
                <a:latin typeface="DM Sans"/>
                <a:ea typeface="DM Sans"/>
                <a:cs typeface="DM Sans"/>
              </a:defRPr>
            </a:lvl6pPr>
            <a:lvl7pPr algn="l">
              <a:defRPr sz="2400" b="0">
                <a:solidFill>
                  <a:srgbClr val="0A0A0A"/>
                </a:solidFill>
                <a:latin typeface="DM Sans"/>
                <a:ea typeface="DM Sans"/>
                <a:cs typeface="DM Sans"/>
              </a:defRPr>
            </a:lvl7pPr>
            <a:lvl8pPr algn="l">
              <a:defRPr sz="2400" b="0">
                <a:solidFill>
                  <a:srgbClr val="0A0A0A"/>
                </a:solidFill>
                <a:latin typeface="DM Sans"/>
                <a:ea typeface="DM Sans"/>
                <a:cs typeface="DM Sans"/>
              </a:defRPr>
            </a:lvl8pPr>
            <a:lvl9pPr algn="l">
              <a:defRPr sz="2400" b="0">
                <a:solidFill>
                  <a:srgbClr val="0A0A0A"/>
                </a:solidFill>
                <a:latin typeface="DM Sans"/>
                <a:ea typeface="DM Sans"/>
                <a:cs typeface="DM Sans"/>
              </a:defRPr>
            </a:lvl9pPr>
          </a:lstStyle>
          <a:p xmlns:a="http://schemas.openxmlformats.org/drawingml/2006/main">
            <a:pPr algn="l">
              <a:defRPr sz="2400" b="0">
                <a:solidFill>
                  <a:srgbClr val="0A0A0A"/>
                </a:solidFill>
                <a:latin typeface="DM Sans"/>
                <a:ea typeface="DM Sans"/>
                <a:cs typeface="DM Sans"/>
              </a:defRPr>
            </a:pPr>
            <a:r>
              <a:rPr sz="2400" b="0">
                <a:solidFill>
                  <a:srgbClr val="0A0A0A"/>
                </a:solidFill>
                <a:latin typeface="DM Sans"/>
                <a:ea typeface="DM Sans"/>
                <a:cs typeface="DM Sans"/>
              </a:rPr>
              <a:t>expected option return, while</a:t>
            </a:r>
          </a:p>
        </p:txBody>
      </p:sp>
      <p:sp>
        <p:nvSpPr>
          <p:cNvPr id="11" name="">
            <a:extLst xmlns:a="http://schemas.openxmlformats.org/drawingml/2006/main">
              <a:ext uri="{FF2B5EF4-FFF2-40B4-BE49-F238E27FC236}">
                <a16:creationId xmlns:a16="http://schemas.microsoft.com/office/drawing/2014/main" id="{0D3BD302-FEE8-45A0-8B8E-5106C12514F2}"/>
              </a:ext>
            </a:extLst>
          </p:cNvPr>
          <p:cNvSpPr>
            <a:spLocks xmlns:a="http://schemas.openxmlformats.org/drawingml/2006/main" noGrp="1"/>
          </p:cNvSpPr>
          <p:nvPr/>
        </p:nvSpPr>
        <p:spPr>
          <a:xfrm xmlns:a="http://schemas.openxmlformats.org/drawingml/2006/main" rot="0">
            <a:off x="400050" y="4105275"/>
            <a:ext cx="5238750" cy="12573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875" b="0">
                <a:solidFill>
                  <a:srgbClr val="0A0A0A"/>
                </a:solidFill>
                <a:latin typeface="DM Sans Light"/>
                <a:ea typeface="DM Sans Light"/>
                <a:cs typeface="DM Sans Light"/>
              </a:defRPr>
            </a:defPPr>
            <a:lvl1pPr algn="l">
              <a:defRPr sz="7875" b="0">
                <a:solidFill>
                  <a:srgbClr val="0A0A0A"/>
                </a:solidFill>
                <a:latin typeface="DM Sans Light"/>
                <a:ea typeface="DM Sans Light"/>
                <a:cs typeface="DM Sans Light"/>
              </a:defRPr>
            </a:lvl1pPr>
            <a:lvl2pPr algn="l">
              <a:defRPr sz="7875" b="0">
                <a:solidFill>
                  <a:srgbClr val="0A0A0A"/>
                </a:solidFill>
                <a:latin typeface="DM Sans Light"/>
                <a:ea typeface="DM Sans Light"/>
                <a:cs typeface="DM Sans Light"/>
              </a:defRPr>
            </a:lvl2pPr>
            <a:lvl3pPr algn="l">
              <a:defRPr sz="7875" b="0">
                <a:solidFill>
                  <a:srgbClr val="0A0A0A"/>
                </a:solidFill>
                <a:latin typeface="DM Sans Light"/>
                <a:ea typeface="DM Sans Light"/>
                <a:cs typeface="DM Sans Light"/>
              </a:defRPr>
            </a:lvl3pPr>
            <a:lvl4pPr algn="l">
              <a:defRPr sz="7875" b="0">
                <a:solidFill>
                  <a:srgbClr val="0A0A0A"/>
                </a:solidFill>
                <a:latin typeface="DM Sans Light"/>
                <a:ea typeface="DM Sans Light"/>
                <a:cs typeface="DM Sans Light"/>
              </a:defRPr>
            </a:lvl4pPr>
            <a:lvl5pPr algn="l">
              <a:defRPr sz="7875" b="0">
                <a:solidFill>
                  <a:srgbClr val="0A0A0A"/>
                </a:solidFill>
                <a:latin typeface="DM Sans Light"/>
                <a:ea typeface="DM Sans Light"/>
                <a:cs typeface="DM Sans Light"/>
              </a:defRPr>
            </a:lvl5pPr>
            <a:lvl6pPr algn="l">
              <a:defRPr sz="7875" b="0">
                <a:solidFill>
                  <a:srgbClr val="0A0A0A"/>
                </a:solidFill>
                <a:latin typeface="DM Sans Light"/>
                <a:ea typeface="DM Sans Light"/>
                <a:cs typeface="DM Sans Light"/>
              </a:defRPr>
            </a:lvl6pPr>
            <a:lvl7pPr algn="l">
              <a:defRPr sz="7875" b="0">
                <a:solidFill>
                  <a:srgbClr val="0A0A0A"/>
                </a:solidFill>
                <a:latin typeface="DM Sans Light"/>
                <a:ea typeface="DM Sans Light"/>
                <a:cs typeface="DM Sans Light"/>
              </a:defRPr>
            </a:lvl7pPr>
            <a:lvl8pPr algn="l">
              <a:defRPr sz="7875" b="0">
                <a:solidFill>
                  <a:srgbClr val="0A0A0A"/>
                </a:solidFill>
                <a:latin typeface="DM Sans Light"/>
                <a:ea typeface="DM Sans Light"/>
                <a:cs typeface="DM Sans Light"/>
              </a:defRPr>
            </a:lvl8pPr>
            <a:lvl9pPr algn="l">
              <a:defRPr sz="7875" b="0">
                <a:solidFill>
                  <a:srgbClr val="0A0A0A"/>
                </a:solidFill>
                <a:latin typeface="DM Sans Light"/>
                <a:ea typeface="DM Sans Light"/>
                <a:cs typeface="DM Sans Light"/>
              </a:defRPr>
            </a:lvl9pPr>
          </a:lstStyle>
          <a:p xmlns:a="http://schemas.openxmlformats.org/drawingml/2006/main">
            <a:pPr algn="l">
              <a:defRPr sz="7875" b="0">
                <a:solidFill>
                  <a:srgbClr val="0A0A0A"/>
                </a:solidFill>
                <a:latin typeface="DM Sans Light"/>
                <a:ea typeface="DM Sans Light"/>
                <a:cs typeface="DM Sans Light"/>
              </a:defRPr>
            </a:pPr>
            <a:r>
              <a:rPr sz="7875" b="0">
                <a:solidFill>
                  <a:srgbClr val="0A0A0A"/>
                </a:solidFill>
                <a:latin typeface="DM Sans Light"/>
                <a:ea typeface="DM Sans Light"/>
                <a:cs typeface="DM Sans Light"/>
              </a:rPr>
              <a:t>51.2%</a:t>
            </a:r>
          </a:p>
        </p:txBody>
      </p:sp>
      <p:sp>
        <p:nvSpPr>
          <p:cNvPr id="12" name="">
            <a:extLst xmlns:a="http://schemas.openxmlformats.org/drawingml/2006/main">
              <a:ext uri="{FF2B5EF4-FFF2-40B4-BE49-F238E27FC236}">
                <a16:creationId xmlns:a16="http://schemas.microsoft.com/office/drawing/2014/main" id="{5412849C-BBF0-4AFF-AC80-50852435AEB9}"/>
              </a:ext>
            </a:extLst>
          </p:cNvPr>
          <p:cNvSpPr>
            <a:spLocks xmlns:a="http://schemas.openxmlformats.org/drawingml/2006/main" noGrp="1"/>
          </p:cNvSpPr>
          <p:nvPr/>
        </p:nvSpPr>
        <p:spPr>
          <a:xfrm xmlns:a="http://schemas.openxmlformats.org/drawingml/2006/main">
            <a:off x="447675" y="5305425"/>
            <a:ext cx="2857500" cy="95"/>
          </a:xfrm>
          <a:custGeom xmlns:a="http://schemas.openxmlformats.org/drawingml/2006/main">
            <a:pathLst>
              <a:path w="2857500" h="95">
                <a:moveTo>
                  <a:pt x="0" y="0"/>
                </a:moveTo>
                <a:lnTo>
                  <a:pt x="2857500" y="0"/>
                </a:lnTo>
              </a:path>
            </a:pathLst>
          </a:custGeom>
          <a:noFill xmlns:a="http://schemas.openxmlformats.org/drawingml/2006/main"/>
          <a:ln xmlns:a="http://schemas.openxmlformats.org/drawingml/2006/main" w="17145">
            <a:solidFill>
              <a:srgbClr val="0A0A0A"/>
            </a:solidFill>
            <a:prstDash val="solid"/>
          </a:ln>
        </p:spPr>
      </p:sp>
      <p:sp>
        <p:nvSpPr>
          <p:cNvPr id="13" name="">
            <a:extLst xmlns:a="http://schemas.openxmlformats.org/drawingml/2006/main">
              <a:ext uri="{FF2B5EF4-FFF2-40B4-BE49-F238E27FC236}">
                <a16:creationId xmlns:a16="http://schemas.microsoft.com/office/drawing/2014/main" id="{CC7A53BA-E674-4CFD-94C4-A35E1C70413E}"/>
              </a:ext>
            </a:extLst>
          </p:cNvPr>
          <p:cNvSpPr>
            <a:spLocks xmlns:a="http://schemas.openxmlformats.org/drawingml/2006/main" noGrp="1"/>
          </p:cNvSpPr>
          <p:nvPr/>
        </p:nvSpPr>
        <p:spPr>
          <a:xfrm xmlns:a="http://schemas.openxmlformats.org/drawingml/2006/main" rot="0">
            <a:off x="400050" y="5476875"/>
            <a:ext cx="5429250" cy="4667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400" b="0">
                <a:solidFill>
                  <a:srgbClr val="0A0A0A"/>
                </a:solidFill>
                <a:latin typeface="DM Sans"/>
                <a:ea typeface="DM Sans"/>
                <a:cs typeface="DM Sans"/>
              </a:defRPr>
            </a:defPPr>
            <a:lvl1pPr algn="l">
              <a:defRPr sz="2400" b="0">
                <a:solidFill>
                  <a:srgbClr val="0A0A0A"/>
                </a:solidFill>
                <a:latin typeface="DM Sans"/>
                <a:ea typeface="DM Sans"/>
                <a:cs typeface="DM Sans"/>
              </a:defRPr>
            </a:lvl1pPr>
            <a:lvl2pPr algn="l">
              <a:defRPr sz="2400" b="0">
                <a:solidFill>
                  <a:srgbClr val="0A0A0A"/>
                </a:solidFill>
                <a:latin typeface="DM Sans"/>
                <a:ea typeface="DM Sans"/>
                <a:cs typeface="DM Sans"/>
              </a:defRPr>
            </a:lvl2pPr>
            <a:lvl3pPr algn="l">
              <a:defRPr sz="2400" b="0">
                <a:solidFill>
                  <a:srgbClr val="0A0A0A"/>
                </a:solidFill>
                <a:latin typeface="DM Sans"/>
                <a:ea typeface="DM Sans"/>
                <a:cs typeface="DM Sans"/>
              </a:defRPr>
            </a:lvl3pPr>
            <a:lvl4pPr algn="l">
              <a:defRPr sz="2400" b="0">
                <a:solidFill>
                  <a:srgbClr val="0A0A0A"/>
                </a:solidFill>
                <a:latin typeface="DM Sans"/>
                <a:ea typeface="DM Sans"/>
                <a:cs typeface="DM Sans"/>
              </a:defRPr>
            </a:lvl4pPr>
            <a:lvl5pPr algn="l">
              <a:defRPr sz="2400" b="0">
                <a:solidFill>
                  <a:srgbClr val="0A0A0A"/>
                </a:solidFill>
                <a:latin typeface="DM Sans"/>
                <a:ea typeface="DM Sans"/>
                <a:cs typeface="DM Sans"/>
              </a:defRPr>
            </a:lvl5pPr>
            <a:lvl6pPr algn="l">
              <a:defRPr sz="2400" b="0">
                <a:solidFill>
                  <a:srgbClr val="0A0A0A"/>
                </a:solidFill>
                <a:latin typeface="DM Sans"/>
                <a:ea typeface="DM Sans"/>
                <a:cs typeface="DM Sans"/>
              </a:defRPr>
            </a:lvl6pPr>
            <a:lvl7pPr algn="l">
              <a:defRPr sz="2400" b="0">
                <a:solidFill>
                  <a:srgbClr val="0A0A0A"/>
                </a:solidFill>
                <a:latin typeface="DM Sans"/>
                <a:ea typeface="DM Sans"/>
                <a:cs typeface="DM Sans"/>
              </a:defRPr>
            </a:lvl7pPr>
            <a:lvl8pPr algn="l">
              <a:defRPr sz="2400" b="0">
                <a:solidFill>
                  <a:srgbClr val="0A0A0A"/>
                </a:solidFill>
                <a:latin typeface="DM Sans"/>
                <a:ea typeface="DM Sans"/>
                <a:cs typeface="DM Sans"/>
              </a:defRPr>
            </a:lvl8pPr>
            <a:lvl9pPr algn="l">
              <a:defRPr sz="2400" b="0">
                <a:solidFill>
                  <a:srgbClr val="0A0A0A"/>
                </a:solidFill>
                <a:latin typeface="DM Sans"/>
                <a:ea typeface="DM Sans"/>
                <a:cs typeface="DM Sans"/>
              </a:defRPr>
            </a:lvl9pPr>
          </a:lstStyle>
          <a:p xmlns:a="http://schemas.openxmlformats.org/drawingml/2006/main">
            <a:pPr algn="l">
              <a:defRPr sz="2400" b="0">
                <a:solidFill>
                  <a:srgbClr val="0A0A0A"/>
                </a:solidFill>
                <a:latin typeface="DM Sans"/>
                <a:ea typeface="DM Sans"/>
                <a:cs typeface="DM Sans"/>
              </a:defRPr>
            </a:pPr>
            <a:r>
              <a:rPr sz="2400" b="0">
                <a:solidFill>
                  <a:srgbClr val="0A0A0A"/>
                </a:solidFill>
                <a:latin typeface="DM Sans"/>
                <a:ea typeface="DM Sans"/>
                <a:cs typeface="DM Sans"/>
              </a:rPr>
              <a:t>of paths have no sale.</a:t>
            </a:r>
          </a:p>
        </p:txBody>
      </p:sp>
      <p:sp>
        <p:nvSpPr>
          <p:cNvPr id="14" name="">
            <a:extLst xmlns:a="http://schemas.openxmlformats.org/drawingml/2006/main">
              <a:ext uri="{FF2B5EF4-FFF2-40B4-BE49-F238E27FC236}">
                <a16:creationId xmlns:a16="http://schemas.microsoft.com/office/drawing/2014/main" id="{AE47A3D0-C9B7-495B-8A50-540FEC9B3387}"/>
              </a:ext>
            </a:extLst>
          </p:cNvPr>
          <p:cNvSpPr>
            <a:spLocks xmlns:a="http://schemas.openxmlformats.org/drawingml/2006/main" noGrp="1"/>
          </p:cNvSpPr>
          <p:nvPr/>
        </p:nvSpPr>
        <p:spPr>
          <a:xfrm xmlns:a="http://schemas.openxmlformats.org/drawingml/2006/main" rot="0">
            <a:off x="400050" y="6124575"/>
            <a:ext cx="5438775" cy="5524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863" b="0">
                <a:solidFill>
                  <a:srgbClr val="737373"/>
                </a:solidFill>
                <a:latin typeface="DM Sans"/>
                <a:ea typeface="DM Sans"/>
                <a:cs typeface="DM Sans"/>
              </a:defRPr>
            </a:defPPr>
            <a:lvl1pPr algn="l">
              <a:defRPr sz="863" b="0">
                <a:solidFill>
                  <a:srgbClr val="737373"/>
                </a:solidFill>
                <a:latin typeface="DM Sans"/>
                <a:ea typeface="DM Sans"/>
                <a:cs typeface="DM Sans"/>
              </a:defRPr>
            </a:lvl1pPr>
            <a:lvl2pPr algn="l">
              <a:defRPr sz="863" b="0">
                <a:solidFill>
                  <a:srgbClr val="737373"/>
                </a:solidFill>
                <a:latin typeface="DM Sans"/>
                <a:ea typeface="DM Sans"/>
                <a:cs typeface="DM Sans"/>
              </a:defRPr>
            </a:lvl2pPr>
            <a:lvl3pPr algn="l">
              <a:defRPr sz="863" b="0">
                <a:solidFill>
                  <a:srgbClr val="737373"/>
                </a:solidFill>
                <a:latin typeface="DM Sans"/>
                <a:ea typeface="DM Sans"/>
                <a:cs typeface="DM Sans"/>
              </a:defRPr>
            </a:lvl3pPr>
            <a:lvl4pPr algn="l">
              <a:defRPr sz="863" b="0">
                <a:solidFill>
                  <a:srgbClr val="737373"/>
                </a:solidFill>
                <a:latin typeface="DM Sans"/>
                <a:ea typeface="DM Sans"/>
                <a:cs typeface="DM Sans"/>
              </a:defRPr>
            </a:lvl4pPr>
            <a:lvl5pPr algn="l">
              <a:defRPr sz="863" b="0">
                <a:solidFill>
                  <a:srgbClr val="737373"/>
                </a:solidFill>
                <a:latin typeface="DM Sans"/>
                <a:ea typeface="DM Sans"/>
                <a:cs typeface="DM Sans"/>
              </a:defRPr>
            </a:lvl5pPr>
            <a:lvl6pPr algn="l">
              <a:defRPr sz="863" b="0">
                <a:solidFill>
                  <a:srgbClr val="737373"/>
                </a:solidFill>
                <a:latin typeface="DM Sans"/>
                <a:ea typeface="DM Sans"/>
                <a:cs typeface="DM Sans"/>
              </a:defRPr>
            </a:lvl6pPr>
            <a:lvl7pPr algn="l">
              <a:defRPr sz="863" b="0">
                <a:solidFill>
                  <a:srgbClr val="737373"/>
                </a:solidFill>
                <a:latin typeface="DM Sans"/>
                <a:ea typeface="DM Sans"/>
                <a:cs typeface="DM Sans"/>
              </a:defRPr>
            </a:lvl7pPr>
            <a:lvl8pPr algn="l">
              <a:defRPr sz="863" b="0">
                <a:solidFill>
                  <a:srgbClr val="737373"/>
                </a:solidFill>
                <a:latin typeface="DM Sans"/>
                <a:ea typeface="DM Sans"/>
                <a:cs typeface="DM Sans"/>
              </a:defRPr>
            </a:lvl8pPr>
            <a:lvl9pPr algn="l">
              <a:defRPr sz="863" b="0">
                <a:solidFill>
                  <a:srgbClr val="737373"/>
                </a:solidFill>
                <a:latin typeface="DM Sans"/>
                <a:ea typeface="DM Sans"/>
                <a:cs typeface="DM Sans"/>
              </a:defRPr>
            </a:lvl9pPr>
          </a:lstStyle>
          <a:p xmlns:a="http://schemas.openxmlformats.org/drawingml/2006/main">
            <a:pPr algn="l">
              <a:defRPr sz="863" b="0">
                <a:solidFill>
                  <a:srgbClr val="737373"/>
                </a:solidFill>
                <a:latin typeface="DM Sans"/>
                <a:ea typeface="DM Sans"/>
                <a:cs typeface="DM Sans"/>
              </a:defRPr>
            </a:pPr>
            <a:r>
              <a:rPr sz="863" b="0">
                <a:solidFill>
                  <a:srgbClr val="737373"/>
                </a:solidFill>
                <a:latin typeface="DM Sans"/>
                <a:ea typeface="DM Sans"/>
                <a:cs typeface="DM Sans"/>
              </a:rPr>
              <a:t>Fixed $50 entry / exit fees. Median cash: −$30,050.</a:t>
            </a:r>
          </a:p>
          <a:p xmlns:a="http://schemas.openxmlformats.org/drawingml/2006/main">
            <a:pPr algn="l">
              <a:defRPr sz="863" b="0">
                <a:solidFill>
                  <a:srgbClr val="737373"/>
                </a:solidFill>
                <a:latin typeface="DM Sans"/>
                <a:ea typeface="DM Sans"/>
                <a:cs typeface="DM Sans"/>
              </a:defRPr>
            </a:pPr>
            <a:r>
              <a:rPr sz="863" b="0">
                <a:solidFill>
                  <a:srgbClr val="737373"/>
                </a:solidFill>
                <a:latin typeface="DM Sans"/>
                <a:ea typeface="DM Sans"/>
                <a:cs typeface="DM Sans"/>
              </a:rPr>
              <a:t>Proportional fees: 1.09% return; risk cap fails. See appendix 10.</a:t>
            </a:r>
          </a:p>
          <a:p xmlns:a="http://schemas.openxmlformats.org/drawingml/2006/main">
            <a:pPr algn="l">
              <a:defRPr sz="863" b="0">
                <a:solidFill>
                  <a:srgbClr val="737373"/>
                </a:solidFill>
                <a:latin typeface="DM Sans"/>
                <a:ea typeface="DM Sans"/>
                <a:cs typeface="DM Sans"/>
              </a:defRPr>
            </a:pPr>
            <a:r>
              <a:rPr sz="863" b="0">
                <a:solidFill>
                  <a:srgbClr val="737373"/>
                </a:solidFill>
                <a:latin typeface="DM Sans"/>
                <a:ea typeface="DM Sans"/>
                <a:cs typeface="DM Sans"/>
              </a:rPr>
              <a:t>Non-annualized. Gold growth zero; 20% assumed 30-day hazard.</a:t>
            </a:r>
          </a:p>
        </p:txBody>
      </p:sp>
      <p:sp>
        <p:nvSpPr>
          <p:cNvPr id="15" name="">
            <a:extLst xmlns:a="http://schemas.openxmlformats.org/drawingml/2006/main">
              <a:ext uri="{FF2B5EF4-FFF2-40B4-BE49-F238E27FC236}">
                <a16:creationId xmlns:a16="http://schemas.microsoft.com/office/drawing/2014/main" id="{B491E694-BF1C-498E-BB1D-315BE99AB636}"/>
              </a:ext>
            </a:extLst>
          </p:cNvPr>
          <p:cNvSpPr>
            <a:spLocks xmlns:a="http://schemas.openxmlformats.org/drawingml/2006/main" noGrp="1"/>
          </p:cNvSpPr>
          <p:nvPr/>
        </p:nvSpPr>
        <p:spPr>
          <a:xfrm xmlns:a="http://schemas.openxmlformats.org/drawingml/2006/main">
            <a:off x="6172200" y="152400"/>
            <a:ext cx="5867400" cy="6553200"/>
          </a:xfrm>
          <a:prstGeom xmlns:a="http://schemas.openxmlformats.org/drawingml/2006/main" prst="roundRect">
            <a:avLst>
              <a:gd name="adj" fmla="val 4058"/>
            </a:avLst>
          </a:prstGeom>
          <a:solidFill xmlns:a="http://schemas.openxmlformats.org/drawingml/2006/main">
            <a:srgbClr val="0A0A0A"/>
          </a:solidFill>
          <a:ln xmlns:a="http://schemas.openxmlformats.org/drawingml/2006/main" w="0">
            <a:noFill/>
            <a:prstDash val="solid"/>
          </a:ln>
        </p:spPr>
      </p:sp>
      <p:graphicFrame>
        <p:nvGraphicFramePr>
          <p:cNvPr id="16" name="Chart">
            <a:extLst xmlns:a="http://schemas.openxmlformats.org/drawingml/2006/main">
              <a:ext uri="{FF2B5EF4-FFF2-40B4-BE49-F238E27FC236}">
                <a16:creationId xmlns:a16="http://schemas.microsoft.com/office/drawing/2014/main" id="{43CD385D-009B-4F51-9FE6-98A4FE7B8454}"/>
              </a:ext>
            </a:extLst>
          </p:cNvPr>
          <p:cNvGraphicFramePr/>
          <p:nvPr/>
        </p:nvGraphicFramePr>
        <p:xfrm>
          <a:off xmlns:a="http://schemas.openxmlformats.org/drawingml/2006/main" x="6334125" y="361950"/>
          <a:ext xmlns:a="http://schemas.openxmlformats.org/drawingml/2006/main" cx="5543550" cy="5743575"/>
        </p:xfrm>
        <a:graphic xmlns:a="http://schemas.openxmlformats.org/drawingml/2006/main">
          <a:graphicData uri="http://schemas.openxmlformats.org/drawingml/2006/chart">
            <c:chart xmlns:r="http://schemas.openxmlformats.org/officeDocument/2006/relationships" xmlns:c="http://schemas.openxmlformats.org/drawingml/2006/chart" r:id="R27ab15f45f944495"/>
          </a:graphicData>
        </a:graphic>
      </p:graphicFrame>
      <p:sp>
        <p:nvSpPr>
          <p:cNvPr id="17" name="">
            <a:extLst xmlns:a="http://schemas.openxmlformats.org/drawingml/2006/main">
              <a:ext uri="{FF2B5EF4-FFF2-40B4-BE49-F238E27FC236}">
                <a16:creationId xmlns:a16="http://schemas.microsoft.com/office/drawing/2014/main" id="{295D4114-434D-46D8-8CC7-5D4487AF0375}"/>
              </a:ext>
            </a:extLst>
          </p:cNvPr>
          <p:cNvSpPr>
            <a:spLocks xmlns:a="http://schemas.openxmlformats.org/drawingml/2006/main" noGrp="1"/>
          </p:cNvSpPr>
          <p:nvPr/>
        </p:nvSpPr>
        <p:spPr>
          <a:xfrm xmlns:a="http://schemas.openxmlformats.org/drawingml/2006/main" rot="0">
            <a:off x="11039475" y="4191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FAFAFA"/>
                </a:solidFill>
                <a:latin typeface="DM Sans"/>
                <a:ea typeface="DM Sans"/>
                <a:cs typeface="DM Sans"/>
              </a:defRPr>
            </a:defPPr>
            <a:lvl1pPr algn="r">
              <a:defRPr sz="900" b="0">
                <a:solidFill>
                  <a:srgbClr val="FAFAFA"/>
                </a:solidFill>
                <a:latin typeface="DM Sans"/>
                <a:ea typeface="DM Sans"/>
                <a:cs typeface="DM Sans"/>
              </a:defRPr>
            </a:lvl1pPr>
            <a:lvl2pPr algn="r">
              <a:defRPr sz="900" b="0">
                <a:solidFill>
                  <a:srgbClr val="FAFAFA"/>
                </a:solidFill>
                <a:latin typeface="DM Sans"/>
                <a:ea typeface="DM Sans"/>
                <a:cs typeface="DM Sans"/>
              </a:defRPr>
            </a:lvl2pPr>
            <a:lvl3pPr algn="r">
              <a:defRPr sz="900" b="0">
                <a:solidFill>
                  <a:srgbClr val="FAFAFA"/>
                </a:solidFill>
                <a:latin typeface="DM Sans"/>
                <a:ea typeface="DM Sans"/>
                <a:cs typeface="DM Sans"/>
              </a:defRPr>
            </a:lvl3pPr>
            <a:lvl4pPr algn="r">
              <a:defRPr sz="900" b="0">
                <a:solidFill>
                  <a:srgbClr val="FAFAFA"/>
                </a:solidFill>
                <a:latin typeface="DM Sans"/>
                <a:ea typeface="DM Sans"/>
                <a:cs typeface="DM Sans"/>
              </a:defRPr>
            </a:lvl4pPr>
            <a:lvl5pPr algn="r">
              <a:defRPr sz="900" b="0">
                <a:solidFill>
                  <a:srgbClr val="FAFAFA"/>
                </a:solidFill>
                <a:latin typeface="DM Sans"/>
                <a:ea typeface="DM Sans"/>
                <a:cs typeface="DM Sans"/>
              </a:defRPr>
            </a:lvl5pPr>
            <a:lvl6pPr algn="r">
              <a:defRPr sz="900" b="0">
                <a:solidFill>
                  <a:srgbClr val="FAFAFA"/>
                </a:solidFill>
                <a:latin typeface="DM Sans"/>
                <a:ea typeface="DM Sans"/>
                <a:cs typeface="DM Sans"/>
              </a:defRPr>
            </a:lvl6pPr>
            <a:lvl7pPr algn="r">
              <a:defRPr sz="900" b="0">
                <a:solidFill>
                  <a:srgbClr val="FAFAFA"/>
                </a:solidFill>
                <a:latin typeface="DM Sans"/>
                <a:ea typeface="DM Sans"/>
                <a:cs typeface="DM Sans"/>
              </a:defRPr>
            </a:lvl7pPr>
            <a:lvl8pPr algn="r">
              <a:defRPr sz="900" b="0">
                <a:solidFill>
                  <a:srgbClr val="FAFAFA"/>
                </a:solidFill>
                <a:latin typeface="DM Sans"/>
                <a:ea typeface="DM Sans"/>
                <a:cs typeface="DM Sans"/>
              </a:defRPr>
            </a:lvl8pPr>
            <a:lvl9pPr algn="r">
              <a:defRPr sz="900" b="0">
                <a:solidFill>
                  <a:srgbClr val="FAFAFA"/>
                </a:solidFill>
                <a:latin typeface="DM Sans"/>
                <a:ea typeface="DM Sans"/>
                <a:cs typeface="DM Sans"/>
              </a:defRPr>
            </a:lvl9pPr>
          </a:lstStyle>
          <a:p xmlns:a="http://schemas.openxmlformats.org/drawingml/2006/main">
            <a:pPr algn="r">
              <a:defRPr sz="900" b="0">
                <a:solidFill>
                  <a:srgbClr val="FAFAFA"/>
                </a:solidFill>
                <a:latin typeface="DM Sans"/>
                <a:ea typeface="DM Sans"/>
                <a:cs typeface="DM Sans"/>
              </a:defRPr>
            </a:pPr>
            <a:r>
              <a:rPr sz="900" b="0">
                <a:solidFill>
                  <a:srgbClr val="FAFAFA"/>
                </a:solidFill>
                <a:latin typeface="DM Sans"/>
                <a:ea typeface="DM Sans"/>
                <a:cs typeface="DM Sans"/>
              </a:rPr>
              <a:t>Orecast</a:t>
            </a:r>
          </a:p>
        </p:txBody>
      </p:sp>
      <p:sp>
        <p:nvSpPr>
          <p:cNvPr id="18" name="">
            <a:extLst xmlns:a="http://schemas.openxmlformats.org/drawingml/2006/main">
              <a:ext uri="{FF2B5EF4-FFF2-40B4-BE49-F238E27FC236}">
                <a16:creationId xmlns:a16="http://schemas.microsoft.com/office/drawing/2014/main" id="{A768F4C0-0E87-4950-A5A6-B248C9FDDC0B}"/>
              </a:ext>
            </a:extLst>
          </p:cNvPr>
          <p:cNvSpPr>
            <a:spLocks xmlns:a="http://schemas.openxmlformats.org/drawingml/2006/main" noGrp="1"/>
          </p:cNvSpPr>
          <p:nvPr/>
        </p:nvSpPr>
        <p:spPr>
          <a:xfrm xmlns:a="http://schemas.openxmlformats.org/drawingml/2006/main" rot="0">
            <a:off x="6467475" y="6200775"/>
            <a:ext cx="8572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AFAFA"/>
                </a:solidFill>
                <a:latin typeface="DM Sans"/>
                <a:ea typeface="DM Sans"/>
                <a:cs typeface="DM Sans"/>
              </a:defRPr>
            </a:defPPr>
            <a:lvl1pPr algn="l">
              <a:defRPr sz="750" b="0">
                <a:solidFill>
                  <a:srgbClr val="FAFAFA"/>
                </a:solidFill>
                <a:latin typeface="DM Sans"/>
                <a:ea typeface="DM Sans"/>
                <a:cs typeface="DM Sans"/>
              </a:defRPr>
            </a:lvl1pPr>
            <a:lvl2pPr algn="l">
              <a:defRPr sz="750" b="0">
                <a:solidFill>
                  <a:srgbClr val="FAFAFA"/>
                </a:solidFill>
                <a:latin typeface="DM Sans"/>
                <a:ea typeface="DM Sans"/>
                <a:cs typeface="DM Sans"/>
              </a:defRPr>
            </a:lvl2pPr>
            <a:lvl3pPr algn="l">
              <a:defRPr sz="750" b="0">
                <a:solidFill>
                  <a:srgbClr val="FAFAFA"/>
                </a:solidFill>
                <a:latin typeface="DM Sans"/>
                <a:ea typeface="DM Sans"/>
                <a:cs typeface="DM Sans"/>
              </a:defRPr>
            </a:lvl3pPr>
            <a:lvl4pPr algn="l">
              <a:defRPr sz="750" b="0">
                <a:solidFill>
                  <a:srgbClr val="FAFAFA"/>
                </a:solidFill>
                <a:latin typeface="DM Sans"/>
                <a:ea typeface="DM Sans"/>
                <a:cs typeface="DM Sans"/>
              </a:defRPr>
            </a:lvl4pPr>
            <a:lvl5pPr algn="l">
              <a:defRPr sz="750" b="0">
                <a:solidFill>
                  <a:srgbClr val="FAFAFA"/>
                </a:solidFill>
                <a:latin typeface="DM Sans"/>
                <a:ea typeface="DM Sans"/>
                <a:cs typeface="DM Sans"/>
              </a:defRPr>
            </a:lvl5pPr>
            <a:lvl6pPr algn="l">
              <a:defRPr sz="750" b="0">
                <a:solidFill>
                  <a:srgbClr val="FAFAFA"/>
                </a:solidFill>
                <a:latin typeface="DM Sans"/>
                <a:ea typeface="DM Sans"/>
                <a:cs typeface="DM Sans"/>
              </a:defRPr>
            </a:lvl6pPr>
            <a:lvl7pPr algn="l">
              <a:defRPr sz="750" b="0">
                <a:solidFill>
                  <a:srgbClr val="FAFAFA"/>
                </a:solidFill>
                <a:latin typeface="DM Sans"/>
                <a:ea typeface="DM Sans"/>
                <a:cs typeface="DM Sans"/>
              </a:defRPr>
            </a:lvl7pPr>
            <a:lvl8pPr algn="l">
              <a:defRPr sz="750" b="0">
                <a:solidFill>
                  <a:srgbClr val="FAFAFA"/>
                </a:solidFill>
                <a:latin typeface="DM Sans"/>
                <a:ea typeface="DM Sans"/>
                <a:cs typeface="DM Sans"/>
              </a:defRPr>
            </a:lvl8pPr>
            <a:lvl9pPr algn="l">
              <a:defRPr sz="750" b="0">
                <a:solidFill>
                  <a:srgbClr val="FAFAFA"/>
                </a:solidFill>
                <a:latin typeface="DM Sans"/>
                <a:ea typeface="DM Sans"/>
                <a:cs typeface="DM Sans"/>
              </a:defRPr>
            </a:lvl9pPr>
          </a:lstStyle>
          <a:p xmlns:a="http://schemas.openxmlformats.org/drawingml/2006/main">
            <a:pPr algn="l">
              <a:defRPr sz="750" b="0">
                <a:solidFill>
                  <a:srgbClr val="FAFAFA"/>
                </a:solidFill>
                <a:latin typeface="DM Sans"/>
                <a:ea typeface="DM Sans"/>
                <a:cs typeface="DM Sans"/>
              </a:defRPr>
            </a:pPr>
            <a:r>
              <a:rPr sz="750" b="0">
                <a:solidFill>
                  <a:srgbClr val="FAFAFA"/>
                </a:solidFill>
                <a:latin typeface="DM Sans"/>
                <a:ea typeface="DM Sans"/>
                <a:cs typeface="DM Sans"/>
              </a:rPr>
              <a:t>Sale chance</a:t>
            </a:r>
          </a:p>
        </p:txBody>
      </p:sp>
      <p:sp>
        <p:nvSpPr>
          <p:cNvPr id="19" name="">
            <a:extLst xmlns:a="http://schemas.openxmlformats.org/drawingml/2006/main">
              <a:ext uri="{FF2B5EF4-FFF2-40B4-BE49-F238E27FC236}">
                <a16:creationId xmlns:a16="http://schemas.microsoft.com/office/drawing/2014/main" id="{33B668E7-3723-4AA1-B478-941F7C029E2A}"/>
              </a:ext>
            </a:extLst>
          </p:cNvPr>
          <p:cNvSpPr>
            <a:spLocks xmlns:a="http://schemas.openxmlformats.org/drawingml/2006/main" noGrp="1"/>
          </p:cNvSpPr>
          <p:nvPr/>
        </p:nvSpPr>
        <p:spPr>
          <a:xfrm xmlns:a="http://schemas.openxmlformats.org/drawingml/2006/main" rot="0">
            <a:off x="7267575" y="6191250"/>
            <a:ext cx="1047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FAFAFA"/>
                </a:solidFill>
                <a:latin typeface="DM Sans"/>
                <a:ea typeface="DM Sans"/>
                <a:cs typeface="DM Sans"/>
              </a:defRPr>
            </a:defPPr>
            <a:lvl1pPr algn="ctr">
              <a:defRPr sz="975" b="0">
                <a:solidFill>
                  <a:srgbClr val="FAFAFA"/>
                </a:solidFill>
                <a:latin typeface="DM Sans"/>
                <a:ea typeface="DM Sans"/>
                <a:cs typeface="DM Sans"/>
              </a:defRPr>
            </a:lvl1pPr>
            <a:lvl2pPr algn="ctr">
              <a:defRPr sz="975" b="0">
                <a:solidFill>
                  <a:srgbClr val="FAFAFA"/>
                </a:solidFill>
                <a:latin typeface="DM Sans"/>
                <a:ea typeface="DM Sans"/>
                <a:cs typeface="DM Sans"/>
              </a:defRPr>
            </a:lvl2pPr>
            <a:lvl3pPr algn="ctr">
              <a:defRPr sz="975" b="0">
                <a:solidFill>
                  <a:srgbClr val="FAFAFA"/>
                </a:solidFill>
                <a:latin typeface="DM Sans"/>
                <a:ea typeface="DM Sans"/>
                <a:cs typeface="DM Sans"/>
              </a:defRPr>
            </a:lvl3pPr>
            <a:lvl4pPr algn="ctr">
              <a:defRPr sz="975" b="0">
                <a:solidFill>
                  <a:srgbClr val="FAFAFA"/>
                </a:solidFill>
                <a:latin typeface="DM Sans"/>
                <a:ea typeface="DM Sans"/>
                <a:cs typeface="DM Sans"/>
              </a:defRPr>
            </a:lvl4pPr>
            <a:lvl5pPr algn="ctr">
              <a:defRPr sz="975" b="0">
                <a:solidFill>
                  <a:srgbClr val="FAFAFA"/>
                </a:solidFill>
                <a:latin typeface="DM Sans"/>
                <a:ea typeface="DM Sans"/>
                <a:cs typeface="DM Sans"/>
              </a:defRPr>
            </a:lvl5pPr>
            <a:lvl6pPr algn="ctr">
              <a:defRPr sz="975" b="0">
                <a:solidFill>
                  <a:srgbClr val="FAFAFA"/>
                </a:solidFill>
                <a:latin typeface="DM Sans"/>
                <a:ea typeface="DM Sans"/>
                <a:cs typeface="DM Sans"/>
              </a:defRPr>
            </a:lvl6pPr>
            <a:lvl7pPr algn="ctr">
              <a:defRPr sz="975" b="0">
                <a:solidFill>
                  <a:srgbClr val="FAFAFA"/>
                </a:solidFill>
                <a:latin typeface="DM Sans"/>
                <a:ea typeface="DM Sans"/>
                <a:cs typeface="DM Sans"/>
              </a:defRPr>
            </a:lvl7pPr>
            <a:lvl8pPr algn="ctr">
              <a:defRPr sz="975" b="0">
                <a:solidFill>
                  <a:srgbClr val="FAFAFA"/>
                </a:solidFill>
                <a:latin typeface="DM Sans"/>
                <a:ea typeface="DM Sans"/>
                <a:cs typeface="DM Sans"/>
              </a:defRPr>
            </a:lvl8pPr>
            <a:lvl9pPr algn="ctr">
              <a:defRPr sz="975" b="0">
                <a:solidFill>
                  <a:srgbClr val="FAFAFA"/>
                </a:solidFill>
                <a:latin typeface="DM Sans"/>
                <a:ea typeface="DM Sans"/>
                <a:cs typeface="DM Sans"/>
              </a:defRPr>
            </a:lvl9pPr>
          </a:lstStyle>
          <a:p xmlns:a="http://schemas.openxmlformats.org/drawingml/2006/main">
            <a:pPr algn="ctr">
              <a:defRPr sz="975" b="0">
                <a:solidFill>
                  <a:srgbClr val="FAFAFA"/>
                </a:solidFill>
                <a:latin typeface="DM Sans"/>
                <a:ea typeface="DM Sans"/>
                <a:cs typeface="DM Sans"/>
              </a:defRPr>
            </a:pPr>
            <a:r>
              <a:rPr sz="975" b="0">
                <a:solidFill>
                  <a:srgbClr val="FAFAFA"/>
                </a:solidFill>
                <a:latin typeface="DM Sans"/>
                <a:ea typeface="DM Sans"/>
                <a:cs typeface="DM Sans"/>
              </a:rPr>
              <a:t>20.0%</a:t>
            </a:r>
          </a:p>
        </p:txBody>
      </p:sp>
      <p:sp>
        <p:nvSpPr>
          <p:cNvPr id="20" name="">
            <a:extLst xmlns:a="http://schemas.openxmlformats.org/drawingml/2006/main">
              <a:ext uri="{FF2B5EF4-FFF2-40B4-BE49-F238E27FC236}">
                <a16:creationId xmlns:a16="http://schemas.microsoft.com/office/drawing/2014/main" id="{8778EEF7-5F14-4E40-891F-AACEF0BC3A1C}"/>
              </a:ext>
            </a:extLst>
          </p:cNvPr>
          <p:cNvSpPr>
            <a:spLocks xmlns:a="http://schemas.openxmlformats.org/drawingml/2006/main" noGrp="1"/>
          </p:cNvSpPr>
          <p:nvPr/>
        </p:nvSpPr>
        <p:spPr>
          <a:xfrm xmlns:a="http://schemas.openxmlformats.org/drawingml/2006/main" rot="0">
            <a:off x="8858250" y="6191250"/>
            <a:ext cx="1047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FAFAFA"/>
                </a:solidFill>
                <a:latin typeface="DM Sans"/>
                <a:ea typeface="DM Sans"/>
                <a:cs typeface="DM Sans"/>
              </a:defRPr>
            </a:defPPr>
            <a:lvl1pPr algn="ctr">
              <a:defRPr sz="975" b="0">
                <a:solidFill>
                  <a:srgbClr val="FAFAFA"/>
                </a:solidFill>
                <a:latin typeface="DM Sans"/>
                <a:ea typeface="DM Sans"/>
                <a:cs typeface="DM Sans"/>
              </a:defRPr>
            </a:lvl1pPr>
            <a:lvl2pPr algn="ctr">
              <a:defRPr sz="975" b="0">
                <a:solidFill>
                  <a:srgbClr val="FAFAFA"/>
                </a:solidFill>
                <a:latin typeface="DM Sans"/>
                <a:ea typeface="DM Sans"/>
                <a:cs typeface="DM Sans"/>
              </a:defRPr>
            </a:lvl2pPr>
            <a:lvl3pPr algn="ctr">
              <a:defRPr sz="975" b="0">
                <a:solidFill>
                  <a:srgbClr val="FAFAFA"/>
                </a:solidFill>
                <a:latin typeface="DM Sans"/>
                <a:ea typeface="DM Sans"/>
                <a:cs typeface="DM Sans"/>
              </a:defRPr>
            </a:lvl3pPr>
            <a:lvl4pPr algn="ctr">
              <a:defRPr sz="975" b="0">
                <a:solidFill>
                  <a:srgbClr val="FAFAFA"/>
                </a:solidFill>
                <a:latin typeface="DM Sans"/>
                <a:ea typeface="DM Sans"/>
                <a:cs typeface="DM Sans"/>
              </a:defRPr>
            </a:lvl4pPr>
            <a:lvl5pPr algn="ctr">
              <a:defRPr sz="975" b="0">
                <a:solidFill>
                  <a:srgbClr val="FAFAFA"/>
                </a:solidFill>
                <a:latin typeface="DM Sans"/>
                <a:ea typeface="DM Sans"/>
                <a:cs typeface="DM Sans"/>
              </a:defRPr>
            </a:lvl5pPr>
            <a:lvl6pPr algn="ctr">
              <a:defRPr sz="975" b="0">
                <a:solidFill>
                  <a:srgbClr val="FAFAFA"/>
                </a:solidFill>
                <a:latin typeface="DM Sans"/>
                <a:ea typeface="DM Sans"/>
                <a:cs typeface="DM Sans"/>
              </a:defRPr>
            </a:lvl6pPr>
            <a:lvl7pPr algn="ctr">
              <a:defRPr sz="975" b="0">
                <a:solidFill>
                  <a:srgbClr val="FAFAFA"/>
                </a:solidFill>
                <a:latin typeface="DM Sans"/>
                <a:ea typeface="DM Sans"/>
                <a:cs typeface="DM Sans"/>
              </a:defRPr>
            </a:lvl7pPr>
            <a:lvl8pPr algn="ctr">
              <a:defRPr sz="975" b="0">
                <a:solidFill>
                  <a:srgbClr val="FAFAFA"/>
                </a:solidFill>
                <a:latin typeface="DM Sans"/>
                <a:ea typeface="DM Sans"/>
                <a:cs typeface="DM Sans"/>
              </a:defRPr>
            </a:lvl8pPr>
            <a:lvl9pPr algn="ctr">
              <a:defRPr sz="975" b="0">
                <a:solidFill>
                  <a:srgbClr val="FAFAFA"/>
                </a:solidFill>
                <a:latin typeface="DM Sans"/>
                <a:ea typeface="DM Sans"/>
                <a:cs typeface="DM Sans"/>
              </a:defRPr>
            </a:lvl9pPr>
          </a:lstStyle>
          <a:p xmlns:a="http://schemas.openxmlformats.org/drawingml/2006/main">
            <a:pPr algn="ctr">
              <a:defRPr sz="975" b="0">
                <a:solidFill>
                  <a:srgbClr val="FAFAFA"/>
                </a:solidFill>
                <a:latin typeface="DM Sans"/>
                <a:ea typeface="DM Sans"/>
                <a:cs typeface="DM Sans"/>
              </a:defRPr>
            </a:pPr>
            <a:r>
              <a:rPr sz="975" b="0">
                <a:solidFill>
                  <a:srgbClr val="FAFAFA"/>
                </a:solidFill>
                <a:latin typeface="DM Sans"/>
                <a:ea typeface="DM Sans"/>
                <a:cs typeface="DM Sans"/>
              </a:rPr>
              <a:t>48.8%</a:t>
            </a:r>
          </a:p>
        </p:txBody>
      </p:sp>
      <p:sp>
        <p:nvSpPr>
          <p:cNvPr id="21" name="">
            <a:extLst xmlns:a="http://schemas.openxmlformats.org/drawingml/2006/main">
              <a:ext uri="{FF2B5EF4-FFF2-40B4-BE49-F238E27FC236}">
                <a16:creationId xmlns:a16="http://schemas.microsoft.com/office/drawing/2014/main" id="{A2205D7E-4D1F-4385-A4A7-3B8C1176DB88}"/>
              </a:ext>
            </a:extLst>
          </p:cNvPr>
          <p:cNvSpPr>
            <a:spLocks xmlns:a="http://schemas.openxmlformats.org/drawingml/2006/main" noGrp="1"/>
          </p:cNvSpPr>
          <p:nvPr/>
        </p:nvSpPr>
        <p:spPr>
          <a:xfrm xmlns:a="http://schemas.openxmlformats.org/drawingml/2006/main" rot="0">
            <a:off x="10448925" y="6191250"/>
            <a:ext cx="104775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975" b="0">
                <a:solidFill>
                  <a:srgbClr val="FAFAFA"/>
                </a:solidFill>
                <a:latin typeface="DM Sans"/>
                <a:ea typeface="DM Sans"/>
                <a:cs typeface="DM Sans"/>
              </a:defRPr>
            </a:defPPr>
            <a:lvl1pPr algn="ctr">
              <a:defRPr sz="975" b="0">
                <a:solidFill>
                  <a:srgbClr val="FAFAFA"/>
                </a:solidFill>
                <a:latin typeface="DM Sans"/>
                <a:ea typeface="DM Sans"/>
                <a:cs typeface="DM Sans"/>
              </a:defRPr>
            </a:lvl1pPr>
            <a:lvl2pPr algn="ctr">
              <a:defRPr sz="975" b="0">
                <a:solidFill>
                  <a:srgbClr val="FAFAFA"/>
                </a:solidFill>
                <a:latin typeface="DM Sans"/>
                <a:ea typeface="DM Sans"/>
                <a:cs typeface="DM Sans"/>
              </a:defRPr>
            </a:lvl2pPr>
            <a:lvl3pPr algn="ctr">
              <a:defRPr sz="975" b="0">
                <a:solidFill>
                  <a:srgbClr val="FAFAFA"/>
                </a:solidFill>
                <a:latin typeface="DM Sans"/>
                <a:ea typeface="DM Sans"/>
                <a:cs typeface="DM Sans"/>
              </a:defRPr>
            </a:lvl3pPr>
            <a:lvl4pPr algn="ctr">
              <a:defRPr sz="975" b="0">
                <a:solidFill>
                  <a:srgbClr val="FAFAFA"/>
                </a:solidFill>
                <a:latin typeface="DM Sans"/>
                <a:ea typeface="DM Sans"/>
                <a:cs typeface="DM Sans"/>
              </a:defRPr>
            </a:lvl4pPr>
            <a:lvl5pPr algn="ctr">
              <a:defRPr sz="975" b="0">
                <a:solidFill>
                  <a:srgbClr val="FAFAFA"/>
                </a:solidFill>
                <a:latin typeface="DM Sans"/>
                <a:ea typeface="DM Sans"/>
                <a:cs typeface="DM Sans"/>
              </a:defRPr>
            </a:lvl5pPr>
            <a:lvl6pPr algn="ctr">
              <a:defRPr sz="975" b="0">
                <a:solidFill>
                  <a:srgbClr val="FAFAFA"/>
                </a:solidFill>
                <a:latin typeface="DM Sans"/>
                <a:ea typeface="DM Sans"/>
                <a:cs typeface="DM Sans"/>
              </a:defRPr>
            </a:lvl6pPr>
            <a:lvl7pPr algn="ctr">
              <a:defRPr sz="975" b="0">
                <a:solidFill>
                  <a:srgbClr val="FAFAFA"/>
                </a:solidFill>
                <a:latin typeface="DM Sans"/>
                <a:ea typeface="DM Sans"/>
                <a:cs typeface="DM Sans"/>
              </a:defRPr>
            </a:lvl7pPr>
            <a:lvl8pPr algn="ctr">
              <a:defRPr sz="975" b="0">
                <a:solidFill>
                  <a:srgbClr val="FAFAFA"/>
                </a:solidFill>
                <a:latin typeface="DM Sans"/>
                <a:ea typeface="DM Sans"/>
                <a:cs typeface="DM Sans"/>
              </a:defRPr>
            </a:lvl8pPr>
            <a:lvl9pPr algn="ctr">
              <a:defRPr sz="975" b="0">
                <a:solidFill>
                  <a:srgbClr val="FAFAFA"/>
                </a:solidFill>
                <a:latin typeface="DM Sans"/>
                <a:ea typeface="DM Sans"/>
                <a:cs typeface="DM Sans"/>
              </a:defRPr>
            </a:lvl9pPr>
          </a:lstStyle>
          <a:p xmlns:a="http://schemas.openxmlformats.org/drawingml/2006/main">
            <a:pPr algn="ctr">
              <a:defRPr sz="975" b="0">
                <a:solidFill>
                  <a:srgbClr val="FAFAFA"/>
                </a:solidFill>
                <a:latin typeface="DM Sans"/>
                <a:ea typeface="DM Sans"/>
                <a:cs typeface="DM Sans"/>
              </a:defRPr>
            </a:pPr>
            <a:r>
              <a:rPr sz="975" b="0">
                <a:solidFill>
                  <a:srgbClr val="FAFAFA"/>
                </a:solidFill>
                <a:latin typeface="DM Sans"/>
                <a:ea typeface="DM Sans"/>
                <a:cs typeface="DM Sans"/>
              </a:rPr>
              <a:t>73.8%</a:t>
            </a:r>
          </a:p>
        </p:txBody>
      </p:sp>
      <p:sp>
        <p:nvSpPr>
          <p:cNvPr id="22" name="">
            <a:extLst xmlns:a="http://schemas.openxmlformats.org/drawingml/2006/main">
              <a:ext uri="{FF2B5EF4-FFF2-40B4-BE49-F238E27FC236}">
                <a16:creationId xmlns:a16="http://schemas.microsoft.com/office/drawing/2014/main" id="{699C5FAB-D9D6-4BD1-8E5F-BF73187DCE99}"/>
              </a:ext>
            </a:extLst>
          </p:cNvPr>
          <p:cNvSpPr>
            <a:spLocks xmlns:a="http://schemas.openxmlformats.org/drawingml/2006/main" noGrp="1"/>
          </p:cNvSpPr>
          <p:nvPr/>
        </p:nvSpPr>
        <p:spPr>
          <a:xfrm xmlns:a="http://schemas.openxmlformats.org/drawingml/2006/main" rot="0">
            <a:off x="6467475" y="6505575"/>
            <a:ext cx="49530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A3A3A3"/>
                </a:solidFill>
                <a:latin typeface="DM Sans"/>
                <a:ea typeface="DM Sans"/>
                <a:cs typeface="DM Sans"/>
              </a:defRPr>
            </a:defPPr>
            <a:lvl1pPr algn="l">
              <a:defRPr sz="750" b="0">
                <a:solidFill>
                  <a:srgbClr val="A3A3A3"/>
                </a:solidFill>
                <a:latin typeface="DM Sans"/>
                <a:ea typeface="DM Sans"/>
                <a:cs typeface="DM Sans"/>
              </a:defRPr>
            </a:lvl1pPr>
            <a:lvl2pPr algn="l">
              <a:defRPr sz="750" b="0">
                <a:solidFill>
                  <a:srgbClr val="A3A3A3"/>
                </a:solidFill>
                <a:latin typeface="DM Sans"/>
                <a:ea typeface="DM Sans"/>
                <a:cs typeface="DM Sans"/>
              </a:defRPr>
            </a:lvl2pPr>
            <a:lvl3pPr algn="l">
              <a:defRPr sz="750" b="0">
                <a:solidFill>
                  <a:srgbClr val="A3A3A3"/>
                </a:solidFill>
                <a:latin typeface="DM Sans"/>
                <a:ea typeface="DM Sans"/>
                <a:cs typeface="DM Sans"/>
              </a:defRPr>
            </a:lvl3pPr>
            <a:lvl4pPr algn="l">
              <a:defRPr sz="750" b="0">
                <a:solidFill>
                  <a:srgbClr val="A3A3A3"/>
                </a:solidFill>
                <a:latin typeface="DM Sans"/>
                <a:ea typeface="DM Sans"/>
                <a:cs typeface="DM Sans"/>
              </a:defRPr>
            </a:lvl4pPr>
            <a:lvl5pPr algn="l">
              <a:defRPr sz="750" b="0">
                <a:solidFill>
                  <a:srgbClr val="A3A3A3"/>
                </a:solidFill>
                <a:latin typeface="DM Sans"/>
                <a:ea typeface="DM Sans"/>
                <a:cs typeface="DM Sans"/>
              </a:defRPr>
            </a:lvl5pPr>
            <a:lvl6pPr algn="l">
              <a:defRPr sz="750" b="0">
                <a:solidFill>
                  <a:srgbClr val="A3A3A3"/>
                </a:solidFill>
                <a:latin typeface="DM Sans"/>
                <a:ea typeface="DM Sans"/>
                <a:cs typeface="DM Sans"/>
              </a:defRPr>
            </a:lvl6pPr>
            <a:lvl7pPr algn="l">
              <a:defRPr sz="750" b="0">
                <a:solidFill>
                  <a:srgbClr val="A3A3A3"/>
                </a:solidFill>
                <a:latin typeface="DM Sans"/>
                <a:ea typeface="DM Sans"/>
                <a:cs typeface="DM Sans"/>
              </a:defRPr>
            </a:lvl7pPr>
            <a:lvl8pPr algn="l">
              <a:defRPr sz="750" b="0">
                <a:solidFill>
                  <a:srgbClr val="A3A3A3"/>
                </a:solidFill>
                <a:latin typeface="DM Sans"/>
                <a:ea typeface="DM Sans"/>
                <a:cs typeface="DM Sans"/>
              </a:defRPr>
            </a:lvl8pPr>
            <a:lvl9pPr algn="l">
              <a:defRPr sz="750" b="0">
                <a:solidFill>
                  <a:srgbClr val="A3A3A3"/>
                </a:solidFill>
                <a:latin typeface="DM Sans"/>
                <a:ea typeface="DM Sans"/>
                <a:cs typeface="DM Sans"/>
              </a:defRPr>
            </a:lvl9pPr>
          </a:lstStyle>
          <a:p xmlns:a="http://schemas.openxmlformats.org/drawingml/2006/main">
            <a:pPr algn="l">
              <a:defRPr sz="750" b="0">
                <a:solidFill>
                  <a:srgbClr val="A3A3A3"/>
                </a:solidFill>
                <a:latin typeface="DM Sans"/>
                <a:ea typeface="DM Sans"/>
                <a:cs typeface="DM Sans"/>
              </a:defRPr>
            </a:pPr>
            <a:r>
              <a:rPr sz="750" b="0">
                <a:solidFill>
                  <a:srgbClr val="A3A3A3"/>
                </a:solidFill>
                <a:latin typeface="DM Sans"/>
                <a:ea typeface="DM Sans"/>
                <a:cs typeface="DM Sans"/>
              </a:rPr>
              <a:t>Same synthetic exposure · fixed-fee baseline</a:t>
            </a:r>
          </a:p>
        </p:txBody>
      </p:sp>
    </p:spTree>
    <p:extLst>
      <p:ext uri="{BB962C8B-B14F-4D97-AF65-F5344CB8AC3E}">
        <p14:creationId xmlns:p14="http://schemas.microsoft.com/office/powerpoint/2010/main" val="1094848134"/>
      </p:ext>
    </p:extLst>
  </p:cSld>
</p:sld>
</file>

<file path=ppt/slides/slide7.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pic>
        <p:nvPicPr>
          <p:cNvPr id="16" name="">
            <a:extLst xmlns:a="http://schemas.openxmlformats.org/drawingml/2006/main">
              <a:ext uri="{FF2B5EF4-FFF2-40B4-BE49-F238E27FC236}">
                <a16:creationId xmlns:a16="http://schemas.microsoft.com/office/drawing/2014/main" id="{4BCB55BF-D0BC-4977-8E72-AC5CD408D430}"/>
              </a:ext>
            </a:extLst>
          </p:cNvPr>
          <p:cNvPicPr>
            <a:picLocks xmlns:a="http://schemas.openxmlformats.org/drawingml/2006/main" noChangeAspect="1"/>
          </p:cNvPicPr>
          <p:nvPr/>
        </p:nvPicPr>
        <p:blipFill>
          <a:blip xmlns:r="http://schemas.openxmlformats.org/officeDocument/2006/relationships" xmlns:a="http://schemas.openxmlformats.org/drawingml/2006/main" r:embed="R68567b8da9e842b5"/>
          <a:srcRect xmlns:a="http://schemas.openxmlformats.org/drawingml/2006/main" l="0" t="17394" r="0" b="17394"/>
          <a:stretch xmlns:a="http://schemas.openxmlformats.org/drawingml/2006/main">
            <a:fillRect l="0" t="0" r="0" b="0"/>
          </a:stretch>
        </p:blipFill>
        <p:spPr>
          <a:xfrm xmlns:a="http://schemas.openxmlformats.org/drawingml/2006/main">
            <a:off x="152400" y="152400"/>
            <a:ext cx="11887200" cy="6553200"/>
          </a:xfrm>
          <a:prstGeom xmlns:a="http://schemas.openxmlformats.org/drawingml/2006/main" prst="roundRect">
            <a:avLst>
              <a:gd name="adj" fmla="val 3634"/>
            </a:avLst>
          </a:prstGeom>
        </p:spPr>
      </p:pic>
      <p:sp>
        <p:nvSpPr>
          <p:cNvPr id="2" name="">
            <a:extLst xmlns:a="http://schemas.openxmlformats.org/drawingml/2006/main">
              <a:ext uri="{FF2B5EF4-FFF2-40B4-BE49-F238E27FC236}">
                <a16:creationId xmlns:a16="http://schemas.microsoft.com/office/drawing/2014/main" id="{13B97A4A-3451-4A75-B1E0-050C93ED5D0F}"/>
              </a:ext>
            </a:extLst>
          </p:cNvPr>
          <p:cNvSpPr>
            <a:spLocks xmlns:a="http://schemas.openxmlformats.org/drawingml/2006/main" noGrp="1"/>
          </p:cNvSpPr>
          <p:nvPr/>
        </p:nvSpPr>
        <p:spPr>
          <a:xfrm xmlns:a="http://schemas.openxmlformats.org/drawingml/2006/main">
            <a:off x="152400" y="152400"/>
            <a:ext cx="11887200" cy="6553200"/>
          </a:xfrm>
          <a:prstGeom xmlns:a="http://schemas.openxmlformats.org/drawingml/2006/main" prst="roundRect">
            <a:avLst>
              <a:gd name="adj" fmla="val 3634"/>
            </a:avLst>
          </a:prstGeom>
          <a:solidFill xmlns:a="http://schemas.openxmlformats.org/drawingml/2006/main">
            <a:srgbClr val="0A0A0A">
              <a:alpha val="57000"/>
            </a:srgbClr>
          </a:solidFill>
          <a:ln xmlns:a="http://schemas.openxmlformats.org/drawingml/2006/main" w="0">
            <a:noFill/>
            <a:prstDash val="solid"/>
          </a:ln>
        </p:spPr>
      </p:sp>
      <p:sp>
        <p:nvSpPr>
          <p:cNvPr id="3" name="">
            <a:extLst xmlns:a="http://schemas.openxmlformats.org/drawingml/2006/main">
              <a:ext uri="{FF2B5EF4-FFF2-40B4-BE49-F238E27FC236}">
                <a16:creationId xmlns:a16="http://schemas.microsoft.com/office/drawing/2014/main" id="{B6ED3199-7B53-4850-8AA5-E894AADE7847}"/>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FAFAFA"/>
            </a:solidFill>
            <a:prstDash val="solid"/>
          </a:ln>
        </p:spPr>
      </p:sp>
      <p:sp>
        <p:nvSpPr>
          <p:cNvPr id="4" name="">
            <a:extLst xmlns:a="http://schemas.openxmlformats.org/drawingml/2006/main">
              <a:ext uri="{FF2B5EF4-FFF2-40B4-BE49-F238E27FC236}">
                <a16:creationId xmlns:a16="http://schemas.microsoft.com/office/drawing/2014/main" id="{56C5A1B8-0C5E-4322-A8A1-2D4D73764DB7}"/>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FAFAFA"/>
                </a:solidFill>
                <a:latin typeface="DM Sans"/>
                <a:ea typeface="DM Sans"/>
                <a:cs typeface="DM Sans"/>
              </a:defRPr>
            </a:defPPr>
            <a:lvl1pPr algn="ctr">
              <a:defRPr sz="750" b="0">
                <a:solidFill>
                  <a:srgbClr val="FAFAFA"/>
                </a:solidFill>
                <a:latin typeface="DM Sans"/>
                <a:ea typeface="DM Sans"/>
                <a:cs typeface="DM Sans"/>
              </a:defRPr>
            </a:lvl1pPr>
            <a:lvl2pPr algn="ctr">
              <a:defRPr sz="750" b="0">
                <a:solidFill>
                  <a:srgbClr val="FAFAFA"/>
                </a:solidFill>
                <a:latin typeface="DM Sans"/>
                <a:ea typeface="DM Sans"/>
                <a:cs typeface="DM Sans"/>
              </a:defRPr>
            </a:lvl2pPr>
            <a:lvl3pPr algn="ctr">
              <a:defRPr sz="750" b="0">
                <a:solidFill>
                  <a:srgbClr val="FAFAFA"/>
                </a:solidFill>
                <a:latin typeface="DM Sans"/>
                <a:ea typeface="DM Sans"/>
                <a:cs typeface="DM Sans"/>
              </a:defRPr>
            </a:lvl3pPr>
            <a:lvl4pPr algn="ctr">
              <a:defRPr sz="750" b="0">
                <a:solidFill>
                  <a:srgbClr val="FAFAFA"/>
                </a:solidFill>
                <a:latin typeface="DM Sans"/>
                <a:ea typeface="DM Sans"/>
                <a:cs typeface="DM Sans"/>
              </a:defRPr>
            </a:lvl4pPr>
            <a:lvl5pPr algn="ctr">
              <a:defRPr sz="750" b="0">
                <a:solidFill>
                  <a:srgbClr val="FAFAFA"/>
                </a:solidFill>
                <a:latin typeface="DM Sans"/>
                <a:ea typeface="DM Sans"/>
                <a:cs typeface="DM Sans"/>
              </a:defRPr>
            </a:lvl5pPr>
            <a:lvl6pPr algn="ctr">
              <a:defRPr sz="750" b="0">
                <a:solidFill>
                  <a:srgbClr val="FAFAFA"/>
                </a:solidFill>
                <a:latin typeface="DM Sans"/>
                <a:ea typeface="DM Sans"/>
                <a:cs typeface="DM Sans"/>
              </a:defRPr>
            </a:lvl6pPr>
            <a:lvl7pPr algn="ctr">
              <a:defRPr sz="750" b="0">
                <a:solidFill>
                  <a:srgbClr val="FAFAFA"/>
                </a:solidFill>
                <a:latin typeface="DM Sans"/>
                <a:ea typeface="DM Sans"/>
                <a:cs typeface="DM Sans"/>
              </a:defRPr>
            </a:lvl7pPr>
            <a:lvl8pPr algn="ctr">
              <a:defRPr sz="750" b="0">
                <a:solidFill>
                  <a:srgbClr val="FAFAFA"/>
                </a:solidFill>
                <a:latin typeface="DM Sans"/>
                <a:ea typeface="DM Sans"/>
                <a:cs typeface="DM Sans"/>
              </a:defRPr>
            </a:lvl8pPr>
            <a:lvl9pPr algn="ctr">
              <a:defRPr sz="750" b="0">
                <a:solidFill>
                  <a:srgbClr val="FAFAFA"/>
                </a:solidFill>
                <a:latin typeface="DM Sans"/>
                <a:ea typeface="DM Sans"/>
                <a:cs typeface="DM Sans"/>
              </a:defRPr>
            </a:lvl9pPr>
          </a:lstStyle>
          <a:p xmlns:a="http://schemas.openxmlformats.org/drawingml/2006/main">
            <a:pPr algn="ctr">
              <a:defRPr sz="750" b="0">
                <a:solidFill>
                  <a:srgbClr val="FAFAFA"/>
                </a:solidFill>
                <a:latin typeface="DM Sans"/>
                <a:ea typeface="DM Sans"/>
                <a:cs typeface="DM Sans"/>
              </a:defRPr>
            </a:pPr>
            <a:r>
              <a:rPr sz="750" b="0">
                <a:solidFill>
                  <a:srgbClr val="FAFAFA"/>
                </a:solidFill>
                <a:latin typeface="DM Sans"/>
                <a:ea typeface="DM Sans"/>
                <a:cs typeface="DM Sans"/>
              </a:rPr>
              <a:t>05</a:t>
            </a:r>
          </a:p>
        </p:txBody>
      </p:sp>
      <p:sp>
        <p:nvSpPr>
          <p:cNvPr id="5" name="">
            <a:extLst xmlns:a="http://schemas.openxmlformats.org/drawingml/2006/main">
              <a:ext uri="{FF2B5EF4-FFF2-40B4-BE49-F238E27FC236}">
                <a16:creationId xmlns:a16="http://schemas.microsoft.com/office/drawing/2014/main" id="{856D80F0-6BD2-49B9-9EDB-89E0CF0E2318}"/>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FAFAFA"/>
            </a:solidFill>
            <a:prstDash val="solid"/>
          </a:ln>
        </p:spPr>
      </p:sp>
      <p:sp>
        <p:nvSpPr>
          <p:cNvPr id="6" name="">
            <a:extLst xmlns:a="http://schemas.openxmlformats.org/drawingml/2006/main">
              <a:ext uri="{FF2B5EF4-FFF2-40B4-BE49-F238E27FC236}">
                <a16:creationId xmlns:a16="http://schemas.microsoft.com/office/drawing/2014/main" id="{229CBE2B-5FA0-4BD8-8BB8-F2609137A381}"/>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FAFAFA"/>
            </a:solidFill>
            <a:prstDash val="solid"/>
          </a:ln>
        </p:spPr>
      </p:sp>
      <p:sp>
        <p:nvSpPr>
          <p:cNvPr id="7" name="">
            <a:extLst xmlns:a="http://schemas.openxmlformats.org/drawingml/2006/main">
              <a:ext uri="{FF2B5EF4-FFF2-40B4-BE49-F238E27FC236}">
                <a16:creationId xmlns:a16="http://schemas.microsoft.com/office/drawing/2014/main" id="{CBA595A4-056E-4887-83D3-AC491C58CE29}"/>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FAFAFA"/>
            </a:solidFill>
            <a:prstDash val="solid"/>
          </a:ln>
        </p:spPr>
      </p:sp>
      <p:sp>
        <p:nvSpPr>
          <p:cNvPr id="8" name="">
            <a:extLst xmlns:a="http://schemas.openxmlformats.org/drawingml/2006/main">
              <a:ext uri="{FF2B5EF4-FFF2-40B4-BE49-F238E27FC236}">
                <a16:creationId xmlns:a16="http://schemas.microsoft.com/office/drawing/2014/main" id="{B39E879D-72BB-4B72-9757-71084590A53B}"/>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FAFAFA"/>
                </a:solidFill>
                <a:latin typeface="DM Sans"/>
                <a:ea typeface="DM Sans"/>
                <a:cs typeface="DM Sans"/>
              </a:defRPr>
            </a:defPPr>
            <a:lvl1pPr algn="l">
              <a:defRPr sz="900" b="0">
                <a:solidFill>
                  <a:srgbClr val="FAFAFA"/>
                </a:solidFill>
                <a:latin typeface="DM Sans"/>
                <a:ea typeface="DM Sans"/>
                <a:cs typeface="DM Sans"/>
              </a:defRPr>
            </a:lvl1pPr>
            <a:lvl2pPr algn="l">
              <a:defRPr sz="900" b="0">
                <a:solidFill>
                  <a:srgbClr val="FAFAFA"/>
                </a:solidFill>
                <a:latin typeface="DM Sans"/>
                <a:ea typeface="DM Sans"/>
                <a:cs typeface="DM Sans"/>
              </a:defRPr>
            </a:lvl2pPr>
            <a:lvl3pPr algn="l">
              <a:defRPr sz="900" b="0">
                <a:solidFill>
                  <a:srgbClr val="FAFAFA"/>
                </a:solidFill>
                <a:latin typeface="DM Sans"/>
                <a:ea typeface="DM Sans"/>
                <a:cs typeface="DM Sans"/>
              </a:defRPr>
            </a:lvl3pPr>
            <a:lvl4pPr algn="l">
              <a:defRPr sz="900" b="0">
                <a:solidFill>
                  <a:srgbClr val="FAFAFA"/>
                </a:solidFill>
                <a:latin typeface="DM Sans"/>
                <a:ea typeface="DM Sans"/>
                <a:cs typeface="DM Sans"/>
              </a:defRPr>
            </a:lvl4pPr>
            <a:lvl5pPr algn="l">
              <a:defRPr sz="900" b="0">
                <a:solidFill>
                  <a:srgbClr val="FAFAFA"/>
                </a:solidFill>
                <a:latin typeface="DM Sans"/>
                <a:ea typeface="DM Sans"/>
                <a:cs typeface="DM Sans"/>
              </a:defRPr>
            </a:lvl5pPr>
            <a:lvl6pPr algn="l">
              <a:defRPr sz="900" b="0">
                <a:solidFill>
                  <a:srgbClr val="FAFAFA"/>
                </a:solidFill>
                <a:latin typeface="DM Sans"/>
                <a:ea typeface="DM Sans"/>
                <a:cs typeface="DM Sans"/>
              </a:defRPr>
            </a:lvl6pPr>
            <a:lvl7pPr algn="l">
              <a:defRPr sz="900" b="0">
                <a:solidFill>
                  <a:srgbClr val="FAFAFA"/>
                </a:solidFill>
                <a:latin typeface="DM Sans"/>
                <a:ea typeface="DM Sans"/>
                <a:cs typeface="DM Sans"/>
              </a:defRPr>
            </a:lvl7pPr>
            <a:lvl8pPr algn="l">
              <a:defRPr sz="900" b="0">
                <a:solidFill>
                  <a:srgbClr val="FAFAFA"/>
                </a:solidFill>
                <a:latin typeface="DM Sans"/>
                <a:ea typeface="DM Sans"/>
                <a:cs typeface="DM Sans"/>
              </a:defRPr>
            </a:lvl8pPr>
            <a:lvl9pPr algn="l">
              <a:defRPr sz="900" b="0">
                <a:solidFill>
                  <a:srgbClr val="FAFAFA"/>
                </a:solidFill>
                <a:latin typeface="DM Sans"/>
                <a:ea typeface="DM Sans"/>
                <a:cs typeface="DM Sans"/>
              </a:defRPr>
            </a:lvl9pPr>
          </a:lstStyle>
          <a:p xmlns:a="http://schemas.openxmlformats.org/drawingml/2006/main">
            <a:pPr algn="l">
              <a:defRPr sz="900" b="0">
                <a:solidFill>
                  <a:srgbClr val="FAFAFA"/>
                </a:solidFill>
                <a:latin typeface="DM Sans"/>
                <a:ea typeface="DM Sans"/>
                <a:cs typeface="DM Sans"/>
              </a:defRPr>
            </a:pPr>
            <a:r>
              <a:rPr sz="900" b="0">
                <a:solidFill>
                  <a:srgbClr val="FAFAFA"/>
                </a:solidFill>
                <a:latin typeface="DM Sans"/>
                <a:ea typeface="DM Sans"/>
                <a:cs typeface="DM Sans"/>
              </a:rPr>
              <a:t>Live demonstration</a:t>
            </a:r>
          </a:p>
        </p:txBody>
      </p:sp>
      <p:sp>
        <p:nvSpPr>
          <p:cNvPr id="9" name="">
            <a:extLst xmlns:a="http://schemas.openxmlformats.org/drawingml/2006/main">
              <a:ext uri="{FF2B5EF4-FFF2-40B4-BE49-F238E27FC236}">
                <a16:creationId xmlns:a16="http://schemas.microsoft.com/office/drawing/2014/main" id="{CAAC715A-0A68-4294-B520-CECAAC988BBB}"/>
              </a:ext>
            </a:extLst>
          </p:cNvPr>
          <p:cNvSpPr>
            <a:spLocks xmlns:a="http://schemas.openxmlformats.org/drawingml/2006/main" noGrp="1"/>
          </p:cNvSpPr>
          <p:nvPr/>
        </p:nvSpPr>
        <p:spPr>
          <a:xfrm xmlns:a="http://schemas.openxmlformats.org/drawingml/2006/main" rot="0">
            <a:off x="11039475" y="4191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FAFAFA"/>
                </a:solidFill>
                <a:latin typeface="DM Sans"/>
                <a:ea typeface="DM Sans"/>
                <a:cs typeface="DM Sans"/>
              </a:defRPr>
            </a:defPPr>
            <a:lvl1pPr algn="r">
              <a:defRPr sz="900" b="0">
                <a:solidFill>
                  <a:srgbClr val="FAFAFA"/>
                </a:solidFill>
                <a:latin typeface="DM Sans"/>
                <a:ea typeface="DM Sans"/>
                <a:cs typeface="DM Sans"/>
              </a:defRPr>
            </a:lvl1pPr>
            <a:lvl2pPr algn="r">
              <a:defRPr sz="900" b="0">
                <a:solidFill>
                  <a:srgbClr val="FAFAFA"/>
                </a:solidFill>
                <a:latin typeface="DM Sans"/>
                <a:ea typeface="DM Sans"/>
                <a:cs typeface="DM Sans"/>
              </a:defRPr>
            </a:lvl2pPr>
            <a:lvl3pPr algn="r">
              <a:defRPr sz="900" b="0">
                <a:solidFill>
                  <a:srgbClr val="FAFAFA"/>
                </a:solidFill>
                <a:latin typeface="DM Sans"/>
                <a:ea typeface="DM Sans"/>
                <a:cs typeface="DM Sans"/>
              </a:defRPr>
            </a:lvl3pPr>
            <a:lvl4pPr algn="r">
              <a:defRPr sz="900" b="0">
                <a:solidFill>
                  <a:srgbClr val="FAFAFA"/>
                </a:solidFill>
                <a:latin typeface="DM Sans"/>
                <a:ea typeface="DM Sans"/>
                <a:cs typeface="DM Sans"/>
              </a:defRPr>
            </a:lvl4pPr>
            <a:lvl5pPr algn="r">
              <a:defRPr sz="900" b="0">
                <a:solidFill>
                  <a:srgbClr val="FAFAFA"/>
                </a:solidFill>
                <a:latin typeface="DM Sans"/>
                <a:ea typeface="DM Sans"/>
                <a:cs typeface="DM Sans"/>
              </a:defRPr>
            </a:lvl5pPr>
            <a:lvl6pPr algn="r">
              <a:defRPr sz="900" b="0">
                <a:solidFill>
                  <a:srgbClr val="FAFAFA"/>
                </a:solidFill>
                <a:latin typeface="DM Sans"/>
                <a:ea typeface="DM Sans"/>
                <a:cs typeface="DM Sans"/>
              </a:defRPr>
            </a:lvl6pPr>
            <a:lvl7pPr algn="r">
              <a:defRPr sz="900" b="0">
                <a:solidFill>
                  <a:srgbClr val="FAFAFA"/>
                </a:solidFill>
                <a:latin typeface="DM Sans"/>
                <a:ea typeface="DM Sans"/>
                <a:cs typeface="DM Sans"/>
              </a:defRPr>
            </a:lvl7pPr>
            <a:lvl8pPr algn="r">
              <a:defRPr sz="900" b="0">
                <a:solidFill>
                  <a:srgbClr val="FAFAFA"/>
                </a:solidFill>
                <a:latin typeface="DM Sans"/>
                <a:ea typeface="DM Sans"/>
                <a:cs typeface="DM Sans"/>
              </a:defRPr>
            </a:lvl8pPr>
            <a:lvl9pPr algn="r">
              <a:defRPr sz="900" b="0">
                <a:solidFill>
                  <a:srgbClr val="FAFAFA"/>
                </a:solidFill>
                <a:latin typeface="DM Sans"/>
                <a:ea typeface="DM Sans"/>
                <a:cs typeface="DM Sans"/>
              </a:defRPr>
            </a:lvl9pPr>
          </a:lstStyle>
          <a:p xmlns:a="http://schemas.openxmlformats.org/drawingml/2006/main">
            <a:pPr algn="r">
              <a:defRPr sz="900" b="0">
                <a:solidFill>
                  <a:srgbClr val="FAFAFA"/>
                </a:solidFill>
                <a:latin typeface="DM Sans"/>
                <a:ea typeface="DM Sans"/>
                <a:cs typeface="DM Sans"/>
              </a:defRPr>
            </a:pPr>
            <a:r>
              <a:rPr sz="900" b="0">
                <a:solidFill>
                  <a:srgbClr val="FAFAFA"/>
                </a:solidFill>
                <a:latin typeface="DM Sans"/>
                <a:ea typeface="DM Sans"/>
                <a:cs typeface="DM Sans"/>
              </a:rPr>
              <a:t>Orecast</a:t>
            </a:r>
          </a:p>
        </p:txBody>
      </p:sp>
      <p:sp>
        <p:nvSpPr>
          <p:cNvPr id="10" name="">
            <a:extLst xmlns:a="http://schemas.openxmlformats.org/drawingml/2006/main">
              <a:ext uri="{FF2B5EF4-FFF2-40B4-BE49-F238E27FC236}">
                <a16:creationId xmlns:a16="http://schemas.microsoft.com/office/drawing/2014/main" id="{4A437C61-F4DD-4F3C-96C9-EB8BFCDB3DE5}"/>
              </a:ext>
            </a:extLst>
          </p:cNvPr>
          <p:cNvSpPr>
            <a:spLocks xmlns:a="http://schemas.openxmlformats.org/drawingml/2006/main" noGrp="1"/>
          </p:cNvSpPr>
          <p:nvPr/>
        </p:nvSpPr>
        <p:spPr>
          <a:xfrm xmlns:a="http://schemas.openxmlformats.org/drawingml/2006/main" rot="0">
            <a:off x="400050" y="1724025"/>
            <a:ext cx="6334125" cy="18002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850" b="0">
                <a:solidFill>
                  <a:srgbClr val="FAFAFA"/>
                </a:solidFill>
                <a:latin typeface="DM Sans"/>
                <a:ea typeface="DM Sans"/>
                <a:cs typeface="DM Sans"/>
              </a:defRPr>
            </a:defPPr>
            <a:lvl1pPr algn="l">
              <a:defRPr sz="2850" b="0">
                <a:solidFill>
                  <a:srgbClr val="FAFAFA"/>
                </a:solidFill>
                <a:latin typeface="DM Sans"/>
                <a:ea typeface="DM Sans"/>
                <a:cs typeface="DM Sans"/>
              </a:defRPr>
            </a:lvl1pPr>
            <a:lvl2pPr algn="l">
              <a:defRPr sz="2850" b="0">
                <a:solidFill>
                  <a:srgbClr val="FAFAFA"/>
                </a:solidFill>
                <a:latin typeface="DM Sans"/>
                <a:ea typeface="DM Sans"/>
                <a:cs typeface="DM Sans"/>
              </a:defRPr>
            </a:lvl2pPr>
            <a:lvl3pPr algn="l">
              <a:defRPr sz="2850" b="0">
                <a:solidFill>
                  <a:srgbClr val="FAFAFA"/>
                </a:solidFill>
                <a:latin typeface="DM Sans"/>
                <a:ea typeface="DM Sans"/>
                <a:cs typeface="DM Sans"/>
              </a:defRPr>
            </a:lvl3pPr>
            <a:lvl4pPr algn="l">
              <a:defRPr sz="2850" b="0">
                <a:solidFill>
                  <a:srgbClr val="FAFAFA"/>
                </a:solidFill>
                <a:latin typeface="DM Sans"/>
                <a:ea typeface="DM Sans"/>
                <a:cs typeface="DM Sans"/>
              </a:defRPr>
            </a:lvl4pPr>
            <a:lvl5pPr algn="l">
              <a:defRPr sz="2850" b="0">
                <a:solidFill>
                  <a:srgbClr val="FAFAFA"/>
                </a:solidFill>
                <a:latin typeface="DM Sans"/>
                <a:ea typeface="DM Sans"/>
                <a:cs typeface="DM Sans"/>
              </a:defRPr>
            </a:lvl5pPr>
            <a:lvl6pPr algn="l">
              <a:defRPr sz="2850" b="0">
                <a:solidFill>
                  <a:srgbClr val="FAFAFA"/>
                </a:solidFill>
                <a:latin typeface="DM Sans"/>
                <a:ea typeface="DM Sans"/>
                <a:cs typeface="DM Sans"/>
              </a:defRPr>
            </a:lvl6pPr>
            <a:lvl7pPr algn="l">
              <a:defRPr sz="2850" b="0">
                <a:solidFill>
                  <a:srgbClr val="FAFAFA"/>
                </a:solidFill>
                <a:latin typeface="DM Sans"/>
                <a:ea typeface="DM Sans"/>
                <a:cs typeface="DM Sans"/>
              </a:defRPr>
            </a:lvl7pPr>
            <a:lvl8pPr algn="l">
              <a:defRPr sz="2850" b="0">
                <a:solidFill>
                  <a:srgbClr val="FAFAFA"/>
                </a:solidFill>
                <a:latin typeface="DM Sans"/>
                <a:ea typeface="DM Sans"/>
                <a:cs typeface="DM Sans"/>
              </a:defRPr>
            </a:lvl8pPr>
            <a:lvl9pPr algn="l">
              <a:defRPr sz="2850" b="0">
                <a:solidFill>
                  <a:srgbClr val="FAFAFA"/>
                </a:solidFill>
                <a:latin typeface="DM Sans"/>
                <a:ea typeface="DM Sans"/>
                <a:cs typeface="DM Sans"/>
              </a:defRPr>
            </a:lvl9pPr>
          </a:lstStyle>
          <a:p xmlns:a="http://schemas.openxmlformats.org/drawingml/2006/main">
            <a:pPr algn="l">
              <a:defRPr sz="2850" b="0">
                <a:solidFill>
                  <a:srgbClr val="FAFAFA"/>
                </a:solidFill>
                <a:latin typeface="DM Sans"/>
                <a:ea typeface="DM Sans"/>
                <a:cs typeface="DM Sans"/>
              </a:defRPr>
            </a:pPr>
            <a:r>
              <a:rPr sz="2850" b="0">
                <a:solidFill>
                  <a:srgbClr val="FAFAFA"/>
                </a:solidFill>
                <a:latin typeface="DM Sans"/>
                <a:ea typeface="DM Sans"/>
                <a:cs typeface="DM Sans"/>
              </a:rPr>
              <a:t>Trace the evidence,</a:t>
            </a:r>
          </a:p>
          <a:p xmlns:a="http://schemas.openxmlformats.org/drawingml/2006/main">
            <a:pPr algn="l">
              <a:defRPr sz="2850" b="0">
                <a:solidFill>
                  <a:srgbClr val="FAFAFA"/>
                </a:solidFill>
                <a:latin typeface="DM Sans"/>
                <a:ea typeface="DM Sans"/>
                <a:cs typeface="DM Sans"/>
              </a:defRPr>
            </a:pPr>
            <a:r>
              <a:rPr sz="2850" b="0">
                <a:solidFill>
                  <a:srgbClr val="FAFAFA"/>
                </a:solidFill>
                <a:latin typeface="DM Sans"/>
                <a:ea typeface="DM Sans"/>
                <a:cs typeface="DM Sans"/>
              </a:rPr>
              <a:t>forecast and valuation.</a:t>
            </a:r>
          </a:p>
          <a:p xmlns:a="http://schemas.openxmlformats.org/drawingml/2006/main">
            <a:pPr algn="l">
              <a:defRPr sz="2850" b="0">
                <a:solidFill>
                  <a:srgbClr val="FAFAFA"/>
                </a:solidFill>
                <a:latin typeface="DM Sans"/>
                <a:ea typeface="DM Sans"/>
                <a:cs typeface="DM Sans"/>
              </a:defRPr>
            </a:pPr>
            <a:r>
              <a:rPr sz="2850" b="0">
                <a:solidFill>
                  <a:srgbClr val="FAFAFA"/>
                </a:solidFill>
                <a:latin typeface="DM Sans"/>
                <a:ea typeface="DM Sans"/>
                <a:cs typeface="DM Sans"/>
              </a:rPr>
              <a:t>Then check the price</a:t>
            </a:r>
          </a:p>
          <a:p xmlns:a="http://schemas.openxmlformats.org/drawingml/2006/main">
            <a:pPr algn="l">
              <a:defRPr sz="2850" b="0">
                <a:solidFill>
                  <a:srgbClr val="FAFAFA"/>
                </a:solidFill>
                <a:latin typeface="DM Sans"/>
                <a:ea typeface="DM Sans"/>
                <a:cs typeface="DM Sans"/>
              </a:defRPr>
            </a:pPr>
            <a:r>
              <a:rPr sz="2850" b="0">
                <a:solidFill>
                  <a:srgbClr val="FAFAFA"/>
                </a:solidFill>
                <a:latin typeface="DM Sans"/>
                <a:ea typeface="DM Sans"/>
                <a:cs typeface="DM Sans"/>
              </a:rPr>
              <a:t>paid for the lot.</a:t>
            </a:r>
          </a:p>
        </p:txBody>
      </p:sp>
      <p:sp>
        <p:nvSpPr>
          <p:cNvPr id="11" name="">
            <a:extLst xmlns:a="http://schemas.openxmlformats.org/drawingml/2006/main">
              <a:ext uri="{FF2B5EF4-FFF2-40B4-BE49-F238E27FC236}">
                <a16:creationId xmlns:a16="http://schemas.microsoft.com/office/drawing/2014/main" id="{EDEF254B-CDD9-46E8-B384-2E60DE8768D8}"/>
              </a:ext>
            </a:extLst>
          </p:cNvPr>
          <p:cNvSpPr>
            <a:spLocks xmlns:a="http://schemas.openxmlformats.org/drawingml/2006/main" noGrp="1"/>
          </p:cNvSpPr>
          <p:nvPr/>
        </p:nvSpPr>
        <p:spPr>
          <a:xfrm xmlns:a="http://schemas.openxmlformats.org/drawingml/2006/main" rot="0">
            <a:off x="400050" y="4086225"/>
            <a:ext cx="7524750" cy="723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FAFAFA"/>
                </a:solidFill>
                <a:latin typeface="DM Sans"/>
                <a:ea typeface="DM Sans"/>
                <a:cs typeface="DM Sans"/>
              </a:defRPr>
            </a:defPPr>
            <a:lvl1pPr algn="l">
              <a:defRPr sz="1875" b="0">
                <a:solidFill>
                  <a:srgbClr val="FAFAFA"/>
                </a:solidFill>
                <a:latin typeface="DM Sans"/>
                <a:ea typeface="DM Sans"/>
                <a:cs typeface="DM Sans"/>
              </a:defRPr>
            </a:lvl1pPr>
            <a:lvl2pPr algn="l">
              <a:defRPr sz="1875" b="0">
                <a:solidFill>
                  <a:srgbClr val="FAFAFA"/>
                </a:solidFill>
                <a:latin typeface="DM Sans"/>
                <a:ea typeface="DM Sans"/>
                <a:cs typeface="DM Sans"/>
              </a:defRPr>
            </a:lvl2pPr>
            <a:lvl3pPr algn="l">
              <a:defRPr sz="1875" b="0">
                <a:solidFill>
                  <a:srgbClr val="FAFAFA"/>
                </a:solidFill>
                <a:latin typeface="DM Sans"/>
                <a:ea typeface="DM Sans"/>
                <a:cs typeface="DM Sans"/>
              </a:defRPr>
            </a:lvl3pPr>
            <a:lvl4pPr algn="l">
              <a:defRPr sz="1875" b="0">
                <a:solidFill>
                  <a:srgbClr val="FAFAFA"/>
                </a:solidFill>
                <a:latin typeface="DM Sans"/>
                <a:ea typeface="DM Sans"/>
                <a:cs typeface="DM Sans"/>
              </a:defRPr>
            </a:lvl4pPr>
            <a:lvl5pPr algn="l">
              <a:defRPr sz="1875" b="0">
                <a:solidFill>
                  <a:srgbClr val="FAFAFA"/>
                </a:solidFill>
                <a:latin typeface="DM Sans"/>
                <a:ea typeface="DM Sans"/>
                <a:cs typeface="DM Sans"/>
              </a:defRPr>
            </a:lvl5pPr>
            <a:lvl6pPr algn="l">
              <a:defRPr sz="1875" b="0">
                <a:solidFill>
                  <a:srgbClr val="FAFAFA"/>
                </a:solidFill>
                <a:latin typeface="DM Sans"/>
                <a:ea typeface="DM Sans"/>
                <a:cs typeface="DM Sans"/>
              </a:defRPr>
            </a:lvl6pPr>
            <a:lvl7pPr algn="l">
              <a:defRPr sz="1875" b="0">
                <a:solidFill>
                  <a:srgbClr val="FAFAFA"/>
                </a:solidFill>
                <a:latin typeface="DM Sans"/>
                <a:ea typeface="DM Sans"/>
                <a:cs typeface="DM Sans"/>
              </a:defRPr>
            </a:lvl7pPr>
            <a:lvl8pPr algn="l">
              <a:defRPr sz="1875" b="0">
                <a:solidFill>
                  <a:srgbClr val="FAFAFA"/>
                </a:solidFill>
                <a:latin typeface="DM Sans"/>
                <a:ea typeface="DM Sans"/>
                <a:cs typeface="DM Sans"/>
              </a:defRPr>
            </a:lvl8pPr>
            <a:lvl9pPr algn="l">
              <a:defRPr sz="1875" b="0">
                <a:solidFill>
                  <a:srgbClr val="FAFAFA"/>
                </a:solidFill>
                <a:latin typeface="DM Sans"/>
                <a:ea typeface="DM Sans"/>
                <a:cs typeface="DM Sans"/>
              </a:defRPr>
            </a:lvl9pPr>
          </a:lstStyle>
          <a:p xmlns:a="http://schemas.openxmlformats.org/drawingml/2006/main">
            <a:pPr algn="l">
              <a:defRPr sz="1875" b="0">
                <a:solidFill>
                  <a:srgbClr val="FAFAFA"/>
                </a:solidFill>
                <a:latin typeface="DM Sans"/>
                <a:ea typeface="DM Sans"/>
                <a:cs typeface="DM Sans"/>
              </a:defRPr>
            </a:pPr>
            <a:r>
              <a:rPr sz="1875" b="0">
                <a:solidFill>
                  <a:srgbClr val="FAFAFA"/>
                </a:solidFill>
                <a:latin typeface="DM Sans"/>
                <a:ea typeface="DM Sans"/>
                <a:cs typeface="DM Sans"/>
              </a:rPr>
              <a:t>Fixed assumptions. Inspect both cash branches.</a:t>
            </a:r>
          </a:p>
          <a:p xmlns:a="http://schemas.openxmlformats.org/drawingml/2006/main">
            <a:pPr algn="l">
              <a:defRPr sz="1875" b="0">
                <a:solidFill>
                  <a:srgbClr val="FAFAFA"/>
                </a:solidFill>
                <a:latin typeface="DM Sans"/>
                <a:ea typeface="DM Sans"/>
                <a:cs typeface="DM Sans"/>
              </a:defRPr>
            </a:pPr>
            <a:r>
              <a:rPr sz="1875" b="0">
                <a:solidFill>
                  <a:srgbClr val="FAFAFA"/>
                </a:solidFill>
                <a:latin typeface="DM Sans"/>
                <a:ea typeface="DM Sans"/>
                <a:cs typeface="DM Sans"/>
              </a:rPr>
              <a:t>Then test costs, rights and real liquidity.</a:t>
            </a:r>
          </a:p>
        </p:txBody>
      </p:sp>
      <p:sp>
        <p:nvSpPr>
          <p:cNvPr id="12" name="">
            <a:extLst xmlns:a="http://schemas.openxmlformats.org/drawingml/2006/main">
              <a:ext uri="{FF2B5EF4-FFF2-40B4-BE49-F238E27FC236}">
                <a16:creationId xmlns:a16="http://schemas.microsoft.com/office/drawing/2014/main" id="{46791A56-336A-4AD7-9EF7-C20F21A0A587}"/>
              </a:ext>
            </a:extLst>
          </p:cNvPr>
          <p:cNvSpPr>
            <a:spLocks xmlns:a="http://schemas.openxmlformats.org/drawingml/2006/main" noGrp="1"/>
          </p:cNvSpPr>
          <p:nvPr/>
        </p:nvSpPr>
        <p:spPr>
          <a:xfrm xmlns:a="http://schemas.openxmlformats.org/drawingml/2006/main">
            <a:off x="400050" y="5276850"/>
            <a:ext cx="1438275" cy="257175"/>
          </a:xfrm>
          <a:prstGeom xmlns:a="http://schemas.openxmlformats.org/drawingml/2006/main" prst="roundRect">
            <a:avLst>
              <a:gd name="adj" fmla="val 50000"/>
            </a:avLst>
          </a:prstGeom>
          <a:noFill xmlns:a="http://schemas.openxmlformats.org/drawingml/2006/main"/>
          <a:ln xmlns:a="http://schemas.openxmlformats.org/drawingml/2006/main" w="6668">
            <a:solidFill>
              <a:srgbClr val="FAFAFA"/>
            </a:solidFill>
            <a:prstDash val="solid"/>
          </a:ln>
        </p:spPr>
      </p:sp>
      <p:sp>
        <p:nvSpPr>
          <p:cNvPr id="13" name="">
            <a:extLst xmlns:a="http://schemas.openxmlformats.org/drawingml/2006/main">
              <a:ext uri="{FF2B5EF4-FFF2-40B4-BE49-F238E27FC236}">
                <a16:creationId xmlns:a16="http://schemas.microsoft.com/office/drawing/2014/main" id="{FEB35455-F603-4DC6-99DB-BC8C3C070B98}"/>
              </a:ext>
            </a:extLst>
          </p:cNvPr>
          <p:cNvSpPr>
            <a:spLocks xmlns:a="http://schemas.openxmlformats.org/drawingml/2006/main" noGrp="1"/>
          </p:cNvSpPr>
          <p:nvPr/>
        </p:nvSpPr>
        <p:spPr>
          <a:xfrm xmlns:a="http://schemas.openxmlformats.org/drawingml/2006/main" rot="0">
            <a:off x="495300" y="5324475"/>
            <a:ext cx="1228725"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FAFAFA"/>
                </a:solidFill>
                <a:latin typeface="DM Sans"/>
                <a:ea typeface="DM Sans"/>
                <a:cs typeface="DM Sans"/>
              </a:defRPr>
            </a:defPPr>
            <a:lvl1pPr algn="l">
              <a:defRPr sz="900" b="0">
                <a:solidFill>
                  <a:srgbClr val="FAFAFA"/>
                </a:solidFill>
                <a:latin typeface="DM Sans"/>
                <a:ea typeface="DM Sans"/>
                <a:cs typeface="DM Sans"/>
              </a:defRPr>
            </a:lvl1pPr>
            <a:lvl2pPr algn="l">
              <a:defRPr sz="900" b="0">
                <a:solidFill>
                  <a:srgbClr val="FAFAFA"/>
                </a:solidFill>
                <a:latin typeface="DM Sans"/>
                <a:ea typeface="DM Sans"/>
                <a:cs typeface="DM Sans"/>
              </a:defRPr>
            </a:lvl2pPr>
            <a:lvl3pPr algn="l">
              <a:defRPr sz="900" b="0">
                <a:solidFill>
                  <a:srgbClr val="FAFAFA"/>
                </a:solidFill>
                <a:latin typeface="DM Sans"/>
                <a:ea typeface="DM Sans"/>
                <a:cs typeface="DM Sans"/>
              </a:defRPr>
            </a:lvl3pPr>
            <a:lvl4pPr algn="l">
              <a:defRPr sz="900" b="0">
                <a:solidFill>
                  <a:srgbClr val="FAFAFA"/>
                </a:solidFill>
                <a:latin typeface="DM Sans"/>
                <a:ea typeface="DM Sans"/>
                <a:cs typeface="DM Sans"/>
              </a:defRPr>
            </a:lvl4pPr>
            <a:lvl5pPr algn="l">
              <a:defRPr sz="900" b="0">
                <a:solidFill>
                  <a:srgbClr val="FAFAFA"/>
                </a:solidFill>
                <a:latin typeface="DM Sans"/>
                <a:ea typeface="DM Sans"/>
                <a:cs typeface="DM Sans"/>
              </a:defRPr>
            </a:lvl5pPr>
            <a:lvl6pPr algn="l">
              <a:defRPr sz="900" b="0">
                <a:solidFill>
                  <a:srgbClr val="FAFAFA"/>
                </a:solidFill>
                <a:latin typeface="DM Sans"/>
                <a:ea typeface="DM Sans"/>
                <a:cs typeface="DM Sans"/>
              </a:defRPr>
            </a:lvl6pPr>
            <a:lvl7pPr algn="l">
              <a:defRPr sz="900" b="0">
                <a:solidFill>
                  <a:srgbClr val="FAFAFA"/>
                </a:solidFill>
                <a:latin typeface="DM Sans"/>
                <a:ea typeface="DM Sans"/>
                <a:cs typeface="DM Sans"/>
              </a:defRPr>
            </a:lvl7pPr>
            <a:lvl8pPr algn="l">
              <a:defRPr sz="900" b="0">
                <a:solidFill>
                  <a:srgbClr val="FAFAFA"/>
                </a:solidFill>
                <a:latin typeface="DM Sans"/>
                <a:ea typeface="DM Sans"/>
                <a:cs typeface="DM Sans"/>
              </a:defRPr>
            </a:lvl8pPr>
            <a:lvl9pPr algn="l">
              <a:defRPr sz="900" b="0">
                <a:solidFill>
                  <a:srgbClr val="FAFAFA"/>
                </a:solidFill>
                <a:latin typeface="DM Sans"/>
                <a:ea typeface="DM Sans"/>
                <a:cs typeface="DM Sans"/>
              </a:defRPr>
            </a:lvl9pPr>
          </a:lstStyle>
          <a:p xmlns:a="http://schemas.openxmlformats.org/drawingml/2006/main">
            <a:pPr algn="l">
              <a:defRPr sz="900" b="0">
                <a:solidFill>
                  <a:srgbClr val="FAFAFA"/>
                </a:solidFill>
                <a:latin typeface="DM Sans"/>
                <a:ea typeface="DM Sans"/>
                <a:cs typeface="DM Sans"/>
              </a:defRPr>
            </a:pPr>
            <a:r>
              <a:rPr sz="900" b="0">
                <a:solidFill>
                  <a:srgbClr val="FAFAFA"/>
                </a:solidFill>
                <a:latin typeface="DM Sans"/>
                <a:ea typeface="DM Sans"/>
                <a:cs typeface="DM Sans"/>
              </a:rPr>
              <a:t>Live demonstration</a:t>
            </a:r>
          </a:p>
        </p:txBody>
      </p:sp>
      <p:sp>
        <p:nvSpPr>
          <p:cNvPr id="14" name="">
            <a:extLst xmlns:a="http://schemas.openxmlformats.org/drawingml/2006/main">
              <a:ext uri="{FF2B5EF4-FFF2-40B4-BE49-F238E27FC236}">
                <a16:creationId xmlns:a16="http://schemas.microsoft.com/office/drawing/2014/main" id="{65688A3E-01B5-4629-BCD3-C775390E7150}"/>
              </a:ext>
            </a:extLst>
          </p:cNvPr>
          <p:cNvSpPr>
            <a:spLocks xmlns:a="http://schemas.openxmlformats.org/drawingml/2006/main" noGrp="1"/>
          </p:cNvSpPr>
          <p:nvPr/>
        </p:nvSpPr>
        <p:spPr>
          <a:xfrm xmlns:a="http://schemas.openxmlformats.org/drawingml/2006/main" rot="0">
            <a:off x="400050" y="6019800"/>
            <a:ext cx="9334500" cy="4381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50" b="0">
                <a:solidFill>
                  <a:srgbClr val="FAFAFA"/>
                </a:solidFill>
                <a:latin typeface="DM Sans"/>
                <a:ea typeface="DM Sans"/>
                <a:cs typeface="DM Sans"/>
              </a:defRPr>
            </a:defPPr>
            <a:lvl1pPr algn="l">
              <a:defRPr sz="1050" b="0">
                <a:solidFill>
                  <a:srgbClr val="FAFAFA"/>
                </a:solidFill>
                <a:latin typeface="DM Sans"/>
                <a:ea typeface="DM Sans"/>
                <a:cs typeface="DM Sans"/>
              </a:defRPr>
            </a:lvl1pPr>
            <a:lvl2pPr algn="l">
              <a:defRPr sz="1050" b="0">
                <a:solidFill>
                  <a:srgbClr val="FAFAFA"/>
                </a:solidFill>
                <a:latin typeface="DM Sans"/>
                <a:ea typeface="DM Sans"/>
                <a:cs typeface="DM Sans"/>
              </a:defRPr>
            </a:lvl2pPr>
            <a:lvl3pPr algn="l">
              <a:defRPr sz="1050" b="0">
                <a:solidFill>
                  <a:srgbClr val="FAFAFA"/>
                </a:solidFill>
                <a:latin typeface="DM Sans"/>
                <a:ea typeface="DM Sans"/>
                <a:cs typeface="DM Sans"/>
              </a:defRPr>
            </a:lvl3pPr>
            <a:lvl4pPr algn="l">
              <a:defRPr sz="1050" b="0">
                <a:solidFill>
                  <a:srgbClr val="FAFAFA"/>
                </a:solidFill>
                <a:latin typeface="DM Sans"/>
                <a:ea typeface="DM Sans"/>
                <a:cs typeface="DM Sans"/>
              </a:defRPr>
            </a:lvl4pPr>
            <a:lvl5pPr algn="l">
              <a:defRPr sz="1050" b="0">
                <a:solidFill>
                  <a:srgbClr val="FAFAFA"/>
                </a:solidFill>
                <a:latin typeface="DM Sans"/>
                <a:ea typeface="DM Sans"/>
                <a:cs typeface="DM Sans"/>
              </a:defRPr>
            </a:lvl5pPr>
            <a:lvl6pPr algn="l">
              <a:defRPr sz="1050" b="0">
                <a:solidFill>
                  <a:srgbClr val="FAFAFA"/>
                </a:solidFill>
                <a:latin typeface="DM Sans"/>
                <a:ea typeface="DM Sans"/>
                <a:cs typeface="DM Sans"/>
              </a:defRPr>
            </a:lvl6pPr>
            <a:lvl7pPr algn="l">
              <a:defRPr sz="1050" b="0">
                <a:solidFill>
                  <a:srgbClr val="FAFAFA"/>
                </a:solidFill>
                <a:latin typeface="DM Sans"/>
                <a:ea typeface="DM Sans"/>
                <a:cs typeface="DM Sans"/>
              </a:defRPr>
            </a:lvl7pPr>
            <a:lvl8pPr algn="l">
              <a:defRPr sz="1050" b="0">
                <a:solidFill>
                  <a:srgbClr val="FAFAFA"/>
                </a:solidFill>
                <a:latin typeface="DM Sans"/>
                <a:ea typeface="DM Sans"/>
                <a:cs typeface="DM Sans"/>
              </a:defRPr>
            </a:lvl8pPr>
            <a:lvl9pPr algn="l">
              <a:defRPr sz="1050" b="0">
                <a:solidFill>
                  <a:srgbClr val="FAFAFA"/>
                </a:solidFill>
                <a:latin typeface="DM Sans"/>
                <a:ea typeface="DM Sans"/>
                <a:cs typeface="DM Sans"/>
              </a:defRPr>
            </a:lvl9pPr>
          </a:lstStyle>
          <a:p xmlns:a="http://schemas.openxmlformats.org/drawingml/2006/main">
            <a:pPr algn="l">
              <a:defRPr sz="1050" b="0">
                <a:solidFill>
                  <a:srgbClr val="FAFAFA"/>
                </a:solidFill>
                <a:latin typeface="DM Sans"/>
                <a:ea typeface="DM Sans"/>
                <a:cs typeface="DM Sans"/>
              </a:defRPr>
            </a:pPr>
            <a:r>
              <a:rPr sz="1050" b="0">
                <a:solidFill>
                  <a:srgbClr val="FAFAFA"/>
                </a:solidFill>
                <a:latin typeface="DM Sans"/>
                <a:ea typeface="DM Sans"/>
                <a:cs typeface="DM Sans"/>
              </a:rPr>
              <a:t>Financial outputs are hypothetical.</a:t>
            </a:r>
          </a:p>
          <a:p xmlns:a="http://schemas.openxmlformats.org/drawingml/2006/main">
            <a:pPr algn="l">
              <a:defRPr sz="1050" b="0">
                <a:solidFill>
                  <a:srgbClr val="FAFAFA"/>
                </a:solidFill>
                <a:latin typeface="DM Sans"/>
                <a:ea typeface="DM Sans"/>
                <a:cs typeface="DM Sans"/>
              </a:defRPr>
            </a:pPr>
            <a:r>
              <a:rPr sz="1050" b="0">
                <a:solidFill>
                  <a:srgbClr val="FAFAFA"/>
                </a:solidFill>
                <a:latin typeface="DM Sans"/>
                <a:ea typeface="DM Sans"/>
                <a:cs typeface="DM Sans"/>
              </a:rPr>
              <a:t>The pilot event adjustment did not beat baseline.</a:t>
            </a:r>
          </a:p>
        </p:txBody>
      </p:sp>
      <p:sp>
        <p:nvSpPr>
          <p:cNvPr id="15" name="">
            <a:extLst xmlns:a="http://schemas.openxmlformats.org/drawingml/2006/main">
              <a:ext uri="{FF2B5EF4-FFF2-40B4-BE49-F238E27FC236}">
                <a16:creationId xmlns:a16="http://schemas.microsoft.com/office/drawing/2014/main" id="{70E440C9-711B-444F-8706-CF9EF2845A9E}"/>
              </a:ext>
            </a:extLst>
          </p:cNvPr>
          <p:cNvSpPr>
            <a:spLocks xmlns:a="http://schemas.openxmlformats.org/drawingml/2006/main" noGrp="1"/>
          </p:cNvSpPr>
          <p:nvPr/>
        </p:nvSpPr>
        <p:spPr>
          <a:xfrm xmlns:a="http://schemas.openxmlformats.org/drawingml/2006/main" rot="0">
            <a:off x="400050" y="6486525"/>
            <a:ext cx="10953750" cy="161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750" b="0">
                <a:solidFill>
                  <a:srgbClr val="FAFAFA"/>
                </a:solidFill>
                <a:latin typeface="DM Sans"/>
                <a:ea typeface="DM Sans"/>
                <a:cs typeface="DM Sans"/>
              </a:defRPr>
            </a:defPPr>
            <a:lvl1pPr algn="l">
              <a:defRPr sz="750" b="0">
                <a:solidFill>
                  <a:srgbClr val="FAFAFA"/>
                </a:solidFill>
                <a:latin typeface="DM Sans"/>
                <a:ea typeface="DM Sans"/>
                <a:cs typeface="DM Sans"/>
              </a:defRPr>
            </a:lvl1pPr>
            <a:lvl2pPr algn="l">
              <a:defRPr sz="750" b="0">
                <a:solidFill>
                  <a:srgbClr val="FAFAFA"/>
                </a:solidFill>
                <a:latin typeface="DM Sans"/>
                <a:ea typeface="DM Sans"/>
                <a:cs typeface="DM Sans"/>
              </a:defRPr>
            </a:lvl2pPr>
            <a:lvl3pPr algn="l">
              <a:defRPr sz="750" b="0">
                <a:solidFill>
                  <a:srgbClr val="FAFAFA"/>
                </a:solidFill>
                <a:latin typeface="DM Sans"/>
                <a:ea typeface="DM Sans"/>
                <a:cs typeface="DM Sans"/>
              </a:defRPr>
            </a:lvl3pPr>
            <a:lvl4pPr algn="l">
              <a:defRPr sz="750" b="0">
                <a:solidFill>
                  <a:srgbClr val="FAFAFA"/>
                </a:solidFill>
                <a:latin typeface="DM Sans"/>
                <a:ea typeface="DM Sans"/>
                <a:cs typeface="DM Sans"/>
              </a:defRPr>
            </a:lvl4pPr>
            <a:lvl5pPr algn="l">
              <a:defRPr sz="750" b="0">
                <a:solidFill>
                  <a:srgbClr val="FAFAFA"/>
                </a:solidFill>
                <a:latin typeface="DM Sans"/>
                <a:ea typeface="DM Sans"/>
                <a:cs typeface="DM Sans"/>
              </a:defRPr>
            </a:lvl5pPr>
            <a:lvl6pPr algn="l">
              <a:defRPr sz="750" b="0">
                <a:solidFill>
                  <a:srgbClr val="FAFAFA"/>
                </a:solidFill>
                <a:latin typeface="DM Sans"/>
                <a:ea typeface="DM Sans"/>
                <a:cs typeface="DM Sans"/>
              </a:defRPr>
            </a:lvl6pPr>
            <a:lvl7pPr algn="l">
              <a:defRPr sz="750" b="0">
                <a:solidFill>
                  <a:srgbClr val="FAFAFA"/>
                </a:solidFill>
                <a:latin typeface="DM Sans"/>
                <a:ea typeface="DM Sans"/>
                <a:cs typeface="DM Sans"/>
              </a:defRPr>
            </a:lvl7pPr>
            <a:lvl8pPr algn="l">
              <a:defRPr sz="750" b="0">
                <a:solidFill>
                  <a:srgbClr val="FAFAFA"/>
                </a:solidFill>
                <a:latin typeface="DM Sans"/>
                <a:ea typeface="DM Sans"/>
                <a:cs typeface="DM Sans"/>
              </a:defRPr>
            </a:lvl8pPr>
            <a:lvl9pPr algn="l">
              <a:defRPr sz="750" b="0">
                <a:solidFill>
                  <a:srgbClr val="FAFAFA"/>
                </a:solidFill>
                <a:latin typeface="DM Sans"/>
                <a:ea typeface="DM Sans"/>
                <a:cs typeface="DM Sans"/>
              </a:defRPr>
            </a:lvl9pPr>
          </a:lstStyle>
          <a:p xmlns:a="http://schemas.openxmlformats.org/drawingml/2006/main">
            <a:pPr algn="l">
              <a:defRPr sz="750" b="0">
                <a:solidFill>
                  <a:srgbClr val="FAFAFA"/>
                </a:solidFill>
                <a:latin typeface="DM Sans"/>
                <a:ea typeface="DM Sans"/>
                <a:cs typeface="DM Sans"/>
              </a:defRPr>
            </a:pPr>
            <a:r>
              <a:rPr sz="750" b="0">
                <a:solidFill>
                  <a:srgbClr val="FAFAFA"/>
                </a:solidFill>
                <a:latin typeface="DM Sans"/>
                <a:ea typeface="DM Sans"/>
                <a:cs typeface="DM Sans"/>
              </a:rPr>
              <a:t>Imagery: Esri, Maxar, Earthstar Geographics. Terrain: Mapzen.</a:t>
            </a:r>
          </a:p>
        </p:txBody>
      </p:sp>
    </p:spTree>
    <p:extLst>
      <p:ext uri="{BB962C8B-B14F-4D97-AF65-F5344CB8AC3E}">
        <p14:creationId xmlns:p14="http://schemas.microsoft.com/office/powerpoint/2010/main" val="2140114431"/>
      </p:ext>
    </p:extLst>
  </p:cSld>
</p:sld>
</file>

<file path=ppt/slides/slide8.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D2E7E86D-E03D-4560-A060-2E95AB6011A3}"/>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488AA8B1-9B43-4F9F-8198-B67EA6592FB0}"/>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A</a:t>
            </a:r>
          </a:p>
        </p:txBody>
      </p:sp>
      <p:sp>
        <p:nvSpPr>
          <p:cNvPr id="3" name="">
            <a:extLst xmlns:a="http://schemas.openxmlformats.org/drawingml/2006/main">
              <a:ext uri="{FF2B5EF4-FFF2-40B4-BE49-F238E27FC236}">
                <a16:creationId xmlns:a16="http://schemas.microsoft.com/office/drawing/2014/main" id="{849C4A7D-866A-4128-9227-586BF854C51A}"/>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39EADD03-DBF0-4B3D-AC1B-E8BBE9FD4D90}"/>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56F277D5-E4E0-4006-ACEB-34499E0908BF}"/>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2DA311BE-61F4-4D88-B854-BCFF5BA30FFA}"/>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Appendix</a:t>
            </a:r>
          </a:p>
        </p:txBody>
      </p:sp>
      <p:sp>
        <p:nvSpPr>
          <p:cNvPr id="7" name="">
            <a:extLst xmlns:a="http://schemas.openxmlformats.org/drawingml/2006/main">
              <a:ext uri="{FF2B5EF4-FFF2-40B4-BE49-F238E27FC236}">
                <a16:creationId xmlns:a16="http://schemas.microsoft.com/office/drawing/2014/main" id="{8A9BD883-100A-4542-803A-E4E601E4C8C2}"/>
              </a:ext>
            </a:extLst>
          </p:cNvPr>
          <p:cNvSpPr>
            <a:spLocks xmlns:a="http://schemas.openxmlformats.org/drawingml/2006/main" noGrp="1"/>
          </p:cNvSpPr>
          <p:nvPr/>
        </p:nvSpPr>
        <p:spPr>
          <a:xfrm xmlns:a="http://schemas.openxmlformats.org/drawingml/2006/main" rot="0">
            <a:off x="11039475" y="4191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0A0A0A"/>
                </a:solidFill>
                <a:latin typeface="DM Sans"/>
                <a:ea typeface="DM Sans"/>
                <a:cs typeface="DM Sans"/>
              </a:defRPr>
            </a:defPPr>
            <a:lvl1pPr algn="r">
              <a:defRPr sz="900" b="0">
                <a:solidFill>
                  <a:srgbClr val="0A0A0A"/>
                </a:solidFill>
                <a:latin typeface="DM Sans"/>
                <a:ea typeface="DM Sans"/>
                <a:cs typeface="DM Sans"/>
              </a:defRPr>
            </a:lvl1pPr>
            <a:lvl2pPr algn="r">
              <a:defRPr sz="900" b="0">
                <a:solidFill>
                  <a:srgbClr val="0A0A0A"/>
                </a:solidFill>
                <a:latin typeface="DM Sans"/>
                <a:ea typeface="DM Sans"/>
                <a:cs typeface="DM Sans"/>
              </a:defRPr>
            </a:lvl2pPr>
            <a:lvl3pPr algn="r">
              <a:defRPr sz="900" b="0">
                <a:solidFill>
                  <a:srgbClr val="0A0A0A"/>
                </a:solidFill>
                <a:latin typeface="DM Sans"/>
                <a:ea typeface="DM Sans"/>
                <a:cs typeface="DM Sans"/>
              </a:defRPr>
            </a:lvl3pPr>
            <a:lvl4pPr algn="r">
              <a:defRPr sz="900" b="0">
                <a:solidFill>
                  <a:srgbClr val="0A0A0A"/>
                </a:solidFill>
                <a:latin typeface="DM Sans"/>
                <a:ea typeface="DM Sans"/>
                <a:cs typeface="DM Sans"/>
              </a:defRPr>
            </a:lvl4pPr>
            <a:lvl5pPr algn="r">
              <a:defRPr sz="900" b="0">
                <a:solidFill>
                  <a:srgbClr val="0A0A0A"/>
                </a:solidFill>
                <a:latin typeface="DM Sans"/>
                <a:ea typeface="DM Sans"/>
                <a:cs typeface="DM Sans"/>
              </a:defRPr>
            </a:lvl5pPr>
            <a:lvl6pPr algn="r">
              <a:defRPr sz="900" b="0">
                <a:solidFill>
                  <a:srgbClr val="0A0A0A"/>
                </a:solidFill>
                <a:latin typeface="DM Sans"/>
                <a:ea typeface="DM Sans"/>
                <a:cs typeface="DM Sans"/>
              </a:defRPr>
            </a:lvl6pPr>
            <a:lvl7pPr algn="r">
              <a:defRPr sz="900" b="0">
                <a:solidFill>
                  <a:srgbClr val="0A0A0A"/>
                </a:solidFill>
                <a:latin typeface="DM Sans"/>
                <a:ea typeface="DM Sans"/>
                <a:cs typeface="DM Sans"/>
              </a:defRPr>
            </a:lvl7pPr>
            <a:lvl8pPr algn="r">
              <a:defRPr sz="900" b="0">
                <a:solidFill>
                  <a:srgbClr val="0A0A0A"/>
                </a:solidFill>
                <a:latin typeface="DM Sans"/>
                <a:ea typeface="DM Sans"/>
                <a:cs typeface="DM Sans"/>
              </a:defRPr>
            </a:lvl8pPr>
            <a:lvl9pPr algn="r">
              <a:defRPr sz="900" b="0">
                <a:solidFill>
                  <a:srgbClr val="0A0A0A"/>
                </a:solidFill>
                <a:latin typeface="DM Sans"/>
                <a:ea typeface="DM Sans"/>
                <a:cs typeface="DM Sans"/>
              </a:defRPr>
            </a:lvl9pPr>
          </a:lstStyle>
          <a:p xmlns:a="http://schemas.openxmlformats.org/drawingml/2006/main">
            <a:pPr algn="r">
              <a:defRPr sz="900" b="0">
                <a:solidFill>
                  <a:srgbClr val="0A0A0A"/>
                </a:solidFill>
                <a:latin typeface="DM Sans"/>
                <a:ea typeface="DM Sans"/>
                <a:cs typeface="DM Sans"/>
              </a:defRPr>
            </a:pPr>
            <a:r>
              <a:rPr sz="900" b="0">
                <a:solidFill>
                  <a:srgbClr val="0A0A0A"/>
                </a:solidFill>
                <a:latin typeface="DM Sans"/>
                <a:ea typeface="DM Sans"/>
                <a:cs typeface="DM Sans"/>
              </a:rPr>
              <a:t>Orecast</a:t>
            </a:r>
          </a:p>
        </p:txBody>
      </p:sp>
      <p:sp>
        <p:nvSpPr>
          <p:cNvPr id="8" name="">
            <a:extLst xmlns:a="http://schemas.openxmlformats.org/drawingml/2006/main">
              <a:ext uri="{FF2B5EF4-FFF2-40B4-BE49-F238E27FC236}">
                <a16:creationId xmlns:a16="http://schemas.microsoft.com/office/drawing/2014/main" id="{6DA11938-0203-4D33-BF4E-E5E3792D8B47}"/>
              </a:ext>
            </a:extLst>
          </p:cNvPr>
          <p:cNvSpPr>
            <a:spLocks xmlns:a="http://schemas.openxmlformats.org/drawingml/2006/main" noGrp="1"/>
          </p:cNvSpPr>
          <p:nvPr/>
        </p:nvSpPr>
        <p:spPr>
          <a:xfrm xmlns:a="http://schemas.openxmlformats.org/drawingml/2006/main" rot="0">
            <a:off x="381000" y="790575"/>
            <a:ext cx="11334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0A0A0A"/>
                </a:solidFill>
                <a:latin typeface="DM Sans"/>
                <a:ea typeface="DM Sans"/>
                <a:cs typeface="DM Sans"/>
              </a:defRPr>
            </a:defPPr>
            <a:lvl1pPr algn="l">
              <a:defRPr sz="1650" b="0">
                <a:solidFill>
                  <a:srgbClr val="0A0A0A"/>
                </a:solidFill>
                <a:latin typeface="DM Sans"/>
                <a:ea typeface="DM Sans"/>
                <a:cs typeface="DM Sans"/>
              </a:defRPr>
            </a:lvl1pPr>
            <a:lvl2pPr algn="l">
              <a:defRPr sz="1650" b="0">
                <a:solidFill>
                  <a:srgbClr val="0A0A0A"/>
                </a:solidFill>
                <a:latin typeface="DM Sans"/>
                <a:ea typeface="DM Sans"/>
                <a:cs typeface="DM Sans"/>
              </a:defRPr>
            </a:lvl2pPr>
            <a:lvl3pPr algn="l">
              <a:defRPr sz="1650" b="0">
                <a:solidFill>
                  <a:srgbClr val="0A0A0A"/>
                </a:solidFill>
                <a:latin typeface="DM Sans"/>
                <a:ea typeface="DM Sans"/>
                <a:cs typeface="DM Sans"/>
              </a:defRPr>
            </a:lvl3pPr>
            <a:lvl4pPr algn="l">
              <a:defRPr sz="1650" b="0">
                <a:solidFill>
                  <a:srgbClr val="0A0A0A"/>
                </a:solidFill>
                <a:latin typeface="DM Sans"/>
                <a:ea typeface="DM Sans"/>
                <a:cs typeface="DM Sans"/>
              </a:defRPr>
            </a:lvl4pPr>
            <a:lvl5pPr algn="l">
              <a:defRPr sz="1650" b="0">
                <a:solidFill>
                  <a:srgbClr val="0A0A0A"/>
                </a:solidFill>
                <a:latin typeface="DM Sans"/>
                <a:ea typeface="DM Sans"/>
                <a:cs typeface="DM Sans"/>
              </a:defRPr>
            </a:lvl5pPr>
            <a:lvl6pPr algn="l">
              <a:defRPr sz="1650" b="0">
                <a:solidFill>
                  <a:srgbClr val="0A0A0A"/>
                </a:solidFill>
                <a:latin typeface="DM Sans"/>
                <a:ea typeface="DM Sans"/>
                <a:cs typeface="DM Sans"/>
              </a:defRPr>
            </a:lvl6pPr>
            <a:lvl7pPr algn="l">
              <a:defRPr sz="1650" b="0">
                <a:solidFill>
                  <a:srgbClr val="0A0A0A"/>
                </a:solidFill>
                <a:latin typeface="DM Sans"/>
                <a:ea typeface="DM Sans"/>
                <a:cs typeface="DM Sans"/>
              </a:defRPr>
            </a:lvl7pPr>
            <a:lvl8pPr algn="l">
              <a:defRPr sz="1650" b="0">
                <a:solidFill>
                  <a:srgbClr val="0A0A0A"/>
                </a:solidFill>
                <a:latin typeface="DM Sans"/>
                <a:ea typeface="DM Sans"/>
                <a:cs typeface="DM Sans"/>
              </a:defRPr>
            </a:lvl8pPr>
            <a:lvl9pPr algn="l">
              <a:defRPr sz="1650" b="0">
                <a:solidFill>
                  <a:srgbClr val="0A0A0A"/>
                </a:solidFill>
                <a:latin typeface="DM Sans"/>
                <a:ea typeface="DM Sans"/>
                <a:cs typeface="DM Sans"/>
              </a:defRPr>
            </a:lvl9pPr>
          </a:lstStyle>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Baseline cash and option return at 90 days</a:t>
            </a:r>
          </a:p>
        </p:txBody>
      </p:sp>
      <p:sp>
        <p:nvSpPr>
          <p:cNvPr id="9" name="">
            <a:extLst xmlns:a="http://schemas.openxmlformats.org/drawingml/2006/main">
              <a:ext uri="{FF2B5EF4-FFF2-40B4-BE49-F238E27FC236}">
                <a16:creationId xmlns:a16="http://schemas.microsoft.com/office/drawing/2014/main" id="{F5B54349-082A-49E2-80A9-CCE1D664905D}"/>
              </a:ext>
            </a:extLst>
          </p:cNvPr>
          <p:cNvSpPr>
            <a:spLocks xmlns:a="http://schemas.openxmlformats.org/drawingml/2006/main" noGrp="1"/>
          </p:cNvSpPr>
          <p:nvPr/>
        </p:nvSpPr>
        <p:spPr>
          <a:xfrm xmlns:a="http://schemas.openxmlformats.org/drawingml/2006/main" rot="0">
            <a:off x="381000" y="1104900"/>
            <a:ext cx="1133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0A0A0A"/>
                </a:solidFill>
                <a:latin typeface="DM Sans"/>
                <a:ea typeface="DM Sans"/>
                <a:cs typeface="DM Sans"/>
              </a:defRPr>
            </a:defPPr>
            <a:lvl1pPr algn="l">
              <a:defRPr sz="1125" b="0">
                <a:solidFill>
                  <a:srgbClr val="0A0A0A"/>
                </a:solidFill>
                <a:latin typeface="DM Sans"/>
                <a:ea typeface="DM Sans"/>
                <a:cs typeface="DM Sans"/>
              </a:defRPr>
            </a:lvl1pPr>
            <a:lvl2pPr algn="l">
              <a:defRPr sz="1125" b="0">
                <a:solidFill>
                  <a:srgbClr val="0A0A0A"/>
                </a:solidFill>
                <a:latin typeface="DM Sans"/>
                <a:ea typeface="DM Sans"/>
                <a:cs typeface="DM Sans"/>
              </a:defRPr>
            </a:lvl2pPr>
            <a:lvl3pPr algn="l">
              <a:defRPr sz="1125" b="0">
                <a:solidFill>
                  <a:srgbClr val="0A0A0A"/>
                </a:solidFill>
                <a:latin typeface="DM Sans"/>
                <a:ea typeface="DM Sans"/>
                <a:cs typeface="DM Sans"/>
              </a:defRPr>
            </a:lvl3pPr>
            <a:lvl4pPr algn="l">
              <a:defRPr sz="1125" b="0">
                <a:solidFill>
                  <a:srgbClr val="0A0A0A"/>
                </a:solidFill>
                <a:latin typeface="DM Sans"/>
                <a:ea typeface="DM Sans"/>
                <a:cs typeface="DM Sans"/>
              </a:defRPr>
            </a:lvl4pPr>
            <a:lvl5pPr algn="l">
              <a:defRPr sz="1125" b="0">
                <a:solidFill>
                  <a:srgbClr val="0A0A0A"/>
                </a:solidFill>
                <a:latin typeface="DM Sans"/>
                <a:ea typeface="DM Sans"/>
                <a:cs typeface="DM Sans"/>
              </a:defRPr>
            </a:lvl5pPr>
            <a:lvl6pPr algn="l">
              <a:defRPr sz="1125" b="0">
                <a:solidFill>
                  <a:srgbClr val="0A0A0A"/>
                </a:solidFill>
                <a:latin typeface="DM Sans"/>
                <a:ea typeface="DM Sans"/>
                <a:cs typeface="DM Sans"/>
              </a:defRPr>
            </a:lvl6pPr>
            <a:lvl7pPr algn="l">
              <a:defRPr sz="1125" b="0">
                <a:solidFill>
                  <a:srgbClr val="0A0A0A"/>
                </a:solidFill>
                <a:latin typeface="DM Sans"/>
                <a:ea typeface="DM Sans"/>
                <a:cs typeface="DM Sans"/>
              </a:defRPr>
            </a:lvl7pPr>
            <a:lvl8pPr algn="l">
              <a:defRPr sz="1125" b="0">
                <a:solidFill>
                  <a:srgbClr val="0A0A0A"/>
                </a:solidFill>
                <a:latin typeface="DM Sans"/>
                <a:ea typeface="DM Sans"/>
                <a:cs typeface="DM Sans"/>
              </a:defRPr>
            </a:lvl8pPr>
            <a:lvl9pPr algn="l">
              <a:defRPr sz="1125" b="0">
                <a:solidFill>
                  <a:srgbClr val="0A0A0A"/>
                </a:solidFill>
                <a:latin typeface="DM Sans"/>
                <a:ea typeface="DM Sans"/>
                <a:cs typeface="DM Sans"/>
              </a:defRPr>
            </a:lvl9pPr>
          </a:lstStyle>
          <a:p xmlns:a="http://schemas.openxmlformats.org/drawingml/2006/main">
            <a:pPr algn="l">
              <a:defRPr sz="1125" b="0">
                <a:solidFill>
                  <a:srgbClr val="0A0A0A"/>
                </a:solidFill>
                <a:latin typeface="DM Sans"/>
                <a:ea typeface="DM Sans"/>
                <a:cs typeface="DM Sans"/>
              </a:defRPr>
            </a:pPr>
            <a:r>
              <a:rPr sz="1125" b="0">
                <a:solidFill>
                  <a:srgbClr val="0A0A0A"/>
                </a:solidFill>
                <a:latin typeface="DM Sans"/>
                <a:ea typeface="DM Sans"/>
                <a:cs typeface="DM Sans"/>
              </a:rPr>
              <a:t>Hypothetical cash branches after all entry and exit costs. All amounts USD.</a:t>
            </a:r>
          </a:p>
        </p:txBody>
      </p:sp>
      <p:graphicFrame>
        <p:nvGraphicFramePr>
          <p:cNvPr id="10" name="">
            <a:extLst xmlns:a="http://schemas.openxmlformats.org/drawingml/2006/main">
              <a:ext uri="{FF2B5EF4-FFF2-40B4-BE49-F238E27FC236}">
                <a16:creationId xmlns:a16="http://schemas.microsoft.com/office/drawing/2014/main" id="{89FBBA35-A0F9-46B1-B089-843BEF502E49}"/>
              </a:ext>
            </a:extLst>
          </p:cNvPr>
          <p:cNvGraphicFramePr/>
          <p:nvPr/>
        </p:nvGraphicFramePr>
        <p:xfrm>
          <a:off xmlns:a="http://schemas.openxmlformats.org/drawingml/2006/main" x="381000" y="1609725"/>
          <a:ext xmlns:a="http://schemas.openxmlformats.org/drawingml/2006/main" cx="11410950" cy="2286000"/>
        </p:xfrm>
        <a:graphic xmlns:a="http://schemas.openxmlformats.org/drawingml/2006/main">
          <a:graphicData uri="http://schemas.openxmlformats.org/drawingml/2006/table">
            <a:tbl>
              <a:tblPr firstRow="1" bandRow="0"/>
              <a:tblGrid>
                <a:gridCol w="5143500"/>
                <a:gridCol w="2000250"/>
                <a:gridCol w="2000250"/>
                <a:gridCol w="2266950"/>
              </a:tblGrid>
              <a:tr h="571500">
                <a:tc>
                  <a:txBody>
                    <a:bodyPr lIns="171450" tIns="95250" rIns="171450" bIns="95250">
                      <a:noAutofit/>
                    </a:bodyPr>
                    <a:lstStyle/>
                    <a:p>
                      <a:r>
                        <a:rPr sz="1050" b="0">
                          <a:solidFill>
                            <a:srgbClr val="FAFAFA"/>
                          </a:solidFill>
                          <a:latin typeface="DM Sans"/>
                          <a:ea typeface="DM Sans"/>
                          <a:cs typeface="DM Sans"/>
                        </a:rPr>
                        <a:t>Outcome by day 90</a:t>
                      </a:r>
                    </a:p>
                  </a:txBody>
                  <a:tcPr marL="91440" marR="91440" marT="45720" marB="45720" anchor="ctr">
                    <a:lnL w="0">
                      <a:noFill/>
                      <a:prstDash val="solid"/>
                    </a:lnL>
                    <a:lnR w="0">
                      <a:noFill/>
                      <a:prstDash val="solid"/>
                    </a:lnR>
                    <a:lnT w="0">
                      <a:noFill/>
                      <a:prstDash val="solid"/>
                    </a:lnT>
                    <a:lnB w="0">
                      <a:noFill/>
                      <a:prstDash val="solid"/>
                    </a:lnB>
                    <a:solidFill>
                      <a:srgbClr val="0A0A0A"/>
                    </a:solidFill>
                  </a:tcPr>
                </a:tc>
                <a:tc>
                  <a:txBody>
                    <a:bodyPr lIns="171450" tIns="95250" rIns="171450" bIns="95250">
                      <a:noAutofit/>
                    </a:bodyPr>
                    <a:lstStyle/>
                    <a:p>
                      <a:r>
                        <a:rPr sz="1050" b="0">
                          <a:solidFill>
                            <a:srgbClr val="FAFAFA"/>
                          </a:solidFill>
                          <a:latin typeface="DM Sans"/>
                          <a:ea typeface="DM Sans"/>
                          <a:cs typeface="DM Sans"/>
                        </a:rPr>
                        <a:t>Probability</a:t>
                      </a:r>
                    </a:p>
                  </a:txBody>
                  <a:tcPr marL="91440" marR="91440" marT="45720" marB="45720" anchor="ctr">
                    <a:lnR w="0">
                      <a:noFill/>
                      <a:prstDash val="solid"/>
                    </a:lnR>
                    <a:lnT w="0">
                      <a:noFill/>
                      <a:prstDash val="solid"/>
                    </a:lnT>
                    <a:lnB w="0">
                      <a:noFill/>
                      <a:prstDash val="solid"/>
                    </a:lnB>
                    <a:solidFill>
                      <a:srgbClr val="0A0A0A"/>
                    </a:solidFill>
                  </a:tcPr>
                </a:tc>
                <a:tc>
                  <a:txBody>
                    <a:bodyPr lIns="171450" tIns="95250" rIns="171450" bIns="95250">
                      <a:noAutofit/>
                    </a:bodyPr>
                    <a:lstStyle/>
                    <a:p>
                      <a:r>
                        <a:rPr sz="1050" b="0">
                          <a:solidFill>
                            <a:srgbClr val="FAFAFA"/>
                          </a:solidFill>
                          <a:latin typeface="DM Sans"/>
                          <a:ea typeface="DM Sans"/>
                          <a:cs typeface="DM Sans"/>
                        </a:rPr>
                        <a:t>Net cash</a:t>
                      </a:r>
                    </a:p>
                  </a:txBody>
                  <a:tcPr marL="91440" marR="91440" marT="45720" marB="45720" anchor="ctr">
                    <a:lnR w="0">
                      <a:noFill/>
                      <a:prstDash val="solid"/>
                    </a:lnR>
                    <a:lnT w="0">
                      <a:noFill/>
                      <a:prstDash val="solid"/>
                    </a:lnT>
                    <a:lnB w="0">
                      <a:noFill/>
                      <a:prstDash val="solid"/>
                    </a:lnB>
                    <a:solidFill>
                      <a:srgbClr val="0A0A0A"/>
                    </a:solidFill>
                  </a:tcPr>
                </a:tc>
                <a:tc>
                  <a:txBody>
                    <a:bodyPr lIns="171450" tIns="95250" rIns="171450" bIns="95250">
                      <a:noAutofit/>
                    </a:bodyPr>
                    <a:lstStyle/>
                    <a:p>
                      <a:r>
                        <a:rPr sz="1050" b="0">
                          <a:solidFill>
                            <a:srgbClr val="FAFAFA"/>
                          </a:solidFill>
                          <a:latin typeface="DM Sans"/>
                          <a:ea typeface="DM Sans"/>
                          <a:cs typeface="DM Sans"/>
                        </a:rPr>
                        <a:t>Weighted cash</a:t>
                      </a:r>
                    </a:p>
                  </a:txBody>
                  <a:tcPr marL="91440" marR="91440" marT="45720" marB="45720" anchor="ctr">
                    <a:lnR w="0">
                      <a:noFill/>
                      <a:prstDash val="solid"/>
                    </a:lnR>
                    <a:lnT w="0">
                      <a:noFill/>
                      <a:prstDash val="solid"/>
                    </a:lnT>
                    <a:lnB w="0">
                      <a:noFill/>
                      <a:prstDash val="solid"/>
                    </a:lnB>
                    <a:solidFill>
                      <a:srgbClr val="0A0A0A"/>
                    </a:solidFill>
                  </a:tcPr>
                </a:tc>
              </a:tr>
              <a:tr h="571500">
                <a:tc>
                  <a:txBody>
                    <a:bodyPr lIns="171450" tIns="95250" rIns="171450" bIns="95250">
                      <a:noAutofit/>
                    </a:bodyPr>
                    <a:lstStyle/>
                    <a:p>
                      <a:r>
                        <a:rPr sz="1350" b="0">
                          <a:solidFill>
                            <a:srgbClr val="0A0A0A"/>
                          </a:solidFill>
                          <a:latin typeface="DM Sans"/>
                          <a:ea typeface="DM Sans"/>
                          <a:cs typeface="DM Sans"/>
                        </a:rPr>
                        <a:t>Sale</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48.8%</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$39,130.77</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$19,095.82</a:t>
                      </a:r>
                    </a:p>
                  </a:txBody>
                  <a:tcPr marL="91440" marR="91440" marT="45720" marB="45720" anchor="ctr">
                    <a:lnR w="0">
                      <a:noFill/>
                      <a:prstDash val="solid"/>
                    </a:lnR>
                    <a:lnB w="0">
                      <a:noFill/>
                      <a:prstDash val="solid"/>
                    </a:lnB>
                    <a:solidFill>
                      <a:srgbClr val="FAFAFA"/>
                    </a:solidFill>
                  </a:tcPr>
                </a:tc>
              </a:tr>
              <a:tr h="571500">
                <a:tc>
                  <a:txBody>
                    <a:bodyPr lIns="171450" tIns="95250" rIns="171450" bIns="95250">
                      <a:noAutofit/>
                    </a:bodyPr>
                    <a:lstStyle/>
                    <a:p>
                      <a:r>
                        <a:rPr sz="1350" b="0">
                          <a:solidFill>
                            <a:srgbClr val="0A0A0A"/>
                          </a:solidFill>
                          <a:latin typeface="DM Sans"/>
                          <a:ea typeface="DM Sans"/>
                          <a:cs typeface="DM Sans"/>
                        </a:rPr>
                        <a:t>No sale</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51.2%</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−$30,050.00</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−$15,385.60</a:t>
                      </a:r>
                    </a:p>
                  </a:txBody>
                  <a:tcPr marL="91440" marR="91440" marT="45720" marB="45720" anchor="ctr">
                    <a:lnR w="0">
                      <a:noFill/>
                      <a:prstDash val="solid"/>
                    </a:lnR>
                    <a:lnB w="0">
                      <a:noFill/>
                      <a:prstDash val="solid"/>
                    </a:lnB>
                    <a:solidFill>
                      <a:srgbClr val="FAFAFA"/>
                    </a:solidFill>
                  </a:tcPr>
                </a:tc>
              </a:tr>
              <a:tr h="571500">
                <a:tc>
                  <a:txBody>
                    <a:bodyPr lIns="171450" tIns="95250" rIns="171450" bIns="95250">
                      <a:noAutofit/>
                    </a:bodyPr>
                    <a:lstStyle/>
                    <a:p>
                      <a:r>
                        <a:rPr sz="1350" b="1">
                          <a:solidFill>
                            <a:srgbClr val="0A0A0A"/>
                          </a:solidFill>
                          <a:latin typeface="DM Sans"/>
                          <a:ea typeface="DM Sans"/>
                          <a:cs typeface="DM Sans"/>
                        </a:rPr>
                        <a:t>Expected net cash</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350" b="1">
                          <a:solidFill>
                            <a:srgbClr val="0A0A0A"/>
                          </a:solidFill>
                          <a:latin typeface="DM Sans"/>
                          <a:ea typeface="DM Sans"/>
                          <a:cs typeface="DM Sans"/>
                        </a:rPr>
                        <a:t>100.0%</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1">
                          <a:solidFill>
                            <a:srgbClr val="0A0A0A"/>
                          </a:solidFill>
                          <a:latin typeface="DM Sans"/>
                          <a:ea typeface="DM Sans"/>
                          <a:cs typeface="DM Sans"/>
                        </a:rPr>
                        <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1">
                          <a:solidFill>
                            <a:srgbClr val="0A0A0A"/>
                          </a:solidFill>
                          <a:latin typeface="DM Sans"/>
                          <a:ea typeface="DM Sans"/>
                          <a:cs typeface="DM Sans"/>
                        </a:rPr>
                        <a:t>$3,710.22</a:t>
                      </a:r>
                    </a:p>
                  </a:txBody>
                  <a:tcPr marL="91440" marR="91440" marT="45720" marB="45720" anchor="ctr">
                    <a:lnR w="0">
                      <a:noFill/>
                      <a:prstDash val="solid"/>
                    </a:lnR>
                    <a:lnB w="0">
                      <a:noFill/>
                      <a:prstDash val="solid"/>
                    </a:lnB>
                    <a:solidFill>
                      <a:srgbClr val="FAFAFA"/>
                    </a:solidFill>
                  </a:tcPr>
                </a:tc>
              </a:tr>
            </a:tbl>
          </a:graphicData>
        </a:graphic>
      </p:graphicFrame>
      <p:sp>
        <p:nvSpPr>
          <p:cNvPr id="11" name="">
            <a:extLst xmlns:a="http://schemas.openxmlformats.org/drawingml/2006/main">
              <a:ext uri="{FF2B5EF4-FFF2-40B4-BE49-F238E27FC236}">
                <a16:creationId xmlns:a16="http://schemas.microsoft.com/office/drawing/2014/main" id="{3D35D41B-C71F-458D-A13D-54E6DB477612}"/>
              </a:ext>
            </a:extLst>
          </p:cNvPr>
          <p:cNvSpPr>
            <a:spLocks xmlns:a="http://schemas.openxmlformats.org/drawingml/2006/main" noGrp="1"/>
          </p:cNvSpPr>
          <p:nvPr/>
        </p:nvSpPr>
        <p:spPr>
          <a:xfrm xmlns:a="http://schemas.openxmlformats.org/drawingml/2006/main">
            <a:off x="571500" y="3295650"/>
            <a:ext cx="11010900" cy="95"/>
          </a:xfrm>
          <a:custGeom xmlns:a="http://schemas.openxmlformats.org/drawingml/2006/main">
            <a:pathLst>
              <a:path w="11010900" h="95">
                <a:moveTo>
                  <a:pt x="0" y="0"/>
                </a:moveTo>
                <a:lnTo>
                  <a:pt x="11010900" y="0"/>
                </a:lnTo>
              </a:path>
            </a:pathLst>
          </a:custGeom>
          <a:noFill xmlns:a="http://schemas.openxmlformats.org/drawingml/2006/main"/>
          <a:ln xmlns:a="http://schemas.openxmlformats.org/drawingml/2006/main" w="7620">
            <a:solidFill>
              <a:srgbClr val="0A0A0A"/>
            </a:solidFill>
            <a:prstDash val="solid"/>
          </a:ln>
        </p:spPr>
      </p:sp>
      <p:sp>
        <p:nvSpPr>
          <p:cNvPr id="12" name="">
            <a:extLst xmlns:a="http://schemas.openxmlformats.org/drawingml/2006/main">
              <a:ext uri="{FF2B5EF4-FFF2-40B4-BE49-F238E27FC236}">
                <a16:creationId xmlns:a16="http://schemas.microsoft.com/office/drawing/2014/main" id="{F7B593A3-08A6-449D-B891-7E91CEA6E7EE}"/>
              </a:ext>
            </a:extLst>
          </p:cNvPr>
          <p:cNvSpPr>
            <a:spLocks xmlns:a="http://schemas.openxmlformats.org/drawingml/2006/main" noGrp="1"/>
          </p:cNvSpPr>
          <p:nvPr/>
        </p:nvSpPr>
        <p:spPr>
          <a:xfrm xmlns:a="http://schemas.openxmlformats.org/drawingml/2006/main">
            <a:off x="381000" y="3895725"/>
            <a:ext cx="11410950" cy="95"/>
          </a:xfrm>
          <a:custGeom xmlns:a="http://schemas.openxmlformats.org/drawingml/2006/main">
            <a:pathLst>
              <a:path w="11410950" h="95">
                <a:moveTo>
                  <a:pt x="0" y="0"/>
                </a:moveTo>
                <a:lnTo>
                  <a:pt x="11410950" y="0"/>
                </a:lnTo>
              </a:path>
            </a:pathLst>
          </a:custGeom>
          <a:noFill xmlns:a="http://schemas.openxmlformats.org/drawingml/2006/main"/>
          <a:ln xmlns:a="http://schemas.openxmlformats.org/drawingml/2006/main" w="5715">
            <a:solidFill>
              <a:srgbClr val="0A0A0A"/>
            </a:solidFill>
            <a:prstDash val="solid"/>
          </a:ln>
        </p:spPr>
      </p:sp>
      <p:sp>
        <p:nvSpPr>
          <p:cNvPr id="13" name="">
            <a:extLst xmlns:a="http://schemas.openxmlformats.org/drawingml/2006/main">
              <a:ext uri="{FF2B5EF4-FFF2-40B4-BE49-F238E27FC236}">
                <a16:creationId xmlns:a16="http://schemas.microsoft.com/office/drawing/2014/main" id="{B3172A03-AD9F-47BE-889B-453735480077}"/>
              </a:ext>
            </a:extLst>
          </p:cNvPr>
          <p:cNvSpPr>
            <a:spLocks xmlns:a="http://schemas.openxmlformats.org/drawingml/2006/main" noGrp="1"/>
          </p:cNvSpPr>
          <p:nvPr/>
        </p:nvSpPr>
        <p:spPr>
          <a:xfrm xmlns:a="http://schemas.openxmlformats.org/drawingml/2006/main" rot="0">
            <a:off x="571500" y="4248150"/>
            <a:ext cx="1066800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0A0A0A"/>
                </a:solidFill>
                <a:latin typeface="DM Sans"/>
                <a:ea typeface="DM Sans"/>
                <a:cs typeface="DM Sans"/>
              </a:defRPr>
            </a:defPPr>
            <a:lvl1pPr algn="l">
              <a:defRPr sz="1800" b="0">
                <a:solidFill>
                  <a:srgbClr val="0A0A0A"/>
                </a:solidFill>
                <a:latin typeface="DM Sans"/>
                <a:ea typeface="DM Sans"/>
                <a:cs typeface="DM Sans"/>
              </a:defRPr>
            </a:lvl1pPr>
            <a:lvl2pPr algn="l">
              <a:defRPr sz="1800" b="0">
                <a:solidFill>
                  <a:srgbClr val="0A0A0A"/>
                </a:solidFill>
                <a:latin typeface="DM Sans"/>
                <a:ea typeface="DM Sans"/>
                <a:cs typeface="DM Sans"/>
              </a:defRPr>
            </a:lvl2pPr>
            <a:lvl3pPr algn="l">
              <a:defRPr sz="1800" b="0">
                <a:solidFill>
                  <a:srgbClr val="0A0A0A"/>
                </a:solidFill>
                <a:latin typeface="DM Sans"/>
                <a:ea typeface="DM Sans"/>
                <a:cs typeface="DM Sans"/>
              </a:defRPr>
            </a:lvl3pPr>
            <a:lvl4pPr algn="l">
              <a:defRPr sz="1800" b="0">
                <a:solidFill>
                  <a:srgbClr val="0A0A0A"/>
                </a:solidFill>
                <a:latin typeface="DM Sans"/>
                <a:ea typeface="DM Sans"/>
                <a:cs typeface="DM Sans"/>
              </a:defRPr>
            </a:lvl4pPr>
            <a:lvl5pPr algn="l">
              <a:defRPr sz="1800" b="0">
                <a:solidFill>
                  <a:srgbClr val="0A0A0A"/>
                </a:solidFill>
                <a:latin typeface="DM Sans"/>
                <a:ea typeface="DM Sans"/>
                <a:cs typeface="DM Sans"/>
              </a:defRPr>
            </a:lvl5pPr>
            <a:lvl6pPr algn="l">
              <a:defRPr sz="1800" b="0">
                <a:solidFill>
                  <a:srgbClr val="0A0A0A"/>
                </a:solidFill>
                <a:latin typeface="DM Sans"/>
                <a:ea typeface="DM Sans"/>
                <a:cs typeface="DM Sans"/>
              </a:defRPr>
            </a:lvl6pPr>
            <a:lvl7pPr algn="l">
              <a:defRPr sz="1800" b="0">
                <a:solidFill>
                  <a:srgbClr val="0A0A0A"/>
                </a:solidFill>
                <a:latin typeface="DM Sans"/>
                <a:ea typeface="DM Sans"/>
                <a:cs typeface="DM Sans"/>
              </a:defRPr>
            </a:lvl7pPr>
            <a:lvl8pPr algn="l">
              <a:defRPr sz="1800" b="0">
                <a:solidFill>
                  <a:srgbClr val="0A0A0A"/>
                </a:solidFill>
                <a:latin typeface="DM Sans"/>
                <a:ea typeface="DM Sans"/>
                <a:cs typeface="DM Sans"/>
              </a:defRPr>
            </a:lvl8pPr>
            <a:lvl9pPr algn="l">
              <a:defRPr sz="1800" b="0">
                <a:solidFill>
                  <a:srgbClr val="0A0A0A"/>
                </a:solidFill>
                <a:latin typeface="DM Sans"/>
                <a:ea typeface="DM Sans"/>
                <a:cs typeface="DM Sans"/>
              </a:defRPr>
            </a:lvl9pPr>
          </a:lstStyle>
          <a:p xmlns:a="http://schemas.openxmlformats.org/drawingml/2006/main">
            <a:pPr algn="l">
              <a:defRPr sz="1800" b="0">
                <a:solidFill>
                  <a:srgbClr val="0A0A0A"/>
                </a:solidFill>
                <a:latin typeface="DM Sans"/>
                <a:ea typeface="DM Sans"/>
                <a:cs typeface="DM Sans"/>
              </a:defRPr>
            </a:pPr>
            <a:r>
              <a:rPr sz="1800" b="0">
                <a:solidFill>
                  <a:srgbClr val="0A0A0A"/>
                </a:solidFill>
                <a:latin typeface="DM Sans"/>
                <a:ea typeface="DM Sans"/>
                <a:cs typeface="DM Sans"/>
              </a:rPr>
              <a:t>0.488 × ($69,230.77 − $50) − $30,050 ≈ $3,710.22</a:t>
            </a:r>
          </a:p>
        </p:txBody>
      </p:sp>
      <p:sp>
        <p:nvSpPr>
          <p:cNvPr id="14" name="">
            <a:extLst xmlns:a="http://schemas.openxmlformats.org/drawingml/2006/main">
              <a:ext uri="{FF2B5EF4-FFF2-40B4-BE49-F238E27FC236}">
                <a16:creationId xmlns:a16="http://schemas.microsoft.com/office/drawing/2014/main" id="{B0C34FBA-C83C-4401-A990-71B721C3A7AE}"/>
              </a:ext>
            </a:extLst>
          </p:cNvPr>
          <p:cNvSpPr>
            <a:spLocks xmlns:a="http://schemas.openxmlformats.org/drawingml/2006/main" noGrp="1"/>
          </p:cNvSpPr>
          <p:nvPr/>
        </p:nvSpPr>
        <p:spPr>
          <a:xfrm xmlns:a="http://schemas.openxmlformats.org/drawingml/2006/main" rot="0">
            <a:off x="571500" y="4752975"/>
            <a:ext cx="10668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0A0A0A"/>
                </a:solidFill>
                <a:latin typeface="DM Sans"/>
                <a:ea typeface="DM Sans"/>
                <a:cs typeface="DM Sans"/>
              </a:defRPr>
            </a:defPPr>
            <a:lvl1pPr algn="l">
              <a:defRPr sz="1500" b="0">
                <a:solidFill>
                  <a:srgbClr val="0A0A0A"/>
                </a:solidFill>
                <a:latin typeface="DM Sans"/>
                <a:ea typeface="DM Sans"/>
                <a:cs typeface="DM Sans"/>
              </a:defRPr>
            </a:lvl1pPr>
            <a:lvl2pPr algn="l">
              <a:defRPr sz="1500" b="0">
                <a:solidFill>
                  <a:srgbClr val="0A0A0A"/>
                </a:solidFill>
                <a:latin typeface="DM Sans"/>
                <a:ea typeface="DM Sans"/>
                <a:cs typeface="DM Sans"/>
              </a:defRPr>
            </a:lvl2pPr>
            <a:lvl3pPr algn="l">
              <a:defRPr sz="1500" b="0">
                <a:solidFill>
                  <a:srgbClr val="0A0A0A"/>
                </a:solidFill>
                <a:latin typeface="DM Sans"/>
                <a:ea typeface="DM Sans"/>
                <a:cs typeface="DM Sans"/>
              </a:defRPr>
            </a:lvl3pPr>
            <a:lvl4pPr algn="l">
              <a:defRPr sz="1500" b="0">
                <a:solidFill>
                  <a:srgbClr val="0A0A0A"/>
                </a:solidFill>
                <a:latin typeface="DM Sans"/>
                <a:ea typeface="DM Sans"/>
                <a:cs typeface="DM Sans"/>
              </a:defRPr>
            </a:lvl4pPr>
            <a:lvl5pPr algn="l">
              <a:defRPr sz="1500" b="0">
                <a:solidFill>
                  <a:srgbClr val="0A0A0A"/>
                </a:solidFill>
                <a:latin typeface="DM Sans"/>
                <a:ea typeface="DM Sans"/>
                <a:cs typeface="DM Sans"/>
              </a:defRPr>
            </a:lvl5pPr>
            <a:lvl6pPr algn="l">
              <a:defRPr sz="1500" b="0">
                <a:solidFill>
                  <a:srgbClr val="0A0A0A"/>
                </a:solidFill>
                <a:latin typeface="DM Sans"/>
                <a:ea typeface="DM Sans"/>
                <a:cs typeface="DM Sans"/>
              </a:defRPr>
            </a:lvl6pPr>
            <a:lvl7pPr algn="l">
              <a:defRPr sz="1500" b="0">
                <a:solidFill>
                  <a:srgbClr val="0A0A0A"/>
                </a:solidFill>
                <a:latin typeface="DM Sans"/>
                <a:ea typeface="DM Sans"/>
                <a:cs typeface="DM Sans"/>
              </a:defRPr>
            </a:lvl7pPr>
            <a:lvl8pPr algn="l">
              <a:defRPr sz="1500" b="0">
                <a:solidFill>
                  <a:srgbClr val="0A0A0A"/>
                </a:solidFill>
                <a:latin typeface="DM Sans"/>
                <a:ea typeface="DM Sans"/>
                <a:cs typeface="DM Sans"/>
              </a:defRPr>
            </a:lvl8pPr>
            <a:lvl9pPr algn="l">
              <a:defRPr sz="1500" b="0">
                <a:solidFill>
                  <a:srgbClr val="0A0A0A"/>
                </a:solidFill>
                <a:latin typeface="DM Sans"/>
                <a:ea typeface="DM Sans"/>
                <a:cs typeface="DM Sans"/>
              </a:defRPr>
            </a:lvl9pPr>
          </a:lstStyle>
          <a:p xmlns:a="http://schemas.openxmlformats.org/drawingml/2006/main">
            <a:pPr algn="l">
              <a:defRPr sz="1500" b="0">
                <a:solidFill>
                  <a:srgbClr val="0A0A0A"/>
                </a:solidFill>
                <a:latin typeface="DM Sans"/>
                <a:ea typeface="DM Sans"/>
                <a:cs typeface="DM Sans"/>
              </a:defRPr>
            </a:pPr>
            <a:r>
              <a:rPr sz="1500" b="0">
                <a:solidFill>
                  <a:srgbClr val="0A0A0A"/>
                </a:solidFill>
                <a:latin typeface="DM Sans"/>
                <a:ea typeface="DM Sans"/>
                <a:cs typeface="DM Sans"/>
              </a:rPr>
              <a:t>Expected option return: 12.35%, non-annualized. Conditional candidate.</a:t>
            </a:r>
          </a:p>
        </p:txBody>
      </p:sp>
      <p:sp>
        <p:nvSpPr>
          <p:cNvPr id="15" name="">
            <a:extLst xmlns:a="http://schemas.openxmlformats.org/drawingml/2006/main">
              <a:ext uri="{FF2B5EF4-FFF2-40B4-BE49-F238E27FC236}">
                <a16:creationId xmlns:a16="http://schemas.microsoft.com/office/drawing/2014/main" id="{0FDF76B7-C701-4440-8445-9C619818A929}"/>
              </a:ext>
            </a:extLst>
          </p:cNvPr>
          <p:cNvSpPr>
            <a:spLocks xmlns:a="http://schemas.openxmlformats.org/drawingml/2006/main" noGrp="1"/>
          </p:cNvSpPr>
          <p:nvPr/>
        </p:nvSpPr>
        <p:spPr>
          <a:xfrm xmlns:a="http://schemas.openxmlformats.org/drawingml/2006/main" rot="0">
            <a:off x="571500" y="5286375"/>
            <a:ext cx="10668000" cy="5429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75" b="0">
                <a:solidFill>
                  <a:srgbClr val="0A0A0A"/>
                </a:solidFill>
                <a:latin typeface="DM Sans"/>
                <a:ea typeface="DM Sans"/>
                <a:cs typeface="DM Sans"/>
              </a:defRPr>
            </a:defPPr>
            <a:lvl1pPr algn="l">
              <a:defRPr sz="1275" b="0">
                <a:solidFill>
                  <a:srgbClr val="0A0A0A"/>
                </a:solidFill>
                <a:latin typeface="DM Sans"/>
                <a:ea typeface="DM Sans"/>
                <a:cs typeface="DM Sans"/>
              </a:defRPr>
            </a:lvl1pPr>
            <a:lvl2pPr algn="l">
              <a:defRPr sz="1275" b="0">
                <a:solidFill>
                  <a:srgbClr val="0A0A0A"/>
                </a:solidFill>
                <a:latin typeface="DM Sans"/>
                <a:ea typeface="DM Sans"/>
                <a:cs typeface="DM Sans"/>
              </a:defRPr>
            </a:lvl2pPr>
            <a:lvl3pPr algn="l">
              <a:defRPr sz="1275" b="0">
                <a:solidFill>
                  <a:srgbClr val="0A0A0A"/>
                </a:solidFill>
                <a:latin typeface="DM Sans"/>
                <a:ea typeface="DM Sans"/>
                <a:cs typeface="DM Sans"/>
              </a:defRPr>
            </a:lvl3pPr>
            <a:lvl4pPr algn="l">
              <a:defRPr sz="1275" b="0">
                <a:solidFill>
                  <a:srgbClr val="0A0A0A"/>
                </a:solidFill>
                <a:latin typeface="DM Sans"/>
                <a:ea typeface="DM Sans"/>
                <a:cs typeface="DM Sans"/>
              </a:defRPr>
            </a:lvl4pPr>
            <a:lvl5pPr algn="l">
              <a:defRPr sz="1275" b="0">
                <a:solidFill>
                  <a:srgbClr val="0A0A0A"/>
                </a:solidFill>
                <a:latin typeface="DM Sans"/>
                <a:ea typeface="DM Sans"/>
                <a:cs typeface="DM Sans"/>
              </a:defRPr>
            </a:lvl5pPr>
            <a:lvl6pPr algn="l">
              <a:defRPr sz="1275" b="0">
                <a:solidFill>
                  <a:srgbClr val="0A0A0A"/>
                </a:solidFill>
                <a:latin typeface="DM Sans"/>
                <a:ea typeface="DM Sans"/>
                <a:cs typeface="DM Sans"/>
              </a:defRPr>
            </a:lvl6pPr>
            <a:lvl7pPr algn="l">
              <a:defRPr sz="1275" b="0">
                <a:solidFill>
                  <a:srgbClr val="0A0A0A"/>
                </a:solidFill>
                <a:latin typeface="DM Sans"/>
                <a:ea typeface="DM Sans"/>
                <a:cs typeface="DM Sans"/>
              </a:defRPr>
            </a:lvl7pPr>
            <a:lvl8pPr algn="l">
              <a:defRPr sz="1275" b="0">
                <a:solidFill>
                  <a:srgbClr val="0A0A0A"/>
                </a:solidFill>
                <a:latin typeface="DM Sans"/>
                <a:ea typeface="DM Sans"/>
                <a:cs typeface="DM Sans"/>
              </a:defRPr>
            </a:lvl8pPr>
            <a:lvl9pPr algn="l">
              <a:defRPr sz="1275" b="0">
                <a:solidFill>
                  <a:srgbClr val="0A0A0A"/>
                </a:solidFill>
                <a:latin typeface="DM Sans"/>
                <a:ea typeface="DM Sans"/>
                <a:cs typeface="DM Sans"/>
              </a:defRPr>
            </a:lvl9pPr>
          </a:lstStyle>
          <a:p xmlns:a="http://schemas.openxmlformats.org/drawingml/2006/main">
            <a:pPr algn="l">
              <a:defRPr sz="1275" b="0">
                <a:solidFill>
                  <a:srgbClr val="0A0A0A"/>
                </a:solidFill>
                <a:latin typeface="DM Sans"/>
                <a:ea typeface="DM Sans"/>
                <a:cs typeface="DM Sans"/>
              </a:defRPr>
            </a:pPr>
            <a:r>
              <a:rPr sz="1275" b="0">
                <a:solidFill>
                  <a:srgbClr val="0A0A0A"/>
                </a:solidFill>
                <a:latin typeface="DM Sans"/>
                <a:ea typeface="DM Sans"/>
                <a:cs typeface="DM Sans"/>
              </a:rPr>
              <a:t>For a 25% expected return, required conditional resale is $77,022.34.</a:t>
            </a:r>
          </a:p>
          <a:p xmlns:a="http://schemas.openxmlformats.org/drawingml/2006/main">
            <a:pPr algn="l">
              <a:defRPr sz="1275" b="0">
                <a:solidFill>
                  <a:srgbClr val="0A0A0A"/>
                </a:solidFill>
                <a:latin typeface="DM Sans"/>
                <a:ea typeface="DM Sans"/>
                <a:cs typeface="DM Sans"/>
              </a:defRPr>
            </a:pPr>
            <a:r>
              <a:rPr sz="1275" b="0">
                <a:solidFill>
                  <a:srgbClr val="0A0A0A"/>
                </a:solidFill>
                <a:latin typeface="DM Sans"/>
                <a:ea typeface="DM Sans"/>
                <a:cs typeface="DM Sans"/>
              </a:rPr>
              <a:t>A hurdle, not a forecast. Synthetic assignment is $69,230.77; no input was chosen from the target.</a:t>
            </a:r>
          </a:p>
        </p:txBody>
      </p:sp>
    </p:spTree>
    <p:extLst>
      <p:ext uri="{BB962C8B-B14F-4D97-AF65-F5344CB8AC3E}">
        <p14:creationId xmlns:p14="http://schemas.microsoft.com/office/powerpoint/2010/main" val="1837718437"/>
      </p:ext>
    </p:extLst>
  </p:cSld>
</p:sld>
</file>

<file path=ppt/slides/slide9.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5" name="">
            <a:extLst xmlns:a="http://schemas.openxmlformats.org/drawingml/2006/main">
              <a:ext uri="{FF2B5EF4-FFF2-40B4-BE49-F238E27FC236}">
                <a16:creationId xmlns:a16="http://schemas.microsoft.com/office/drawing/2014/main" id="{293ACDD8-69B5-4984-AB50-7546185DE514}"/>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1DB04D51-6B42-4144-9313-BF8010BBB44B}"/>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A</a:t>
            </a:r>
          </a:p>
        </p:txBody>
      </p:sp>
      <p:sp>
        <p:nvSpPr>
          <p:cNvPr id="3" name="">
            <a:extLst xmlns:a="http://schemas.openxmlformats.org/drawingml/2006/main">
              <a:ext uri="{FF2B5EF4-FFF2-40B4-BE49-F238E27FC236}">
                <a16:creationId xmlns:a16="http://schemas.microsoft.com/office/drawing/2014/main" id="{D46ED891-D643-4C52-9127-BF3A0420D8B2}"/>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D9E71FD7-5653-4382-91D7-1A8284186B39}"/>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75C34847-A0A8-4CF9-B0F5-F02D0AC1A313}"/>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54A6CA3F-9744-4950-99E6-AF891EB3D7CF}"/>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Appendix</a:t>
            </a:r>
          </a:p>
        </p:txBody>
      </p:sp>
      <p:sp>
        <p:nvSpPr>
          <p:cNvPr id="7" name="">
            <a:extLst xmlns:a="http://schemas.openxmlformats.org/drawingml/2006/main">
              <a:ext uri="{FF2B5EF4-FFF2-40B4-BE49-F238E27FC236}">
                <a16:creationId xmlns:a16="http://schemas.microsoft.com/office/drawing/2014/main" id="{D396318F-BB94-4DEA-9B15-294A43455077}"/>
              </a:ext>
            </a:extLst>
          </p:cNvPr>
          <p:cNvSpPr>
            <a:spLocks xmlns:a="http://schemas.openxmlformats.org/drawingml/2006/main" noGrp="1"/>
          </p:cNvSpPr>
          <p:nvPr/>
        </p:nvSpPr>
        <p:spPr>
          <a:xfrm xmlns:a="http://schemas.openxmlformats.org/drawingml/2006/main" rot="0">
            <a:off x="11039475" y="4191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0A0A0A"/>
                </a:solidFill>
                <a:latin typeface="DM Sans"/>
                <a:ea typeface="DM Sans"/>
                <a:cs typeface="DM Sans"/>
              </a:defRPr>
            </a:defPPr>
            <a:lvl1pPr algn="r">
              <a:defRPr sz="900" b="0">
                <a:solidFill>
                  <a:srgbClr val="0A0A0A"/>
                </a:solidFill>
                <a:latin typeface="DM Sans"/>
                <a:ea typeface="DM Sans"/>
                <a:cs typeface="DM Sans"/>
              </a:defRPr>
            </a:lvl1pPr>
            <a:lvl2pPr algn="r">
              <a:defRPr sz="900" b="0">
                <a:solidFill>
                  <a:srgbClr val="0A0A0A"/>
                </a:solidFill>
                <a:latin typeface="DM Sans"/>
                <a:ea typeface="DM Sans"/>
                <a:cs typeface="DM Sans"/>
              </a:defRPr>
            </a:lvl2pPr>
            <a:lvl3pPr algn="r">
              <a:defRPr sz="900" b="0">
                <a:solidFill>
                  <a:srgbClr val="0A0A0A"/>
                </a:solidFill>
                <a:latin typeface="DM Sans"/>
                <a:ea typeface="DM Sans"/>
                <a:cs typeface="DM Sans"/>
              </a:defRPr>
            </a:lvl3pPr>
            <a:lvl4pPr algn="r">
              <a:defRPr sz="900" b="0">
                <a:solidFill>
                  <a:srgbClr val="0A0A0A"/>
                </a:solidFill>
                <a:latin typeface="DM Sans"/>
                <a:ea typeface="DM Sans"/>
                <a:cs typeface="DM Sans"/>
              </a:defRPr>
            </a:lvl4pPr>
            <a:lvl5pPr algn="r">
              <a:defRPr sz="900" b="0">
                <a:solidFill>
                  <a:srgbClr val="0A0A0A"/>
                </a:solidFill>
                <a:latin typeface="DM Sans"/>
                <a:ea typeface="DM Sans"/>
                <a:cs typeface="DM Sans"/>
              </a:defRPr>
            </a:lvl5pPr>
            <a:lvl6pPr algn="r">
              <a:defRPr sz="900" b="0">
                <a:solidFill>
                  <a:srgbClr val="0A0A0A"/>
                </a:solidFill>
                <a:latin typeface="DM Sans"/>
                <a:ea typeface="DM Sans"/>
                <a:cs typeface="DM Sans"/>
              </a:defRPr>
            </a:lvl6pPr>
            <a:lvl7pPr algn="r">
              <a:defRPr sz="900" b="0">
                <a:solidFill>
                  <a:srgbClr val="0A0A0A"/>
                </a:solidFill>
                <a:latin typeface="DM Sans"/>
                <a:ea typeface="DM Sans"/>
                <a:cs typeface="DM Sans"/>
              </a:defRPr>
            </a:lvl7pPr>
            <a:lvl8pPr algn="r">
              <a:defRPr sz="900" b="0">
                <a:solidFill>
                  <a:srgbClr val="0A0A0A"/>
                </a:solidFill>
                <a:latin typeface="DM Sans"/>
                <a:ea typeface="DM Sans"/>
                <a:cs typeface="DM Sans"/>
              </a:defRPr>
            </a:lvl8pPr>
            <a:lvl9pPr algn="r">
              <a:defRPr sz="900" b="0">
                <a:solidFill>
                  <a:srgbClr val="0A0A0A"/>
                </a:solidFill>
                <a:latin typeface="DM Sans"/>
                <a:ea typeface="DM Sans"/>
                <a:cs typeface="DM Sans"/>
              </a:defRPr>
            </a:lvl9pPr>
          </a:lstStyle>
          <a:p xmlns:a="http://schemas.openxmlformats.org/drawingml/2006/main">
            <a:pPr algn="r">
              <a:defRPr sz="900" b="0">
                <a:solidFill>
                  <a:srgbClr val="0A0A0A"/>
                </a:solidFill>
                <a:latin typeface="DM Sans"/>
                <a:ea typeface="DM Sans"/>
                <a:cs typeface="DM Sans"/>
              </a:defRPr>
            </a:pPr>
            <a:r>
              <a:rPr sz="900" b="0">
                <a:solidFill>
                  <a:srgbClr val="0A0A0A"/>
                </a:solidFill>
                <a:latin typeface="DM Sans"/>
                <a:ea typeface="DM Sans"/>
                <a:cs typeface="DM Sans"/>
              </a:rPr>
              <a:t>Orecast</a:t>
            </a:r>
          </a:p>
        </p:txBody>
      </p:sp>
      <p:sp>
        <p:nvSpPr>
          <p:cNvPr id="8" name="">
            <a:extLst xmlns:a="http://schemas.openxmlformats.org/drawingml/2006/main">
              <a:ext uri="{FF2B5EF4-FFF2-40B4-BE49-F238E27FC236}">
                <a16:creationId xmlns:a16="http://schemas.microsoft.com/office/drawing/2014/main" id="{9434DB54-DE10-4795-9161-03B80D8B274C}"/>
              </a:ext>
            </a:extLst>
          </p:cNvPr>
          <p:cNvSpPr>
            <a:spLocks xmlns:a="http://schemas.openxmlformats.org/drawingml/2006/main" noGrp="1"/>
          </p:cNvSpPr>
          <p:nvPr/>
        </p:nvSpPr>
        <p:spPr>
          <a:xfrm xmlns:a="http://schemas.openxmlformats.org/drawingml/2006/main" rot="0">
            <a:off x="381000" y="790575"/>
            <a:ext cx="11334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0A0A0A"/>
                </a:solidFill>
                <a:latin typeface="DM Sans"/>
                <a:ea typeface="DM Sans"/>
                <a:cs typeface="DM Sans"/>
              </a:defRPr>
            </a:defPPr>
            <a:lvl1pPr algn="l">
              <a:defRPr sz="1650" b="0">
                <a:solidFill>
                  <a:srgbClr val="0A0A0A"/>
                </a:solidFill>
                <a:latin typeface="DM Sans"/>
                <a:ea typeface="DM Sans"/>
                <a:cs typeface="DM Sans"/>
              </a:defRPr>
            </a:lvl1pPr>
            <a:lvl2pPr algn="l">
              <a:defRPr sz="1650" b="0">
                <a:solidFill>
                  <a:srgbClr val="0A0A0A"/>
                </a:solidFill>
                <a:latin typeface="DM Sans"/>
                <a:ea typeface="DM Sans"/>
                <a:cs typeface="DM Sans"/>
              </a:defRPr>
            </a:lvl2pPr>
            <a:lvl3pPr algn="l">
              <a:defRPr sz="1650" b="0">
                <a:solidFill>
                  <a:srgbClr val="0A0A0A"/>
                </a:solidFill>
                <a:latin typeface="DM Sans"/>
                <a:ea typeface="DM Sans"/>
                <a:cs typeface="DM Sans"/>
              </a:defRPr>
            </a:lvl3pPr>
            <a:lvl4pPr algn="l">
              <a:defRPr sz="1650" b="0">
                <a:solidFill>
                  <a:srgbClr val="0A0A0A"/>
                </a:solidFill>
                <a:latin typeface="DM Sans"/>
                <a:ea typeface="DM Sans"/>
                <a:cs typeface="DM Sans"/>
              </a:defRPr>
            </a:lvl4pPr>
            <a:lvl5pPr algn="l">
              <a:defRPr sz="1650" b="0">
                <a:solidFill>
                  <a:srgbClr val="0A0A0A"/>
                </a:solidFill>
                <a:latin typeface="DM Sans"/>
                <a:ea typeface="DM Sans"/>
                <a:cs typeface="DM Sans"/>
              </a:defRPr>
            </a:lvl5pPr>
            <a:lvl6pPr algn="l">
              <a:defRPr sz="1650" b="0">
                <a:solidFill>
                  <a:srgbClr val="0A0A0A"/>
                </a:solidFill>
                <a:latin typeface="DM Sans"/>
                <a:ea typeface="DM Sans"/>
                <a:cs typeface="DM Sans"/>
              </a:defRPr>
            </a:lvl6pPr>
            <a:lvl7pPr algn="l">
              <a:defRPr sz="1650" b="0">
                <a:solidFill>
                  <a:srgbClr val="0A0A0A"/>
                </a:solidFill>
                <a:latin typeface="DM Sans"/>
                <a:ea typeface="DM Sans"/>
                <a:cs typeface="DM Sans"/>
              </a:defRPr>
            </a:lvl7pPr>
            <a:lvl8pPr algn="l">
              <a:defRPr sz="1650" b="0">
                <a:solidFill>
                  <a:srgbClr val="0A0A0A"/>
                </a:solidFill>
                <a:latin typeface="DM Sans"/>
                <a:ea typeface="DM Sans"/>
                <a:cs typeface="DM Sans"/>
              </a:defRPr>
            </a:lvl8pPr>
            <a:lvl9pPr algn="l">
              <a:defRPr sz="1650" b="0">
                <a:solidFill>
                  <a:srgbClr val="0A0A0A"/>
                </a:solidFill>
                <a:latin typeface="DM Sans"/>
                <a:ea typeface="DM Sans"/>
                <a:cs typeface="DM Sans"/>
              </a:defRPr>
            </a:lvl9pPr>
          </a:lstStyle>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Historical pilot: the event adjustment did not beat baseline</a:t>
            </a:r>
          </a:p>
        </p:txBody>
      </p:sp>
      <p:sp>
        <p:nvSpPr>
          <p:cNvPr id="9" name="">
            <a:extLst xmlns:a="http://schemas.openxmlformats.org/drawingml/2006/main">
              <a:ext uri="{FF2B5EF4-FFF2-40B4-BE49-F238E27FC236}">
                <a16:creationId xmlns:a16="http://schemas.microsoft.com/office/drawing/2014/main" id="{3B5D3617-B172-40D0-9D99-D040BB6401EE}"/>
              </a:ext>
            </a:extLst>
          </p:cNvPr>
          <p:cNvSpPr>
            <a:spLocks xmlns:a="http://schemas.openxmlformats.org/drawingml/2006/main" noGrp="1"/>
          </p:cNvSpPr>
          <p:nvPr/>
        </p:nvSpPr>
        <p:spPr>
          <a:xfrm xmlns:a="http://schemas.openxmlformats.org/drawingml/2006/main" rot="0">
            <a:off x="381000" y="1104900"/>
            <a:ext cx="1133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0A0A0A"/>
                </a:solidFill>
                <a:latin typeface="DM Sans"/>
                <a:ea typeface="DM Sans"/>
                <a:cs typeface="DM Sans"/>
              </a:defRPr>
            </a:defPPr>
            <a:lvl1pPr algn="l">
              <a:defRPr sz="1125" b="0">
                <a:solidFill>
                  <a:srgbClr val="0A0A0A"/>
                </a:solidFill>
                <a:latin typeface="DM Sans"/>
                <a:ea typeface="DM Sans"/>
                <a:cs typeface="DM Sans"/>
              </a:defRPr>
            </a:lvl1pPr>
            <a:lvl2pPr algn="l">
              <a:defRPr sz="1125" b="0">
                <a:solidFill>
                  <a:srgbClr val="0A0A0A"/>
                </a:solidFill>
                <a:latin typeface="DM Sans"/>
                <a:ea typeface="DM Sans"/>
                <a:cs typeface="DM Sans"/>
              </a:defRPr>
            </a:lvl2pPr>
            <a:lvl3pPr algn="l">
              <a:defRPr sz="1125" b="0">
                <a:solidFill>
                  <a:srgbClr val="0A0A0A"/>
                </a:solidFill>
                <a:latin typeface="DM Sans"/>
                <a:ea typeface="DM Sans"/>
                <a:cs typeface="DM Sans"/>
              </a:defRPr>
            </a:lvl3pPr>
            <a:lvl4pPr algn="l">
              <a:defRPr sz="1125" b="0">
                <a:solidFill>
                  <a:srgbClr val="0A0A0A"/>
                </a:solidFill>
                <a:latin typeface="DM Sans"/>
                <a:ea typeface="DM Sans"/>
                <a:cs typeface="DM Sans"/>
              </a:defRPr>
            </a:lvl4pPr>
            <a:lvl5pPr algn="l">
              <a:defRPr sz="1125" b="0">
                <a:solidFill>
                  <a:srgbClr val="0A0A0A"/>
                </a:solidFill>
                <a:latin typeface="DM Sans"/>
                <a:ea typeface="DM Sans"/>
                <a:cs typeface="DM Sans"/>
              </a:defRPr>
            </a:lvl5pPr>
            <a:lvl6pPr algn="l">
              <a:defRPr sz="1125" b="0">
                <a:solidFill>
                  <a:srgbClr val="0A0A0A"/>
                </a:solidFill>
                <a:latin typeface="DM Sans"/>
                <a:ea typeface="DM Sans"/>
                <a:cs typeface="DM Sans"/>
              </a:defRPr>
            </a:lvl6pPr>
            <a:lvl7pPr algn="l">
              <a:defRPr sz="1125" b="0">
                <a:solidFill>
                  <a:srgbClr val="0A0A0A"/>
                </a:solidFill>
                <a:latin typeface="DM Sans"/>
                <a:ea typeface="DM Sans"/>
                <a:cs typeface="DM Sans"/>
              </a:defRPr>
            </a:lvl7pPr>
            <a:lvl8pPr algn="l">
              <a:defRPr sz="1125" b="0">
                <a:solidFill>
                  <a:srgbClr val="0A0A0A"/>
                </a:solidFill>
                <a:latin typeface="DM Sans"/>
                <a:ea typeface="DM Sans"/>
                <a:cs typeface="DM Sans"/>
              </a:defRPr>
            </a:lvl8pPr>
            <a:lvl9pPr algn="l">
              <a:defRPr sz="1125" b="0">
                <a:solidFill>
                  <a:srgbClr val="0A0A0A"/>
                </a:solidFill>
                <a:latin typeface="DM Sans"/>
                <a:ea typeface="DM Sans"/>
                <a:cs typeface="DM Sans"/>
              </a:defRPr>
            </a:lvl9pPr>
          </a:lstStyle>
          <a:p xmlns:a="http://schemas.openxmlformats.org/drawingml/2006/main">
            <a:pPr algn="l">
              <a:defRPr sz="1125" b="0">
                <a:solidFill>
                  <a:srgbClr val="0A0A0A"/>
                </a:solidFill>
                <a:latin typeface="DM Sans"/>
                <a:ea typeface="DM Sans"/>
                <a:cs typeface="DM Sans"/>
              </a:defRPr>
            </a:pPr>
            <a:r>
              <a:rPr sz="1125" b="0">
                <a:solidFill>
                  <a:srgbClr val="0A0A0A"/>
                </a:solidFill>
                <a:latin typeface="DM Sans"/>
                <a:ea typeface="DM Sans"/>
                <a:cs typeface="DM Sans"/>
              </a:rPr>
              <a:t>12 selected equity events. Five held-out observations per horizon, in distinct cohorts. Lower MAE is better.</a:t>
            </a:r>
          </a:p>
        </p:txBody>
      </p:sp>
      <p:graphicFrame>
        <p:nvGraphicFramePr>
          <p:cNvPr id="10" name="">
            <a:extLst xmlns:a="http://schemas.openxmlformats.org/drawingml/2006/main">
              <a:ext uri="{FF2B5EF4-FFF2-40B4-BE49-F238E27FC236}">
                <a16:creationId xmlns:a16="http://schemas.microsoft.com/office/drawing/2014/main" id="{A93CBC25-B844-48DC-ABB9-C13E1B59992A}"/>
              </a:ext>
            </a:extLst>
          </p:cNvPr>
          <p:cNvGraphicFramePr/>
          <p:nvPr/>
        </p:nvGraphicFramePr>
        <p:xfrm>
          <a:off xmlns:a="http://schemas.openxmlformats.org/drawingml/2006/main" x="381000" y="1609725"/>
          <a:ext xmlns:a="http://schemas.openxmlformats.org/drawingml/2006/main" cx="11410950" cy="2305050"/>
        </p:xfrm>
        <a:graphic xmlns:a="http://schemas.openxmlformats.org/drawingml/2006/main">
          <a:graphicData uri="http://schemas.openxmlformats.org/drawingml/2006/table">
            <a:tbl>
              <a:tblPr firstRow="1" bandRow="0"/>
              <a:tblGrid>
                <a:gridCol w="5143500"/>
                <a:gridCol w="3133725"/>
                <a:gridCol w="3133725"/>
              </a:tblGrid>
              <a:tr h="576263">
                <a:tc>
                  <a:txBody>
                    <a:bodyPr lIns="171450" tIns="95250" rIns="171450" bIns="95250">
                      <a:noAutofit/>
                    </a:bodyPr>
                    <a:lstStyle/>
                    <a:p>
                      <a:r>
                        <a:rPr sz="1050" b="0">
                          <a:solidFill>
                            <a:srgbClr val="FAFAFA"/>
                          </a:solidFill>
                          <a:latin typeface="DM Sans"/>
                          <a:ea typeface="DM Sans"/>
                          <a:cs typeface="DM Sans"/>
                        </a:rPr>
                        <a:t>Model</a:t>
                      </a:r>
                    </a:p>
                  </a:txBody>
                  <a:tcPr marL="91440" marR="91440" marT="45720" marB="45720" anchor="ctr">
                    <a:lnL w="0">
                      <a:noFill/>
                      <a:prstDash val="solid"/>
                    </a:lnL>
                    <a:lnR w="0">
                      <a:noFill/>
                      <a:prstDash val="solid"/>
                    </a:lnR>
                    <a:lnT w="0">
                      <a:noFill/>
                      <a:prstDash val="solid"/>
                    </a:lnT>
                    <a:lnB w="0">
                      <a:noFill/>
                      <a:prstDash val="solid"/>
                    </a:lnB>
                    <a:solidFill>
                      <a:srgbClr val="0A0A0A"/>
                    </a:solidFill>
                  </a:tcPr>
                </a:tc>
                <a:tc>
                  <a:txBody>
                    <a:bodyPr lIns="171450" tIns="95250" rIns="171450" bIns="95250">
                      <a:noAutofit/>
                    </a:bodyPr>
                    <a:lstStyle/>
                    <a:p>
                      <a:r>
                        <a:rPr sz="1050" b="0">
                          <a:solidFill>
                            <a:srgbClr val="FAFAFA"/>
                          </a:solidFill>
                          <a:latin typeface="DM Sans"/>
                          <a:ea typeface="DM Sans"/>
                          <a:cs typeface="DM Sans"/>
                        </a:rPr>
                        <a:t>5-session MAE (pp)</a:t>
                      </a:r>
                    </a:p>
                  </a:txBody>
                  <a:tcPr marL="91440" marR="91440" marT="45720" marB="45720" anchor="ctr">
                    <a:lnR w="0">
                      <a:noFill/>
                      <a:prstDash val="solid"/>
                    </a:lnR>
                    <a:lnT w="0">
                      <a:noFill/>
                      <a:prstDash val="solid"/>
                    </a:lnT>
                    <a:lnB w="0">
                      <a:noFill/>
                      <a:prstDash val="solid"/>
                    </a:lnB>
                    <a:solidFill>
                      <a:srgbClr val="0A0A0A"/>
                    </a:solidFill>
                  </a:tcPr>
                </a:tc>
                <a:tc>
                  <a:txBody>
                    <a:bodyPr lIns="171450" tIns="95250" rIns="171450" bIns="95250">
                      <a:noAutofit/>
                    </a:bodyPr>
                    <a:lstStyle/>
                    <a:p>
                      <a:r>
                        <a:rPr sz="1050" b="0">
                          <a:solidFill>
                            <a:srgbClr val="FAFAFA"/>
                          </a:solidFill>
                          <a:latin typeface="DM Sans"/>
                          <a:ea typeface="DM Sans"/>
                          <a:cs typeface="DM Sans"/>
                        </a:rPr>
                        <a:t>20-session MAE (pp)</a:t>
                      </a:r>
                    </a:p>
                  </a:txBody>
                  <a:tcPr marL="91440" marR="91440" marT="45720" marB="45720" anchor="ctr">
                    <a:lnR w="0">
                      <a:noFill/>
                      <a:prstDash val="solid"/>
                    </a:lnR>
                    <a:lnT w="0">
                      <a:noFill/>
                      <a:prstDash val="solid"/>
                    </a:lnT>
                    <a:lnB w="0">
                      <a:noFill/>
                      <a:prstDash val="solid"/>
                    </a:lnB>
                    <a:solidFill>
                      <a:srgbClr val="0A0A0A"/>
                    </a:solidFill>
                  </a:tcPr>
                </a:tc>
              </a:tr>
              <a:tr h="576263">
                <a:tc>
                  <a:txBody>
                    <a:bodyPr lIns="171450" tIns="95250" rIns="171450" bIns="95250">
                      <a:noAutofit/>
                    </a:bodyPr>
                    <a:lstStyle/>
                    <a:p>
                      <a:r>
                        <a:rPr sz="1350" b="0">
                          <a:solidFill>
                            <a:srgbClr val="0A0A0A"/>
                          </a:solidFill>
                          <a:latin typeface="DM Sans"/>
                          <a:ea typeface="DM Sans"/>
                          <a:cs typeface="DM Sans"/>
                        </a:rPr>
                        <a:t>No change</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2.5562</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5.9474</a:t>
                      </a:r>
                    </a:p>
                  </a:txBody>
                  <a:tcPr marL="91440" marR="91440" marT="45720" marB="45720" anchor="ctr">
                    <a:lnR w="0">
                      <a:noFill/>
                      <a:prstDash val="solid"/>
                    </a:lnR>
                    <a:lnB w="0">
                      <a:noFill/>
                      <a:prstDash val="solid"/>
                    </a:lnB>
                    <a:solidFill>
                      <a:srgbClr val="FAFAFA"/>
                    </a:solidFill>
                  </a:tcPr>
                </a:tc>
              </a:tr>
              <a:tr h="576263">
                <a:tc>
                  <a:txBody>
                    <a:bodyPr lIns="171450" tIns="95250" rIns="171450" bIns="95250">
                      <a:noAutofit/>
                    </a:bodyPr>
                    <a:lstStyle/>
                    <a:p>
                      <a:r>
                        <a:rPr sz="1350" b="0">
                          <a:solidFill>
                            <a:srgbClr val="0A0A0A"/>
                          </a:solidFill>
                          <a:latin typeface="DM Sans"/>
                          <a:ea typeface="DM Sans"/>
                          <a:cs typeface="DM Sans"/>
                        </a:rPr>
                        <a:t>Gold-only</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3.1291</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7.5670</a:t>
                      </a:r>
                    </a:p>
                  </a:txBody>
                  <a:tcPr marL="91440" marR="91440" marT="45720" marB="45720" anchor="ctr">
                    <a:lnR w="0">
                      <a:noFill/>
                      <a:prstDash val="solid"/>
                    </a:lnR>
                    <a:lnB w="0">
                      <a:noFill/>
                      <a:prstDash val="solid"/>
                    </a:lnB>
                    <a:solidFill>
                      <a:srgbClr val="FAFAFA"/>
                    </a:solidFill>
                  </a:tcPr>
                </a:tc>
              </a:tr>
              <a:tr h="576263">
                <a:tc>
                  <a:txBody>
                    <a:bodyPr lIns="171450" tIns="95250" rIns="171450" bIns="95250">
                      <a:noAutofit/>
                    </a:bodyPr>
                    <a:lstStyle/>
                    <a:p>
                      <a:r>
                        <a:rPr sz="1350" b="0">
                          <a:solidFill>
                            <a:srgbClr val="0A0A0A"/>
                          </a:solidFill>
                          <a:latin typeface="DM Sans"/>
                          <a:ea typeface="DM Sans"/>
                          <a:cs typeface="DM Sans"/>
                        </a:rPr>
                        <a:t>Gold + event</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8.0596</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14.3108</a:t>
                      </a:r>
                    </a:p>
                  </a:txBody>
                  <a:tcPr marL="91440" marR="91440" marT="45720" marB="45720" anchor="ctr">
                    <a:lnR w="0">
                      <a:noFill/>
                      <a:prstDash val="solid"/>
                    </a:lnR>
                    <a:lnB w="0">
                      <a:noFill/>
                      <a:prstDash val="solid"/>
                    </a:lnB>
                    <a:solidFill>
                      <a:srgbClr val="FAFAFA"/>
                    </a:solidFill>
                  </a:tcPr>
                </a:tc>
              </a:tr>
            </a:tbl>
          </a:graphicData>
        </a:graphic>
      </p:graphicFrame>
      <p:sp>
        <p:nvSpPr>
          <p:cNvPr id="11" name="">
            <a:extLst xmlns:a="http://schemas.openxmlformats.org/drawingml/2006/main">
              <a:ext uri="{FF2B5EF4-FFF2-40B4-BE49-F238E27FC236}">
                <a16:creationId xmlns:a16="http://schemas.microsoft.com/office/drawing/2014/main" id="{12AC268D-7B25-4E98-9C54-EF0161B73674}"/>
              </a:ext>
            </a:extLst>
          </p:cNvPr>
          <p:cNvSpPr>
            <a:spLocks xmlns:a="http://schemas.openxmlformats.org/drawingml/2006/main" noGrp="1"/>
          </p:cNvSpPr>
          <p:nvPr/>
        </p:nvSpPr>
        <p:spPr>
          <a:xfrm xmlns:a="http://schemas.openxmlformats.org/drawingml/2006/main">
            <a:off x="381000" y="3914775"/>
            <a:ext cx="11410950" cy="95"/>
          </a:xfrm>
          <a:custGeom xmlns:a="http://schemas.openxmlformats.org/drawingml/2006/main">
            <a:pathLst>
              <a:path w="11410950" h="95">
                <a:moveTo>
                  <a:pt x="0" y="0"/>
                </a:moveTo>
                <a:lnTo>
                  <a:pt x="11410950" y="0"/>
                </a:lnTo>
              </a:path>
            </a:pathLst>
          </a:custGeom>
          <a:noFill xmlns:a="http://schemas.openxmlformats.org/drawingml/2006/main"/>
          <a:ln xmlns:a="http://schemas.openxmlformats.org/drawingml/2006/main" w="5715">
            <a:solidFill>
              <a:srgbClr val="0A0A0A"/>
            </a:solidFill>
            <a:prstDash val="solid"/>
          </a:ln>
        </p:spPr>
      </p:sp>
      <p:sp>
        <p:nvSpPr>
          <p:cNvPr id="12" name="">
            <a:extLst xmlns:a="http://schemas.openxmlformats.org/drawingml/2006/main">
              <a:ext uri="{FF2B5EF4-FFF2-40B4-BE49-F238E27FC236}">
                <a16:creationId xmlns:a16="http://schemas.microsoft.com/office/drawing/2014/main" id="{032E5E7A-A050-4B60-B750-988B6CC02E3A}"/>
              </a:ext>
            </a:extLst>
          </p:cNvPr>
          <p:cNvSpPr>
            <a:spLocks xmlns:a="http://schemas.openxmlformats.org/drawingml/2006/main" noGrp="1"/>
          </p:cNvSpPr>
          <p:nvPr/>
        </p:nvSpPr>
        <p:spPr>
          <a:xfrm xmlns:a="http://schemas.openxmlformats.org/drawingml/2006/main" rot="0">
            <a:off x="571500" y="4267200"/>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0A0A0A"/>
                </a:solidFill>
                <a:latin typeface="DM Sans"/>
                <a:ea typeface="DM Sans"/>
                <a:cs typeface="DM Sans"/>
              </a:defRPr>
            </a:defPPr>
            <a:lvl1pPr algn="l">
              <a:defRPr sz="1650" b="0">
                <a:solidFill>
                  <a:srgbClr val="0A0A0A"/>
                </a:solidFill>
                <a:latin typeface="DM Sans"/>
                <a:ea typeface="DM Sans"/>
                <a:cs typeface="DM Sans"/>
              </a:defRPr>
            </a:lvl1pPr>
            <a:lvl2pPr algn="l">
              <a:defRPr sz="1650" b="0">
                <a:solidFill>
                  <a:srgbClr val="0A0A0A"/>
                </a:solidFill>
                <a:latin typeface="DM Sans"/>
                <a:ea typeface="DM Sans"/>
                <a:cs typeface="DM Sans"/>
              </a:defRPr>
            </a:lvl2pPr>
            <a:lvl3pPr algn="l">
              <a:defRPr sz="1650" b="0">
                <a:solidFill>
                  <a:srgbClr val="0A0A0A"/>
                </a:solidFill>
                <a:latin typeface="DM Sans"/>
                <a:ea typeface="DM Sans"/>
                <a:cs typeface="DM Sans"/>
              </a:defRPr>
            </a:lvl3pPr>
            <a:lvl4pPr algn="l">
              <a:defRPr sz="1650" b="0">
                <a:solidFill>
                  <a:srgbClr val="0A0A0A"/>
                </a:solidFill>
                <a:latin typeface="DM Sans"/>
                <a:ea typeface="DM Sans"/>
                <a:cs typeface="DM Sans"/>
              </a:defRPr>
            </a:lvl4pPr>
            <a:lvl5pPr algn="l">
              <a:defRPr sz="1650" b="0">
                <a:solidFill>
                  <a:srgbClr val="0A0A0A"/>
                </a:solidFill>
                <a:latin typeface="DM Sans"/>
                <a:ea typeface="DM Sans"/>
                <a:cs typeface="DM Sans"/>
              </a:defRPr>
            </a:lvl5pPr>
            <a:lvl6pPr algn="l">
              <a:defRPr sz="1650" b="0">
                <a:solidFill>
                  <a:srgbClr val="0A0A0A"/>
                </a:solidFill>
                <a:latin typeface="DM Sans"/>
                <a:ea typeface="DM Sans"/>
                <a:cs typeface="DM Sans"/>
              </a:defRPr>
            </a:lvl6pPr>
            <a:lvl7pPr algn="l">
              <a:defRPr sz="1650" b="0">
                <a:solidFill>
                  <a:srgbClr val="0A0A0A"/>
                </a:solidFill>
                <a:latin typeface="DM Sans"/>
                <a:ea typeface="DM Sans"/>
                <a:cs typeface="DM Sans"/>
              </a:defRPr>
            </a:lvl7pPr>
            <a:lvl8pPr algn="l">
              <a:defRPr sz="1650" b="0">
                <a:solidFill>
                  <a:srgbClr val="0A0A0A"/>
                </a:solidFill>
                <a:latin typeface="DM Sans"/>
                <a:ea typeface="DM Sans"/>
                <a:cs typeface="DM Sans"/>
              </a:defRPr>
            </a:lvl8pPr>
            <a:lvl9pPr algn="l">
              <a:defRPr sz="1650" b="0">
                <a:solidFill>
                  <a:srgbClr val="0A0A0A"/>
                </a:solidFill>
                <a:latin typeface="DM Sans"/>
                <a:ea typeface="DM Sans"/>
                <a:cs typeface="DM Sans"/>
              </a:defRPr>
            </a:lvl9pPr>
          </a:lstStyle>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Retrospective equity component test, not Tok option returns.</a:t>
            </a:r>
          </a:p>
        </p:txBody>
      </p:sp>
      <p:sp>
        <p:nvSpPr>
          <p:cNvPr id="13" name="">
            <a:extLst xmlns:a="http://schemas.openxmlformats.org/drawingml/2006/main">
              <a:ext uri="{FF2B5EF4-FFF2-40B4-BE49-F238E27FC236}">
                <a16:creationId xmlns:a16="http://schemas.microsoft.com/office/drawing/2014/main" id="{9549B73E-235B-47E4-9D22-1CCD8785F2A5}"/>
              </a:ext>
            </a:extLst>
          </p:cNvPr>
          <p:cNvSpPr>
            <a:spLocks xmlns:a="http://schemas.openxmlformats.org/drawingml/2006/main" noGrp="1"/>
          </p:cNvSpPr>
          <p:nvPr/>
        </p:nvSpPr>
        <p:spPr>
          <a:xfrm xmlns:a="http://schemas.openxmlformats.org/drawingml/2006/main" rot="0">
            <a:off x="571500" y="4772025"/>
            <a:ext cx="10572750" cy="647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0A0A0A"/>
                </a:solidFill>
                <a:latin typeface="DM Sans"/>
                <a:ea typeface="DM Sans"/>
                <a:cs typeface="DM Sans"/>
              </a:defRPr>
            </a:defPPr>
            <a:lvl1pPr algn="l">
              <a:defRPr sz="1650" b="0">
                <a:solidFill>
                  <a:srgbClr val="0A0A0A"/>
                </a:solidFill>
                <a:latin typeface="DM Sans"/>
                <a:ea typeface="DM Sans"/>
                <a:cs typeface="DM Sans"/>
              </a:defRPr>
            </a:lvl1pPr>
            <a:lvl2pPr algn="l">
              <a:defRPr sz="1650" b="0">
                <a:solidFill>
                  <a:srgbClr val="0A0A0A"/>
                </a:solidFill>
                <a:latin typeface="DM Sans"/>
                <a:ea typeface="DM Sans"/>
                <a:cs typeface="DM Sans"/>
              </a:defRPr>
            </a:lvl2pPr>
            <a:lvl3pPr algn="l">
              <a:defRPr sz="1650" b="0">
                <a:solidFill>
                  <a:srgbClr val="0A0A0A"/>
                </a:solidFill>
                <a:latin typeface="DM Sans"/>
                <a:ea typeface="DM Sans"/>
                <a:cs typeface="DM Sans"/>
              </a:defRPr>
            </a:lvl3pPr>
            <a:lvl4pPr algn="l">
              <a:defRPr sz="1650" b="0">
                <a:solidFill>
                  <a:srgbClr val="0A0A0A"/>
                </a:solidFill>
                <a:latin typeface="DM Sans"/>
                <a:ea typeface="DM Sans"/>
                <a:cs typeface="DM Sans"/>
              </a:defRPr>
            </a:lvl4pPr>
            <a:lvl5pPr algn="l">
              <a:defRPr sz="1650" b="0">
                <a:solidFill>
                  <a:srgbClr val="0A0A0A"/>
                </a:solidFill>
                <a:latin typeface="DM Sans"/>
                <a:ea typeface="DM Sans"/>
                <a:cs typeface="DM Sans"/>
              </a:defRPr>
            </a:lvl5pPr>
            <a:lvl6pPr algn="l">
              <a:defRPr sz="1650" b="0">
                <a:solidFill>
                  <a:srgbClr val="0A0A0A"/>
                </a:solidFill>
                <a:latin typeface="DM Sans"/>
                <a:ea typeface="DM Sans"/>
                <a:cs typeface="DM Sans"/>
              </a:defRPr>
            </a:lvl6pPr>
            <a:lvl7pPr algn="l">
              <a:defRPr sz="1650" b="0">
                <a:solidFill>
                  <a:srgbClr val="0A0A0A"/>
                </a:solidFill>
                <a:latin typeface="DM Sans"/>
                <a:ea typeface="DM Sans"/>
                <a:cs typeface="DM Sans"/>
              </a:defRPr>
            </a:lvl7pPr>
            <a:lvl8pPr algn="l">
              <a:defRPr sz="1650" b="0">
                <a:solidFill>
                  <a:srgbClr val="0A0A0A"/>
                </a:solidFill>
                <a:latin typeface="DM Sans"/>
                <a:ea typeface="DM Sans"/>
                <a:cs typeface="DM Sans"/>
              </a:defRPr>
            </a:lvl8pPr>
            <a:lvl9pPr algn="l">
              <a:defRPr sz="1650" b="0">
                <a:solidFill>
                  <a:srgbClr val="0A0A0A"/>
                </a:solidFill>
                <a:latin typeface="DM Sans"/>
                <a:ea typeface="DM Sans"/>
                <a:cs typeface="DM Sans"/>
              </a:defRPr>
            </a:lvl9pPr>
          </a:lstStyle>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Event adjustment did not beat baseline.</a:t>
            </a:r>
          </a:p>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No paired historical swarm outcomes.</a:t>
            </a:r>
          </a:p>
        </p:txBody>
      </p:sp>
      <p:sp>
        <p:nvSpPr>
          <p:cNvPr id="14" name="">
            <a:extLst xmlns:a="http://schemas.openxmlformats.org/drawingml/2006/main">
              <a:ext uri="{FF2B5EF4-FFF2-40B4-BE49-F238E27FC236}">
                <a16:creationId xmlns:a16="http://schemas.microsoft.com/office/drawing/2014/main" id="{64815437-7B86-43EE-971D-14DC6AAD6E28}"/>
              </a:ext>
            </a:extLst>
          </p:cNvPr>
          <p:cNvSpPr>
            <a:spLocks xmlns:a="http://schemas.openxmlformats.org/drawingml/2006/main" noGrp="1"/>
          </p:cNvSpPr>
          <p:nvPr/>
        </p:nvSpPr>
        <p:spPr>
          <a:xfrm xmlns:a="http://schemas.openxmlformats.org/drawingml/2006/main" rot="0">
            <a:off x="571500" y="5648325"/>
            <a:ext cx="1057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737373"/>
                </a:solidFill>
                <a:latin typeface="DM Sans"/>
                <a:ea typeface="DM Sans"/>
                <a:cs typeface="DM Sans"/>
              </a:defRPr>
            </a:defPPr>
            <a:lvl1pPr algn="l">
              <a:defRPr sz="1125" b="0">
                <a:solidFill>
                  <a:srgbClr val="737373"/>
                </a:solidFill>
                <a:latin typeface="DM Sans"/>
                <a:ea typeface="DM Sans"/>
                <a:cs typeface="DM Sans"/>
              </a:defRPr>
            </a:lvl1pPr>
            <a:lvl2pPr algn="l">
              <a:defRPr sz="1125" b="0">
                <a:solidFill>
                  <a:srgbClr val="737373"/>
                </a:solidFill>
                <a:latin typeface="DM Sans"/>
                <a:ea typeface="DM Sans"/>
                <a:cs typeface="DM Sans"/>
              </a:defRPr>
            </a:lvl2pPr>
            <a:lvl3pPr algn="l">
              <a:defRPr sz="1125" b="0">
                <a:solidFill>
                  <a:srgbClr val="737373"/>
                </a:solidFill>
                <a:latin typeface="DM Sans"/>
                <a:ea typeface="DM Sans"/>
                <a:cs typeface="DM Sans"/>
              </a:defRPr>
            </a:lvl3pPr>
            <a:lvl4pPr algn="l">
              <a:defRPr sz="1125" b="0">
                <a:solidFill>
                  <a:srgbClr val="737373"/>
                </a:solidFill>
                <a:latin typeface="DM Sans"/>
                <a:ea typeface="DM Sans"/>
                <a:cs typeface="DM Sans"/>
              </a:defRPr>
            </a:lvl4pPr>
            <a:lvl5pPr algn="l">
              <a:defRPr sz="1125" b="0">
                <a:solidFill>
                  <a:srgbClr val="737373"/>
                </a:solidFill>
                <a:latin typeface="DM Sans"/>
                <a:ea typeface="DM Sans"/>
                <a:cs typeface="DM Sans"/>
              </a:defRPr>
            </a:lvl5pPr>
            <a:lvl6pPr algn="l">
              <a:defRPr sz="1125" b="0">
                <a:solidFill>
                  <a:srgbClr val="737373"/>
                </a:solidFill>
                <a:latin typeface="DM Sans"/>
                <a:ea typeface="DM Sans"/>
                <a:cs typeface="DM Sans"/>
              </a:defRPr>
            </a:lvl6pPr>
            <a:lvl7pPr algn="l">
              <a:defRPr sz="1125" b="0">
                <a:solidFill>
                  <a:srgbClr val="737373"/>
                </a:solidFill>
                <a:latin typeface="DM Sans"/>
                <a:ea typeface="DM Sans"/>
                <a:cs typeface="DM Sans"/>
              </a:defRPr>
            </a:lvl7pPr>
            <a:lvl8pPr algn="l">
              <a:defRPr sz="1125" b="0">
                <a:solidFill>
                  <a:srgbClr val="737373"/>
                </a:solidFill>
                <a:latin typeface="DM Sans"/>
                <a:ea typeface="DM Sans"/>
                <a:cs typeface="DM Sans"/>
              </a:defRPr>
            </a:lvl8pPr>
            <a:lvl9pPr algn="l">
              <a:defRPr sz="1125" b="0">
                <a:solidFill>
                  <a:srgbClr val="737373"/>
                </a:solidFill>
                <a:latin typeface="DM Sans"/>
                <a:ea typeface="DM Sans"/>
                <a:cs typeface="DM Sans"/>
              </a:defRPr>
            </a:lvl9pPr>
          </a:lstStyle>
          <a:p xmlns:a="http://schemas.openxmlformats.org/drawingml/2006/main">
            <a:pPr algn="l">
              <a:defRPr sz="1125" b="0">
                <a:solidFill>
                  <a:srgbClr val="737373"/>
                </a:solidFill>
                <a:latin typeface="DM Sans"/>
                <a:ea typeface="DM Sans"/>
                <a:cs typeface="DM Sans"/>
              </a:defRPr>
            </a:pPr>
            <a:r>
              <a:rPr sz="1125" b="0">
                <a:solidFill>
                  <a:srgbClr val="737373"/>
                </a:solidFill>
                <a:latin typeface="DM Sans"/>
                <a:ea typeface="DM Sans"/>
                <a:cs typeface="DM Sans"/>
              </a:rPr>
              <a:t>Next: paired prospective outcomes and calibrated assignment liquidity.</a:t>
            </a:r>
          </a:p>
        </p:txBody>
      </p:sp>
    </p:spTree>
    <p:extLst>
      <p:ext uri="{BB962C8B-B14F-4D97-AF65-F5344CB8AC3E}">
        <p14:creationId xmlns:p14="http://schemas.microsoft.com/office/powerpoint/2010/main" val="1296048829"/>
      </p:ext>
    </p:extLst>
  </p:cSld>
</p:sld>
</file>

<file path=ppt/slides/slide10.xml><?xml version="1.0" encoding="utf-8"?>
<p:sld xmlns:p="http://schemas.openxmlformats.org/presentationml/2006/main">
  <p:cSld>
    <p:bg>
      <p:bgPr>
        <a:solidFill xmlns:a="http://schemas.openxmlformats.org/drawingml/2006/main">
          <a:srgbClr val="FAFAFA"/>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3F6C6916-3A3E-4D0F-B28A-39E4E080D782}"/>
              </a:ext>
            </a:extLst>
          </p:cNvPr>
          <p:cNvSpPr>
            <a:spLocks xmlns:a="http://schemas.openxmlformats.org/drawingml/2006/main" noGrp="1"/>
          </p:cNvSpPr>
          <p:nvPr/>
        </p:nvSpPr>
        <p:spPr>
          <a:xfrm xmlns:a="http://schemas.openxmlformats.org/drawingml/2006/main">
            <a:off x="400050" y="390525"/>
            <a:ext cx="266700" cy="209550"/>
          </a:xfrm>
          <a:prstGeom xmlns:a="http://schemas.openxmlformats.org/drawingml/2006/main" prst="ellipse">
            <a:avLst/>
          </a:prstGeom>
          <a:noFill xmlns:a="http://schemas.openxmlformats.org/drawingml/2006/main"/>
          <a:ln xmlns:a="http://schemas.openxmlformats.org/drawingml/2006/main" w="7144">
            <a:solidFill>
              <a:srgbClr val="0A0A0A"/>
            </a:solidFill>
            <a:prstDash val="solid"/>
          </a:ln>
        </p:spPr>
      </p:sp>
      <p:sp>
        <p:nvSpPr>
          <p:cNvPr id="2" name="">
            <a:extLst xmlns:a="http://schemas.openxmlformats.org/drawingml/2006/main">
              <a:ext uri="{FF2B5EF4-FFF2-40B4-BE49-F238E27FC236}">
                <a16:creationId xmlns:a16="http://schemas.microsoft.com/office/drawing/2014/main" id="{419BF3F3-DF91-48BD-8B12-AC389567AFF1}"/>
              </a:ext>
            </a:extLst>
          </p:cNvPr>
          <p:cNvSpPr>
            <a:spLocks xmlns:a="http://schemas.openxmlformats.org/drawingml/2006/main" noGrp="1"/>
          </p:cNvSpPr>
          <p:nvPr/>
        </p:nvSpPr>
        <p:spPr>
          <a:xfrm xmlns:a="http://schemas.openxmlformats.org/drawingml/2006/main" rot="0">
            <a:off x="400050" y="428625"/>
            <a:ext cx="266700" cy="152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750" b="0">
                <a:solidFill>
                  <a:srgbClr val="0A0A0A"/>
                </a:solidFill>
                <a:latin typeface="DM Sans"/>
                <a:ea typeface="DM Sans"/>
                <a:cs typeface="DM Sans"/>
              </a:defRPr>
            </a:defPPr>
            <a:lvl1pPr algn="ctr">
              <a:defRPr sz="750" b="0">
                <a:solidFill>
                  <a:srgbClr val="0A0A0A"/>
                </a:solidFill>
                <a:latin typeface="DM Sans"/>
                <a:ea typeface="DM Sans"/>
                <a:cs typeface="DM Sans"/>
              </a:defRPr>
            </a:lvl1pPr>
            <a:lvl2pPr algn="ctr">
              <a:defRPr sz="750" b="0">
                <a:solidFill>
                  <a:srgbClr val="0A0A0A"/>
                </a:solidFill>
                <a:latin typeface="DM Sans"/>
                <a:ea typeface="DM Sans"/>
                <a:cs typeface="DM Sans"/>
              </a:defRPr>
            </a:lvl2pPr>
            <a:lvl3pPr algn="ctr">
              <a:defRPr sz="750" b="0">
                <a:solidFill>
                  <a:srgbClr val="0A0A0A"/>
                </a:solidFill>
                <a:latin typeface="DM Sans"/>
                <a:ea typeface="DM Sans"/>
                <a:cs typeface="DM Sans"/>
              </a:defRPr>
            </a:lvl3pPr>
            <a:lvl4pPr algn="ctr">
              <a:defRPr sz="750" b="0">
                <a:solidFill>
                  <a:srgbClr val="0A0A0A"/>
                </a:solidFill>
                <a:latin typeface="DM Sans"/>
                <a:ea typeface="DM Sans"/>
                <a:cs typeface="DM Sans"/>
              </a:defRPr>
            </a:lvl4pPr>
            <a:lvl5pPr algn="ctr">
              <a:defRPr sz="750" b="0">
                <a:solidFill>
                  <a:srgbClr val="0A0A0A"/>
                </a:solidFill>
                <a:latin typeface="DM Sans"/>
                <a:ea typeface="DM Sans"/>
                <a:cs typeface="DM Sans"/>
              </a:defRPr>
            </a:lvl5pPr>
            <a:lvl6pPr algn="ctr">
              <a:defRPr sz="750" b="0">
                <a:solidFill>
                  <a:srgbClr val="0A0A0A"/>
                </a:solidFill>
                <a:latin typeface="DM Sans"/>
                <a:ea typeface="DM Sans"/>
                <a:cs typeface="DM Sans"/>
              </a:defRPr>
            </a:lvl6pPr>
            <a:lvl7pPr algn="ctr">
              <a:defRPr sz="750" b="0">
                <a:solidFill>
                  <a:srgbClr val="0A0A0A"/>
                </a:solidFill>
                <a:latin typeface="DM Sans"/>
                <a:ea typeface="DM Sans"/>
                <a:cs typeface="DM Sans"/>
              </a:defRPr>
            </a:lvl7pPr>
            <a:lvl8pPr algn="ctr">
              <a:defRPr sz="750" b="0">
                <a:solidFill>
                  <a:srgbClr val="0A0A0A"/>
                </a:solidFill>
                <a:latin typeface="DM Sans"/>
                <a:ea typeface="DM Sans"/>
                <a:cs typeface="DM Sans"/>
              </a:defRPr>
            </a:lvl8pPr>
            <a:lvl9pPr algn="ctr">
              <a:defRPr sz="750" b="0">
                <a:solidFill>
                  <a:srgbClr val="0A0A0A"/>
                </a:solidFill>
                <a:latin typeface="DM Sans"/>
                <a:ea typeface="DM Sans"/>
                <a:cs typeface="DM Sans"/>
              </a:defRPr>
            </a:lvl9pPr>
          </a:lstStyle>
          <a:p xmlns:a="http://schemas.openxmlformats.org/drawingml/2006/main">
            <a:pPr algn="ctr">
              <a:defRPr sz="750" b="0">
                <a:solidFill>
                  <a:srgbClr val="0A0A0A"/>
                </a:solidFill>
                <a:latin typeface="DM Sans"/>
                <a:ea typeface="DM Sans"/>
                <a:cs typeface="DM Sans"/>
              </a:defRPr>
            </a:pPr>
            <a:r>
              <a:rPr sz="750" b="0">
                <a:solidFill>
                  <a:srgbClr val="0A0A0A"/>
                </a:solidFill>
                <a:latin typeface="DM Sans"/>
                <a:ea typeface="DM Sans"/>
                <a:cs typeface="DM Sans"/>
              </a:rPr>
              <a:t>A</a:t>
            </a:r>
          </a:p>
        </p:txBody>
      </p:sp>
      <p:sp>
        <p:nvSpPr>
          <p:cNvPr id="3" name="">
            <a:extLst xmlns:a="http://schemas.openxmlformats.org/drawingml/2006/main">
              <a:ext uri="{FF2B5EF4-FFF2-40B4-BE49-F238E27FC236}">
                <a16:creationId xmlns:a16="http://schemas.microsoft.com/office/drawing/2014/main" id="{94AC29D1-EB5B-471F-9872-8075040A112F}"/>
              </a:ext>
            </a:extLst>
          </p:cNvPr>
          <p:cNvSpPr>
            <a:spLocks xmlns:a="http://schemas.openxmlformats.org/drawingml/2006/main" noGrp="1"/>
          </p:cNvSpPr>
          <p:nvPr/>
        </p:nvSpPr>
        <p:spPr>
          <a:xfrm xmlns:a="http://schemas.openxmlformats.org/drawingml/2006/main">
            <a:off x="923925" y="495300"/>
            <a:ext cx="266700" cy="95"/>
          </a:xfrm>
          <a:custGeom xmlns:a="http://schemas.openxmlformats.org/drawingml/2006/main">
            <a:pathLst>
              <a:path w="266700" h="95">
                <a:moveTo>
                  <a:pt x="0" y="0"/>
                </a:moveTo>
                <a:lnTo>
                  <a:pt x="266700" y="0"/>
                </a:lnTo>
              </a:path>
            </a:pathLst>
          </a:custGeom>
          <a:noFill xmlns:a="http://schemas.openxmlformats.org/drawingml/2006/main"/>
          <a:ln xmlns:a="http://schemas.openxmlformats.org/drawingml/2006/main" w="7144">
            <a:solidFill>
              <a:srgbClr val="0A0A0A"/>
            </a:solidFill>
            <a:prstDash val="solid"/>
          </a:ln>
        </p:spPr>
      </p:sp>
      <p:sp>
        <p:nvSpPr>
          <p:cNvPr id="4" name="">
            <a:extLst xmlns:a="http://schemas.openxmlformats.org/drawingml/2006/main">
              <a:ext uri="{FF2B5EF4-FFF2-40B4-BE49-F238E27FC236}">
                <a16:creationId xmlns:a16="http://schemas.microsoft.com/office/drawing/2014/main" id="{D9D44C5D-3DDA-44A5-9470-8871C2CDE810}"/>
              </a:ext>
            </a:extLst>
          </p:cNvPr>
          <p:cNvSpPr>
            <a:spLocks xmlns:a="http://schemas.openxmlformats.org/drawingml/2006/main" noGrp="1"/>
          </p:cNvSpPr>
          <p:nvPr/>
        </p:nvSpPr>
        <p:spPr>
          <a:xfrm xmlns:a="http://schemas.openxmlformats.org/drawingml/2006/main">
            <a:off x="1152525" y="466725"/>
            <a:ext cx="38100" cy="28575"/>
          </a:xfrm>
          <a:custGeom xmlns:a="http://schemas.openxmlformats.org/drawingml/2006/main">
            <a:pathLst>
              <a:path w="38100" h="28575">
                <a:moveTo>
                  <a:pt x="0" y="0"/>
                </a:moveTo>
                <a:lnTo>
                  <a:pt x="38100" y="28575"/>
                </a:lnTo>
              </a:path>
            </a:pathLst>
          </a:custGeom>
          <a:noFill xmlns:a="http://schemas.openxmlformats.org/drawingml/2006/main"/>
          <a:ln xmlns:a="http://schemas.openxmlformats.org/drawingml/2006/main" w="7144">
            <a:solidFill>
              <a:srgbClr val="0A0A0A"/>
            </a:solidFill>
            <a:prstDash val="solid"/>
          </a:ln>
        </p:spPr>
      </p:sp>
      <p:sp>
        <p:nvSpPr>
          <p:cNvPr id="5" name="">
            <a:extLst xmlns:a="http://schemas.openxmlformats.org/drawingml/2006/main">
              <a:ext uri="{FF2B5EF4-FFF2-40B4-BE49-F238E27FC236}">
                <a16:creationId xmlns:a16="http://schemas.microsoft.com/office/drawing/2014/main" id="{D734B5F3-296A-4F3D-99AC-71017D5CA6DF}"/>
              </a:ext>
            </a:extLst>
          </p:cNvPr>
          <p:cNvSpPr>
            <a:spLocks xmlns:a="http://schemas.openxmlformats.org/drawingml/2006/main" noGrp="1"/>
          </p:cNvSpPr>
          <p:nvPr/>
        </p:nvSpPr>
        <p:spPr>
          <a:xfrm xmlns:a="http://schemas.openxmlformats.org/drawingml/2006/main">
            <a:off x="1152525" y="495300"/>
            <a:ext cx="38100" cy="28575"/>
          </a:xfrm>
          <a:custGeom xmlns:a="http://schemas.openxmlformats.org/drawingml/2006/main">
            <a:pathLst>
              <a:path w="38100" h="28575">
                <a:moveTo>
                  <a:pt x="0" y="28575"/>
                </a:moveTo>
                <a:lnTo>
                  <a:pt x="38100" y="0"/>
                </a:lnTo>
              </a:path>
            </a:pathLst>
          </a:custGeom>
          <a:noFill xmlns:a="http://schemas.openxmlformats.org/drawingml/2006/main"/>
          <a:ln xmlns:a="http://schemas.openxmlformats.org/drawingml/2006/main" w="7144">
            <a:solidFill>
              <a:srgbClr val="0A0A0A"/>
            </a:solidFill>
            <a:prstDash val="solid"/>
          </a:ln>
        </p:spPr>
      </p:sp>
      <p:sp>
        <p:nvSpPr>
          <p:cNvPr id="6" name="">
            <a:extLst xmlns:a="http://schemas.openxmlformats.org/drawingml/2006/main">
              <a:ext uri="{FF2B5EF4-FFF2-40B4-BE49-F238E27FC236}">
                <a16:creationId xmlns:a16="http://schemas.microsoft.com/office/drawing/2014/main" id="{4847EA72-3F82-4918-9945-4756102048A4}"/>
              </a:ext>
            </a:extLst>
          </p:cNvPr>
          <p:cNvSpPr>
            <a:spLocks xmlns:a="http://schemas.openxmlformats.org/drawingml/2006/main" noGrp="1"/>
          </p:cNvSpPr>
          <p:nvPr/>
        </p:nvSpPr>
        <p:spPr>
          <a:xfrm xmlns:a="http://schemas.openxmlformats.org/drawingml/2006/main" rot="0">
            <a:off x="1447800" y="419100"/>
            <a:ext cx="419100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900" b="0">
                <a:solidFill>
                  <a:srgbClr val="0A0A0A"/>
                </a:solidFill>
                <a:latin typeface="DM Sans"/>
                <a:ea typeface="DM Sans"/>
                <a:cs typeface="DM Sans"/>
              </a:defRPr>
            </a:defPPr>
            <a:lvl1pPr algn="l">
              <a:defRPr sz="900" b="0">
                <a:solidFill>
                  <a:srgbClr val="0A0A0A"/>
                </a:solidFill>
                <a:latin typeface="DM Sans"/>
                <a:ea typeface="DM Sans"/>
                <a:cs typeface="DM Sans"/>
              </a:defRPr>
            </a:lvl1pPr>
            <a:lvl2pPr algn="l">
              <a:defRPr sz="900" b="0">
                <a:solidFill>
                  <a:srgbClr val="0A0A0A"/>
                </a:solidFill>
                <a:latin typeface="DM Sans"/>
                <a:ea typeface="DM Sans"/>
                <a:cs typeface="DM Sans"/>
              </a:defRPr>
            </a:lvl2pPr>
            <a:lvl3pPr algn="l">
              <a:defRPr sz="900" b="0">
                <a:solidFill>
                  <a:srgbClr val="0A0A0A"/>
                </a:solidFill>
                <a:latin typeface="DM Sans"/>
                <a:ea typeface="DM Sans"/>
                <a:cs typeface="DM Sans"/>
              </a:defRPr>
            </a:lvl3pPr>
            <a:lvl4pPr algn="l">
              <a:defRPr sz="900" b="0">
                <a:solidFill>
                  <a:srgbClr val="0A0A0A"/>
                </a:solidFill>
                <a:latin typeface="DM Sans"/>
                <a:ea typeface="DM Sans"/>
                <a:cs typeface="DM Sans"/>
              </a:defRPr>
            </a:lvl4pPr>
            <a:lvl5pPr algn="l">
              <a:defRPr sz="900" b="0">
                <a:solidFill>
                  <a:srgbClr val="0A0A0A"/>
                </a:solidFill>
                <a:latin typeface="DM Sans"/>
                <a:ea typeface="DM Sans"/>
                <a:cs typeface="DM Sans"/>
              </a:defRPr>
            </a:lvl5pPr>
            <a:lvl6pPr algn="l">
              <a:defRPr sz="900" b="0">
                <a:solidFill>
                  <a:srgbClr val="0A0A0A"/>
                </a:solidFill>
                <a:latin typeface="DM Sans"/>
                <a:ea typeface="DM Sans"/>
                <a:cs typeface="DM Sans"/>
              </a:defRPr>
            </a:lvl6pPr>
            <a:lvl7pPr algn="l">
              <a:defRPr sz="900" b="0">
                <a:solidFill>
                  <a:srgbClr val="0A0A0A"/>
                </a:solidFill>
                <a:latin typeface="DM Sans"/>
                <a:ea typeface="DM Sans"/>
                <a:cs typeface="DM Sans"/>
              </a:defRPr>
            </a:lvl7pPr>
            <a:lvl8pPr algn="l">
              <a:defRPr sz="900" b="0">
                <a:solidFill>
                  <a:srgbClr val="0A0A0A"/>
                </a:solidFill>
                <a:latin typeface="DM Sans"/>
                <a:ea typeface="DM Sans"/>
                <a:cs typeface="DM Sans"/>
              </a:defRPr>
            </a:lvl8pPr>
            <a:lvl9pPr algn="l">
              <a:defRPr sz="900" b="0">
                <a:solidFill>
                  <a:srgbClr val="0A0A0A"/>
                </a:solidFill>
                <a:latin typeface="DM Sans"/>
                <a:ea typeface="DM Sans"/>
                <a:cs typeface="DM Sans"/>
              </a:defRPr>
            </a:lvl9pPr>
          </a:lstStyle>
          <a:p xmlns:a="http://schemas.openxmlformats.org/drawingml/2006/main">
            <a:pPr algn="l">
              <a:defRPr sz="900" b="0">
                <a:solidFill>
                  <a:srgbClr val="0A0A0A"/>
                </a:solidFill>
                <a:latin typeface="DM Sans"/>
                <a:ea typeface="DM Sans"/>
                <a:cs typeface="DM Sans"/>
              </a:defRPr>
            </a:pPr>
            <a:r>
              <a:rPr sz="900" b="0">
                <a:solidFill>
                  <a:srgbClr val="0A0A0A"/>
                </a:solidFill>
                <a:latin typeface="DM Sans"/>
                <a:ea typeface="DM Sans"/>
                <a:cs typeface="DM Sans"/>
              </a:rPr>
              <a:t>Fee sensitivity</a:t>
            </a:r>
          </a:p>
        </p:txBody>
      </p:sp>
      <p:sp>
        <p:nvSpPr>
          <p:cNvPr id="7" name="">
            <a:extLst xmlns:a="http://schemas.openxmlformats.org/drawingml/2006/main">
              <a:ext uri="{FF2B5EF4-FFF2-40B4-BE49-F238E27FC236}">
                <a16:creationId xmlns:a16="http://schemas.microsoft.com/office/drawing/2014/main" id="{2856BB3B-9EF4-48CC-8C62-1BCB0770C599}"/>
              </a:ext>
            </a:extLst>
          </p:cNvPr>
          <p:cNvSpPr>
            <a:spLocks xmlns:a="http://schemas.openxmlformats.org/drawingml/2006/main" noGrp="1"/>
          </p:cNvSpPr>
          <p:nvPr/>
        </p:nvSpPr>
        <p:spPr>
          <a:xfrm xmlns:a="http://schemas.openxmlformats.org/drawingml/2006/main" rot="0">
            <a:off x="11039475" y="419100"/>
            <a:ext cx="838200" cy="190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r">
              <a:defRPr sz="900" b="0">
                <a:solidFill>
                  <a:srgbClr val="0A0A0A"/>
                </a:solidFill>
                <a:latin typeface="DM Sans"/>
                <a:ea typeface="DM Sans"/>
                <a:cs typeface="DM Sans"/>
              </a:defRPr>
            </a:defPPr>
            <a:lvl1pPr algn="r">
              <a:defRPr sz="900" b="0">
                <a:solidFill>
                  <a:srgbClr val="0A0A0A"/>
                </a:solidFill>
                <a:latin typeface="DM Sans"/>
                <a:ea typeface="DM Sans"/>
                <a:cs typeface="DM Sans"/>
              </a:defRPr>
            </a:lvl1pPr>
            <a:lvl2pPr algn="r">
              <a:defRPr sz="900" b="0">
                <a:solidFill>
                  <a:srgbClr val="0A0A0A"/>
                </a:solidFill>
                <a:latin typeface="DM Sans"/>
                <a:ea typeface="DM Sans"/>
                <a:cs typeface="DM Sans"/>
              </a:defRPr>
            </a:lvl2pPr>
            <a:lvl3pPr algn="r">
              <a:defRPr sz="900" b="0">
                <a:solidFill>
                  <a:srgbClr val="0A0A0A"/>
                </a:solidFill>
                <a:latin typeface="DM Sans"/>
                <a:ea typeface="DM Sans"/>
                <a:cs typeface="DM Sans"/>
              </a:defRPr>
            </a:lvl3pPr>
            <a:lvl4pPr algn="r">
              <a:defRPr sz="900" b="0">
                <a:solidFill>
                  <a:srgbClr val="0A0A0A"/>
                </a:solidFill>
                <a:latin typeface="DM Sans"/>
                <a:ea typeface="DM Sans"/>
                <a:cs typeface="DM Sans"/>
              </a:defRPr>
            </a:lvl4pPr>
            <a:lvl5pPr algn="r">
              <a:defRPr sz="900" b="0">
                <a:solidFill>
                  <a:srgbClr val="0A0A0A"/>
                </a:solidFill>
                <a:latin typeface="DM Sans"/>
                <a:ea typeface="DM Sans"/>
                <a:cs typeface="DM Sans"/>
              </a:defRPr>
            </a:lvl5pPr>
            <a:lvl6pPr algn="r">
              <a:defRPr sz="900" b="0">
                <a:solidFill>
                  <a:srgbClr val="0A0A0A"/>
                </a:solidFill>
                <a:latin typeface="DM Sans"/>
                <a:ea typeface="DM Sans"/>
                <a:cs typeface="DM Sans"/>
              </a:defRPr>
            </a:lvl6pPr>
            <a:lvl7pPr algn="r">
              <a:defRPr sz="900" b="0">
                <a:solidFill>
                  <a:srgbClr val="0A0A0A"/>
                </a:solidFill>
                <a:latin typeface="DM Sans"/>
                <a:ea typeface="DM Sans"/>
                <a:cs typeface="DM Sans"/>
              </a:defRPr>
            </a:lvl7pPr>
            <a:lvl8pPr algn="r">
              <a:defRPr sz="900" b="0">
                <a:solidFill>
                  <a:srgbClr val="0A0A0A"/>
                </a:solidFill>
                <a:latin typeface="DM Sans"/>
                <a:ea typeface="DM Sans"/>
                <a:cs typeface="DM Sans"/>
              </a:defRPr>
            </a:lvl8pPr>
            <a:lvl9pPr algn="r">
              <a:defRPr sz="900" b="0">
                <a:solidFill>
                  <a:srgbClr val="0A0A0A"/>
                </a:solidFill>
                <a:latin typeface="DM Sans"/>
                <a:ea typeface="DM Sans"/>
                <a:cs typeface="DM Sans"/>
              </a:defRPr>
            </a:lvl9pPr>
          </a:lstStyle>
          <a:p xmlns:a="http://schemas.openxmlformats.org/drawingml/2006/main">
            <a:pPr algn="r">
              <a:defRPr sz="900" b="0">
                <a:solidFill>
                  <a:srgbClr val="0A0A0A"/>
                </a:solidFill>
                <a:latin typeface="DM Sans"/>
                <a:ea typeface="DM Sans"/>
                <a:cs typeface="DM Sans"/>
              </a:defRPr>
            </a:pPr>
            <a:r>
              <a:rPr sz="900" b="0">
                <a:solidFill>
                  <a:srgbClr val="0A0A0A"/>
                </a:solidFill>
                <a:latin typeface="DM Sans"/>
                <a:ea typeface="DM Sans"/>
                <a:cs typeface="DM Sans"/>
              </a:rPr>
              <a:t>Orecast</a:t>
            </a:r>
          </a:p>
        </p:txBody>
      </p:sp>
      <p:sp>
        <p:nvSpPr>
          <p:cNvPr id="8" name="">
            <a:extLst xmlns:a="http://schemas.openxmlformats.org/drawingml/2006/main">
              <a:ext uri="{FF2B5EF4-FFF2-40B4-BE49-F238E27FC236}">
                <a16:creationId xmlns:a16="http://schemas.microsoft.com/office/drawing/2014/main" id="{02F856F9-0A67-4460-B9A5-B9D9D89D88C4}"/>
              </a:ext>
            </a:extLst>
          </p:cNvPr>
          <p:cNvSpPr>
            <a:spLocks xmlns:a="http://schemas.openxmlformats.org/drawingml/2006/main" noGrp="1"/>
          </p:cNvSpPr>
          <p:nvPr/>
        </p:nvSpPr>
        <p:spPr>
          <a:xfrm xmlns:a="http://schemas.openxmlformats.org/drawingml/2006/main" rot="0">
            <a:off x="381000" y="790575"/>
            <a:ext cx="113347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0A0A0A"/>
                </a:solidFill>
                <a:latin typeface="DM Sans"/>
                <a:ea typeface="DM Sans"/>
                <a:cs typeface="DM Sans"/>
              </a:defRPr>
            </a:defPPr>
            <a:lvl1pPr algn="l">
              <a:defRPr sz="1650" b="0">
                <a:solidFill>
                  <a:srgbClr val="0A0A0A"/>
                </a:solidFill>
                <a:latin typeface="DM Sans"/>
                <a:ea typeface="DM Sans"/>
                <a:cs typeface="DM Sans"/>
              </a:defRPr>
            </a:lvl1pPr>
            <a:lvl2pPr algn="l">
              <a:defRPr sz="1650" b="0">
                <a:solidFill>
                  <a:srgbClr val="0A0A0A"/>
                </a:solidFill>
                <a:latin typeface="DM Sans"/>
                <a:ea typeface="DM Sans"/>
                <a:cs typeface="DM Sans"/>
              </a:defRPr>
            </a:lvl2pPr>
            <a:lvl3pPr algn="l">
              <a:defRPr sz="1650" b="0">
                <a:solidFill>
                  <a:srgbClr val="0A0A0A"/>
                </a:solidFill>
                <a:latin typeface="DM Sans"/>
                <a:ea typeface="DM Sans"/>
                <a:cs typeface="DM Sans"/>
              </a:defRPr>
            </a:lvl3pPr>
            <a:lvl4pPr algn="l">
              <a:defRPr sz="1650" b="0">
                <a:solidFill>
                  <a:srgbClr val="0A0A0A"/>
                </a:solidFill>
                <a:latin typeface="DM Sans"/>
                <a:ea typeface="DM Sans"/>
                <a:cs typeface="DM Sans"/>
              </a:defRPr>
            </a:lvl4pPr>
            <a:lvl5pPr algn="l">
              <a:defRPr sz="1650" b="0">
                <a:solidFill>
                  <a:srgbClr val="0A0A0A"/>
                </a:solidFill>
                <a:latin typeface="DM Sans"/>
                <a:ea typeface="DM Sans"/>
                <a:cs typeface="DM Sans"/>
              </a:defRPr>
            </a:lvl5pPr>
            <a:lvl6pPr algn="l">
              <a:defRPr sz="1650" b="0">
                <a:solidFill>
                  <a:srgbClr val="0A0A0A"/>
                </a:solidFill>
                <a:latin typeface="DM Sans"/>
                <a:ea typeface="DM Sans"/>
                <a:cs typeface="DM Sans"/>
              </a:defRPr>
            </a:lvl6pPr>
            <a:lvl7pPr algn="l">
              <a:defRPr sz="1650" b="0">
                <a:solidFill>
                  <a:srgbClr val="0A0A0A"/>
                </a:solidFill>
                <a:latin typeface="DM Sans"/>
                <a:ea typeface="DM Sans"/>
                <a:cs typeface="DM Sans"/>
              </a:defRPr>
            </a:lvl7pPr>
            <a:lvl8pPr algn="l">
              <a:defRPr sz="1650" b="0">
                <a:solidFill>
                  <a:srgbClr val="0A0A0A"/>
                </a:solidFill>
                <a:latin typeface="DM Sans"/>
                <a:ea typeface="DM Sans"/>
                <a:cs typeface="DM Sans"/>
              </a:defRPr>
            </a:lvl8pPr>
            <a:lvl9pPr algn="l">
              <a:defRPr sz="1650" b="0">
                <a:solidFill>
                  <a:srgbClr val="0A0A0A"/>
                </a:solidFill>
                <a:latin typeface="DM Sans"/>
                <a:ea typeface="DM Sans"/>
                <a:cs typeface="DM Sans"/>
              </a:defRPr>
            </a:lvl9pPr>
          </a:lstStyle>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The fee assumption changes the result</a:t>
            </a:r>
          </a:p>
        </p:txBody>
      </p:sp>
      <p:sp>
        <p:nvSpPr>
          <p:cNvPr id="9" name="">
            <a:extLst xmlns:a="http://schemas.openxmlformats.org/drawingml/2006/main">
              <a:ext uri="{FF2B5EF4-FFF2-40B4-BE49-F238E27FC236}">
                <a16:creationId xmlns:a16="http://schemas.microsoft.com/office/drawing/2014/main" id="{98600A23-9BC2-4B87-AF4F-C7D77E0519AE}"/>
              </a:ext>
            </a:extLst>
          </p:cNvPr>
          <p:cNvSpPr>
            <a:spLocks xmlns:a="http://schemas.openxmlformats.org/drawingml/2006/main" noGrp="1"/>
          </p:cNvSpPr>
          <p:nvPr/>
        </p:nvSpPr>
        <p:spPr>
          <a:xfrm xmlns:a="http://schemas.openxmlformats.org/drawingml/2006/main" rot="0">
            <a:off x="381000" y="1104900"/>
            <a:ext cx="11334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0A0A0A"/>
                </a:solidFill>
                <a:latin typeface="DM Sans"/>
                <a:ea typeface="DM Sans"/>
                <a:cs typeface="DM Sans"/>
              </a:defRPr>
            </a:defPPr>
            <a:lvl1pPr algn="l">
              <a:defRPr sz="1125" b="0">
                <a:solidFill>
                  <a:srgbClr val="0A0A0A"/>
                </a:solidFill>
                <a:latin typeface="DM Sans"/>
                <a:ea typeface="DM Sans"/>
                <a:cs typeface="DM Sans"/>
              </a:defRPr>
            </a:lvl1pPr>
            <a:lvl2pPr algn="l">
              <a:defRPr sz="1125" b="0">
                <a:solidFill>
                  <a:srgbClr val="0A0A0A"/>
                </a:solidFill>
                <a:latin typeface="DM Sans"/>
                <a:ea typeface="DM Sans"/>
                <a:cs typeface="DM Sans"/>
              </a:defRPr>
            </a:lvl2pPr>
            <a:lvl3pPr algn="l">
              <a:defRPr sz="1125" b="0">
                <a:solidFill>
                  <a:srgbClr val="0A0A0A"/>
                </a:solidFill>
                <a:latin typeface="DM Sans"/>
                <a:ea typeface="DM Sans"/>
                <a:cs typeface="DM Sans"/>
              </a:defRPr>
            </a:lvl3pPr>
            <a:lvl4pPr algn="l">
              <a:defRPr sz="1125" b="0">
                <a:solidFill>
                  <a:srgbClr val="0A0A0A"/>
                </a:solidFill>
                <a:latin typeface="DM Sans"/>
                <a:ea typeface="DM Sans"/>
                <a:cs typeface="DM Sans"/>
              </a:defRPr>
            </a:lvl4pPr>
            <a:lvl5pPr algn="l">
              <a:defRPr sz="1125" b="0">
                <a:solidFill>
                  <a:srgbClr val="0A0A0A"/>
                </a:solidFill>
                <a:latin typeface="DM Sans"/>
                <a:ea typeface="DM Sans"/>
                <a:cs typeface="DM Sans"/>
              </a:defRPr>
            </a:lvl5pPr>
            <a:lvl6pPr algn="l">
              <a:defRPr sz="1125" b="0">
                <a:solidFill>
                  <a:srgbClr val="0A0A0A"/>
                </a:solidFill>
                <a:latin typeface="DM Sans"/>
                <a:ea typeface="DM Sans"/>
                <a:cs typeface="DM Sans"/>
              </a:defRPr>
            </a:lvl6pPr>
            <a:lvl7pPr algn="l">
              <a:defRPr sz="1125" b="0">
                <a:solidFill>
                  <a:srgbClr val="0A0A0A"/>
                </a:solidFill>
                <a:latin typeface="DM Sans"/>
                <a:ea typeface="DM Sans"/>
                <a:cs typeface="DM Sans"/>
              </a:defRPr>
            </a:lvl7pPr>
            <a:lvl8pPr algn="l">
              <a:defRPr sz="1125" b="0">
                <a:solidFill>
                  <a:srgbClr val="0A0A0A"/>
                </a:solidFill>
                <a:latin typeface="DM Sans"/>
                <a:ea typeface="DM Sans"/>
                <a:cs typeface="DM Sans"/>
              </a:defRPr>
            </a:lvl8pPr>
            <a:lvl9pPr algn="l">
              <a:defRPr sz="1125" b="0">
                <a:solidFill>
                  <a:srgbClr val="0A0A0A"/>
                </a:solidFill>
                <a:latin typeface="DM Sans"/>
                <a:ea typeface="DM Sans"/>
                <a:cs typeface="DM Sans"/>
              </a:defRPr>
            </a:lvl9pPr>
          </a:lstStyle>
          <a:p xmlns:a="http://schemas.openxmlformats.org/drawingml/2006/main">
            <a:pPr algn="l">
              <a:defRPr sz="1125" b="0">
                <a:solidFill>
                  <a:srgbClr val="0A0A0A"/>
                </a:solidFill>
                <a:latin typeface="DM Sans"/>
                <a:ea typeface="DM Sans"/>
                <a:cs typeface="DM Sans"/>
              </a:defRPr>
            </a:pPr>
            <a:r>
              <a:rPr sz="1125" b="0">
                <a:solidFill>
                  <a:srgbClr val="0A0A0A"/>
                </a:solidFill>
                <a:latin typeface="DM Sans"/>
                <a:ea typeface="DM Sans"/>
                <a:cs typeface="DM Sans"/>
              </a:rPr>
              <a:t>One synthetic contract, the same gold forecast and sale hazard. Returns over 90 days are non-annualized.</a:t>
            </a:r>
          </a:p>
        </p:txBody>
      </p:sp>
      <p:graphicFrame>
        <p:nvGraphicFramePr>
          <p:cNvPr id="10" name="">
            <a:extLst xmlns:a="http://schemas.openxmlformats.org/drawingml/2006/main">
              <a:ext uri="{FF2B5EF4-FFF2-40B4-BE49-F238E27FC236}">
                <a16:creationId xmlns:a16="http://schemas.microsoft.com/office/drawing/2014/main" id="{992C4ECD-6C5D-42D3-9505-885CC4C1CAA3}"/>
              </a:ext>
            </a:extLst>
          </p:cNvPr>
          <p:cNvGraphicFramePr/>
          <p:nvPr/>
        </p:nvGraphicFramePr>
        <p:xfrm>
          <a:off xmlns:a="http://schemas.openxmlformats.org/drawingml/2006/main" x="381000" y="1609725"/>
          <a:ext xmlns:a="http://schemas.openxmlformats.org/drawingml/2006/main" cx="11410950" cy="2095500"/>
        </p:xfrm>
        <a:graphic xmlns:a="http://schemas.openxmlformats.org/drawingml/2006/main">
          <a:graphicData uri="http://schemas.openxmlformats.org/drawingml/2006/table">
            <a:tbl>
              <a:tblPr firstRow="1" bandRow="0"/>
              <a:tblGrid>
                <a:gridCol w="3333750"/>
                <a:gridCol w="2019300"/>
                <a:gridCol w="2019300"/>
                <a:gridCol w="2019300"/>
                <a:gridCol w="2019300"/>
              </a:tblGrid>
              <a:tr h="698500">
                <a:tc>
                  <a:txBody>
                    <a:bodyPr lIns="171450" tIns="95250" rIns="171450" bIns="95250">
                      <a:noAutofit/>
                    </a:bodyPr>
                    <a:lstStyle/>
                    <a:p>
                      <a:r>
                        <a:rPr sz="1050" b="0">
                          <a:solidFill>
                            <a:srgbClr val="FAFAFA"/>
                          </a:solidFill>
                          <a:latin typeface="DM Sans"/>
                          <a:ea typeface="DM Sans"/>
                          <a:cs typeface="DM Sans"/>
                        </a:rPr>
                        <a:t>Fee assumption</a:t>
                      </a:r>
                    </a:p>
                  </a:txBody>
                  <a:tcPr marL="91440" marR="91440" marT="45720" marB="45720" anchor="ctr">
                    <a:lnL w="0">
                      <a:noFill/>
                      <a:prstDash val="solid"/>
                    </a:lnL>
                    <a:lnR w="0">
                      <a:noFill/>
                      <a:prstDash val="solid"/>
                    </a:lnR>
                    <a:lnT w="0">
                      <a:noFill/>
                      <a:prstDash val="solid"/>
                    </a:lnT>
                    <a:lnB w="0">
                      <a:noFill/>
                      <a:prstDash val="solid"/>
                    </a:lnB>
                    <a:solidFill>
                      <a:srgbClr val="0A0A0A"/>
                    </a:solidFill>
                  </a:tcPr>
                </a:tc>
                <a:tc>
                  <a:txBody>
                    <a:bodyPr lIns="171450" tIns="95250" rIns="171450" bIns="95250">
                      <a:noAutofit/>
                    </a:bodyPr>
                    <a:lstStyle/>
                    <a:p>
                      <a:r>
                        <a:rPr sz="1050" b="0">
                          <a:solidFill>
                            <a:srgbClr val="FAFAFA"/>
                          </a:solidFill>
                          <a:latin typeface="DM Sans"/>
                          <a:ea typeface="DM Sans"/>
                          <a:cs typeface="DM Sans"/>
                        </a:rPr>
                        <a:t>Entry fee</a:t>
                      </a:r>
                    </a:p>
                  </a:txBody>
                  <a:tcPr marL="91440" marR="91440" marT="45720" marB="45720" anchor="ctr">
                    <a:lnR w="0">
                      <a:noFill/>
                      <a:prstDash val="solid"/>
                    </a:lnR>
                    <a:lnT w="0">
                      <a:noFill/>
                      <a:prstDash val="solid"/>
                    </a:lnT>
                    <a:lnB w="0">
                      <a:noFill/>
                      <a:prstDash val="solid"/>
                    </a:lnB>
                    <a:solidFill>
                      <a:srgbClr val="0A0A0A"/>
                    </a:solidFill>
                  </a:tcPr>
                </a:tc>
                <a:tc>
                  <a:txBody>
                    <a:bodyPr lIns="171450" tIns="95250" rIns="171450" bIns="95250">
                      <a:noAutofit/>
                    </a:bodyPr>
                    <a:lstStyle/>
                    <a:p>
                      <a:r>
                        <a:rPr sz="1050" b="0">
                          <a:solidFill>
                            <a:srgbClr val="FAFAFA"/>
                          </a:solidFill>
                          <a:latin typeface="DM Sans"/>
                          <a:ea typeface="DM Sans"/>
                          <a:cs typeface="DM Sans"/>
                        </a:rPr>
                        <a:t>Exit fee</a:t>
                      </a:r>
                    </a:p>
                  </a:txBody>
                  <a:tcPr marL="91440" marR="91440" marT="45720" marB="45720" anchor="ctr">
                    <a:lnR w="0">
                      <a:noFill/>
                      <a:prstDash val="solid"/>
                    </a:lnR>
                    <a:lnT w="0">
                      <a:noFill/>
                      <a:prstDash val="solid"/>
                    </a:lnT>
                    <a:lnB w="0">
                      <a:noFill/>
                      <a:prstDash val="solid"/>
                    </a:lnB>
                    <a:solidFill>
                      <a:srgbClr val="0A0A0A"/>
                    </a:solidFill>
                  </a:tcPr>
                </a:tc>
                <a:tc>
                  <a:txBody>
                    <a:bodyPr lIns="171450" tIns="95250" rIns="171450" bIns="95250">
                      <a:noAutofit/>
                    </a:bodyPr>
                    <a:lstStyle/>
                    <a:p>
                      <a:r>
                        <a:rPr sz="1050" b="0">
                          <a:solidFill>
                            <a:srgbClr val="FAFAFA"/>
                          </a:solidFill>
                          <a:latin typeface="DM Sans"/>
                          <a:ea typeface="DM Sans"/>
                          <a:cs typeface="DM Sans"/>
                        </a:rPr>
                        <a:t>Upfront capital</a:t>
                      </a:r>
                    </a:p>
                  </a:txBody>
                  <a:tcPr marL="91440" marR="91440" marT="45720" marB="45720" anchor="ctr">
                    <a:lnR w="0">
                      <a:noFill/>
                      <a:prstDash val="solid"/>
                    </a:lnR>
                    <a:lnT w="0">
                      <a:noFill/>
                      <a:prstDash val="solid"/>
                    </a:lnT>
                    <a:lnB w="0">
                      <a:noFill/>
                      <a:prstDash val="solid"/>
                    </a:lnB>
                    <a:solidFill>
                      <a:srgbClr val="0A0A0A"/>
                    </a:solidFill>
                  </a:tcPr>
                </a:tc>
                <a:tc>
                  <a:txBody>
                    <a:bodyPr lIns="171450" tIns="95250" rIns="171450" bIns="95250">
                      <a:noAutofit/>
                    </a:bodyPr>
                    <a:lstStyle/>
                    <a:p>
                      <a:r>
                        <a:rPr sz="1050" b="0">
                          <a:solidFill>
                            <a:srgbClr val="FAFAFA"/>
                          </a:solidFill>
                          <a:latin typeface="DM Sans"/>
                          <a:ea typeface="DM Sans"/>
                          <a:cs typeface="DM Sans"/>
                        </a:rPr>
                        <a:t>Expected return</a:t>
                      </a:r>
                    </a:p>
                  </a:txBody>
                  <a:tcPr marL="91440" marR="91440" marT="45720" marB="45720" anchor="ctr">
                    <a:lnR w="0">
                      <a:noFill/>
                      <a:prstDash val="solid"/>
                    </a:lnR>
                    <a:lnT w="0">
                      <a:noFill/>
                      <a:prstDash val="solid"/>
                    </a:lnT>
                    <a:lnB w="0">
                      <a:noFill/>
                      <a:prstDash val="solid"/>
                    </a:lnB>
                    <a:solidFill>
                      <a:srgbClr val="0A0A0A"/>
                    </a:solidFill>
                  </a:tcPr>
                </a:tc>
              </a:tr>
              <a:tr h="698500">
                <a:tc>
                  <a:txBody>
                    <a:bodyPr lIns="171450" tIns="95250" rIns="171450" bIns="95250">
                      <a:noAutofit/>
                    </a:bodyPr>
                    <a:lstStyle/>
                    <a:p>
                      <a:r>
                        <a:rPr sz="1350" b="0">
                          <a:solidFill>
                            <a:srgbClr val="0A0A0A"/>
                          </a:solidFill>
                          <a:latin typeface="DM Sans"/>
                          <a:ea typeface="DM Sans"/>
                          <a:cs typeface="DM Sans"/>
                        </a:rPr>
                        <a:t>Fixed fees</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$50.00</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$50.00</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$30,050.00</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12.35%</a:t>
                      </a:r>
                    </a:p>
                  </a:txBody>
                  <a:tcPr marL="91440" marR="91440" marT="45720" marB="45720" anchor="ctr">
                    <a:lnR w="0">
                      <a:noFill/>
                      <a:prstDash val="solid"/>
                    </a:lnR>
                    <a:lnB w="0">
                      <a:noFill/>
                      <a:prstDash val="solid"/>
                    </a:lnB>
                    <a:solidFill>
                      <a:srgbClr val="FAFAFA"/>
                    </a:solidFill>
                  </a:tcPr>
                </a:tc>
              </a:tr>
              <a:tr h="698500">
                <a:tc>
                  <a:txBody>
                    <a:bodyPr lIns="171450" tIns="95250" rIns="171450" bIns="95250">
                      <a:noAutofit/>
                    </a:bodyPr>
                    <a:lstStyle/>
                    <a:p>
                      <a:r>
                        <a:rPr sz="1350" b="0">
                          <a:solidFill>
                            <a:srgbClr val="0A0A0A"/>
                          </a:solidFill>
                          <a:latin typeface="DM Sans"/>
                          <a:ea typeface="DM Sans"/>
                          <a:cs typeface="DM Sans"/>
                        </a:rPr>
                        <a:t>Proportional fees</a:t>
                      </a:r>
                    </a:p>
                  </a:txBody>
                  <a:tcPr marL="91440" marR="91440" marT="45720" marB="45720" anchor="ctr">
                    <a:lnL w="0">
                      <a:noFill/>
                      <a:prstDash val="solid"/>
                    </a:lnL>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$2,307.69</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$2,307.69</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$32,307.69</a:t>
                      </a:r>
                    </a:p>
                  </a:txBody>
                  <a:tcPr marL="91440" marR="91440" marT="45720" marB="45720" anchor="ctr">
                    <a:lnR w="0">
                      <a:noFill/>
                      <a:prstDash val="solid"/>
                    </a:lnR>
                    <a:lnB w="0">
                      <a:noFill/>
                      <a:prstDash val="solid"/>
                    </a:lnB>
                    <a:solidFill>
                      <a:srgbClr val="FAFAFA"/>
                    </a:solidFill>
                  </a:tcPr>
                </a:tc>
                <a:tc>
                  <a:txBody>
                    <a:bodyPr lIns="171450" tIns="95250" rIns="171450" bIns="95250">
                      <a:noAutofit/>
                    </a:bodyPr>
                    <a:lstStyle/>
                    <a:p>
                      <a:r>
                        <a:rPr sz="1350" b="0">
                          <a:solidFill>
                            <a:srgbClr val="0A0A0A"/>
                          </a:solidFill>
                          <a:latin typeface="DM Sans"/>
                          <a:ea typeface="DM Sans"/>
                          <a:cs typeface="DM Sans"/>
                        </a:rPr>
                        <a:t>1.09%</a:t>
                      </a:r>
                    </a:p>
                  </a:txBody>
                  <a:tcPr marL="91440" marR="91440" marT="45720" marB="45720" anchor="ctr">
                    <a:lnR w="0">
                      <a:noFill/>
                      <a:prstDash val="solid"/>
                    </a:lnR>
                    <a:lnB w="0">
                      <a:noFill/>
                      <a:prstDash val="solid"/>
                    </a:lnB>
                    <a:solidFill>
                      <a:srgbClr val="FAFAFA"/>
                    </a:solidFill>
                  </a:tcPr>
                </a:tc>
              </a:tr>
            </a:tbl>
          </a:graphicData>
        </a:graphic>
      </p:graphicFrame>
      <p:sp>
        <p:nvSpPr>
          <p:cNvPr id="11" name="">
            <a:extLst xmlns:a="http://schemas.openxmlformats.org/drawingml/2006/main">
              <a:ext uri="{FF2B5EF4-FFF2-40B4-BE49-F238E27FC236}">
                <a16:creationId xmlns:a16="http://schemas.microsoft.com/office/drawing/2014/main" id="{8383B8B9-D581-4E61-BEF4-077FA2C1A7D4}"/>
              </a:ext>
            </a:extLst>
          </p:cNvPr>
          <p:cNvSpPr>
            <a:spLocks xmlns:a="http://schemas.openxmlformats.org/drawingml/2006/main" noGrp="1"/>
          </p:cNvSpPr>
          <p:nvPr/>
        </p:nvSpPr>
        <p:spPr>
          <a:xfrm xmlns:a="http://schemas.openxmlformats.org/drawingml/2006/main">
            <a:off x="381000" y="3705225"/>
            <a:ext cx="11410950" cy="95"/>
          </a:xfrm>
          <a:custGeom xmlns:a="http://schemas.openxmlformats.org/drawingml/2006/main">
            <a:pathLst>
              <a:path w="11410950" h="95">
                <a:moveTo>
                  <a:pt x="0" y="0"/>
                </a:moveTo>
                <a:lnTo>
                  <a:pt x="11410950" y="0"/>
                </a:lnTo>
              </a:path>
            </a:pathLst>
          </a:custGeom>
          <a:noFill xmlns:a="http://schemas.openxmlformats.org/drawingml/2006/main"/>
          <a:ln xmlns:a="http://schemas.openxmlformats.org/drawingml/2006/main" w="5715">
            <a:solidFill>
              <a:srgbClr val="0A0A0A"/>
            </a:solidFill>
            <a:prstDash val="solid"/>
          </a:ln>
        </p:spPr>
      </p:sp>
      <p:sp>
        <p:nvSpPr>
          <p:cNvPr id="12" name="">
            <a:extLst xmlns:a="http://schemas.openxmlformats.org/drawingml/2006/main">
              <a:ext uri="{FF2B5EF4-FFF2-40B4-BE49-F238E27FC236}">
                <a16:creationId xmlns:a16="http://schemas.microsoft.com/office/drawing/2014/main" id="{361811E7-66C9-4025-8B09-5952AC760A27}"/>
              </a:ext>
            </a:extLst>
          </p:cNvPr>
          <p:cNvSpPr>
            <a:spLocks xmlns:a="http://schemas.openxmlformats.org/drawingml/2006/main" noGrp="1"/>
          </p:cNvSpPr>
          <p:nvPr/>
        </p:nvSpPr>
        <p:spPr>
          <a:xfrm xmlns:a="http://schemas.openxmlformats.org/drawingml/2006/main" rot="0">
            <a:off x="571500" y="408622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0A0A0A"/>
                </a:solidFill>
                <a:latin typeface="DM Sans"/>
                <a:ea typeface="DM Sans"/>
                <a:cs typeface="DM Sans"/>
              </a:defRPr>
            </a:defPPr>
            <a:lvl1pPr algn="l">
              <a:defRPr sz="1650" b="0">
                <a:solidFill>
                  <a:srgbClr val="0A0A0A"/>
                </a:solidFill>
                <a:latin typeface="DM Sans"/>
                <a:ea typeface="DM Sans"/>
                <a:cs typeface="DM Sans"/>
              </a:defRPr>
            </a:lvl1pPr>
            <a:lvl2pPr algn="l">
              <a:defRPr sz="1650" b="0">
                <a:solidFill>
                  <a:srgbClr val="0A0A0A"/>
                </a:solidFill>
                <a:latin typeface="DM Sans"/>
                <a:ea typeface="DM Sans"/>
                <a:cs typeface="DM Sans"/>
              </a:defRPr>
            </a:lvl2pPr>
            <a:lvl3pPr algn="l">
              <a:defRPr sz="1650" b="0">
                <a:solidFill>
                  <a:srgbClr val="0A0A0A"/>
                </a:solidFill>
                <a:latin typeface="DM Sans"/>
                <a:ea typeface="DM Sans"/>
                <a:cs typeface="DM Sans"/>
              </a:defRPr>
            </a:lvl3pPr>
            <a:lvl4pPr algn="l">
              <a:defRPr sz="1650" b="0">
                <a:solidFill>
                  <a:srgbClr val="0A0A0A"/>
                </a:solidFill>
                <a:latin typeface="DM Sans"/>
                <a:ea typeface="DM Sans"/>
                <a:cs typeface="DM Sans"/>
              </a:defRPr>
            </a:lvl4pPr>
            <a:lvl5pPr algn="l">
              <a:defRPr sz="1650" b="0">
                <a:solidFill>
                  <a:srgbClr val="0A0A0A"/>
                </a:solidFill>
                <a:latin typeface="DM Sans"/>
                <a:ea typeface="DM Sans"/>
                <a:cs typeface="DM Sans"/>
              </a:defRPr>
            </a:lvl5pPr>
            <a:lvl6pPr algn="l">
              <a:defRPr sz="1650" b="0">
                <a:solidFill>
                  <a:srgbClr val="0A0A0A"/>
                </a:solidFill>
                <a:latin typeface="DM Sans"/>
                <a:ea typeface="DM Sans"/>
                <a:cs typeface="DM Sans"/>
              </a:defRPr>
            </a:lvl6pPr>
            <a:lvl7pPr algn="l">
              <a:defRPr sz="1650" b="0">
                <a:solidFill>
                  <a:srgbClr val="0A0A0A"/>
                </a:solidFill>
                <a:latin typeface="DM Sans"/>
                <a:ea typeface="DM Sans"/>
                <a:cs typeface="DM Sans"/>
              </a:defRPr>
            </a:lvl7pPr>
            <a:lvl8pPr algn="l">
              <a:defRPr sz="1650" b="0">
                <a:solidFill>
                  <a:srgbClr val="0A0A0A"/>
                </a:solidFill>
                <a:latin typeface="DM Sans"/>
                <a:ea typeface="DM Sans"/>
                <a:cs typeface="DM Sans"/>
              </a:defRPr>
            </a:lvl8pPr>
            <a:lvl9pPr algn="l">
              <a:defRPr sz="1650" b="0">
                <a:solidFill>
                  <a:srgbClr val="0A0A0A"/>
                </a:solidFill>
                <a:latin typeface="DM Sans"/>
                <a:ea typeface="DM Sans"/>
                <a:cs typeface="DM Sans"/>
              </a:defRPr>
            </a:lvl9pPr>
          </a:lstStyle>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Proportional fee = $50 × (30,000 / 650) = $2,307.69 per fee.</a:t>
            </a:r>
          </a:p>
        </p:txBody>
      </p:sp>
      <p:sp>
        <p:nvSpPr>
          <p:cNvPr id="13" name="">
            <a:extLst xmlns:a="http://schemas.openxmlformats.org/drawingml/2006/main">
              <a:ext uri="{FF2B5EF4-FFF2-40B4-BE49-F238E27FC236}">
                <a16:creationId xmlns:a16="http://schemas.microsoft.com/office/drawing/2014/main" id="{447B1689-01CD-4221-B7A9-78FF5A0DFF78}"/>
              </a:ext>
            </a:extLst>
          </p:cNvPr>
          <p:cNvSpPr>
            <a:spLocks xmlns:a="http://schemas.openxmlformats.org/drawingml/2006/main" noGrp="1"/>
          </p:cNvSpPr>
          <p:nvPr/>
        </p:nvSpPr>
        <p:spPr>
          <a:xfrm xmlns:a="http://schemas.openxmlformats.org/drawingml/2006/main" rot="0">
            <a:off x="571500" y="460057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0A0A0A"/>
                </a:solidFill>
                <a:latin typeface="DM Sans"/>
                <a:ea typeface="DM Sans"/>
                <a:cs typeface="DM Sans"/>
              </a:defRPr>
            </a:defPPr>
            <a:lvl1pPr algn="l">
              <a:defRPr sz="1650" b="0">
                <a:solidFill>
                  <a:srgbClr val="0A0A0A"/>
                </a:solidFill>
                <a:latin typeface="DM Sans"/>
                <a:ea typeface="DM Sans"/>
                <a:cs typeface="DM Sans"/>
              </a:defRPr>
            </a:lvl1pPr>
            <a:lvl2pPr algn="l">
              <a:defRPr sz="1650" b="0">
                <a:solidFill>
                  <a:srgbClr val="0A0A0A"/>
                </a:solidFill>
                <a:latin typeface="DM Sans"/>
                <a:ea typeface="DM Sans"/>
                <a:cs typeface="DM Sans"/>
              </a:defRPr>
            </a:lvl2pPr>
            <a:lvl3pPr algn="l">
              <a:defRPr sz="1650" b="0">
                <a:solidFill>
                  <a:srgbClr val="0A0A0A"/>
                </a:solidFill>
                <a:latin typeface="DM Sans"/>
                <a:ea typeface="DM Sans"/>
                <a:cs typeface="DM Sans"/>
              </a:defRPr>
            </a:lvl3pPr>
            <a:lvl4pPr algn="l">
              <a:defRPr sz="1650" b="0">
                <a:solidFill>
                  <a:srgbClr val="0A0A0A"/>
                </a:solidFill>
                <a:latin typeface="DM Sans"/>
                <a:ea typeface="DM Sans"/>
                <a:cs typeface="DM Sans"/>
              </a:defRPr>
            </a:lvl4pPr>
            <a:lvl5pPr algn="l">
              <a:defRPr sz="1650" b="0">
                <a:solidFill>
                  <a:srgbClr val="0A0A0A"/>
                </a:solidFill>
                <a:latin typeface="DM Sans"/>
                <a:ea typeface="DM Sans"/>
                <a:cs typeface="DM Sans"/>
              </a:defRPr>
            </a:lvl5pPr>
            <a:lvl6pPr algn="l">
              <a:defRPr sz="1650" b="0">
                <a:solidFill>
                  <a:srgbClr val="0A0A0A"/>
                </a:solidFill>
                <a:latin typeface="DM Sans"/>
                <a:ea typeface="DM Sans"/>
                <a:cs typeface="DM Sans"/>
              </a:defRPr>
            </a:lvl6pPr>
            <a:lvl7pPr algn="l">
              <a:defRPr sz="1650" b="0">
                <a:solidFill>
                  <a:srgbClr val="0A0A0A"/>
                </a:solidFill>
                <a:latin typeface="DM Sans"/>
                <a:ea typeface="DM Sans"/>
                <a:cs typeface="DM Sans"/>
              </a:defRPr>
            </a:lvl7pPr>
            <a:lvl8pPr algn="l">
              <a:defRPr sz="1650" b="0">
                <a:solidFill>
                  <a:srgbClr val="0A0A0A"/>
                </a:solidFill>
                <a:latin typeface="DM Sans"/>
                <a:ea typeface="DM Sans"/>
                <a:cs typeface="DM Sans"/>
              </a:defRPr>
            </a:lvl8pPr>
            <a:lvl9pPr algn="l">
              <a:defRPr sz="1650" b="0">
                <a:solidFill>
                  <a:srgbClr val="0A0A0A"/>
                </a:solidFill>
                <a:latin typeface="DM Sans"/>
                <a:ea typeface="DM Sans"/>
                <a:cs typeface="DM Sans"/>
              </a:defRPr>
            </a:lvl9pPr>
          </a:lstStyle>
          <a:p xmlns:a="http://schemas.openxmlformats.org/drawingml/2006/main">
            <a:pPr algn="l">
              <a:defRPr sz="1650" b="0">
                <a:solidFill>
                  <a:srgbClr val="0A0A0A"/>
                </a:solidFill>
                <a:latin typeface="DM Sans"/>
                <a:ea typeface="DM Sans"/>
                <a:cs typeface="DM Sans"/>
              </a:defRPr>
            </a:pPr>
            <a:r>
              <a:rPr sz="1650" b="0">
                <a:solidFill>
                  <a:srgbClr val="0A0A0A"/>
                </a:solidFill>
                <a:latin typeface="DM Sans"/>
                <a:ea typeface="DM Sans"/>
                <a:cs typeface="DM Sans"/>
              </a:rPr>
              <a:t>$350.77 expected cash / $32,307.69 = 1.09% return.</a:t>
            </a:r>
          </a:p>
        </p:txBody>
      </p:sp>
      <p:sp>
        <p:nvSpPr>
          <p:cNvPr id="14" name="">
            <a:extLst xmlns:a="http://schemas.openxmlformats.org/drawingml/2006/main">
              <a:ext uri="{FF2B5EF4-FFF2-40B4-BE49-F238E27FC236}">
                <a16:creationId xmlns:a16="http://schemas.microsoft.com/office/drawing/2014/main" id="{2DFA4711-5210-4F99-A213-E62422E89568}"/>
              </a:ext>
            </a:extLst>
          </p:cNvPr>
          <p:cNvSpPr>
            <a:spLocks xmlns:a="http://schemas.openxmlformats.org/drawingml/2006/main" noGrp="1"/>
          </p:cNvSpPr>
          <p:nvPr/>
        </p:nvSpPr>
        <p:spPr>
          <a:xfrm xmlns:a="http://schemas.openxmlformats.org/drawingml/2006/main" rot="0">
            <a:off x="571500" y="5133975"/>
            <a:ext cx="105727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0A0A0A"/>
                </a:solidFill>
                <a:latin typeface="DM Sans"/>
                <a:ea typeface="DM Sans"/>
                <a:cs typeface="DM Sans"/>
              </a:defRPr>
            </a:defPPr>
            <a:lvl1pPr algn="l">
              <a:defRPr sz="1500" b="0">
                <a:solidFill>
                  <a:srgbClr val="0A0A0A"/>
                </a:solidFill>
                <a:latin typeface="DM Sans"/>
                <a:ea typeface="DM Sans"/>
                <a:cs typeface="DM Sans"/>
              </a:defRPr>
            </a:lvl1pPr>
            <a:lvl2pPr algn="l">
              <a:defRPr sz="1500" b="0">
                <a:solidFill>
                  <a:srgbClr val="0A0A0A"/>
                </a:solidFill>
                <a:latin typeface="DM Sans"/>
                <a:ea typeface="DM Sans"/>
                <a:cs typeface="DM Sans"/>
              </a:defRPr>
            </a:lvl2pPr>
            <a:lvl3pPr algn="l">
              <a:defRPr sz="1500" b="0">
                <a:solidFill>
                  <a:srgbClr val="0A0A0A"/>
                </a:solidFill>
                <a:latin typeface="DM Sans"/>
                <a:ea typeface="DM Sans"/>
                <a:cs typeface="DM Sans"/>
              </a:defRPr>
            </a:lvl3pPr>
            <a:lvl4pPr algn="l">
              <a:defRPr sz="1500" b="0">
                <a:solidFill>
                  <a:srgbClr val="0A0A0A"/>
                </a:solidFill>
                <a:latin typeface="DM Sans"/>
                <a:ea typeface="DM Sans"/>
                <a:cs typeface="DM Sans"/>
              </a:defRPr>
            </a:lvl4pPr>
            <a:lvl5pPr algn="l">
              <a:defRPr sz="1500" b="0">
                <a:solidFill>
                  <a:srgbClr val="0A0A0A"/>
                </a:solidFill>
                <a:latin typeface="DM Sans"/>
                <a:ea typeface="DM Sans"/>
                <a:cs typeface="DM Sans"/>
              </a:defRPr>
            </a:lvl5pPr>
            <a:lvl6pPr algn="l">
              <a:defRPr sz="1500" b="0">
                <a:solidFill>
                  <a:srgbClr val="0A0A0A"/>
                </a:solidFill>
                <a:latin typeface="DM Sans"/>
                <a:ea typeface="DM Sans"/>
                <a:cs typeface="DM Sans"/>
              </a:defRPr>
            </a:lvl6pPr>
            <a:lvl7pPr algn="l">
              <a:defRPr sz="1500" b="0">
                <a:solidFill>
                  <a:srgbClr val="0A0A0A"/>
                </a:solidFill>
                <a:latin typeface="DM Sans"/>
                <a:ea typeface="DM Sans"/>
                <a:cs typeface="DM Sans"/>
              </a:defRPr>
            </a:lvl7pPr>
            <a:lvl8pPr algn="l">
              <a:defRPr sz="1500" b="0">
                <a:solidFill>
                  <a:srgbClr val="0A0A0A"/>
                </a:solidFill>
                <a:latin typeface="DM Sans"/>
                <a:ea typeface="DM Sans"/>
                <a:cs typeface="DM Sans"/>
              </a:defRPr>
            </a:lvl8pPr>
            <a:lvl9pPr algn="l">
              <a:defRPr sz="1500" b="0">
                <a:solidFill>
                  <a:srgbClr val="0A0A0A"/>
                </a:solidFill>
                <a:latin typeface="DM Sans"/>
                <a:ea typeface="DM Sans"/>
                <a:cs typeface="DM Sans"/>
              </a:defRPr>
            </a:lvl9pPr>
          </a:lstStyle>
          <a:p xmlns:a="http://schemas.openxmlformats.org/drawingml/2006/main">
            <a:pPr algn="l">
              <a:defRPr sz="1500" b="0">
                <a:solidFill>
                  <a:srgbClr val="0A0A0A"/>
                </a:solidFill>
                <a:latin typeface="DM Sans"/>
                <a:ea typeface="DM Sans"/>
                <a:cs typeface="DM Sans"/>
              </a:defRPr>
            </a:pPr>
            <a:r>
              <a:rPr sz="1500" b="0">
                <a:solidFill>
                  <a:srgbClr val="0A0A0A"/>
                </a:solidFill>
                <a:latin typeface="DM Sans"/>
                <a:ea typeface="DM Sans"/>
                <a:cs typeface="DM Sans"/>
              </a:rPr>
              <a:t>$32,307.69 exceeds the $30,050 per-option cap. The model skips this case.</a:t>
            </a:r>
          </a:p>
        </p:txBody>
      </p:sp>
      <p:sp>
        <p:nvSpPr>
          <p:cNvPr id="15" name="">
            <a:extLst xmlns:a="http://schemas.openxmlformats.org/drawingml/2006/main">
              <a:ext uri="{FF2B5EF4-FFF2-40B4-BE49-F238E27FC236}">
                <a16:creationId xmlns:a16="http://schemas.microsoft.com/office/drawing/2014/main" id="{C2EE082A-275D-4379-9827-C499E3F5BBC5}"/>
              </a:ext>
            </a:extLst>
          </p:cNvPr>
          <p:cNvSpPr>
            <a:spLocks xmlns:a="http://schemas.openxmlformats.org/drawingml/2006/main" noGrp="1"/>
          </p:cNvSpPr>
          <p:nvPr/>
        </p:nvSpPr>
        <p:spPr>
          <a:xfrm xmlns:a="http://schemas.openxmlformats.org/drawingml/2006/main" rot="0">
            <a:off x="571500" y="5743575"/>
            <a:ext cx="10572750" cy="2476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25" b="0">
                <a:solidFill>
                  <a:srgbClr val="737373"/>
                </a:solidFill>
                <a:latin typeface="DM Sans"/>
                <a:ea typeface="DM Sans"/>
                <a:cs typeface="DM Sans"/>
              </a:defRPr>
            </a:defPPr>
            <a:lvl1pPr algn="l">
              <a:defRPr sz="1125" b="0">
                <a:solidFill>
                  <a:srgbClr val="737373"/>
                </a:solidFill>
                <a:latin typeface="DM Sans"/>
                <a:ea typeface="DM Sans"/>
                <a:cs typeface="DM Sans"/>
              </a:defRPr>
            </a:lvl1pPr>
            <a:lvl2pPr algn="l">
              <a:defRPr sz="1125" b="0">
                <a:solidFill>
                  <a:srgbClr val="737373"/>
                </a:solidFill>
                <a:latin typeface="DM Sans"/>
                <a:ea typeface="DM Sans"/>
                <a:cs typeface="DM Sans"/>
              </a:defRPr>
            </a:lvl2pPr>
            <a:lvl3pPr algn="l">
              <a:defRPr sz="1125" b="0">
                <a:solidFill>
                  <a:srgbClr val="737373"/>
                </a:solidFill>
                <a:latin typeface="DM Sans"/>
                <a:ea typeface="DM Sans"/>
                <a:cs typeface="DM Sans"/>
              </a:defRPr>
            </a:lvl3pPr>
            <a:lvl4pPr algn="l">
              <a:defRPr sz="1125" b="0">
                <a:solidFill>
                  <a:srgbClr val="737373"/>
                </a:solidFill>
                <a:latin typeface="DM Sans"/>
                <a:ea typeface="DM Sans"/>
                <a:cs typeface="DM Sans"/>
              </a:defRPr>
            </a:lvl4pPr>
            <a:lvl5pPr algn="l">
              <a:defRPr sz="1125" b="0">
                <a:solidFill>
                  <a:srgbClr val="737373"/>
                </a:solidFill>
                <a:latin typeface="DM Sans"/>
                <a:ea typeface="DM Sans"/>
                <a:cs typeface="DM Sans"/>
              </a:defRPr>
            </a:lvl5pPr>
            <a:lvl6pPr algn="l">
              <a:defRPr sz="1125" b="0">
                <a:solidFill>
                  <a:srgbClr val="737373"/>
                </a:solidFill>
                <a:latin typeface="DM Sans"/>
                <a:ea typeface="DM Sans"/>
                <a:cs typeface="DM Sans"/>
              </a:defRPr>
            </a:lvl6pPr>
            <a:lvl7pPr algn="l">
              <a:defRPr sz="1125" b="0">
                <a:solidFill>
                  <a:srgbClr val="737373"/>
                </a:solidFill>
                <a:latin typeface="DM Sans"/>
                <a:ea typeface="DM Sans"/>
                <a:cs typeface="DM Sans"/>
              </a:defRPr>
            </a:lvl7pPr>
            <a:lvl8pPr algn="l">
              <a:defRPr sz="1125" b="0">
                <a:solidFill>
                  <a:srgbClr val="737373"/>
                </a:solidFill>
                <a:latin typeface="DM Sans"/>
                <a:ea typeface="DM Sans"/>
                <a:cs typeface="DM Sans"/>
              </a:defRPr>
            </a:lvl8pPr>
            <a:lvl9pPr algn="l">
              <a:defRPr sz="1125" b="0">
                <a:solidFill>
                  <a:srgbClr val="737373"/>
                </a:solidFill>
                <a:latin typeface="DM Sans"/>
                <a:ea typeface="DM Sans"/>
                <a:cs typeface="DM Sans"/>
              </a:defRPr>
            </a:lvl9pPr>
          </a:lstStyle>
          <a:p xmlns:a="http://schemas.openxmlformats.org/drawingml/2006/main">
            <a:pPr algn="l">
              <a:defRPr sz="1125" b="0">
                <a:solidFill>
                  <a:srgbClr val="737373"/>
                </a:solidFill>
                <a:latin typeface="DM Sans"/>
                <a:ea typeface="DM Sans"/>
                <a:cs typeface="DM Sans"/>
              </a:defRPr>
            </a:pPr>
            <a:r>
              <a:rPr sz="1125" b="0">
                <a:solidFill>
                  <a:srgbClr val="737373"/>
                </a:solidFill>
                <a:latin typeface="DM Sans"/>
                <a:ea typeface="DM Sans"/>
                <a:cs typeface="DM Sans"/>
              </a:rPr>
              <a:t>The higher fixed-fee result is an assumed sensitivity, not a measured margin.</a:t>
            </a:r>
          </a:p>
        </p:txBody>
      </p:sp>
    </p:spTree>
    <p:extLst>
      <p:ext uri="{BB962C8B-B14F-4D97-AF65-F5344CB8AC3E}">
        <p14:creationId xmlns:p14="http://schemas.microsoft.com/office/powerpoint/2010/main" val="182052776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DM Sans"/>
        <a:ea typeface=""/>
        <a:cs typeface=""/>
      </a:majorFont>
      <a:minorFont>
        <a:latin typeface="DM San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2026-10-25T11:15:43.7780000Z</dcterms:created>
  <dcterms:modified xsi:type="dcterms:W3CDTF">2026-10-25T11:15:43.7780000Z</dcterms:modified>
</coreProperties>
</file>