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443d28803bf46fd" /><Relationship Type="http://schemas.openxmlformats.org/officeDocument/2006/relationships/extended-properties" Target="/docProps/app.xml" Id="R765cb60fd5fa4e63" /><Relationship Type="http://schemas.openxmlformats.org/officeDocument/2006/relationships/officeDocument" Target="/ppt/presentation.xml" Id="R4eb998f3e39a42d6" /></Relationships>
</file>

<file path=ppt/presentation.xml><?xml version="1.0" encoding="utf-8"?>
<p:presentation xmlns:p="http://schemas.openxmlformats.org/presentationml/2006/main">
  <p:sldMasterIdLst>
    <p:sldMasterId xmlns:r="http://schemas.openxmlformats.org/officeDocument/2006/relationships" id="2147483648" r:id="R23c4a9baddfd411a"/>
  </p:sldMasterIdLst>
  <p:notesMasterIdLst>
    <p:notesMasterId xmlns:r="http://schemas.openxmlformats.org/officeDocument/2006/relationships" r:id="Rc423afa353a3433b"/>
  </p:notesMasterIdLst>
  <p:sldIdLst>
    <p:sldId xmlns:r="http://schemas.openxmlformats.org/officeDocument/2006/relationships" id="256" r:id="Rf1f87d554933498a"/>
    <p:sldId xmlns:r="http://schemas.openxmlformats.org/officeDocument/2006/relationships" id="257" r:id="R728067f88b054c1b"/>
    <p:sldId xmlns:r="http://schemas.openxmlformats.org/officeDocument/2006/relationships" id="258" r:id="R91477354b86b4754"/>
    <p:sldId xmlns:r="http://schemas.openxmlformats.org/officeDocument/2006/relationships" id="259" r:id="Rb4d3a1d083fc4b30"/>
    <p:sldId xmlns:r="http://schemas.openxmlformats.org/officeDocument/2006/relationships" id="260" r:id="Rcfce4a00bb9a49de"/>
    <p:sldId xmlns:r="http://schemas.openxmlformats.org/officeDocument/2006/relationships" id="261" r:id="R89b42faa490f4d41"/>
    <p:sldId xmlns:r="http://schemas.openxmlformats.org/officeDocument/2006/relationships" id="262" r:id="R2b506e82b6854b3a"/>
    <p:sldId xmlns:r="http://schemas.openxmlformats.org/officeDocument/2006/relationships" id="263" r:id="Rbb72919e5362410b"/>
    <p:sldId xmlns:r="http://schemas.openxmlformats.org/officeDocument/2006/relationships" id="264" r:id="Ra03f420a4e5c410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c8ddcae8f84eeb" /><Relationship Type="http://schemas.openxmlformats.org/officeDocument/2006/relationships/slideMaster" Target="/ppt/slideMasters/slideMaster1.xml" Id="R23c4a9baddfd411a" /><Relationship Type="http://schemas.openxmlformats.org/officeDocument/2006/relationships/notesMaster" Target="/ppt/notesMasters/notesMaster1.xml" Id="Rc423afa353a3433b" /><Relationship Type="http://schemas.openxmlformats.org/officeDocument/2006/relationships/presProps" Target="/ppt/presProps.xml" Id="R8145d1fa43d64e4a" /><Relationship Type="http://schemas.openxmlformats.org/officeDocument/2006/relationships/tableStyles" Target="/ppt/tableStyles.xml" Id="Rdd129c0f6a0444d5" /><Relationship Type="http://schemas.openxmlformats.org/officeDocument/2006/relationships/slide" Target="/ppt/slides/slide1.xml" Id="Rf1f87d554933498a" /><Relationship Type="http://schemas.openxmlformats.org/officeDocument/2006/relationships/slide" Target="/ppt/slides/slide2.xml" Id="R728067f88b054c1b" /><Relationship Type="http://schemas.openxmlformats.org/officeDocument/2006/relationships/slide" Target="/ppt/slides/slide3.xml" Id="R91477354b86b4754" /><Relationship Type="http://schemas.openxmlformats.org/officeDocument/2006/relationships/slide" Target="/ppt/slides/slide4.xml" Id="Rb4d3a1d083fc4b30" /><Relationship Type="http://schemas.openxmlformats.org/officeDocument/2006/relationships/slide" Target="/ppt/slides/slide5.xml" Id="Rcfce4a00bb9a49de" /><Relationship Type="http://schemas.openxmlformats.org/officeDocument/2006/relationships/slide" Target="/ppt/slides/slide6.xml" Id="R89b42faa490f4d41" /><Relationship Type="http://schemas.openxmlformats.org/officeDocument/2006/relationships/slide" Target="/ppt/slides/slide7.xml" Id="R2b506e82b6854b3a" /><Relationship Type="http://schemas.openxmlformats.org/officeDocument/2006/relationships/slide" Target="/ppt/slides/slide8.xml" Id="Rbb72919e5362410b" /><Relationship Type="http://schemas.openxmlformats.org/officeDocument/2006/relationships/slide" Target="/ppt/slides/slide9.xml" Id="Ra03f420a4e5c41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93505432d14c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DM Sans"/>
        <a:ea typeface=""/>
        <a:cs typeface=""/>
      </a:majorFont>
      <a:minorFont>
        <a:latin typeface="DM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8dd6bbbf044157" /><Relationship Type="http://schemas.openxmlformats.org/officeDocument/2006/relationships/notesMaster" Target="/ppt/notesMasters/notesMaster1.xml" Id="Rc179b3ff7dd942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b21a87003b4c05" /><Relationship Type="http://schemas.openxmlformats.org/officeDocument/2006/relationships/notesMaster" Target="/ppt/notesMasters/notesMaster1.xml" Id="R2a317f791df243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ee9cb85e374dd7" /><Relationship Type="http://schemas.openxmlformats.org/officeDocument/2006/relationships/notesMaster" Target="/ppt/notesMasters/notesMaster1.xml" Id="R49422e5ba3c542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221771a6a945b4" /><Relationship Type="http://schemas.openxmlformats.org/officeDocument/2006/relationships/notesMaster" Target="/ppt/notesMasters/notesMaster1.xml" Id="R9a292ec846aa4c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395b2dab89f4fc8" /><Relationship Type="http://schemas.openxmlformats.org/officeDocument/2006/relationships/notesMaster" Target="/ppt/notesMasters/notesMaster1.xml" Id="R470e239cbf5542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378b827ee84c7b" /><Relationship Type="http://schemas.openxmlformats.org/officeDocument/2006/relationships/notesMaster" Target="/ppt/notesMasters/notesMaster1.xml" Id="R53e756c98b4a4a2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f784d0c1104966" /><Relationship Type="http://schemas.openxmlformats.org/officeDocument/2006/relationships/notesMaster" Target="/ppt/notesMasters/notesMaster1.xml" Id="R1d768809553f40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ee6a851ddd7435e" /><Relationship Type="http://schemas.openxmlformats.org/officeDocument/2006/relationships/notesMaster" Target="/ppt/notesMasters/notesMaster1.xml" Id="Re8631e2314c849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9b780d72df4dbe" /><Relationship Type="http://schemas.openxmlformats.org/officeDocument/2006/relationships/notesMaster" Target="/ppt/notesMasters/notesMaster1.xml" Id="R3bd52ee8df2348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Orecast</a:t>
            </a:r>
          </a:p>
          <a:p xmlns:a="http://schemas.openxmlformats.org/drawingml/2006/main">
            <a:r>
              <a:t/>
            </a:r>
          </a:p>
          <a:p xmlns:a="http://schemas.openxmlformats.org/drawingml/2006/main">
            <a:r>
              <a:t>Timing: 20 seconds.</a:t>
            </a:r>
          </a:p>
          <a:p xmlns:a="http://schemas.openxmlformats.org/drawingml/2006/main">
            <a:r>
              <a:t/>
            </a:r>
          </a:p>
          <a:p xmlns:a="http://schemas.openxmlformats.org/drawingml/2006/main">
            <a:r>
              <a:t>We are investigating Tok River, Alaska. Orecast brings geological evidence, recorded simulated reactions and the time available to exit an assumed mineral option into one decision that we can inspect. Financial outputs remain hypothetical.</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https://github.com/amitvijapur/oxhack-2026/blob/37991ad5de416e5abf8541264c5f4926a2ec91e8/model/tok-option/README.md#gold-forecast-and-valuation-model-v2</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Time and evidence</a:t>
            </a:r>
          </a:p>
          <a:p xmlns:a="http://schemas.openxmlformats.org/drawingml/2006/main">
            <a:r>
              <a:t/>
            </a:r>
          </a:p>
          <a:p xmlns:a="http://schemas.openxmlformats.org/drawingml/2006/main">
            <a:r>
              <a:t>Timing: 30 seconds.</a:t>
            </a:r>
          </a:p>
          <a:p xmlns:a="http://schemas.openxmlformats.org/drawingml/2006/main">
            <a:r>
              <a:t/>
            </a:r>
          </a:p>
          <a:p xmlns:a="http://schemas.openxmlformats.org/drawingml/2006/main">
            <a:r>
              <a:t>The decision has three distinct clocks: evidence collected and published in 2016, five simulated days, and assumed 30-, 90- or 180-day sale horizons. We now use a whole-lot entry of 30,050 dollars, including an assumed 50-dollar fee. The 30,000-dollar reference comes from two selected historical signing payments. It is not a current quote or the full cost of either historical agreement.</a:t>
            </a:r>
          </a:p>
          <a:p xmlns:a="http://schemas.openxmlformats.org/drawingml/2006/main">
            <a:r>
              <a:t/>
            </a:r>
          </a:p>
          <a:p xmlns:a="http://schemas.openxmlformats.org/drawingml/2006/main">
            <a:r>
              <a:t>Preparation / Q&amp;A: Fund size is exactly $1,502,500. Per-option risk is $30,050. Open risk and lifetime cohort commitments are each capped at $150,250, with no more than five positions. Historical Tibbs and Northway obligations are not included in the two signing-payment statistic; fees and the no-additional-obligations demo setting remain assumptions. A/B evidence partitions are not legal parcels or fractional traded units.</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https://doi.org/10.14509/29688</a:t>
            </a:r>
          </a:p>
          <a:p xmlns:a="http://schemas.openxmlformats.org/drawingml/2006/main">
            <a:r>
              <a:t/>
            </a:r>
          </a:p>
          <a:p xmlns:a="http://schemas.openxmlformats.org/drawingml/2006/main">
            <a:r>
              <a:t>https://github.com/amitvijapur/oxhack-2026/blob/37991ad5de416e5abf8541264c5f4926a2ec91e8/model/tok-option/workbench.mjs</a:t>
            </a:r>
          </a:p>
          <a:p xmlns:a="http://schemas.openxmlformats.org/drawingml/2006/main">
            <a:r>
              <a:t/>
            </a:r>
          </a:p>
          <a:p xmlns:a="http://schemas.openxmlformats.org/drawingml/2006/main">
            <a:r>
              <a:t>https://github.com/amitvijapur/oxhack-2026/blob/37991ad5de416e5abf8541264c5f4926a2ec91e8/model/tok-option/liquidity.mjs</a:t>
            </a:r>
          </a:p>
          <a:p xmlns:a="http://schemas.openxmlformats.org/drawingml/2006/main">
            <a:r>
              <a:t/>
            </a:r>
          </a:p>
          <a:p xmlns:a="http://schemas.openxmlformats.org/drawingml/2006/main">
            <a:r>
              <a:t>https://www.tectonicmetals.com/_resources/financials/MDA-Q2-2019-FINAL.pdf?v=070606</a:t>
            </a:r>
          </a:p>
          <a:p xmlns:a="http://schemas.openxmlformats.org/drawingml/2006/main">
            <a:r>
              <a:t/>
            </a:r>
          </a:p>
          <a:p xmlns:a="http://schemas.openxmlformats.org/drawingml/2006/main">
            <a:r>
              <a:t>https://www.tectonicmetals.com/_resources/financials/FS-Tectonic-2018YE-AUDITED.pdf?v=090403</a:t>
            </a:r>
          </a:p>
          <a:p xmlns:a="http://schemas.openxmlformats.org/drawingml/2006/main">
            <a:r>
              <a:t/>
            </a:r>
          </a:p>
          <a:p xmlns:a="http://schemas.openxmlformats.org/drawingml/2006/main">
            <a:r>
              <a:t>https://github.com/amitvijapur/oxhack-2026/blob/37991ad5de416e5abf8541264c5f4926a2ec91e8/model/tok-option/lot-basis.mjs</a:t>
            </a:r>
          </a:p>
          <a:p xmlns:a="http://schemas.openxmlformats.org/drawingml/2006/main">
            <a:r>
              <a:t/>
            </a:r>
          </a:p>
          <a:p xmlns:a="http://schemas.openxmlformats.org/drawingml/2006/main">
            <a:r>
              <a:t>https://github.com/amitvijapur/oxhack-2026/blob/37991ad5de416e5abf8541264c5f4926a2ec91e8/model/tok-option/diagnostics.mjs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Observed evidence</a:t>
            </a:r>
          </a:p>
          <a:p xmlns:a="http://schemas.openxmlformats.org/drawingml/2006/main">
            <a:r>
              <a:t/>
            </a:r>
          </a:p>
          <a:p xmlns:a="http://schemas.openxmlformats.org/drawingml/2006/main">
            <a:r>
              <a:t>Timing: 30 seconds.</a:t>
            </a:r>
          </a:p>
          <a:p xmlns:a="http://schemas.openxmlformats.org/drawingml/2006/main">
            <a:r>
              <a:t/>
            </a:r>
          </a:p>
          <a:p xmlns:a="http://schemas.openxmlformats.org/drawingml/2006/main">
            <a:r>
              <a:t>We begin with 67 measured sediment samples from Tok River, Alaska: 33 in Area A and 34 in B. Source provenance stays attached to each observation. Under the proposed gold-assay screen, A passes and B fails. The samples provide observed evidence, not recoverable ounces or geological success probabilities. Those remain separate assumptions. Map claims and illustrative squares provide context; they do not establish available mineral rights or an investment.</a:t>
            </a:r>
          </a:p>
          <a:p xmlns:a="http://schemas.openxmlformats.org/drawingml/2006/main">
            <a:r>
              <a:t/>
            </a:r>
          </a:p>
          <a:p xmlns:a="http://schemas.openxmlformats.org/drawingml/2006/main">
            <a:r>
              <a:t>Preparation / Q&amp;A: Technical Q&amp;A: at the proposed 0.01 ppm primary Au screen, A has 25 of 33 passing and B has 16 of 34. The rule requires at least ten classified observations and a qualifying lower bound of 50%. Preserve primary assay qualifiers and retests separately.</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https://doi.org/10.14509/29688</a:t>
            </a:r>
          </a:p>
          <a:p xmlns:a="http://schemas.openxmlformats.org/drawingml/2006/main">
            <a:r>
              <a:t/>
            </a:r>
          </a:p>
          <a:p xmlns:a="http://schemas.openxmlformats.org/drawingml/2006/main">
            <a:r>
              <a:t>https://github.com/amitvijapur/oxhack-2026/blob/37991ad5de416e5abf8541264c5f4926a2ec91e8/model/tok-option/evidence.mjs</a:t>
            </a:r>
          </a:p>
          <a:p xmlns:a="http://schemas.openxmlformats.org/drawingml/2006/main">
            <a:r>
              <a:t/>
            </a:r>
          </a:p>
          <a:p xmlns:a="http://schemas.openxmlformats.org/drawingml/2006/main">
            <a:r>
              <a:t>https://github.com/amitvijapur/oxhack-2026/tree/34eaf1d6e87fedd54c46b04dec093b0cc2b18581/research/tok-land</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Gold forecast and assignment</a:t>
            </a:r>
          </a:p>
          <a:p xmlns:a="http://schemas.openxmlformats.org/drawingml/2006/main">
            <a:r>
              <a:t/>
            </a:r>
          </a:p>
          <a:p xmlns:a="http://schemas.openxmlformats.org/drawingml/2006/main">
            <a:r>
              <a:t>Timing: 60 seconds.</a:t>
            </a:r>
          </a:p>
          <a:p xmlns:a="http://schemas.openxmlformats.org/drawingml/2006/main">
            <a:r>
              <a:t/>
            </a:r>
          </a:p>
          <a:p xmlns:a="http://schemas.openxmlformats.org/drawingml/2006/main">
            <a:r>
              <a:t>Read the layers from top to bottom. Observed assays screen eligibility. Recorded simulated support is compared with the matching Claude sports-placebo reference. Orecast changes the assumed gold price first, then recomputes gross material value, success-state interest value, option assignment proceeds, and dated sale/no-sale cash and return. Recoverable ounces, ownership, conversion, geological success, buyer consideration, fees and sale hazard are separate assumptions. At each possible sale date the assignment payoff is geological success times the positive part of success-state interest value less buyer consideration. The 7% coefficient is an uncalibrated gold response cap. It is neither a direct assignment markup nor an investment-loss limit. The response is retained across sale dates without monthly compounding. Strict research readiness remains failed; the financial path is explicitly hypothetical. Whole-lot entry, fees and commitment limits are checked separately. The independent baseline valuation stays at 1500 dollars rather than being scaled to create profit. No trade execution occurs.</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https://github.com/amitvijapur/oxhack-2026/blob/37991ad5de416e5abf8541264c5f4926a2ec91e8/model/tok-option/README.md#gold-forecast-and-valuation-model-v2</a:t>
            </a:r>
          </a:p>
          <a:p xmlns:a="http://schemas.openxmlformats.org/drawingml/2006/main">
            <a:r>
              <a:t/>
            </a:r>
          </a:p>
          <a:p xmlns:a="http://schemas.openxmlformats.org/drawingml/2006/main">
            <a:r>
              <a:t>https://github.com/amitvijapur/oxhack-2026/blob/37991ad5de416e5abf8541264c5f4926a2ec91e8/model/tok-option/gold.mjs</a:t>
            </a:r>
          </a:p>
          <a:p xmlns:a="http://schemas.openxmlformats.org/drawingml/2006/main">
            <a:r>
              <a:t/>
            </a:r>
          </a:p>
          <a:p xmlns:a="http://schemas.openxmlformats.org/drawingml/2006/main">
            <a:r>
              <a:t>https://github.com/amitvijapur/oxhack-2026/blob/37991ad5de416e5abf8541264c5f4926a2ec91e8/model/tok-option/valuation.mjs</a:t>
            </a:r>
          </a:p>
          <a:p xmlns:a="http://schemas.openxmlformats.org/drawingml/2006/main">
            <a:r>
              <a:t/>
            </a:r>
          </a:p>
          <a:p xmlns:a="http://schemas.openxmlformats.org/drawingml/2006/main">
            <a:r>
              <a:t>https://github.com/amitvijapur/oxhack-2026/blob/37991ad5de416e5abf8541264c5f4926a2ec91e8/model/tok-option/liquidity.mjs</a:t>
            </a:r>
          </a:p>
          <a:p xmlns:a="http://schemas.openxmlformats.org/drawingml/2006/main">
            <a:r>
              <a:t/>
            </a:r>
          </a:p>
          <a:p xmlns:a="http://schemas.openxmlformats.org/drawingml/2006/main">
            <a:r>
              <a:t>https://github.com/amitvijapur/oxhack-2026/blob/37991ad5de416e5abf8541264c5f4926a2ec91e8/model/tok-option/illustrative.mjs</a:t>
            </a:r>
          </a:p>
          <a:p xmlns:a="http://schemas.openxmlformats.org/drawingml/2006/main">
            <a:r>
              <a:t/>
            </a:r>
          </a:p>
          <a:p xmlns:a="http://schemas.openxmlformats.org/drawingml/2006/main">
            <a:r>
              <a:t>https://github.com/amitvijapur/oxhack-2026/blob/37991ad5de416e5abf8541264c5f4926a2ec91e8/model/tok-option/index.mjs</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Recorded scenario contrast</a:t>
            </a:r>
          </a:p>
          <a:p xmlns:a="http://schemas.openxmlformats.org/drawingml/2006/main">
            <a:r>
              <a:t/>
            </a:r>
          </a:p>
          <a:p xmlns:a="http://schemas.openxmlformats.org/drawingml/2006/main">
            <a:r>
              <a:t>Timing: 55 seconds.</a:t>
            </a:r>
          </a:p>
          <a:p xmlns:a="http://schemas.openxmlformats.org/drawingml/2006/main">
            <a:r>
              <a:t/>
            </a:r>
          </a:p>
          <a:p xmlns:a="http://schemas.openxmlformats.org/drawingml/2006/main">
            <a:r>
              <a:t>The recorded support comparison is unchanged. Mine approval gives minus 0.0252 support and assumed gold of 1996.47 dollars an ounce; court blockage gives plus 0.0307 and 2004.30 dollars. With the same 30,050-dollar lot, expected 90-day cash is minus 29,344.55 dollars for approval and minus 29,339.78 for blockage. Expected option returns are minus 97.65% and minus 97.64%. Both are skips. The gold-first valuation remains independent of the entry premium. The matching sports-placebo reference covers days three through five; it is not an untreated control. The 7% response is an uncalibrated gold coefficient, not a loss limit. Research checks still fail. We did not raise the exit valuation to manufacture a margin.</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https://github.com/amitvijapur/oxhack-2026/blob/37991ad5de416e5abf8541264c5f4926a2ec91e8/model/tok-option/README.md#gold-forecast-and-valuation-model-v2</a:t>
            </a:r>
          </a:p>
          <a:p xmlns:a="http://schemas.openxmlformats.org/drawingml/2006/main">
            <a:r>
              <a:t/>
            </a:r>
          </a:p>
          <a:p xmlns:a="http://schemas.openxmlformats.org/drawingml/2006/main">
            <a:r>
              <a:t>https://github.com/amitvijapur/oxhack-2026/blob/37991ad5de416e5abf8541264c5f4926a2ec91e8/model/tok-option/gold.mjs</a:t>
            </a:r>
          </a:p>
          <a:p xmlns:a="http://schemas.openxmlformats.org/drawingml/2006/main">
            <a:r>
              <a:t/>
            </a:r>
          </a:p>
          <a:p xmlns:a="http://schemas.openxmlformats.org/drawingml/2006/main">
            <a:r>
              <a:t>https://github.com/amitvijapur/oxhack-2026/blob/37991ad5de416e5abf8541264c5f4926a2ec91e8/model/tok-option/valuation.mjs</a:t>
            </a:r>
          </a:p>
          <a:p xmlns:a="http://schemas.openxmlformats.org/drawingml/2006/main">
            <a:r>
              <a:t/>
            </a:r>
          </a:p>
          <a:p xmlns:a="http://schemas.openxmlformats.org/drawingml/2006/main">
            <a:r>
              <a:t>https://github.com/amitvijapur/oxhack-2026/blob/37991ad5de416e5abf8541264c5f4926a2ec91e8/model/tok-option/liquidity.mjs</a:t>
            </a:r>
          </a:p>
          <a:p xmlns:a="http://schemas.openxmlformats.org/drawingml/2006/main">
            <a:r>
              <a:t/>
            </a:r>
          </a:p>
          <a:p xmlns:a="http://schemas.openxmlformats.org/drawingml/2006/main">
            <a:r>
              <a:t>https://github.com/amitvijapur/oxhack-2026/blob/37991ad5de416e5abf8541264c5f4926a2ec91e8/model/tok-option/illustrative.mjs</a:t>
            </a:r>
          </a:p>
          <a:p xmlns:a="http://schemas.openxmlformats.org/drawingml/2006/main">
            <a:r>
              <a:t/>
            </a:r>
          </a:p>
          <a:p xmlns:a="http://schemas.openxmlformats.org/drawingml/2006/main">
            <a:r>
              <a:t>https://github.com/amitvijapur/oxhack-2026/blob/37991ad5de416e5abf8541264c5f4926a2ec91e8/frontend/src/components/swarm/SwarmWorkflow.tsx</a:t>
            </a:r>
          </a:p>
          <a:p xmlns:a="http://schemas.openxmlformats.org/drawingml/2006/main">
            <a:r>
              <a:t/>
            </a:r>
          </a:p>
          <a:p xmlns:a="http://schemas.openxmlformats.org/drawingml/2006/main">
            <a:r>
              <a:t>https://github.com/amitvijapur/oxhack-2026/tree/f2fe2971d9f041a819f7b7ff4a78e10f840884f5/swarm</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a:p xmlns:a="http://schemas.openxmlformats.org/drawingml/2006/main">
            <a:r>
              <a:t/>
            </a:r>
          </a:p>
          <a:p xmlns:a="http://schemas.openxmlformats.org/drawingml/2006/main">
            <a:r>
              <a:t>https://www.tectonicmetals.com/_resources/financials/MDA-Q2-2019-FINAL.pdf?v=070606</a:t>
            </a:r>
          </a:p>
          <a:p xmlns:a="http://schemas.openxmlformats.org/drawingml/2006/main">
            <a:r>
              <a:t/>
            </a:r>
          </a:p>
          <a:p xmlns:a="http://schemas.openxmlformats.org/drawingml/2006/main">
            <a:r>
              <a:t>https://www.tectonicmetals.com/_resources/financials/FS-Tectonic-2018YE-AUDITED.pdf?v=090403</a:t>
            </a:r>
          </a:p>
          <a:p xmlns:a="http://schemas.openxmlformats.org/drawingml/2006/main">
            <a:r>
              <a:t/>
            </a:r>
          </a:p>
          <a:p xmlns:a="http://schemas.openxmlformats.org/drawingml/2006/main">
            <a:r>
              <a:t>https://github.com/amitvijapur/oxhack-2026/blob/37991ad5de416e5abf8541264c5f4926a2ec91e8/model/tok-option/lot-basis.mjs</a:t>
            </a:r>
          </a:p>
          <a:p xmlns:a="http://schemas.openxmlformats.org/drawingml/2006/main">
            <a:r>
              <a:t/>
            </a:r>
          </a:p>
          <a:p xmlns:a="http://schemas.openxmlformats.org/drawingml/2006/main">
            <a:r>
              <a:t>https://github.com/amitvijapur/oxhack-2026/blob/37991ad5de416e5abf8541264c5f4926a2ec91e8/model/tok-option/diagnostics.mjs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Time and return</a:t>
            </a:r>
          </a:p>
          <a:p xmlns:a="http://schemas.openxmlformats.org/drawingml/2006/main">
            <a:r>
              <a:t/>
            </a:r>
          </a:p>
          <a:p xmlns:a="http://schemas.openxmlformats.org/drawingml/2006/main">
            <a:r>
              <a:t>Timing: 60 seconds.</a:t>
            </a:r>
          </a:p>
          <a:p xmlns:a="http://schemas.openxmlformats.org/drawingml/2006/main">
            <a:r>
              <a:t/>
            </a:r>
          </a:p>
          <a:p xmlns:a="http://schemas.openxmlformats.org/drawingml/2006/main">
            <a:r>
              <a:t>At 30,050 dollars upfront, the unchanged zero-growth baseline assignment value is only 1500 dollars. At 90 days, expected cash is minus 29,342.40 dollars and expected option return is minus 97.65%. The result is skip. Thirty and 180 days also fail: more opportunities to sell cannot rescue this price mismatch. A 25% expected 90-day return would require 77,022.34 dollars of gross assignment proceeds, held constant across possible sale dates. That is a required underwriting hurdle, not a forecast or an observed resale quote. It does not replace the independent 1500-dollar model valuation. Sale probability remains an assumed 48.8%, with 51.2% no sale. Unsold marks stay separate from cash.</a:t>
            </a:r>
          </a:p>
          <a:p xmlns:a="http://schemas.openxmlformats.org/drawingml/2006/main">
            <a:r>
              <a:t/>
            </a:r>
          </a:p>
          <a:p xmlns:a="http://schemas.openxmlformats.org/drawingml/2006/main">
            <a:r>
              <a:t>Preparation / Q&amp;A: The cash chart uses the full zero-to-minus-$32,000 axis. Baseline 30/90/180-day cash is −$29,760.00/−$29,342.40/−$28,980.11. Non-annualized return divides cash by all $30,050 upfront. No-sale cash is −$30,050; even a completed sale has −$28,600 net cash. The 180-day horizon plus 15-day closing buffer fits inside the assumed 365-day maturity.</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https://github.com/amitvijapur/oxhack-2026/blob/37991ad5de416e5abf8541264c5f4926a2ec91e8/model/tok-option/README.md#gold-forecast-and-valuation-model-v2</a:t>
            </a:r>
          </a:p>
          <a:p xmlns:a="http://schemas.openxmlformats.org/drawingml/2006/main">
            <a:r>
              <a:t/>
            </a:r>
          </a:p>
          <a:p xmlns:a="http://schemas.openxmlformats.org/drawingml/2006/main">
            <a:r>
              <a:t>https://github.com/amitvijapur/oxhack-2026/blob/37991ad5de416e5abf8541264c5f4926a2ec91e8/model/tok-option/gold.mjs</a:t>
            </a:r>
          </a:p>
          <a:p xmlns:a="http://schemas.openxmlformats.org/drawingml/2006/main">
            <a:r>
              <a:t/>
            </a:r>
          </a:p>
          <a:p xmlns:a="http://schemas.openxmlformats.org/drawingml/2006/main">
            <a:r>
              <a:t>https://github.com/amitvijapur/oxhack-2026/blob/37991ad5de416e5abf8541264c5f4926a2ec91e8/model/tok-option/valuation.mjs</a:t>
            </a:r>
          </a:p>
          <a:p xmlns:a="http://schemas.openxmlformats.org/drawingml/2006/main">
            <a:r>
              <a:t/>
            </a:r>
          </a:p>
          <a:p xmlns:a="http://schemas.openxmlformats.org/drawingml/2006/main">
            <a:r>
              <a:t>https://github.com/amitvijapur/oxhack-2026/blob/37991ad5de416e5abf8541264c5f4926a2ec91e8/model/tok-option/liquidity.mjs</a:t>
            </a:r>
          </a:p>
          <a:p xmlns:a="http://schemas.openxmlformats.org/drawingml/2006/main">
            <a:r>
              <a:t/>
            </a:r>
          </a:p>
          <a:p xmlns:a="http://schemas.openxmlformats.org/drawingml/2006/main">
            <a:r>
              <a:t>https://github.com/amitvijapur/oxhack-2026/blob/37991ad5de416e5abf8541264c5f4926a2ec91e8/model/tok-option/diagnostics.mjs</a:t>
            </a:r>
          </a:p>
          <a:p xmlns:a="http://schemas.openxmlformats.org/drawingml/2006/main">
            <a:r>
              <a:t/>
            </a:r>
          </a:p>
          <a:p xmlns:a="http://schemas.openxmlformats.org/drawingml/2006/main">
            <a:r>
              <a:t>https://www.tectonicmetals.com/_resources/financials/MDA-Q2-2019-FINAL.pdf?v=070606</a:t>
            </a:r>
          </a:p>
          <a:p xmlns:a="http://schemas.openxmlformats.org/drawingml/2006/main">
            <a:r>
              <a:t/>
            </a:r>
          </a:p>
          <a:p xmlns:a="http://schemas.openxmlformats.org/drawingml/2006/main">
            <a:r>
              <a:t>https://www.tectonicmetals.com/_resources/financials/FS-Tectonic-2018YE-AUDITED.pdf?v=090403</a:t>
            </a:r>
          </a:p>
          <a:p xmlns:a="http://schemas.openxmlformats.org/drawingml/2006/main">
            <a:r>
              <a:t/>
            </a:r>
          </a:p>
          <a:p xmlns:a="http://schemas.openxmlformats.org/drawingml/2006/main">
            <a:r>
              <a:t>https://github.com/amitvijapur/oxhack-2026/blob/37991ad5de416e5abf8541264c5f4926a2ec91e8/model/tok-option/lot-basis.mjs</a:t>
            </a:r>
          </a:p>
          <a:p xmlns:a="http://schemas.openxmlformats.org/drawingml/2006/main">
            <a:r>
              <a:t/>
            </a:r>
          </a:p>
          <a:p xmlns:a="http://schemas.openxmlformats.org/drawingml/2006/main">
            <a:r>
              <a:t>https://github.com/amitvijapur/oxhack-2026/blob/37991ad5de416e5abf8541264c5f4926a2ec91e8/model/tok-option/diagnostics.mjs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Demonstration</a:t>
            </a:r>
          </a:p>
          <a:p xmlns:a="http://schemas.openxmlformats.org/drawingml/2006/main">
            <a:r>
              <a:t/>
            </a:r>
          </a:p>
          <a:p xmlns:a="http://schemas.openxmlformats.org/drawingml/2006/main">
            <a:r>
              <a:t>Timing: 45 seconds.</a:t>
            </a:r>
          </a:p>
          <a:p xmlns:a="http://schemas.openxmlformats.org/drawingml/2006/main">
            <a:r>
              <a:t/>
            </a:r>
          </a:p>
          <a:p xmlns:a="http://schemas.openxmlformats.org/drawingml/2006/main">
            <a:r>
              <a:t>On /swarm, compare approval with blockage for Area A at 90 days. The gold forecast changes, but both whole-lot scenarios remain skips. Approval has minus 29,344.55 dollars expected cash; blockage has minus 29,339.78. The 25% resale hurdle is not a forecast. Next, validate real contract costs, assignment liquidity and paired prospective outcomes. The historical pilot did not establish an edge.</a:t>
            </a:r>
          </a:p>
          <a:p xmlns:a="http://schemas.openxmlformats.org/drawingml/2006/main">
            <a:r>
              <a:t/>
            </a:r>
          </a:p>
          <a:p xmlns:a="http://schemas.openxmlformats.org/drawingml/2006/main">
            <a:r>
              <a:t>Preparation / Q&amp;A: Allow up to twenty seconds for the live comparison within this 45-second slide. Use the refreshed recorded /swarm path, Area A, 90 days, simulated day 5. The separate Decision workbench startup/reset uses a different synthetic preset and must not be conflated with this comparison. If switching is slow, point to the saved capture.</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https://github.com/amitvijapur/oxhack-2026/blob/37991ad5de416e5abf8541264c5f4926a2ec91e8/frontend/src/components/swarm/SwarmWorkflow.tsx</a:t>
            </a:r>
          </a:p>
          <a:p xmlns:a="http://schemas.openxmlformats.org/drawingml/2006/main">
            <a:r>
              <a:t/>
            </a:r>
          </a:p>
          <a:p xmlns:a="http://schemas.openxmlformats.org/drawingml/2006/main">
            <a:r>
              <a:t>https://github.com/amitvijapur/oxhack-2026/blob/37991ad5de416e5abf8541264c5f4926a2ec91e8/frontend/src/model-presentation.mjs</a:t>
            </a:r>
          </a:p>
          <a:p xmlns:a="http://schemas.openxmlformats.org/drawingml/2006/main">
            <a:r>
              <a:t/>
            </a:r>
          </a:p>
          <a:p xmlns:a="http://schemas.openxmlformats.org/drawingml/2006/main">
            <a:r>
              <a:t>https://github.com/amitvijapur/oxhack-2026/blob/37991ad5de416e5abf8541264c5f4926a2ec91e8/research/event-study/RESULTS.md</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a:p xmlns:a="http://schemas.openxmlformats.org/drawingml/2006/main">
            <a:r>
              <a:t/>
            </a:r>
          </a:p>
          <a:p xmlns:a="http://schemas.openxmlformats.org/drawingml/2006/main">
            <a:r>
              <a:t>https://www.tectonicmetals.com/_resources/financials/MDA-Q2-2019-FINAL.pdf?v=070606</a:t>
            </a:r>
          </a:p>
          <a:p xmlns:a="http://schemas.openxmlformats.org/drawingml/2006/main">
            <a:r>
              <a:t/>
            </a:r>
          </a:p>
          <a:p xmlns:a="http://schemas.openxmlformats.org/drawingml/2006/main">
            <a:r>
              <a:t>https://www.tectonicmetals.com/_resources/financials/FS-Tectonic-2018YE-AUDITED.pdf?v=090403</a:t>
            </a:r>
          </a:p>
          <a:p xmlns:a="http://schemas.openxmlformats.org/drawingml/2006/main">
            <a:r>
              <a:t/>
            </a:r>
          </a:p>
          <a:p xmlns:a="http://schemas.openxmlformats.org/drawingml/2006/main">
            <a:r>
              <a:t>https://github.com/amitvijapur/oxhack-2026/blob/37991ad5de416e5abf8541264c5f4926a2ec91e8/model/tok-option/lot-basis.mjs</a:t>
            </a:r>
          </a:p>
          <a:p xmlns:a="http://schemas.openxmlformats.org/drawingml/2006/main">
            <a:r>
              <a:t/>
            </a:r>
          </a:p>
          <a:p xmlns:a="http://schemas.openxmlformats.org/drawingml/2006/main">
            <a:r>
              <a:t>https://github.com/amitvijapur/oxhack-2026/blob/37991ad5de416e5abf8541264c5f4926a2ec91e8/model/tok-option/diagnostics.mjs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Baseline cash calculation</a:t>
            </a:r>
          </a:p>
          <a:p xmlns:a="http://schemas.openxmlformats.org/drawingml/2006/main">
            <a:r>
              <a:t/>
            </a:r>
          </a:p>
          <a:p xmlns:a="http://schemas.openxmlformats.org/drawingml/2006/main">
            <a:r>
              <a:t>Appendix for questions.</a:t>
            </a:r>
          </a:p>
          <a:p xmlns:a="http://schemas.openxmlformats.org/drawingml/2006/main">
            <a:r>
              <a:t/>
            </a:r>
          </a:p>
          <a:p xmlns:a="http://schemas.openxmlformats.org/drawingml/2006/main">
            <a:r>
              <a:t>The unchanged baseline assignment proceeds are 1500 dollars. Subtract a 50-dollar exit fee and 30,050-dollar upfront commitment: the sale branch has minus 28,600 dollars cash. No sale has minus 30,050. Weighting the branches by 48.8% and 51.2% gives minus 13,956.80 and minus 15,385.60, summing to minus 29,342.40. Dividing by 30,050 gives minus 97.64526%, not annualized. To require a 25% expected return with the same sale probability, solve S equals 30,050 times 1.25 divided by 0.488 plus 50, giving 77,022.34 dollars. This is a constant gross assignment-proceeds hurdle at every possible sale date, not a forecast. We keep 500 assumed recoverable ounces, 2000-dollar gold, 50% ownership, 2% conversion, 25% geological success and 4000-dollar buyer consideration unchanged. Those assumptions still produce 1500 dollars. The independent valuation does not justify the new entry premium, so the model skips.</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https://github.com/amitvijapur/oxhack-2026/blob/37991ad5de416e5abf8541264c5f4926a2ec91e8/model/tok-option/README.md#gold-forecast-and-valuation-model-v2</a:t>
            </a:r>
          </a:p>
          <a:p xmlns:a="http://schemas.openxmlformats.org/drawingml/2006/main">
            <a:r>
              <a:t/>
            </a:r>
          </a:p>
          <a:p xmlns:a="http://schemas.openxmlformats.org/drawingml/2006/main">
            <a:r>
              <a:t>https://github.com/amitvijapur/oxhack-2026/blob/37991ad5de416e5abf8541264c5f4926a2ec91e8/model/tok-option/gold.mjs</a:t>
            </a:r>
          </a:p>
          <a:p xmlns:a="http://schemas.openxmlformats.org/drawingml/2006/main">
            <a:r>
              <a:t/>
            </a:r>
          </a:p>
          <a:p xmlns:a="http://schemas.openxmlformats.org/drawingml/2006/main">
            <a:r>
              <a:t>https://github.com/amitvijapur/oxhack-2026/blob/37991ad5de416e5abf8541264c5f4926a2ec91e8/model/tok-option/valuation.mjs</a:t>
            </a:r>
          </a:p>
          <a:p xmlns:a="http://schemas.openxmlformats.org/drawingml/2006/main">
            <a:r>
              <a:t/>
            </a:r>
          </a:p>
          <a:p xmlns:a="http://schemas.openxmlformats.org/drawingml/2006/main">
            <a:r>
              <a:t>https://github.com/amitvijapur/oxhack-2026/blob/37991ad5de416e5abf8541264c5f4926a2ec91e8/model/tok-option/liquidity.mjs</a:t>
            </a:r>
          </a:p>
          <a:p xmlns:a="http://schemas.openxmlformats.org/drawingml/2006/main">
            <a:r>
              <a:t/>
            </a:r>
          </a:p>
          <a:p xmlns:a="http://schemas.openxmlformats.org/drawingml/2006/main">
            <a:r>
              <a:t>https://github.com/amitvijapur/oxhack-2026/blob/37991ad5de416e5abf8541264c5f4926a2ec91e8/model/tok-option/diagnostics.mjs</a:t>
            </a:r>
          </a:p>
          <a:p xmlns:a="http://schemas.openxmlformats.org/drawingml/2006/main">
            <a:r>
              <a:t/>
            </a:r>
          </a:p>
          <a:p xmlns:a="http://schemas.openxmlformats.org/drawingml/2006/main">
            <a:r>
              <a:t>https://www.tectonicmetals.com/_resources/financials/MDA-Q2-2019-FINAL.pdf?v=070606</a:t>
            </a:r>
          </a:p>
          <a:p xmlns:a="http://schemas.openxmlformats.org/drawingml/2006/main">
            <a:r>
              <a:t/>
            </a:r>
          </a:p>
          <a:p xmlns:a="http://schemas.openxmlformats.org/drawingml/2006/main">
            <a:r>
              <a:t>https://www.tectonicmetals.com/_resources/financials/FS-Tectonic-2018YE-AUDITED.pdf?v=090403</a:t>
            </a:r>
          </a:p>
          <a:p xmlns:a="http://schemas.openxmlformats.org/drawingml/2006/main">
            <a:r>
              <a:t/>
            </a:r>
          </a:p>
          <a:p xmlns:a="http://schemas.openxmlformats.org/drawingml/2006/main">
            <a:r>
              <a:t>https://github.com/amitvijapur/oxhack-2026/blob/37991ad5de416e5abf8541264c5f4926a2ec91e8/model/tok-option/lot-basis.mjs</a:t>
            </a:r>
          </a:p>
          <a:p xmlns:a="http://schemas.openxmlformats.org/drawingml/2006/main">
            <a:r>
              <a:t/>
            </a:r>
          </a:p>
          <a:p xmlns:a="http://schemas.openxmlformats.org/drawingml/2006/main">
            <a:r>
              <a:t>https://github.com/amitvijapur/oxhack-2026/blob/37991ad5de416e5abf8541264c5f4926a2ec91e8/model/tok-option/diagnostics.mjs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Historical pilot</a:t>
            </a:r>
          </a:p>
          <a:p xmlns:a="http://schemas.openxmlformats.org/drawingml/2006/main">
            <a:r>
              <a:t/>
            </a:r>
          </a:p>
          <a:p xmlns:a="http://schemas.openxmlformats.org/drawingml/2006/main">
            <a:r>
              <a:t>Appendix for questions.</a:t>
            </a:r>
          </a:p>
          <a:p xmlns:a="http://schemas.openxmlformats.org/drawingml/2006/main">
            <a:r>
              <a:t/>
            </a:r>
          </a:p>
          <a:p xmlns:a="http://schemas.openxmlformats.org/drawingml/2006/main">
            <a:r>
              <a:t>This is a small retrospective equity component test, separate from the Tok option calculation. It uses twelve source-selected 2020–2025 permitting or court events, nine Pebble/Northern Dynasty and three Donlin/NOVAGOLD. Five observations are held out for each horizon, but the five- and twenty-session cohorts differ. Mean absolute error is measured in percentage points; lower is better. No change gives 2.5562 and 5.9474; gold-only gives 3.1291 and 7.5670; gold plus event gives 8.0596 and 14.3108. The event adjustment did not beat the gold baseline, and no change performs best in both selected cohorts. There are no paired historical swarm outcomes. Limitations include repeated issuers, a source-selected incomplete sample, date-only awareness uncertainty, current-vintage adjusted prices, correlated or anticipated events and vendor precision. GLD is an ETF proxy, not spot gold. This pilot does not validate Tok option returns, the assumed support-to-gold response or incremental swarm value. Next validate paired prospective outcomes and assignment liquidity.</a:t>
            </a:r>
          </a:p>
          <a:p xmlns:a="http://schemas.openxmlformats.org/drawingml/2006/main">
            <a:r>
              <a:t/>
            </a:r>
          </a:p>
          <a:p xmlns:a="http://schemas.openxmlformats.org/drawingml/2006/main">
            <a:r>
              <a:t>Source revision: 37991ad5de416e5abf8541264c5f4926a2ec91e8. Model: tok-option-demo-v2.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https://github.com/amitvijapur/oxhack-2026/blob/37991ad5de416e5abf8541264c5f4926a2ec91e8/research/event-study/RESULTS.md</a:t>
            </a:r>
          </a:p>
          <a:p xmlns:a="http://schemas.openxmlformats.org/drawingml/2006/main">
            <a:r>
              <a:t/>
            </a:r>
          </a:p>
          <a:p xmlns:a="http://schemas.openxmlformats.org/drawingml/2006/main">
            <a:r>
              <a:t>https://github.com/amitvijapur/oxhack-2026/blob/37991ad5de416e5abf8541264c5f4926a2ec91e8/research/event-study/protocol.md</a:t>
            </a:r>
          </a:p>
          <a:p xmlns:a="http://schemas.openxmlformats.org/drawingml/2006/main">
            <a:r>
              <a:t/>
            </a:r>
          </a:p>
          <a:p xmlns:a="http://schemas.openxmlformats.org/drawingml/2006/main">
            <a:r>
              <a:t>https://github.com/amitvijapur/oxhack-2026/blob/37991ad5de416e5abf8541264c5f4926a2ec91e8/research/event-study/schema.md</a:t>
            </a:r>
          </a:p>
          <a:p xmlns:a="http://schemas.openxmlformats.org/drawingml/2006/main">
            <a:r>
              <a:t/>
            </a:r>
          </a:p>
          <a:p xmlns:a="http://schemas.openxmlformats.org/drawingml/2006/main">
            <a:r>
              <a:t>https://github.com/amitvijapur/oxhack-2026/blob/37991ad5de416e5abf8541264c5f4926a2ec91e8/research/edge-feasibility.md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95e979ee414fb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cf8910750ee44b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b02abc7529749a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ffeea22d634e5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300e21c7b6746f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6d4037ad36d40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E713D3-FB41-4C1E-B659-EF323F75EB2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4FC3350-D06C-4165-AACD-E00F17D2509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38EC757-CB11-434A-BEEC-AA528B39894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8C7387-8E62-46FF-BFB1-1A8BF64B74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237F5B7-F3EC-4F51-A1D9-B00DAE811D7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0E1CE0-A1C5-4D88-96FB-BC8AEF6E16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144B2D-83EB-4443-9C37-CC0DD46E21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9C3E9F-89F3-4497-8E1D-245E2E037E2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ECCB6E-C772-416E-AFCA-7E15F1A158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A991E-C2CC-408B-BB1B-0EEDBABF769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a23dd6844744f9" /><Relationship Type="http://schemas.openxmlformats.org/officeDocument/2006/relationships/slideLayout" Target="/ppt/slideLayouts/slideLayout1.xml" Id="Re42f19f1d9244d96" /><Relationship Type="http://schemas.openxmlformats.org/officeDocument/2006/relationships/slideLayout" Target="/ppt/slideLayouts/slideLayout2.xml" Id="Rdb3c2535479c4652" /><Relationship Type="http://schemas.openxmlformats.org/officeDocument/2006/relationships/slideLayout" Target="/ppt/slideLayouts/slideLayout3.xml" Id="R56521bf66e3d4b0f" /><Relationship Type="http://schemas.openxmlformats.org/officeDocument/2006/relationships/slideLayout" Target="/ppt/slideLayouts/slideLayout4.xml" Id="R55683a7ce1f94715" /><Relationship Type="http://schemas.openxmlformats.org/officeDocument/2006/relationships/slideLayout" Target="/ppt/slideLayouts/slideLayout5.xml" Id="R0e4824de3ffa4c58" /><Relationship Type="http://schemas.openxmlformats.org/officeDocument/2006/relationships/slideLayout" Target="/ppt/slideLayouts/slideLayout6.xml" Id="Rac0a16489fdd4a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2f19f1d9244d96"/>
    <p:sldLayoutId xmlns:r="http://schemas.openxmlformats.org/officeDocument/2006/relationships" id="2147483650" r:id="Rdb3c2535479c4652"/>
    <p:sldLayoutId xmlns:r="http://schemas.openxmlformats.org/officeDocument/2006/relationships" id="2147483651" r:id="R56521bf66e3d4b0f"/>
    <p:sldLayoutId xmlns:r="http://schemas.openxmlformats.org/officeDocument/2006/relationships" id="2147483652" r:id="R55683a7ce1f94715"/>
    <p:sldLayoutId xmlns:r="http://schemas.openxmlformats.org/officeDocument/2006/relationships" id="2147483653" r:id="R0e4824de3ffa4c58"/>
    <p:sldLayoutId xmlns:r="http://schemas.openxmlformats.org/officeDocument/2006/relationships" id="2147483654" r:id="Rac0a16489fdd4a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DM Sans"/>
        <a:ea typeface=""/>
        <a:cs typeface=""/>
      </a:majorFont>
      <a:minorFont>
        <a:latin typeface="DM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b0b60699a7d4760" /><Relationship Type="http://schemas.openxmlformats.org/officeDocument/2006/relationships/notesSlide" Target="/ppt/notesSlides/notesSlide1.xml" Id="Rd2436a1dd20843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b1da08442614742" /><Relationship Type="http://schemas.openxmlformats.org/officeDocument/2006/relationships/notesSlide" Target="/ppt/notesSlides/notesSlide2.xml" Id="Rcf8d0a0ae24e4f7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8fca5f759fa43c2" /><Relationship Type="http://schemas.openxmlformats.org/officeDocument/2006/relationships/image" Target="/ppt/media/image.png" Id="R1ae23de5da9247c0" /><Relationship Type="http://schemas.openxmlformats.org/officeDocument/2006/relationships/notesSlide" Target="/ppt/notesSlides/notesSlide3.xml" Id="R6674432db82d4f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99238879d4b40f8" /><Relationship Type="http://schemas.openxmlformats.org/officeDocument/2006/relationships/image" Target="/ppt/media/image2.png" Id="Rcb1bcb7f1b9d4240" /><Relationship Type="http://schemas.openxmlformats.org/officeDocument/2006/relationships/image" Target="/ppt/media/image.jpeg" Id="R6665e8eb53384c7e" /><Relationship Type="http://schemas.openxmlformats.org/officeDocument/2006/relationships/notesSlide" Target="/ppt/notesSlides/notesSlide4.xml" Id="R7a42d553981a4ee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e42051b1634e6e" /><Relationship Type="http://schemas.openxmlformats.org/officeDocument/2006/relationships/image" Target="/ppt/media/image3.png" Id="Rffffb2d9081b486f" /><Relationship Type="http://schemas.openxmlformats.org/officeDocument/2006/relationships/image" Target="/ppt/media/image4.png" Id="R620e40dc808b467d" /><Relationship Type="http://schemas.openxmlformats.org/officeDocument/2006/relationships/image" Target="/ppt/media/image2.jpeg" Id="R95e9a937a7834c4d" /><Relationship Type="http://schemas.openxmlformats.org/officeDocument/2006/relationships/notesSlide" Target="/ppt/notesSlides/notesSlide5.xml" Id="R57d36d0203884c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a0a07d09b2a456c" /><Relationship Type="http://schemas.openxmlformats.org/officeDocument/2006/relationships/chart" Target="/ppt/slides/charts/chart1.xml" Id="Rd61fa6a28e0a428b" /><Relationship Type="http://schemas.openxmlformats.org/officeDocument/2006/relationships/notesSlide" Target="/ppt/notesSlides/notesSlide6.xml" Id="R2568d0290ddb42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ca08665ef844eb2" /><Relationship Type="http://schemas.openxmlformats.org/officeDocument/2006/relationships/image" Target="/ppt/media/image5.png" Id="Rc8d950ea59c84525" /><Relationship Type="http://schemas.openxmlformats.org/officeDocument/2006/relationships/notesSlide" Target="/ppt/notesSlides/notesSlide7.xml" Id="R0df65957a20d44e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d3dd5ff96ff4c1e" /><Relationship Type="http://schemas.openxmlformats.org/officeDocument/2006/relationships/notesSlide" Target="/ppt/notesSlides/notesSlide8.xml" Id="R1f1c970e85394c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6120e90a8904b5a" /><Relationship Type="http://schemas.openxmlformats.org/officeDocument/2006/relationships/notesSlide" Target="/ppt/notesSlides/notesSlide9.xml" Id="Re7c5e8fb532e4ea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a:solidFill>
                  <a:srgbClr val="FAFAFA"/>
                </a:solidFill>
                <a:latin typeface="DM Sans"/>
                <a:ea typeface="DM Sans"/>
                <a:cs typeface="DM Sans"/>
              </a:rPr>
              <a:t>Expected net cash</a:t>
            </a:r>
          </a:p>
        </c:rich>
      </c:tx>
      <c:overlay val="0"/>
      <c:txPr>
        <a:bodyPr xmlns:a="http://schemas.openxmlformats.org/drawingml/2006/main" anchorCtr="1"/>
        <a:lstStyle xmlns:a="http://schemas.openxmlformats.org/drawingml/2006/main"/>
        <a:p xmlns:a="http://schemas.openxmlformats.org/drawingml/2006/main">
          <a:pPr>
            <a:defRPr sz="2100">
              <a:solidFill>
                <a:srgbClr val="FAFAFA"/>
              </a:solidFill>
              <a:latin typeface="DM Sans"/>
              <a:ea typeface="DM Sans"/>
              <a:cs typeface="DM Sans"/>
            </a:defRPr>
          </a:pPr>
        </a:p>
      </c:txPr>
    </c:title>
    <c:plotArea>
      <c:barChart>
        <c:barDir val="col"/>
        <c:grouping val="clustered"/>
        <c:varyColors val="0"/>
        <c:ser>
          <c:idx val="0"/>
          <c:order val="0"/>
          <c:tx>
            <c:v>Hypothetical cash</c:v>
          </c:tx>
          <c:spPr>
            <a:solidFill xmlns:a="http://schemas.openxmlformats.org/drawingml/2006/main">
              <a:srgbClr val="0A0A0A"/>
            </a:solidFill>
            <a:ln xmlns:a="http://schemas.openxmlformats.org/drawingml/2006/main" w="11430">
              <a:solidFill>
                <a:srgbClr val="FAFAFA"/>
              </a:solidFill>
              <a:prstDash val="solid"/>
            </a:ln>
          </c:spPr>
          <c:invertIfNegative val="0"/>
          <c:dPt>
            <c:idx val="0"/>
            <c:invertIfNegative val="0"/>
            <c:spPr>
              <a:solidFill xmlns:a="http://schemas.openxmlformats.org/drawingml/2006/main">
                <a:srgbClr val="0A0A0A"/>
              </a:solidFill>
              <a:ln xmlns:a="http://schemas.openxmlformats.org/drawingml/2006/main" w="11430">
                <a:solidFill>
                  <a:srgbClr val="FAFAFA"/>
                </a:solidFill>
                <a:prstDash val="solid"/>
              </a:ln>
            </c:spPr>
          </c:dPt>
          <c:dPt>
            <c:idx val="1"/>
            <c:invertIfNegative val="0"/>
            <c:spPr>
              <a:solidFill xmlns:a="http://schemas.openxmlformats.org/drawingml/2006/main">
                <a:srgbClr val="22C55E"/>
              </a:solidFill>
              <a:ln xmlns:a="http://schemas.openxmlformats.org/drawingml/2006/main" w="11430">
                <a:solidFill>
                  <a:srgbClr val="22C55E"/>
                </a:solidFill>
                <a:prstDash val="solid"/>
              </a:ln>
            </c:spPr>
          </c:dPt>
          <c:dPt>
            <c:idx val="2"/>
            <c:invertIfNegative val="0"/>
            <c:spPr>
              <a:solidFill xmlns:a="http://schemas.openxmlformats.org/drawingml/2006/main">
                <a:srgbClr val="0A0A0A"/>
              </a:solidFill>
              <a:ln xmlns:a="http://schemas.openxmlformats.org/drawingml/2006/main" w="11430">
                <a:solidFill>
                  <a:srgbClr val="FAFAFA"/>
                </a:solidFill>
                <a:prstDash val="solid"/>
              </a:ln>
            </c:spPr>
          </c:dPt>
          <c:dLbls>
            <c:dLbl>
              <c:idx val="0"/>
              <c:tx>
                <c:rich>
                  <a:bodyPr xmlns:a="http://schemas.openxmlformats.org/drawingml/2006/main"/>
                  <a:lstStyle xmlns:a="http://schemas.openxmlformats.org/drawingml/2006/main"/>
                  <a:p xmlns:a="http://schemas.openxmlformats.org/drawingml/2006/main">
                    <a:r>
                      <a:rPr sz="1275" b="0">
                        <a:solidFill>
                          <a:srgbClr val="FAFAFA"/>
                        </a:solidFill>
                      </a:rPr>
                      <a:t>−$29,760.00</a:t>
                    </a:r>
                  </a:p>
                </c:rich>
              </c:tx>
              <c:txPr>
                <a:bodyPr xmlns:a="http://schemas.openxmlformats.org/drawingml/2006/main" anchorCtr="1"/>
                <a:lstStyle xmlns:a="http://schemas.openxmlformats.org/drawingml/2006/main"/>
                <a:p xmlns:a="http://schemas.openxmlformats.org/drawingml/2006/main">
                  <a:pPr>
                    <a:defRPr sz="1275" b="0">
                      <a:solidFill>
                        <a:srgbClr val="FAFAFA"/>
                      </a:solidFill>
                    </a:defRPr>
                  </a:pPr>
                </a:p>
              </c:txPr>
              <c:dLblPos val="inEnd"/>
              <c:showVal val="0"/>
            </c:dLbl>
            <c:dLbl>
              <c:idx val="1"/>
              <c:tx>
                <c:rich>
                  <a:bodyPr xmlns:a="http://schemas.openxmlformats.org/drawingml/2006/main"/>
                  <a:lstStyle xmlns:a="http://schemas.openxmlformats.org/drawingml/2006/main"/>
                  <a:p xmlns:a="http://schemas.openxmlformats.org/drawingml/2006/main">
                    <a:r>
                      <a:rPr sz="1275" b="0">
                        <a:solidFill>
                          <a:srgbClr val="FAFAFA"/>
                        </a:solidFill>
                      </a:rPr>
                      <a:t>−$29,342.40</a:t>
                    </a:r>
                  </a:p>
                </c:rich>
              </c:tx>
              <c:txPr>
                <a:bodyPr xmlns:a="http://schemas.openxmlformats.org/drawingml/2006/main" anchorCtr="1"/>
                <a:lstStyle xmlns:a="http://schemas.openxmlformats.org/drawingml/2006/main"/>
                <a:p xmlns:a="http://schemas.openxmlformats.org/drawingml/2006/main">
                  <a:pPr>
                    <a:defRPr sz="1275" b="0">
                      <a:solidFill>
                        <a:srgbClr val="FAFAFA"/>
                      </a:solidFill>
                    </a:defRPr>
                  </a:pPr>
                </a:p>
              </c:txPr>
              <c:dLblPos val="inEnd"/>
              <c:showVal val="0"/>
            </c:dLbl>
            <c:dLbl>
              <c:idx val="2"/>
              <c:tx>
                <c:rich>
                  <a:bodyPr xmlns:a="http://schemas.openxmlformats.org/drawingml/2006/main"/>
                  <a:lstStyle xmlns:a="http://schemas.openxmlformats.org/drawingml/2006/main"/>
                  <a:p xmlns:a="http://schemas.openxmlformats.org/drawingml/2006/main">
                    <a:r>
                      <a:rPr sz="1275" b="0">
                        <a:solidFill>
                          <a:srgbClr val="FAFAFA"/>
                        </a:solidFill>
                      </a:rPr>
                      <a:t>−$28,980.11</a:t>
                    </a:r>
                  </a:p>
                </c:rich>
              </c:tx>
              <c:txPr>
                <a:bodyPr xmlns:a="http://schemas.openxmlformats.org/drawingml/2006/main" anchorCtr="1"/>
                <a:lstStyle xmlns:a="http://schemas.openxmlformats.org/drawingml/2006/main"/>
                <a:p xmlns:a="http://schemas.openxmlformats.org/drawingml/2006/main">
                  <a:pPr>
                    <a:defRPr sz="1275" b="0">
                      <a:solidFill>
                        <a:srgbClr val="FAFAFA"/>
                      </a:solidFill>
                    </a:defRPr>
                  </a:pPr>
                </a:p>
              </c:txPr>
              <c:dLblPos val="inEnd"/>
              <c:showVal val="0"/>
            </c:dLbl>
          </c:dLbls>
          <c:cat>
            <c:strRef>
              <c:f>'Chart Data'!$A$2:$A$4</c:f>
              <c:strCache>
                <c:ptCount val="3"/>
                <c:pt idx="0">
                  <c:v>30 days</c:v>
                </c:pt>
                <c:pt idx="1">
                  <c:v>90 days</c:v>
                </c:pt>
                <c:pt idx="2">
                  <c:v>180 days</c:v>
                </c:pt>
              </c:strCache>
            </c:strRef>
          </c:cat>
          <c:val>
            <c:numRef>
              <c:f>'Chart Data'!$B$2:$B$4</c:f>
              <c:numCache>
                <c:formatCode>$#,##0;-$#,##0</c:formatCode>
                <c:ptCount val="3"/>
                <c:pt idx="0">
                  <c:v>-29760</c:v>
                </c:pt>
                <c:pt idx="1">
                  <c:v>-29342.4</c:v>
                </c:pt>
                <c:pt idx="2">
                  <c:v>-28980.1088</c:v>
                </c:pt>
              </c:numCache>
            </c:numRef>
          </c:val>
        </c:ser>
        <c:dLbls>
          <c:txPr>
            <a:bodyPr xmlns:a="http://schemas.openxmlformats.org/drawingml/2006/main" anchorCtr="1"/>
            <a:lstStyle xmlns:a="http://schemas.openxmlformats.org/drawingml/2006/main"/>
            <a:p xmlns:a="http://schemas.openxmlformats.org/drawingml/2006/main">
              <a:pPr>
                <a:defRPr sz="1275" b="0">
                  <a:solidFill>
                    <a:srgbClr val="FAFAFA"/>
                  </a:solidFill>
                  <a:latin typeface="DM Sans"/>
                  <a:ea typeface="DM Sans"/>
                  <a:cs typeface="DM Sans"/>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6191">
            <a:solidFill>
              <a:srgbClr val="FAFAFA"/>
            </a:solidFill>
            <a:prstDash val="solid"/>
          </a:ln>
        </c:spPr>
        <c:txPr>
          <a:bodyPr xmlns:a="http://schemas.openxmlformats.org/drawingml/2006/main" anchorCtr="1"/>
          <a:lstStyle xmlns:a="http://schemas.openxmlformats.org/drawingml/2006/main"/>
          <a:p xmlns:a="http://schemas.openxmlformats.org/drawingml/2006/main">
            <a:pPr>
              <a:defRPr sz="1200">
                <a:solidFill>
                  <a:srgbClr val="FAFAFA"/>
                </a:solidFill>
                <a:latin typeface="DM Sans"/>
                <a:ea typeface="DM Sans"/>
                <a:cs typeface="DM Sans"/>
              </a:defRPr>
            </a:pPr>
          </a:p>
        </c:txPr>
        <c:crossAx val="48672768"/>
      </c:catAx>
      <c:valAx>
        <c:axId val="48672768"/>
        <c:scaling>
          <c:orientation val="minMax"/>
          <c:max val="0"/>
          <c:min val="-32000"/>
        </c:scaling>
        <c:delete val="0"/>
        <c:axPos val="l"/>
        <c:numFmt formatCode="$#,##0;-$#,##0"/>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975">
                <a:solidFill>
                  <a:srgbClr val="FAFAFA"/>
                </a:solidFill>
                <a:latin typeface="DM Sans"/>
                <a:ea typeface="DM Sans"/>
                <a:cs typeface="DM Sans"/>
              </a:defRPr>
            </a:pPr>
          </a:p>
        </c:txPr>
        <c:crossAx val="48650112"/>
        <c:crossBetween val="between"/>
        <c:majorUnit val="8000"/>
      </c:valAx>
      <c:spPr>
        <a:solidFill xmlns:a="http://schemas.openxmlformats.org/drawingml/2006/main">
          <a:srgbClr val="0A0A0A"/>
        </a:solidFill>
        <a:ln xmlns:a="http://schemas.openxmlformats.org/drawingml/2006/main" w="0">
          <a:noFill/>
          <a:prstDash val="solid"/>
        </a:ln>
      </c:spPr>
    </c:plotArea>
    <c:plotVisOnly val="1"/>
  </c:chart>
  <c:spPr>
    <a:solidFill xmlns:a="http://schemas.openxmlformats.org/drawingml/2006/main">
      <a:srgbClr val="0A0A0A"/>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C9DA2CB-6E6D-4428-AEEF-253884371DCD}"/>
              </a:ext>
            </a:extLst>
          </p:cNvPr>
          <p:cNvSpPr>
            <a:spLocks xmlns:a="http://schemas.openxmlformats.org/drawingml/2006/main" noGrp="1"/>
          </p:cNvSpPr>
          <p:nvPr/>
        </p:nvSpPr>
        <p:spPr>
          <a:xfrm xmlns:a="http://schemas.openxmlformats.org/drawingml/2006/main" rot="0">
            <a:off x="400050" y="323850"/>
            <a:ext cx="69532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0">
                <a:solidFill>
                  <a:srgbClr val="FAFAFA"/>
                </a:solidFill>
                <a:latin typeface="DM Sans"/>
                <a:ea typeface="DM Sans"/>
                <a:cs typeface="DM Sans"/>
              </a:defRPr>
            </a:defPPr>
            <a:lvl1pPr algn="l">
              <a:defRPr sz="3300" b="0">
                <a:solidFill>
                  <a:srgbClr val="FAFAFA"/>
                </a:solidFill>
                <a:latin typeface="DM Sans"/>
                <a:ea typeface="DM Sans"/>
                <a:cs typeface="DM Sans"/>
              </a:defRPr>
            </a:lvl1pPr>
            <a:lvl2pPr algn="l">
              <a:defRPr sz="3300" b="0">
                <a:solidFill>
                  <a:srgbClr val="FAFAFA"/>
                </a:solidFill>
                <a:latin typeface="DM Sans"/>
                <a:ea typeface="DM Sans"/>
                <a:cs typeface="DM Sans"/>
              </a:defRPr>
            </a:lvl2pPr>
            <a:lvl3pPr algn="l">
              <a:defRPr sz="3300" b="0">
                <a:solidFill>
                  <a:srgbClr val="FAFAFA"/>
                </a:solidFill>
                <a:latin typeface="DM Sans"/>
                <a:ea typeface="DM Sans"/>
                <a:cs typeface="DM Sans"/>
              </a:defRPr>
            </a:lvl3pPr>
            <a:lvl4pPr algn="l">
              <a:defRPr sz="3300" b="0">
                <a:solidFill>
                  <a:srgbClr val="FAFAFA"/>
                </a:solidFill>
                <a:latin typeface="DM Sans"/>
                <a:ea typeface="DM Sans"/>
                <a:cs typeface="DM Sans"/>
              </a:defRPr>
            </a:lvl4pPr>
            <a:lvl5pPr algn="l">
              <a:defRPr sz="3300" b="0">
                <a:solidFill>
                  <a:srgbClr val="FAFAFA"/>
                </a:solidFill>
                <a:latin typeface="DM Sans"/>
                <a:ea typeface="DM Sans"/>
                <a:cs typeface="DM Sans"/>
              </a:defRPr>
            </a:lvl5pPr>
            <a:lvl6pPr algn="l">
              <a:defRPr sz="3300" b="0">
                <a:solidFill>
                  <a:srgbClr val="FAFAFA"/>
                </a:solidFill>
                <a:latin typeface="DM Sans"/>
                <a:ea typeface="DM Sans"/>
                <a:cs typeface="DM Sans"/>
              </a:defRPr>
            </a:lvl6pPr>
            <a:lvl7pPr algn="l">
              <a:defRPr sz="3300" b="0">
                <a:solidFill>
                  <a:srgbClr val="FAFAFA"/>
                </a:solidFill>
                <a:latin typeface="DM Sans"/>
                <a:ea typeface="DM Sans"/>
                <a:cs typeface="DM Sans"/>
              </a:defRPr>
            </a:lvl7pPr>
            <a:lvl8pPr algn="l">
              <a:defRPr sz="3300" b="0">
                <a:solidFill>
                  <a:srgbClr val="FAFAFA"/>
                </a:solidFill>
                <a:latin typeface="DM Sans"/>
                <a:ea typeface="DM Sans"/>
                <a:cs typeface="DM Sans"/>
              </a:defRPr>
            </a:lvl8pPr>
            <a:lvl9pPr algn="l">
              <a:defRPr sz="3300" b="0">
                <a:solidFill>
                  <a:srgbClr val="FAFAFA"/>
                </a:solidFill>
                <a:latin typeface="DM Sans"/>
                <a:ea typeface="DM Sans"/>
                <a:cs typeface="DM Sans"/>
              </a:defRPr>
            </a:lvl9pPr>
          </a:lstStyle>
          <a:p xmlns:a="http://schemas.openxmlformats.org/drawingml/2006/main">
            <a:pPr algn="l">
              <a:defRPr sz="3300" b="0">
                <a:solidFill>
                  <a:srgbClr val="FAFAFA"/>
                </a:solidFill>
                <a:latin typeface="DM Sans"/>
                <a:ea typeface="DM Sans"/>
                <a:cs typeface="DM Sans"/>
              </a:defRPr>
            </a:pPr>
            <a:r>
              <a:rPr sz="3300" b="0">
                <a:solidFill>
                  <a:srgbClr val="FAFAFA"/>
                </a:solidFill>
                <a:latin typeface="DM Sans"/>
                <a:ea typeface="DM Sans"/>
                <a:cs typeface="DM Sans"/>
              </a:rPr>
              <a:t>Orecast</a:t>
            </a:r>
          </a:p>
        </p:txBody>
      </p:sp>
      <p:sp>
        <p:nvSpPr>
          <p:cNvPr id="2" name="">
            <a:extLst xmlns:a="http://schemas.openxmlformats.org/drawingml/2006/main">
              <a:ext uri="{FF2B5EF4-FFF2-40B4-BE49-F238E27FC236}">
                <a16:creationId xmlns:a16="http://schemas.microsoft.com/office/drawing/2014/main" id="{EE2534A0-A4D6-4394-8181-7BA8C8F96122}"/>
              </a:ext>
            </a:extLst>
          </p:cNvPr>
          <p:cNvSpPr>
            <a:spLocks xmlns:a="http://schemas.openxmlformats.org/drawingml/2006/main" noGrp="1"/>
          </p:cNvSpPr>
          <p:nvPr/>
        </p:nvSpPr>
        <p:spPr>
          <a:xfrm xmlns:a="http://schemas.openxmlformats.org/drawingml/2006/main" rot="0">
            <a:off x="400050" y="990600"/>
            <a:ext cx="76200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FAFAFA"/>
                </a:solidFill>
                <a:latin typeface="DM Sans"/>
                <a:ea typeface="DM Sans"/>
                <a:cs typeface="DM Sans"/>
              </a:defRPr>
            </a:defPPr>
            <a:lvl1pPr algn="l">
              <a:defRPr sz="1575" b="0">
                <a:solidFill>
                  <a:srgbClr val="FAFAFA"/>
                </a:solidFill>
                <a:latin typeface="DM Sans"/>
                <a:ea typeface="DM Sans"/>
                <a:cs typeface="DM Sans"/>
              </a:defRPr>
            </a:lvl1pPr>
            <a:lvl2pPr algn="l">
              <a:defRPr sz="1575" b="0">
                <a:solidFill>
                  <a:srgbClr val="FAFAFA"/>
                </a:solidFill>
                <a:latin typeface="DM Sans"/>
                <a:ea typeface="DM Sans"/>
                <a:cs typeface="DM Sans"/>
              </a:defRPr>
            </a:lvl2pPr>
            <a:lvl3pPr algn="l">
              <a:defRPr sz="1575" b="0">
                <a:solidFill>
                  <a:srgbClr val="FAFAFA"/>
                </a:solidFill>
                <a:latin typeface="DM Sans"/>
                <a:ea typeface="DM Sans"/>
                <a:cs typeface="DM Sans"/>
              </a:defRPr>
            </a:lvl3pPr>
            <a:lvl4pPr algn="l">
              <a:defRPr sz="1575" b="0">
                <a:solidFill>
                  <a:srgbClr val="FAFAFA"/>
                </a:solidFill>
                <a:latin typeface="DM Sans"/>
                <a:ea typeface="DM Sans"/>
                <a:cs typeface="DM Sans"/>
              </a:defRPr>
            </a:lvl4pPr>
            <a:lvl5pPr algn="l">
              <a:defRPr sz="1575" b="0">
                <a:solidFill>
                  <a:srgbClr val="FAFAFA"/>
                </a:solidFill>
                <a:latin typeface="DM Sans"/>
                <a:ea typeface="DM Sans"/>
                <a:cs typeface="DM Sans"/>
              </a:defRPr>
            </a:lvl5pPr>
            <a:lvl6pPr algn="l">
              <a:defRPr sz="1575" b="0">
                <a:solidFill>
                  <a:srgbClr val="FAFAFA"/>
                </a:solidFill>
                <a:latin typeface="DM Sans"/>
                <a:ea typeface="DM Sans"/>
                <a:cs typeface="DM Sans"/>
              </a:defRPr>
            </a:lvl6pPr>
            <a:lvl7pPr algn="l">
              <a:defRPr sz="1575" b="0">
                <a:solidFill>
                  <a:srgbClr val="FAFAFA"/>
                </a:solidFill>
                <a:latin typeface="DM Sans"/>
                <a:ea typeface="DM Sans"/>
                <a:cs typeface="DM Sans"/>
              </a:defRPr>
            </a:lvl7pPr>
            <a:lvl8pPr algn="l">
              <a:defRPr sz="1575" b="0">
                <a:solidFill>
                  <a:srgbClr val="FAFAFA"/>
                </a:solidFill>
                <a:latin typeface="DM Sans"/>
                <a:ea typeface="DM Sans"/>
                <a:cs typeface="DM Sans"/>
              </a:defRPr>
            </a:lvl8pPr>
            <a:lvl9pPr algn="l">
              <a:defRPr sz="1575" b="0">
                <a:solidFill>
                  <a:srgbClr val="FAFAFA"/>
                </a:solidFill>
                <a:latin typeface="DM Sans"/>
                <a:ea typeface="DM Sans"/>
                <a:cs typeface="DM Sans"/>
              </a:defRPr>
            </a:lvl9pPr>
          </a:lstStyle>
          <a:p xmlns:a="http://schemas.openxmlformats.org/drawingml/2006/main">
            <a:pPr algn="l">
              <a:defRPr sz="1575" b="0">
                <a:solidFill>
                  <a:srgbClr val="FAFAFA"/>
                </a:solidFill>
                <a:latin typeface="DM Sans"/>
                <a:ea typeface="DM Sans"/>
                <a:cs typeface="DM Sans"/>
              </a:defRPr>
            </a:pPr>
            <a:r>
              <a:rPr sz="1575" b="0">
                <a:solidFill>
                  <a:srgbClr val="FAFAFA"/>
                </a:solidFill>
                <a:latin typeface="DM Sans"/>
                <a:ea typeface="DM Sans"/>
                <a:cs typeface="DM Sans"/>
              </a:rPr>
              <a:t>Mineral intelligence over time</a:t>
            </a:r>
          </a:p>
        </p:txBody>
      </p:sp>
      <p:sp>
        <p:nvSpPr>
          <p:cNvPr id="3" name="">
            <a:extLst xmlns:a="http://schemas.openxmlformats.org/drawingml/2006/main">
              <a:ext uri="{FF2B5EF4-FFF2-40B4-BE49-F238E27FC236}">
                <a16:creationId xmlns:a16="http://schemas.microsoft.com/office/drawing/2014/main" id="{261B1C63-429B-4C26-9A43-15422BD9E2D8}"/>
              </a:ext>
            </a:extLst>
          </p:cNvPr>
          <p:cNvSpPr>
            <a:spLocks xmlns:a="http://schemas.openxmlformats.org/drawingml/2006/main" noGrp="1"/>
          </p:cNvSpPr>
          <p:nvPr/>
        </p:nvSpPr>
        <p:spPr>
          <a:xfrm xmlns:a="http://schemas.openxmlformats.org/drawingml/2006/main">
            <a:off x="14973" y="3429000"/>
            <a:ext cx="2118627" cy="1371600"/>
          </a:xfrm>
          <a:custGeom xmlns:a="http://schemas.openxmlformats.org/drawingml/2006/main">
            <a:pathLst>
              <a:path w="2118627" h="1371600">
                <a:moveTo>
                  <a:pt x="2118627" y="0"/>
                </a:moveTo>
                <a:lnTo>
                  <a:pt x="2118418" y="23938"/>
                </a:lnTo>
                <a:lnTo>
                  <a:pt x="2117791" y="47868"/>
                </a:lnTo>
                <a:lnTo>
                  <a:pt x="2116747" y="71784"/>
                </a:lnTo>
                <a:lnTo>
                  <a:pt x="2115286" y="95678"/>
                </a:lnTo>
                <a:lnTo>
                  <a:pt x="2113408" y="119543"/>
                </a:lnTo>
                <a:lnTo>
                  <a:pt x="2111113" y="143371"/>
                </a:lnTo>
                <a:lnTo>
                  <a:pt x="2108403" y="167156"/>
                </a:lnTo>
                <a:lnTo>
                  <a:pt x="2105279" y="190890"/>
                </a:lnTo>
                <a:lnTo>
                  <a:pt x="2101740" y="214566"/>
                </a:lnTo>
                <a:lnTo>
                  <a:pt x="2097789" y="238176"/>
                </a:lnTo>
                <a:lnTo>
                  <a:pt x="2093427" y="261714"/>
                </a:lnTo>
                <a:lnTo>
                  <a:pt x="2088654" y="285172"/>
                </a:lnTo>
                <a:lnTo>
                  <a:pt x="2083473" y="308543"/>
                </a:lnTo>
                <a:lnTo>
                  <a:pt x="2077885" y="331820"/>
                </a:lnTo>
                <a:lnTo>
                  <a:pt x="2071891" y="354996"/>
                </a:lnTo>
                <a:lnTo>
                  <a:pt x="2065493" y="378064"/>
                </a:lnTo>
                <a:lnTo>
                  <a:pt x="2058695" y="401017"/>
                </a:lnTo>
                <a:lnTo>
                  <a:pt x="2051496" y="423848"/>
                </a:lnTo>
                <a:lnTo>
                  <a:pt x="2043900" y="446549"/>
                </a:lnTo>
                <a:lnTo>
                  <a:pt x="2035909" y="469115"/>
                </a:lnTo>
                <a:lnTo>
                  <a:pt x="2027526" y="491537"/>
                </a:lnTo>
                <a:lnTo>
                  <a:pt x="2018752" y="513810"/>
                </a:lnTo>
                <a:lnTo>
                  <a:pt x="2009591" y="535927"/>
                </a:lnTo>
                <a:lnTo>
                  <a:pt x="2000046" y="557880"/>
                </a:lnTo>
                <a:lnTo>
                  <a:pt x="1990119" y="579663"/>
                </a:lnTo>
                <a:lnTo>
                  <a:pt x="1979813" y="601270"/>
                </a:lnTo>
                <a:lnTo>
                  <a:pt x="1969131" y="622693"/>
                </a:lnTo>
                <a:lnTo>
                  <a:pt x="1958078" y="643927"/>
                </a:lnTo>
                <a:lnTo>
                  <a:pt x="1946655" y="664965"/>
                </a:lnTo>
                <a:lnTo>
                  <a:pt x="1934867" y="685800"/>
                </a:lnTo>
                <a:lnTo>
                  <a:pt x="1922718" y="706426"/>
                </a:lnTo>
                <a:lnTo>
                  <a:pt x="1910210" y="726837"/>
                </a:lnTo>
                <a:lnTo>
                  <a:pt x="1897347" y="747027"/>
                </a:lnTo>
                <a:lnTo>
                  <a:pt x="1884135" y="766989"/>
                </a:lnTo>
                <a:lnTo>
                  <a:pt x="1870576" y="786717"/>
                </a:lnTo>
                <a:lnTo>
                  <a:pt x="1856675" y="806206"/>
                </a:lnTo>
                <a:lnTo>
                  <a:pt x="1842435" y="825449"/>
                </a:lnTo>
                <a:lnTo>
                  <a:pt x="1827862" y="844441"/>
                </a:lnTo>
                <a:lnTo>
                  <a:pt x="1812960" y="863176"/>
                </a:lnTo>
                <a:lnTo>
                  <a:pt x="1797733" y="881647"/>
                </a:lnTo>
                <a:lnTo>
                  <a:pt x="1782187" y="899851"/>
                </a:lnTo>
                <a:lnTo>
                  <a:pt x="1766324" y="917780"/>
                </a:lnTo>
                <a:lnTo>
                  <a:pt x="1750152" y="935429"/>
                </a:lnTo>
                <a:lnTo>
                  <a:pt x="1733673" y="952793"/>
                </a:lnTo>
                <a:lnTo>
                  <a:pt x="1716895" y="969868"/>
                </a:lnTo>
                <a:lnTo>
                  <a:pt x="1699820" y="986646"/>
                </a:lnTo>
                <a:lnTo>
                  <a:pt x="1682456" y="1003125"/>
                </a:lnTo>
                <a:lnTo>
                  <a:pt x="1664806" y="1019297"/>
                </a:lnTo>
                <a:lnTo>
                  <a:pt x="1646877" y="1035160"/>
                </a:lnTo>
                <a:lnTo>
                  <a:pt x="1628674" y="1050707"/>
                </a:lnTo>
                <a:lnTo>
                  <a:pt x="1610203" y="1065933"/>
                </a:lnTo>
                <a:lnTo>
                  <a:pt x="1591468" y="1080836"/>
                </a:lnTo>
                <a:lnTo>
                  <a:pt x="1572476" y="1095408"/>
                </a:lnTo>
                <a:lnTo>
                  <a:pt x="1553233" y="1109648"/>
                </a:lnTo>
                <a:lnTo>
                  <a:pt x="1533744" y="1123549"/>
                </a:lnTo>
                <a:lnTo>
                  <a:pt x="1514016" y="1137108"/>
                </a:lnTo>
                <a:lnTo>
                  <a:pt x="1494054" y="1150321"/>
                </a:lnTo>
                <a:lnTo>
                  <a:pt x="1473864" y="1163183"/>
                </a:lnTo>
                <a:lnTo>
                  <a:pt x="1453453" y="1175691"/>
                </a:lnTo>
                <a:lnTo>
                  <a:pt x="1432827" y="1187840"/>
                </a:lnTo>
                <a:lnTo>
                  <a:pt x="1411992" y="1199628"/>
                </a:lnTo>
                <a:lnTo>
                  <a:pt x="1390954" y="1211051"/>
                </a:lnTo>
                <a:lnTo>
                  <a:pt x="1369720" y="1222105"/>
                </a:lnTo>
                <a:lnTo>
                  <a:pt x="1348297" y="1232786"/>
                </a:lnTo>
                <a:lnTo>
                  <a:pt x="1326690" y="1243092"/>
                </a:lnTo>
                <a:lnTo>
                  <a:pt x="1304907" y="1253019"/>
                </a:lnTo>
                <a:lnTo>
                  <a:pt x="1282954" y="1262564"/>
                </a:lnTo>
                <a:lnTo>
                  <a:pt x="1260837" y="1271725"/>
                </a:lnTo>
                <a:lnTo>
                  <a:pt x="1238564" y="1280499"/>
                </a:lnTo>
                <a:lnTo>
                  <a:pt x="1216142" y="1288882"/>
                </a:lnTo>
                <a:lnTo>
                  <a:pt x="1193576" y="1296873"/>
                </a:lnTo>
                <a:lnTo>
                  <a:pt x="1170875" y="1304469"/>
                </a:lnTo>
                <a:lnTo>
                  <a:pt x="1148044" y="1311668"/>
                </a:lnTo>
                <a:lnTo>
                  <a:pt x="1125091" y="1318467"/>
                </a:lnTo>
                <a:lnTo>
                  <a:pt x="1102023" y="1324864"/>
                </a:lnTo>
                <a:lnTo>
                  <a:pt x="1078847" y="1330858"/>
                </a:lnTo>
                <a:lnTo>
                  <a:pt x="1055570" y="1336446"/>
                </a:lnTo>
                <a:lnTo>
                  <a:pt x="1032199" y="1341627"/>
                </a:lnTo>
                <a:lnTo>
                  <a:pt x="1008741" y="1346400"/>
                </a:lnTo>
                <a:lnTo>
                  <a:pt x="985203" y="1350762"/>
                </a:lnTo>
                <a:lnTo>
                  <a:pt x="961592" y="1354713"/>
                </a:lnTo>
                <a:lnTo>
                  <a:pt x="937917" y="1358252"/>
                </a:lnTo>
                <a:lnTo>
                  <a:pt x="914183" y="1361376"/>
                </a:lnTo>
                <a:lnTo>
                  <a:pt x="890398" y="1364086"/>
                </a:lnTo>
                <a:lnTo>
                  <a:pt x="866570" y="1366381"/>
                </a:lnTo>
                <a:lnTo>
                  <a:pt x="842705" y="1368259"/>
                </a:lnTo>
                <a:lnTo>
                  <a:pt x="818811" y="1369720"/>
                </a:lnTo>
                <a:lnTo>
                  <a:pt x="794895" y="1370764"/>
                </a:lnTo>
                <a:lnTo>
                  <a:pt x="770965" y="1371391"/>
                </a:lnTo>
                <a:lnTo>
                  <a:pt x="747027" y="1371600"/>
                </a:lnTo>
                <a:lnTo>
                  <a:pt x="723089" y="1371391"/>
                </a:lnTo>
                <a:lnTo>
                  <a:pt x="699159" y="1370764"/>
                </a:lnTo>
                <a:lnTo>
                  <a:pt x="675243" y="1369720"/>
                </a:lnTo>
                <a:lnTo>
                  <a:pt x="651349" y="1368259"/>
                </a:lnTo>
                <a:lnTo>
                  <a:pt x="627484" y="1366381"/>
                </a:lnTo>
                <a:lnTo>
                  <a:pt x="603656" y="1364086"/>
                </a:lnTo>
                <a:lnTo>
                  <a:pt x="579871" y="1361376"/>
                </a:lnTo>
                <a:lnTo>
                  <a:pt x="556137" y="1358252"/>
                </a:lnTo>
                <a:lnTo>
                  <a:pt x="532461" y="1354713"/>
                </a:lnTo>
                <a:lnTo>
                  <a:pt x="508851" y="1350762"/>
                </a:lnTo>
                <a:lnTo>
                  <a:pt x="485313" y="1346400"/>
                </a:lnTo>
                <a:lnTo>
                  <a:pt x="461855" y="1341627"/>
                </a:lnTo>
                <a:lnTo>
                  <a:pt x="438484" y="1336446"/>
                </a:lnTo>
                <a:lnTo>
                  <a:pt x="415207" y="1330858"/>
                </a:lnTo>
                <a:lnTo>
                  <a:pt x="392031" y="1324864"/>
                </a:lnTo>
                <a:lnTo>
                  <a:pt x="368963" y="1318467"/>
                </a:lnTo>
                <a:lnTo>
                  <a:pt x="346010" y="1311668"/>
                </a:lnTo>
                <a:lnTo>
                  <a:pt x="323179" y="1304469"/>
                </a:lnTo>
                <a:lnTo>
                  <a:pt x="300478" y="1296873"/>
                </a:lnTo>
                <a:lnTo>
                  <a:pt x="277912" y="1288882"/>
                </a:lnTo>
                <a:lnTo>
                  <a:pt x="255489" y="1280499"/>
                </a:lnTo>
                <a:lnTo>
                  <a:pt x="233216" y="1271725"/>
                </a:lnTo>
                <a:lnTo>
                  <a:pt x="211100" y="1262564"/>
                </a:lnTo>
                <a:lnTo>
                  <a:pt x="189147" y="1253019"/>
                </a:lnTo>
                <a:lnTo>
                  <a:pt x="167364" y="1243092"/>
                </a:lnTo>
                <a:lnTo>
                  <a:pt x="145757" y="1232786"/>
                </a:lnTo>
                <a:lnTo>
                  <a:pt x="124334" y="1222105"/>
                </a:lnTo>
                <a:lnTo>
                  <a:pt x="103100" y="1211051"/>
                </a:lnTo>
                <a:lnTo>
                  <a:pt x="82062" y="1199628"/>
                </a:lnTo>
                <a:lnTo>
                  <a:pt x="61227" y="1187840"/>
                </a:lnTo>
                <a:lnTo>
                  <a:pt x="40601" y="1175691"/>
                </a:lnTo>
                <a:lnTo>
                  <a:pt x="20190" y="1163183"/>
                </a:lnTo>
                <a:lnTo>
                  <a:pt x="0" y="1150321"/>
                </a:lnTo>
              </a:path>
            </a:pathLst>
          </a:custGeom>
          <a:noFill xmlns:a="http://schemas.openxmlformats.org/drawingml/2006/main"/>
          <a:ln xmlns:a="http://schemas.openxmlformats.org/drawingml/2006/main" w="9525">
            <a:solidFill>
              <a:srgbClr val="FAFAFA">
                <a:alpha val="40000"/>
              </a:srgbClr>
            </a:solidFill>
            <a:prstDash val="solid"/>
          </a:ln>
        </p:spPr>
      </p:sp>
      <p:sp>
        <p:nvSpPr>
          <p:cNvPr id="4" name="">
            <a:extLst xmlns:a="http://schemas.openxmlformats.org/drawingml/2006/main">
              <a:ext uri="{FF2B5EF4-FFF2-40B4-BE49-F238E27FC236}">
                <a16:creationId xmlns:a16="http://schemas.microsoft.com/office/drawing/2014/main" id="{921CB896-1400-4AF9-9AF8-474C0936CDA1}"/>
              </a:ext>
            </a:extLst>
          </p:cNvPr>
          <p:cNvSpPr>
            <a:spLocks xmlns:a="http://schemas.openxmlformats.org/drawingml/2006/main" noGrp="1"/>
          </p:cNvSpPr>
          <p:nvPr/>
        </p:nvSpPr>
        <p:spPr>
          <a:xfrm xmlns:a="http://schemas.openxmlformats.org/drawingml/2006/main">
            <a:off x="14973" y="2057400"/>
            <a:ext cx="2118627" cy="1371600"/>
          </a:xfrm>
          <a:custGeom xmlns:a="http://schemas.openxmlformats.org/drawingml/2006/main">
            <a:pathLst>
              <a:path w="2118627" h="1371600">
                <a:moveTo>
                  <a:pt x="0" y="221279"/>
                </a:moveTo>
                <a:lnTo>
                  <a:pt x="20190" y="208417"/>
                </a:lnTo>
                <a:lnTo>
                  <a:pt x="40601" y="195909"/>
                </a:lnTo>
                <a:lnTo>
                  <a:pt x="61227" y="183760"/>
                </a:lnTo>
                <a:lnTo>
                  <a:pt x="82062" y="171972"/>
                </a:lnTo>
                <a:lnTo>
                  <a:pt x="103100" y="160549"/>
                </a:lnTo>
                <a:lnTo>
                  <a:pt x="124334" y="149495"/>
                </a:lnTo>
                <a:lnTo>
                  <a:pt x="145757" y="138814"/>
                </a:lnTo>
                <a:lnTo>
                  <a:pt x="167364" y="128508"/>
                </a:lnTo>
                <a:lnTo>
                  <a:pt x="189147" y="118581"/>
                </a:lnTo>
                <a:lnTo>
                  <a:pt x="211100" y="109036"/>
                </a:lnTo>
                <a:lnTo>
                  <a:pt x="233216" y="99875"/>
                </a:lnTo>
                <a:lnTo>
                  <a:pt x="255489" y="91101"/>
                </a:lnTo>
                <a:lnTo>
                  <a:pt x="277912" y="82718"/>
                </a:lnTo>
                <a:lnTo>
                  <a:pt x="300478" y="74727"/>
                </a:lnTo>
                <a:lnTo>
                  <a:pt x="323179" y="67131"/>
                </a:lnTo>
                <a:lnTo>
                  <a:pt x="346010" y="59932"/>
                </a:lnTo>
                <a:lnTo>
                  <a:pt x="368963" y="53133"/>
                </a:lnTo>
                <a:lnTo>
                  <a:pt x="392031" y="46736"/>
                </a:lnTo>
                <a:lnTo>
                  <a:pt x="415207" y="40742"/>
                </a:lnTo>
                <a:lnTo>
                  <a:pt x="438484" y="35154"/>
                </a:lnTo>
                <a:lnTo>
                  <a:pt x="461855" y="29973"/>
                </a:lnTo>
                <a:lnTo>
                  <a:pt x="485313" y="25200"/>
                </a:lnTo>
                <a:lnTo>
                  <a:pt x="508851" y="20838"/>
                </a:lnTo>
                <a:lnTo>
                  <a:pt x="532461" y="16887"/>
                </a:lnTo>
                <a:lnTo>
                  <a:pt x="556137" y="13348"/>
                </a:lnTo>
                <a:lnTo>
                  <a:pt x="579871" y="10224"/>
                </a:lnTo>
                <a:lnTo>
                  <a:pt x="603656" y="7514"/>
                </a:lnTo>
                <a:lnTo>
                  <a:pt x="627484" y="5219"/>
                </a:lnTo>
                <a:lnTo>
                  <a:pt x="651349" y="3341"/>
                </a:lnTo>
                <a:lnTo>
                  <a:pt x="675243" y="1880"/>
                </a:lnTo>
                <a:lnTo>
                  <a:pt x="699159" y="836"/>
                </a:lnTo>
                <a:lnTo>
                  <a:pt x="723089" y="209"/>
                </a:lnTo>
                <a:lnTo>
                  <a:pt x="747027" y="0"/>
                </a:lnTo>
                <a:lnTo>
                  <a:pt x="770965" y="209"/>
                </a:lnTo>
                <a:lnTo>
                  <a:pt x="794895" y="836"/>
                </a:lnTo>
                <a:lnTo>
                  <a:pt x="818811" y="1880"/>
                </a:lnTo>
                <a:lnTo>
                  <a:pt x="842705" y="3341"/>
                </a:lnTo>
                <a:lnTo>
                  <a:pt x="866570" y="5219"/>
                </a:lnTo>
                <a:lnTo>
                  <a:pt x="890398" y="7514"/>
                </a:lnTo>
                <a:lnTo>
                  <a:pt x="914183" y="10224"/>
                </a:lnTo>
                <a:lnTo>
                  <a:pt x="937917" y="13348"/>
                </a:lnTo>
                <a:lnTo>
                  <a:pt x="961592" y="16887"/>
                </a:lnTo>
                <a:lnTo>
                  <a:pt x="985203" y="20838"/>
                </a:lnTo>
                <a:lnTo>
                  <a:pt x="1008741" y="25200"/>
                </a:lnTo>
                <a:lnTo>
                  <a:pt x="1032199" y="29973"/>
                </a:lnTo>
                <a:lnTo>
                  <a:pt x="1055570" y="35154"/>
                </a:lnTo>
                <a:lnTo>
                  <a:pt x="1078847" y="40742"/>
                </a:lnTo>
                <a:lnTo>
                  <a:pt x="1102023" y="46736"/>
                </a:lnTo>
                <a:lnTo>
                  <a:pt x="1125091" y="53133"/>
                </a:lnTo>
                <a:lnTo>
                  <a:pt x="1148044" y="59932"/>
                </a:lnTo>
                <a:lnTo>
                  <a:pt x="1170875" y="67131"/>
                </a:lnTo>
                <a:lnTo>
                  <a:pt x="1193576" y="74727"/>
                </a:lnTo>
                <a:lnTo>
                  <a:pt x="1216142" y="82718"/>
                </a:lnTo>
                <a:lnTo>
                  <a:pt x="1238564" y="91101"/>
                </a:lnTo>
                <a:lnTo>
                  <a:pt x="1260837" y="99875"/>
                </a:lnTo>
                <a:lnTo>
                  <a:pt x="1282954" y="109036"/>
                </a:lnTo>
                <a:lnTo>
                  <a:pt x="1304907" y="118581"/>
                </a:lnTo>
                <a:lnTo>
                  <a:pt x="1326690" y="128508"/>
                </a:lnTo>
                <a:lnTo>
                  <a:pt x="1348297" y="138814"/>
                </a:lnTo>
                <a:lnTo>
                  <a:pt x="1369720" y="149495"/>
                </a:lnTo>
                <a:lnTo>
                  <a:pt x="1390954" y="160549"/>
                </a:lnTo>
                <a:lnTo>
                  <a:pt x="1411992" y="171972"/>
                </a:lnTo>
                <a:lnTo>
                  <a:pt x="1432827" y="183760"/>
                </a:lnTo>
                <a:lnTo>
                  <a:pt x="1453453" y="195909"/>
                </a:lnTo>
                <a:lnTo>
                  <a:pt x="1473864" y="208417"/>
                </a:lnTo>
                <a:lnTo>
                  <a:pt x="1494054" y="221279"/>
                </a:lnTo>
                <a:lnTo>
                  <a:pt x="1514016" y="234492"/>
                </a:lnTo>
                <a:lnTo>
                  <a:pt x="1533744" y="248051"/>
                </a:lnTo>
                <a:lnTo>
                  <a:pt x="1553233" y="261952"/>
                </a:lnTo>
                <a:lnTo>
                  <a:pt x="1572476" y="276192"/>
                </a:lnTo>
                <a:lnTo>
                  <a:pt x="1591468" y="290764"/>
                </a:lnTo>
                <a:lnTo>
                  <a:pt x="1610203" y="305667"/>
                </a:lnTo>
                <a:lnTo>
                  <a:pt x="1628674" y="320893"/>
                </a:lnTo>
                <a:lnTo>
                  <a:pt x="1646877" y="336440"/>
                </a:lnTo>
                <a:lnTo>
                  <a:pt x="1664806" y="352303"/>
                </a:lnTo>
                <a:lnTo>
                  <a:pt x="1682456" y="368475"/>
                </a:lnTo>
                <a:lnTo>
                  <a:pt x="1699820" y="384954"/>
                </a:lnTo>
                <a:lnTo>
                  <a:pt x="1716895" y="401732"/>
                </a:lnTo>
                <a:lnTo>
                  <a:pt x="1733673" y="418807"/>
                </a:lnTo>
                <a:lnTo>
                  <a:pt x="1750152" y="436171"/>
                </a:lnTo>
                <a:lnTo>
                  <a:pt x="1766324" y="453820"/>
                </a:lnTo>
                <a:lnTo>
                  <a:pt x="1782187" y="471749"/>
                </a:lnTo>
                <a:lnTo>
                  <a:pt x="1797733" y="489953"/>
                </a:lnTo>
                <a:lnTo>
                  <a:pt x="1812960" y="508424"/>
                </a:lnTo>
                <a:lnTo>
                  <a:pt x="1827862" y="527159"/>
                </a:lnTo>
                <a:lnTo>
                  <a:pt x="1842435" y="546151"/>
                </a:lnTo>
                <a:lnTo>
                  <a:pt x="1856675" y="565394"/>
                </a:lnTo>
                <a:lnTo>
                  <a:pt x="1870576" y="584883"/>
                </a:lnTo>
                <a:lnTo>
                  <a:pt x="1884135" y="604611"/>
                </a:lnTo>
                <a:lnTo>
                  <a:pt x="1897347" y="624573"/>
                </a:lnTo>
                <a:lnTo>
                  <a:pt x="1910210" y="644763"/>
                </a:lnTo>
                <a:lnTo>
                  <a:pt x="1922718" y="665174"/>
                </a:lnTo>
                <a:lnTo>
                  <a:pt x="1934867" y="685800"/>
                </a:lnTo>
                <a:lnTo>
                  <a:pt x="1946655" y="706635"/>
                </a:lnTo>
                <a:lnTo>
                  <a:pt x="1958078" y="727673"/>
                </a:lnTo>
                <a:lnTo>
                  <a:pt x="1969131" y="748907"/>
                </a:lnTo>
                <a:lnTo>
                  <a:pt x="1979813" y="770330"/>
                </a:lnTo>
                <a:lnTo>
                  <a:pt x="1990119" y="791937"/>
                </a:lnTo>
                <a:lnTo>
                  <a:pt x="2000046" y="813720"/>
                </a:lnTo>
                <a:lnTo>
                  <a:pt x="2009591" y="835673"/>
                </a:lnTo>
                <a:lnTo>
                  <a:pt x="2018752" y="857790"/>
                </a:lnTo>
                <a:lnTo>
                  <a:pt x="2027526" y="880063"/>
                </a:lnTo>
                <a:lnTo>
                  <a:pt x="2035909" y="902485"/>
                </a:lnTo>
                <a:lnTo>
                  <a:pt x="2043900" y="925051"/>
                </a:lnTo>
                <a:lnTo>
                  <a:pt x="2051496" y="947752"/>
                </a:lnTo>
                <a:lnTo>
                  <a:pt x="2058695" y="970583"/>
                </a:lnTo>
                <a:lnTo>
                  <a:pt x="2065493" y="993536"/>
                </a:lnTo>
                <a:lnTo>
                  <a:pt x="2071891" y="1016604"/>
                </a:lnTo>
                <a:lnTo>
                  <a:pt x="2077885" y="1039780"/>
                </a:lnTo>
                <a:lnTo>
                  <a:pt x="2083473" y="1063057"/>
                </a:lnTo>
                <a:lnTo>
                  <a:pt x="2088654" y="1086428"/>
                </a:lnTo>
                <a:lnTo>
                  <a:pt x="2093427" y="1109886"/>
                </a:lnTo>
                <a:lnTo>
                  <a:pt x="2097789" y="1133424"/>
                </a:lnTo>
                <a:lnTo>
                  <a:pt x="2101740" y="1157034"/>
                </a:lnTo>
                <a:lnTo>
                  <a:pt x="2105279" y="1180710"/>
                </a:lnTo>
                <a:lnTo>
                  <a:pt x="2108403" y="1204444"/>
                </a:lnTo>
                <a:lnTo>
                  <a:pt x="2111113" y="1228229"/>
                </a:lnTo>
                <a:lnTo>
                  <a:pt x="2113408" y="1252057"/>
                </a:lnTo>
                <a:lnTo>
                  <a:pt x="2115286" y="1275922"/>
                </a:lnTo>
                <a:lnTo>
                  <a:pt x="2116747" y="1299816"/>
                </a:lnTo>
                <a:lnTo>
                  <a:pt x="2117791" y="1323732"/>
                </a:lnTo>
                <a:lnTo>
                  <a:pt x="2118418" y="1347662"/>
                </a:lnTo>
                <a:lnTo>
                  <a:pt x="2118627" y="1371600"/>
                </a:lnTo>
              </a:path>
            </a:pathLst>
          </a:custGeom>
          <a:noFill xmlns:a="http://schemas.openxmlformats.org/drawingml/2006/main"/>
          <a:ln xmlns:a="http://schemas.openxmlformats.org/drawingml/2006/main" w="9525">
            <a:solidFill>
              <a:srgbClr val="FAFAFA">
                <a:alpha val="40000"/>
              </a:srgbClr>
            </a:solidFill>
            <a:prstDash val="solid"/>
          </a:ln>
        </p:spPr>
      </p:sp>
      <p:sp>
        <p:nvSpPr>
          <p:cNvPr id="5" name="">
            <a:extLst xmlns:a="http://schemas.openxmlformats.org/drawingml/2006/main">
              <a:ext uri="{FF2B5EF4-FFF2-40B4-BE49-F238E27FC236}">
                <a16:creationId xmlns:a16="http://schemas.microsoft.com/office/drawing/2014/main" id="{EB5A5582-A4F4-4017-8907-A35C2D7CA321}"/>
              </a:ext>
            </a:extLst>
          </p:cNvPr>
          <p:cNvSpPr>
            <a:spLocks xmlns:a="http://schemas.openxmlformats.org/drawingml/2006/main" noGrp="1"/>
          </p:cNvSpPr>
          <p:nvPr/>
        </p:nvSpPr>
        <p:spPr>
          <a:xfrm xmlns:a="http://schemas.openxmlformats.org/drawingml/2006/main">
            <a:off x="2838450" y="2057400"/>
            <a:ext cx="2743200" cy="2743200"/>
          </a:xfrm>
          <a:custGeom xmlns:a="http://schemas.openxmlformats.org/drawingml/2006/main">
            <a:pathLst>
              <a:path w="2743200" h="2743200">
                <a:moveTo>
                  <a:pt x="2743200" y="1371600"/>
                </a:moveTo>
                <a:lnTo>
                  <a:pt x="2742991" y="1395538"/>
                </a:lnTo>
                <a:lnTo>
                  <a:pt x="2742364" y="1419468"/>
                </a:lnTo>
                <a:lnTo>
                  <a:pt x="2741320" y="1443384"/>
                </a:lnTo>
                <a:lnTo>
                  <a:pt x="2739859" y="1467278"/>
                </a:lnTo>
                <a:lnTo>
                  <a:pt x="2737981" y="1491143"/>
                </a:lnTo>
                <a:lnTo>
                  <a:pt x="2735686" y="1514971"/>
                </a:lnTo>
                <a:lnTo>
                  <a:pt x="2732976" y="1538756"/>
                </a:lnTo>
                <a:lnTo>
                  <a:pt x="2729852" y="1562490"/>
                </a:lnTo>
                <a:lnTo>
                  <a:pt x="2726313" y="1586166"/>
                </a:lnTo>
                <a:lnTo>
                  <a:pt x="2722362" y="1609776"/>
                </a:lnTo>
                <a:lnTo>
                  <a:pt x="2718000" y="1633314"/>
                </a:lnTo>
                <a:lnTo>
                  <a:pt x="2713227" y="1656772"/>
                </a:lnTo>
                <a:lnTo>
                  <a:pt x="2708046" y="1680143"/>
                </a:lnTo>
                <a:lnTo>
                  <a:pt x="2702458" y="1703420"/>
                </a:lnTo>
                <a:lnTo>
                  <a:pt x="2696464" y="1726596"/>
                </a:lnTo>
                <a:lnTo>
                  <a:pt x="2690067" y="1749664"/>
                </a:lnTo>
                <a:lnTo>
                  <a:pt x="2683268" y="1772617"/>
                </a:lnTo>
                <a:lnTo>
                  <a:pt x="2676069" y="1795448"/>
                </a:lnTo>
                <a:lnTo>
                  <a:pt x="2668473" y="1818149"/>
                </a:lnTo>
                <a:lnTo>
                  <a:pt x="2660482" y="1840715"/>
                </a:lnTo>
                <a:lnTo>
                  <a:pt x="2652099" y="1863137"/>
                </a:lnTo>
                <a:lnTo>
                  <a:pt x="2643325" y="1885410"/>
                </a:lnTo>
                <a:lnTo>
                  <a:pt x="2634164" y="1907527"/>
                </a:lnTo>
                <a:lnTo>
                  <a:pt x="2624619" y="1929480"/>
                </a:lnTo>
                <a:lnTo>
                  <a:pt x="2614692" y="1951263"/>
                </a:lnTo>
                <a:lnTo>
                  <a:pt x="2604386" y="1972870"/>
                </a:lnTo>
                <a:lnTo>
                  <a:pt x="2593705" y="1994293"/>
                </a:lnTo>
                <a:lnTo>
                  <a:pt x="2582651" y="2015527"/>
                </a:lnTo>
                <a:lnTo>
                  <a:pt x="2571228" y="2036565"/>
                </a:lnTo>
                <a:lnTo>
                  <a:pt x="2559440" y="2057400"/>
                </a:lnTo>
                <a:lnTo>
                  <a:pt x="2547291" y="2078026"/>
                </a:lnTo>
                <a:lnTo>
                  <a:pt x="2534783" y="2098437"/>
                </a:lnTo>
                <a:lnTo>
                  <a:pt x="2521921" y="2118627"/>
                </a:lnTo>
                <a:lnTo>
                  <a:pt x="2508708" y="2138589"/>
                </a:lnTo>
                <a:lnTo>
                  <a:pt x="2495149" y="2158317"/>
                </a:lnTo>
                <a:lnTo>
                  <a:pt x="2481248" y="2177806"/>
                </a:lnTo>
                <a:lnTo>
                  <a:pt x="2467008" y="2197049"/>
                </a:lnTo>
                <a:lnTo>
                  <a:pt x="2452436" y="2216041"/>
                </a:lnTo>
                <a:lnTo>
                  <a:pt x="2437533" y="2234776"/>
                </a:lnTo>
                <a:lnTo>
                  <a:pt x="2422307" y="2253247"/>
                </a:lnTo>
                <a:lnTo>
                  <a:pt x="2406760" y="2271451"/>
                </a:lnTo>
                <a:lnTo>
                  <a:pt x="2390897" y="2289380"/>
                </a:lnTo>
                <a:lnTo>
                  <a:pt x="2374725" y="2307029"/>
                </a:lnTo>
                <a:lnTo>
                  <a:pt x="2358246" y="2324393"/>
                </a:lnTo>
                <a:lnTo>
                  <a:pt x="2341468" y="2341468"/>
                </a:lnTo>
                <a:lnTo>
                  <a:pt x="2324393" y="2358246"/>
                </a:lnTo>
                <a:lnTo>
                  <a:pt x="2307029" y="2374725"/>
                </a:lnTo>
                <a:lnTo>
                  <a:pt x="2289380" y="2390897"/>
                </a:lnTo>
                <a:lnTo>
                  <a:pt x="2271451" y="2406760"/>
                </a:lnTo>
                <a:lnTo>
                  <a:pt x="2253247" y="2422307"/>
                </a:lnTo>
                <a:lnTo>
                  <a:pt x="2234776" y="2437533"/>
                </a:lnTo>
                <a:lnTo>
                  <a:pt x="2216041" y="2452436"/>
                </a:lnTo>
                <a:lnTo>
                  <a:pt x="2197049" y="2467008"/>
                </a:lnTo>
                <a:lnTo>
                  <a:pt x="2177806" y="2481248"/>
                </a:lnTo>
                <a:lnTo>
                  <a:pt x="2158317" y="2495149"/>
                </a:lnTo>
                <a:lnTo>
                  <a:pt x="2138589" y="2508708"/>
                </a:lnTo>
                <a:lnTo>
                  <a:pt x="2118627" y="2521921"/>
                </a:lnTo>
                <a:lnTo>
                  <a:pt x="2098437" y="2534783"/>
                </a:lnTo>
                <a:lnTo>
                  <a:pt x="2078026" y="2547291"/>
                </a:lnTo>
                <a:lnTo>
                  <a:pt x="2057400" y="2559440"/>
                </a:lnTo>
                <a:lnTo>
                  <a:pt x="2036565" y="2571228"/>
                </a:lnTo>
                <a:lnTo>
                  <a:pt x="2015527" y="2582651"/>
                </a:lnTo>
                <a:lnTo>
                  <a:pt x="1994293" y="2593705"/>
                </a:lnTo>
                <a:lnTo>
                  <a:pt x="1972870" y="2604386"/>
                </a:lnTo>
                <a:lnTo>
                  <a:pt x="1951263" y="2614692"/>
                </a:lnTo>
                <a:lnTo>
                  <a:pt x="1929480" y="2624619"/>
                </a:lnTo>
                <a:lnTo>
                  <a:pt x="1907527" y="2634164"/>
                </a:lnTo>
                <a:lnTo>
                  <a:pt x="1885410" y="2643325"/>
                </a:lnTo>
                <a:lnTo>
                  <a:pt x="1863137" y="2652099"/>
                </a:lnTo>
                <a:lnTo>
                  <a:pt x="1840715" y="2660482"/>
                </a:lnTo>
                <a:lnTo>
                  <a:pt x="1818149" y="2668473"/>
                </a:lnTo>
                <a:lnTo>
                  <a:pt x="1795448" y="2676069"/>
                </a:lnTo>
                <a:lnTo>
                  <a:pt x="1772617" y="2683268"/>
                </a:lnTo>
                <a:lnTo>
                  <a:pt x="1749664" y="2690067"/>
                </a:lnTo>
                <a:lnTo>
                  <a:pt x="1726596" y="2696464"/>
                </a:lnTo>
                <a:lnTo>
                  <a:pt x="1703420" y="2702458"/>
                </a:lnTo>
                <a:lnTo>
                  <a:pt x="1680143" y="2708046"/>
                </a:lnTo>
                <a:lnTo>
                  <a:pt x="1656772" y="2713227"/>
                </a:lnTo>
                <a:lnTo>
                  <a:pt x="1633314" y="2718000"/>
                </a:lnTo>
                <a:lnTo>
                  <a:pt x="1609776" y="2722362"/>
                </a:lnTo>
                <a:lnTo>
                  <a:pt x="1586166" y="2726313"/>
                </a:lnTo>
                <a:lnTo>
                  <a:pt x="1562490" y="2729852"/>
                </a:lnTo>
                <a:lnTo>
                  <a:pt x="1538756" y="2732976"/>
                </a:lnTo>
                <a:lnTo>
                  <a:pt x="1514971" y="2735686"/>
                </a:lnTo>
                <a:lnTo>
                  <a:pt x="1491143" y="2737981"/>
                </a:lnTo>
                <a:lnTo>
                  <a:pt x="1467278" y="2739859"/>
                </a:lnTo>
                <a:lnTo>
                  <a:pt x="1443384" y="2741320"/>
                </a:lnTo>
                <a:lnTo>
                  <a:pt x="1419468" y="2742364"/>
                </a:lnTo>
                <a:lnTo>
                  <a:pt x="1395538" y="2742991"/>
                </a:lnTo>
                <a:lnTo>
                  <a:pt x="1371600" y="2743200"/>
                </a:lnTo>
                <a:lnTo>
                  <a:pt x="1347662" y="2742991"/>
                </a:lnTo>
                <a:lnTo>
                  <a:pt x="1323732" y="2742364"/>
                </a:lnTo>
                <a:lnTo>
                  <a:pt x="1299816" y="2741320"/>
                </a:lnTo>
                <a:lnTo>
                  <a:pt x="1275922" y="2739859"/>
                </a:lnTo>
                <a:lnTo>
                  <a:pt x="1252057" y="2737981"/>
                </a:lnTo>
                <a:lnTo>
                  <a:pt x="1228229" y="2735686"/>
                </a:lnTo>
                <a:lnTo>
                  <a:pt x="1204444" y="2732976"/>
                </a:lnTo>
                <a:lnTo>
                  <a:pt x="1180710" y="2729852"/>
                </a:lnTo>
                <a:lnTo>
                  <a:pt x="1157034" y="2726313"/>
                </a:lnTo>
                <a:lnTo>
                  <a:pt x="1133424" y="2722362"/>
                </a:lnTo>
                <a:lnTo>
                  <a:pt x="1109886" y="2718000"/>
                </a:lnTo>
                <a:lnTo>
                  <a:pt x="1086428" y="2713227"/>
                </a:lnTo>
                <a:lnTo>
                  <a:pt x="1063057" y="2708046"/>
                </a:lnTo>
                <a:lnTo>
                  <a:pt x="1039780" y="2702458"/>
                </a:lnTo>
                <a:lnTo>
                  <a:pt x="1016604" y="2696464"/>
                </a:lnTo>
                <a:lnTo>
                  <a:pt x="993536" y="2690067"/>
                </a:lnTo>
                <a:lnTo>
                  <a:pt x="970583" y="2683268"/>
                </a:lnTo>
                <a:lnTo>
                  <a:pt x="947752" y="2676069"/>
                </a:lnTo>
                <a:lnTo>
                  <a:pt x="925051" y="2668473"/>
                </a:lnTo>
                <a:lnTo>
                  <a:pt x="902485" y="2660482"/>
                </a:lnTo>
                <a:lnTo>
                  <a:pt x="880063" y="2652099"/>
                </a:lnTo>
                <a:lnTo>
                  <a:pt x="857790" y="2643325"/>
                </a:lnTo>
                <a:lnTo>
                  <a:pt x="835673" y="2634164"/>
                </a:lnTo>
                <a:lnTo>
                  <a:pt x="813720" y="2624619"/>
                </a:lnTo>
                <a:lnTo>
                  <a:pt x="791937" y="2614692"/>
                </a:lnTo>
                <a:lnTo>
                  <a:pt x="770330" y="2604386"/>
                </a:lnTo>
                <a:lnTo>
                  <a:pt x="748907" y="2593705"/>
                </a:lnTo>
                <a:lnTo>
                  <a:pt x="727673" y="2582651"/>
                </a:lnTo>
                <a:lnTo>
                  <a:pt x="706635" y="2571228"/>
                </a:lnTo>
                <a:lnTo>
                  <a:pt x="685800" y="2559440"/>
                </a:lnTo>
                <a:lnTo>
                  <a:pt x="665174" y="2547291"/>
                </a:lnTo>
                <a:lnTo>
                  <a:pt x="644763" y="2534783"/>
                </a:lnTo>
                <a:lnTo>
                  <a:pt x="624573" y="2521921"/>
                </a:lnTo>
                <a:lnTo>
                  <a:pt x="604611" y="2508708"/>
                </a:lnTo>
                <a:lnTo>
                  <a:pt x="584883" y="2495149"/>
                </a:lnTo>
                <a:lnTo>
                  <a:pt x="565394" y="2481248"/>
                </a:lnTo>
                <a:lnTo>
                  <a:pt x="546151" y="2467008"/>
                </a:lnTo>
                <a:lnTo>
                  <a:pt x="527159" y="2452436"/>
                </a:lnTo>
                <a:lnTo>
                  <a:pt x="508424" y="2437533"/>
                </a:lnTo>
                <a:lnTo>
                  <a:pt x="489953" y="2422307"/>
                </a:lnTo>
                <a:lnTo>
                  <a:pt x="471749" y="2406760"/>
                </a:lnTo>
                <a:lnTo>
                  <a:pt x="453820" y="2390897"/>
                </a:lnTo>
                <a:lnTo>
                  <a:pt x="436171" y="2374725"/>
                </a:lnTo>
                <a:lnTo>
                  <a:pt x="418807" y="2358246"/>
                </a:lnTo>
                <a:lnTo>
                  <a:pt x="401732" y="2341468"/>
                </a:lnTo>
                <a:lnTo>
                  <a:pt x="384954" y="2324393"/>
                </a:lnTo>
                <a:lnTo>
                  <a:pt x="368475" y="2307029"/>
                </a:lnTo>
                <a:lnTo>
                  <a:pt x="352303" y="2289380"/>
                </a:lnTo>
                <a:lnTo>
                  <a:pt x="336440" y="2271451"/>
                </a:lnTo>
                <a:lnTo>
                  <a:pt x="320893" y="2253247"/>
                </a:lnTo>
                <a:lnTo>
                  <a:pt x="305667" y="2234776"/>
                </a:lnTo>
                <a:lnTo>
                  <a:pt x="290764" y="2216041"/>
                </a:lnTo>
                <a:lnTo>
                  <a:pt x="276192" y="2197049"/>
                </a:lnTo>
                <a:lnTo>
                  <a:pt x="261952" y="2177806"/>
                </a:lnTo>
                <a:lnTo>
                  <a:pt x="248051" y="2158317"/>
                </a:lnTo>
                <a:lnTo>
                  <a:pt x="234492" y="2138589"/>
                </a:lnTo>
                <a:lnTo>
                  <a:pt x="221279" y="2118627"/>
                </a:lnTo>
                <a:lnTo>
                  <a:pt x="208417" y="2098437"/>
                </a:lnTo>
                <a:lnTo>
                  <a:pt x="195909" y="2078026"/>
                </a:lnTo>
                <a:lnTo>
                  <a:pt x="183760" y="2057400"/>
                </a:lnTo>
                <a:lnTo>
                  <a:pt x="171972" y="2036565"/>
                </a:lnTo>
                <a:lnTo>
                  <a:pt x="160549" y="2015527"/>
                </a:lnTo>
                <a:lnTo>
                  <a:pt x="149495" y="1994293"/>
                </a:lnTo>
                <a:lnTo>
                  <a:pt x="138814" y="1972870"/>
                </a:lnTo>
                <a:lnTo>
                  <a:pt x="128508" y="1951263"/>
                </a:lnTo>
                <a:lnTo>
                  <a:pt x="118581" y="1929480"/>
                </a:lnTo>
                <a:lnTo>
                  <a:pt x="109036" y="1907527"/>
                </a:lnTo>
                <a:lnTo>
                  <a:pt x="99875" y="1885410"/>
                </a:lnTo>
                <a:lnTo>
                  <a:pt x="91101" y="1863137"/>
                </a:lnTo>
                <a:lnTo>
                  <a:pt x="82718" y="1840715"/>
                </a:lnTo>
                <a:lnTo>
                  <a:pt x="74727" y="1818149"/>
                </a:lnTo>
                <a:lnTo>
                  <a:pt x="67131" y="1795448"/>
                </a:lnTo>
                <a:lnTo>
                  <a:pt x="59932" y="1772617"/>
                </a:lnTo>
                <a:lnTo>
                  <a:pt x="53133" y="1749664"/>
                </a:lnTo>
                <a:lnTo>
                  <a:pt x="46736" y="1726596"/>
                </a:lnTo>
                <a:lnTo>
                  <a:pt x="40742" y="1703420"/>
                </a:lnTo>
                <a:lnTo>
                  <a:pt x="35154" y="1680143"/>
                </a:lnTo>
                <a:lnTo>
                  <a:pt x="29973" y="1656772"/>
                </a:lnTo>
                <a:lnTo>
                  <a:pt x="25200" y="1633314"/>
                </a:lnTo>
                <a:lnTo>
                  <a:pt x="20838" y="1609776"/>
                </a:lnTo>
                <a:lnTo>
                  <a:pt x="16887" y="1586166"/>
                </a:lnTo>
                <a:lnTo>
                  <a:pt x="13348" y="1562490"/>
                </a:lnTo>
                <a:lnTo>
                  <a:pt x="10224" y="1538756"/>
                </a:lnTo>
                <a:lnTo>
                  <a:pt x="7514" y="1514971"/>
                </a:lnTo>
                <a:lnTo>
                  <a:pt x="5219" y="1491143"/>
                </a:lnTo>
                <a:lnTo>
                  <a:pt x="3341" y="1467278"/>
                </a:lnTo>
                <a:lnTo>
                  <a:pt x="1880" y="1443384"/>
                </a:lnTo>
                <a:lnTo>
                  <a:pt x="836" y="1419468"/>
                </a:lnTo>
                <a:lnTo>
                  <a:pt x="209" y="1395538"/>
                </a:lnTo>
                <a:lnTo>
                  <a:pt x="0" y="1371600"/>
                </a:lnTo>
                <a:lnTo>
                  <a:pt x="209" y="1347662"/>
                </a:lnTo>
                <a:lnTo>
                  <a:pt x="836" y="1323732"/>
                </a:lnTo>
                <a:lnTo>
                  <a:pt x="1880" y="1299816"/>
                </a:lnTo>
                <a:lnTo>
                  <a:pt x="3341" y="1275922"/>
                </a:lnTo>
                <a:lnTo>
                  <a:pt x="5219" y="1252057"/>
                </a:lnTo>
                <a:lnTo>
                  <a:pt x="7514" y="1228229"/>
                </a:lnTo>
                <a:lnTo>
                  <a:pt x="10224" y="1204444"/>
                </a:lnTo>
                <a:lnTo>
                  <a:pt x="13348" y="1180710"/>
                </a:lnTo>
                <a:lnTo>
                  <a:pt x="16887" y="1157034"/>
                </a:lnTo>
                <a:lnTo>
                  <a:pt x="20838" y="1133424"/>
                </a:lnTo>
                <a:lnTo>
                  <a:pt x="25200" y="1109886"/>
                </a:lnTo>
                <a:lnTo>
                  <a:pt x="29973" y="1086428"/>
                </a:lnTo>
                <a:lnTo>
                  <a:pt x="35154" y="1063057"/>
                </a:lnTo>
                <a:lnTo>
                  <a:pt x="40742" y="1039780"/>
                </a:lnTo>
                <a:lnTo>
                  <a:pt x="46736" y="1016604"/>
                </a:lnTo>
                <a:lnTo>
                  <a:pt x="53133" y="993536"/>
                </a:lnTo>
                <a:lnTo>
                  <a:pt x="59932" y="970583"/>
                </a:lnTo>
                <a:lnTo>
                  <a:pt x="67131" y="947752"/>
                </a:lnTo>
                <a:lnTo>
                  <a:pt x="74727" y="925051"/>
                </a:lnTo>
                <a:lnTo>
                  <a:pt x="82718" y="902485"/>
                </a:lnTo>
                <a:lnTo>
                  <a:pt x="91101" y="880063"/>
                </a:lnTo>
                <a:lnTo>
                  <a:pt x="99875" y="857790"/>
                </a:lnTo>
                <a:lnTo>
                  <a:pt x="109036" y="835673"/>
                </a:lnTo>
                <a:lnTo>
                  <a:pt x="118581" y="813720"/>
                </a:lnTo>
                <a:lnTo>
                  <a:pt x="128508" y="791937"/>
                </a:lnTo>
                <a:lnTo>
                  <a:pt x="138814" y="770330"/>
                </a:lnTo>
                <a:lnTo>
                  <a:pt x="149495" y="748907"/>
                </a:lnTo>
                <a:lnTo>
                  <a:pt x="160549" y="727673"/>
                </a:lnTo>
                <a:lnTo>
                  <a:pt x="171972" y="706635"/>
                </a:lnTo>
                <a:lnTo>
                  <a:pt x="183760" y="685800"/>
                </a:lnTo>
                <a:lnTo>
                  <a:pt x="195909" y="665174"/>
                </a:lnTo>
                <a:lnTo>
                  <a:pt x="208417" y="644763"/>
                </a:lnTo>
                <a:lnTo>
                  <a:pt x="221279" y="624573"/>
                </a:lnTo>
                <a:lnTo>
                  <a:pt x="234492" y="604611"/>
                </a:lnTo>
                <a:lnTo>
                  <a:pt x="248051" y="584883"/>
                </a:lnTo>
                <a:lnTo>
                  <a:pt x="261952" y="565394"/>
                </a:lnTo>
                <a:lnTo>
                  <a:pt x="276192" y="546151"/>
                </a:lnTo>
                <a:lnTo>
                  <a:pt x="290764" y="527159"/>
                </a:lnTo>
                <a:lnTo>
                  <a:pt x="305667" y="508424"/>
                </a:lnTo>
                <a:lnTo>
                  <a:pt x="320893" y="489953"/>
                </a:lnTo>
                <a:lnTo>
                  <a:pt x="336440" y="471749"/>
                </a:lnTo>
                <a:lnTo>
                  <a:pt x="352303" y="453820"/>
                </a:lnTo>
                <a:lnTo>
                  <a:pt x="368475" y="436171"/>
                </a:lnTo>
                <a:lnTo>
                  <a:pt x="384954" y="418807"/>
                </a:lnTo>
                <a:lnTo>
                  <a:pt x="401732" y="401732"/>
                </a:lnTo>
                <a:lnTo>
                  <a:pt x="418807" y="384954"/>
                </a:lnTo>
                <a:lnTo>
                  <a:pt x="436171" y="368475"/>
                </a:lnTo>
                <a:lnTo>
                  <a:pt x="453820" y="352303"/>
                </a:lnTo>
                <a:lnTo>
                  <a:pt x="471749" y="336440"/>
                </a:lnTo>
                <a:lnTo>
                  <a:pt x="489953" y="320893"/>
                </a:lnTo>
                <a:lnTo>
                  <a:pt x="508424" y="305667"/>
                </a:lnTo>
                <a:lnTo>
                  <a:pt x="527159" y="290764"/>
                </a:lnTo>
                <a:lnTo>
                  <a:pt x="546151" y="276192"/>
                </a:lnTo>
                <a:lnTo>
                  <a:pt x="565394" y="261952"/>
                </a:lnTo>
                <a:lnTo>
                  <a:pt x="584883" y="248051"/>
                </a:lnTo>
                <a:lnTo>
                  <a:pt x="604611" y="234492"/>
                </a:lnTo>
                <a:lnTo>
                  <a:pt x="624573" y="221279"/>
                </a:lnTo>
                <a:lnTo>
                  <a:pt x="644763" y="208417"/>
                </a:lnTo>
                <a:lnTo>
                  <a:pt x="665174" y="195909"/>
                </a:lnTo>
                <a:lnTo>
                  <a:pt x="685800" y="183760"/>
                </a:lnTo>
                <a:lnTo>
                  <a:pt x="706635" y="171972"/>
                </a:lnTo>
                <a:lnTo>
                  <a:pt x="727673" y="160549"/>
                </a:lnTo>
                <a:lnTo>
                  <a:pt x="748907" y="149495"/>
                </a:lnTo>
                <a:lnTo>
                  <a:pt x="770330" y="138814"/>
                </a:lnTo>
                <a:lnTo>
                  <a:pt x="791937" y="128508"/>
                </a:lnTo>
                <a:lnTo>
                  <a:pt x="813720" y="118581"/>
                </a:lnTo>
                <a:lnTo>
                  <a:pt x="835673" y="109036"/>
                </a:lnTo>
                <a:lnTo>
                  <a:pt x="857790" y="99875"/>
                </a:lnTo>
                <a:lnTo>
                  <a:pt x="880063" y="91101"/>
                </a:lnTo>
                <a:lnTo>
                  <a:pt x="902485" y="82718"/>
                </a:lnTo>
                <a:lnTo>
                  <a:pt x="925051" y="74727"/>
                </a:lnTo>
                <a:lnTo>
                  <a:pt x="947752" y="67131"/>
                </a:lnTo>
                <a:lnTo>
                  <a:pt x="970583" y="59932"/>
                </a:lnTo>
                <a:lnTo>
                  <a:pt x="993536" y="53133"/>
                </a:lnTo>
                <a:lnTo>
                  <a:pt x="1016604" y="46736"/>
                </a:lnTo>
                <a:lnTo>
                  <a:pt x="1039780" y="40742"/>
                </a:lnTo>
                <a:lnTo>
                  <a:pt x="1063057" y="35154"/>
                </a:lnTo>
                <a:lnTo>
                  <a:pt x="1086428" y="29973"/>
                </a:lnTo>
                <a:lnTo>
                  <a:pt x="1109886" y="25200"/>
                </a:lnTo>
                <a:lnTo>
                  <a:pt x="1133424" y="20838"/>
                </a:lnTo>
                <a:lnTo>
                  <a:pt x="1157034" y="16887"/>
                </a:lnTo>
                <a:lnTo>
                  <a:pt x="1180710" y="13348"/>
                </a:lnTo>
                <a:lnTo>
                  <a:pt x="1204444" y="10224"/>
                </a:lnTo>
                <a:lnTo>
                  <a:pt x="1228229" y="7514"/>
                </a:lnTo>
                <a:lnTo>
                  <a:pt x="1252057" y="5219"/>
                </a:lnTo>
                <a:lnTo>
                  <a:pt x="1275922" y="3341"/>
                </a:lnTo>
                <a:lnTo>
                  <a:pt x="1299816" y="1880"/>
                </a:lnTo>
                <a:lnTo>
                  <a:pt x="1323732" y="836"/>
                </a:lnTo>
                <a:lnTo>
                  <a:pt x="1347662" y="209"/>
                </a:lnTo>
                <a:lnTo>
                  <a:pt x="1371600" y="0"/>
                </a:lnTo>
                <a:lnTo>
                  <a:pt x="1395538" y="209"/>
                </a:lnTo>
                <a:lnTo>
                  <a:pt x="1419468" y="836"/>
                </a:lnTo>
                <a:lnTo>
                  <a:pt x="1443384" y="1880"/>
                </a:lnTo>
                <a:lnTo>
                  <a:pt x="1467278" y="3341"/>
                </a:lnTo>
                <a:lnTo>
                  <a:pt x="1491143" y="5219"/>
                </a:lnTo>
                <a:lnTo>
                  <a:pt x="1514971" y="7514"/>
                </a:lnTo>
                <a:lnTo>
                  <a:pt x="1538756" y="10224"/>
                </a:lnTo>
                <a:lnTo>
                  <a:pt x="1562490" y="13348"/>
                </a:lnTo>
                <a:lnTo>
                  <a:pt x="1586166" y="16887"/>
                </a:lnTo>
                <a:lnTo>
                  <a:pt x="1609776" y="20838"/>
                </a:lnTo>
                <a:lnTo>
                  <a:pt x="1633314" y="25200"/>
                </a:lnTo>
                <a:lnTo>
                  <a:pt x="1656772" y="29973"/>
                </a:lnTo>
                <a:lnTo>
                  <a:pt x="1680143" y="35154"/>
                </a:lnTo>
                <a:lnTo>
                  <a:pt x="1703420" y="40742"/>
                </a:lnTo>
                <a:lnTo>
                  <a:pt x="1726596" y="46736"/>
                </a:lnTo>
                <a:lnTo>
                  <a:pt x="1749664" y="53133"/>
                </a:lnTo>
                <a:lnTo>
                  <a:pt x="1772617" y="59932"/>
                </a:lnTo>
                <a:lnTo>
                  <a:pt x="1795448" y="67131"/>
                </a:lnTo>
                <a:lnTo>
                  <a:pt x="1818149" y="74727"/>
                </a:lnTo>
                <a:lnTo>
                  <a:pt x="1840715" y="82718"/>
                </a:lnTo>
                <a:lnTo>
                  <a:pt x="1863137" y="91101"/>
                </a:lnTo>
                <a:lnTo>
                  <a:pt x="1885410" y="99875"/>
                </a:lnTo>
                <a:lnTo>
                  <a:pt x="1907527" y="109036"/>
                </a:lnTo>
                <a:lnTo>
                  <a:pt x="1929480" y="118581"/>
                </a:lnTo>
                <a:lnTo>
                  <a:pt x="1951263" y="128508"/>
                </a:lnTo>
                <a:lnTo>
                  <a:pt x="1972870" y="138814"/>
                </a:lnTo>
                <a:lnTo>
                  <a:pt x="1994293" y="149495"/>
                </a:lnTo>
                <a:lnTo>
                  <a:pt x="2015527" y="160549"/>
                </a:lnTo>
                <a:lnTo>
                  <a:pt x="2036565" y="171972"/>
                </a:lnTo>
                <a:lnTo>
                  <a:pt x="2057400" y="183760"/>
                </a:lnTo>
                <a:lnTo>
                  <a:pt x="2078026" y="195909"/>
                </a:lnTo>
                <a:lnTo>
                  <a:pt x="2098437" y="208417"/>
                </a:lnTo>
                <a:lnTo>
                  <a:pt x="2118627" y="221279"/>
                </a:lnTo>
                <a:lnTo>
                  <a:pt x="2138589" y="234492"/>
                </a:lnTo>
                <a:lnTo>
                  <a:pt x="2158317" y="248051"/>
                </a:lnTo>
                <a:lnTo>
                  <a:pt x="2177806" y="261952"/>
                </a:lnTo>
                <a:lnTo>
                  <a:pt x="2197049" y="276192"/>
                </a:lnTo>
                <a:lnTo>
                  <a:pt x="2216041" y="290764"/>
                </a:lnTo>
                <a:lnTo>
                  <a:pt x="2234776" y="305667"/>
                </a:lnTo>
                <a:lnTo>
                  <a:pt x="2253247" y="320893"/>
                </a:lnTo>
                <a:lnTo>
                  <a:pt x="2271451" y="336440"/>
                </a:lnTo>
                <a:lnTo>
                  <a:pt x="2289380" y="352303"/>
                </a:lnTo>
                <a:lnTo>
                  <a:pt x="2307029" y="368475"/>
                </a:lnTo>
                <a:lnTo>
                  <a:pt x="2324393" y="384954"/>
                </a:lnTo>
                <a:lnTo>
                  <a:pt x="2341468" y="401732"/>
                </a:lnTo>
                <a:lnTo>
                  <a:pt x="2358246" y="418807"/>
                </a:lnTo>
                <a:lnTo>
                  <a:pt x="2374725" y="436171"/>
                </a:lnTo>
                <a:lnTo>
                  <a:pt x="2390897" y="453820"/>
                </a:lnTo>
                <a:lnTo>
                  <a:pt x="2406760" y="471749"/>
                </a:lnTo>
                <a:lnTo>
                  <a:pt x="2422307" y="489953"/>
                </a:lnTo>
                <a:lnTo>
                  <a:pt x="2437533" y="508424"/>
                </a:lnTo>
                <a:lnTo>
                  <a:pt x="2452436" y="527159"/>
                </a:lnTo>
                <a:lnTo>
                  <a:pt x="2467008" y="546151"/>
                </a:lnTo>
                <a:lnTo>
                  <a:pt x="2481248" y="565394"/>
                </a:lnTo>
                <a:lnTo>
                  <a:pt x="2495149" y="584883"/>
                </a:lnTo>
                <a:lnTo>
                  <a:pt x="2508708" y="604611"/>
                </a:lnTo>
                <a:lnTo>
                  <a:pt x="2521921" y="624573"/>
                </a:lnTo>
                <a:lnTo>
                  <a:pt x="2534783" y="644763"/>
                </a:lnTo>
                <a:lnTo>
                  <a:pt x="2547291" y="665174"/>
                </a:lnTo>
                <a:lnTo>
                  <a:pt x="2559440" y="685800"/>
                </a:lnTo>
                <a:lnTo>
                  <a:pt x="2571228" y="706635"/>
                </a:lnTo>
                <a:lnTo>
                  <a:pt x="2582651" y="727673"/>
                </a:lnTo>
                <a:lnTo>
                  <a:pt x="2593705" y="748907"/>
                </a:lnTo>
                <a:lnTo>
                  <a:pt x="2604386" y="770330"/>
                </a:lnTo>
                <a:lnTo>
                  <a:pt x="2614692" y="791937"/>
                </a:lnTo>
                <a:lnTo>
                  <a:pt x="2624619" y="813720"/>
                </a:lnTo>
                <a:lnTo>
                  <a:pt x="2634164" y="835673"/>
                </a:lnTo>
                <a:lnTo>
                  <a:pt x="2643325" y="857790"/>
                </a:lnTo>
                <a:lnTo>
                  <a:pt x="2652099" y="880063"/>
                </a:lnTo>
                <a:lnTo>
                  <a:pt x="2660482" y="902485"/>
                </a:lnTo>
                <a:lnTo>
                  <a:pt x="2668473" y="925051"/>
                </a:lnTo>
                <a:lnTo>
                  <a:pt x="2676069" y="947752"/>
                </a:lnTo>
                <a:lnTo>
                  <a:pt x="2683268" y="970583"/>
                </a:lnTo>
                <a:lnTo>
                  <a:pt x="2690067" y="993536"/>
                </a:lnTo>
                <a:lnTo>
                  <a:pt x="2696464" y="1016604"/>
                </a:lnTo>
                <a:lnTo>
                  <a:pt x="2702458" y="1039780"/>
                </a:lnTo>
                <a:lnTo>
                  <a:pt x="2708046" y="1063057"/>
                </a:lnTo>
                <a:lnTo>
                  <a:pt x="2713227" y="1086428"/>
                </a:lnTo>
                <a:lnTo>
                  <a:pt x="2718000" y="1109886"/>
                </a:lnTo>
                <a:lnTo>
                  <a:pt x="2722362" y="1133424"/>
                </a:lnTo>
                <a:lnTo>
                  <a:pt x="2726313" y="1157034"/>
                </a:lnTo>
                <a:lnTo>
                  <a:pt x="2729852" y="1180710"/>
                </a:lnTo>
                <a:lnTo>
                  <a:pt x="2732976" y="1204444"/>
                </a:lnTo>
                <a:lnTo>
                  <a:pt x="2735686" y="1228229"/>
                </a:lnTo>
                <a:lnTo>
                  <a:pt x="2737981" y="1252057"/>
                </a:lnTo>
                <a:lnTo>
                  <a:pt x="2739859" y="1275922"/>
                </a:lnTo>
                <a:lnTo>
                  <a:pt x="2741320" y="1299816"/>
                </a:lnTo>
                <a:lnTo>
                  <a:pt x="2742364" y="1323732"/>
                </a:lnTo>
                <a:lnTo>
                  <a:pt x="2742991" y="1347662"/>
                </a:lnTo>
                <a:lnTo>
                  <a:pt x="2743200" y="1371600"/>
                </a:lnTo>
              </a:path>
            </a:pathLst>
          </a:custGeom>
          <a:noFill xmlns:a="http://schemas.openxmlformats.org/drawingml/2006/main"/>
          <a:ln xmlns:a="http://schemas.openxmlformats.org/drawingml/2006/main" w="11430">
            <a:solidFill>
              <a:srgbClr val="FAFAFA"/>
            </a:solidFill>
            <a:prstDash val="solid"/>
          </a:ln>
        </p:spPr>
      </p:sp>
      <p:sp>
        <p:nvSpPr>
          <p:cNvPr id="6" name="">
            <a:extLst xmlns:a="http://schemas.openxmlformats.org/drawingml/2006/main">
              <a:ext uri="{FF2B5EF4-FFF2-40B4-BE49-F238E27FC236}">
                <a16:creationId xmlns:a16="http://schemas.microsoft.com/office/drawing/2014/main" id="{8E89BB45-FD91-4AA3-AE0D-C5917F2F1B5C}"/>
              </a:ext>
            </a:extLst>
          </p:cNvPr>
          <p:cNvSpPr>
            <a:spLocks xmlns:a="http://schemas.openxmlformats.org/drawingml/2006/main" noGrp="1"/>
          </p:cNvSpPr>
          <p:nvPr/>
        </p:nvSpPr>
        <p:spPr>
          <a:xfrm xmlns:a="http://schemas.openxmlformats.org/drawingml/2006/main">
            <a:off x="6286500" y="2057400"/>
            <a:ext cx="2743200" cy="2743200"/>
          </a:xfrm>
          <a:custGeom xmlns:a="http://schemas.openxmlformats.org/drawingml/2006/main">
            <a:pathLst>
              <a:path w="2743200" h="2743200">
                <a:moveTo>
                  <a:pt x="2743200" y="1371600"/>
                </a:moveTo>
                <a:lnTo>
                  <a:pt x="2742991" y="1395538"/>
                </a:lnTo>
                <a:lnTo>
                  <a:pt x="2742364" y="1419468"/>
                </a:lnTo>
                <a:lnTo>
                  <a:pt x="2741320" y="1443384"/>
                </a:lnTo>
                <a:lnTo>
                  <a:pt x="2739859" y="1467278"/>
                </a:lnTo>
                <a:lnTo>
                  <a:pt x="2737981" y="1491143"/>
                </a:lnTo>
                <a:lnTo>
                  <a:pt x="2735686" y="1514971"/>
                </a:lnTo>
                <a:lnTo>
                  <a:pt x="2732976" y="1538756"/>
                </a:lnTo>
                <a:lnTo>
                  <a:pt x="2729852" y="1562490"/>
                </a:lnTo>
                <a:lnTo>
                  <a:pt x="2726313" y="1586166"/>
                </a:lnTo>
                <a:lnTo>
                  <a:pt x="2722362" y="1609776"/>
                </a:lnTo>
                <a:lnTo>
                  <a:pt x="2718000" y="1633314"/>
                </a:lnTo>
                <a:lnTo>
                  <a:pt x="2713227" y="1656772"/>
                </a:lnTo>
                <a:lnTo>
                  <a:pt x="2708046" y="1680143"/>
                </a:lnTo>
                <a:lnTo>
                  <a:pt x="2702458" y="1703420"/>
                </a:lnTo>
                <a:lnTo>
                  <a:pt x="2696464" y="1726596"/>
                </a:lnTo>
                <a:lnTo>
                  <a:pt x="2690067" y="1749664"/>
                </a:lnTo>
                <a:lnTo>
                  <a:pt x="2683268" y="1772617"/>
                </a:lnTo>
                <a:lnTo>
                  <a:pt x="2676069" y="1795448"/>
                </a:lnTo>
                <a:lnTo>
                  <a:pt x="2668473" y="1818149"/>
                </a:lnTo>
                <a:lnTo>
                  <a:pt x="2660482" y="1840715"/>
                </a:lnTo>
                <a:lnTo>
                  <a:pt x="2652099" y="1863137"/>
                </a:lnTo>
                <a:lnTo>
                  <a:pt x="2643325" y="1885410"/>
                </a:lnTo>
                <a:lnTo>
                  <a:pt x="2634164" y="1907527"/>
                </a:lnTo>
                <a:lnTo>
                  <a:pt x="2624619" y="1929480"/>
                </a:lnTo>
                <a:lnTo>
                  <a:pt x="2614692" y="1951263"/>
                </a:lnTo>
                <a:lnTo>
                  <a:pt x="2604386" y="1972870"/>
                </a:lnTo>
                <a:lnTo>
                  <a:pt x="2593705" y="1994293"/>
                </a:lnTo>
                <a:lnTo>
                  <a:pt x="2582651" y="2015527"/>
                </a:lnTo>
                <a:lnTo>
                  <a:pt x="2571228" y="2036565"/>
                </a:lnTo>
                <a:lnTo>
                  <a:pt x="2559440" y="2057400"/>
                </a:lnTo>
                <a:lnTo>
                  <a:pt x="2547291" y="2078026"/>
                </a:lnTo>
                <a:lnTo>
                  <a:pt x="2534783" y="2098437"/>
                </a:lnTo>
                <a:lnTo>
                  <a:pt x="2521921" y="2118627"/>
                </a:lnTo>
                <a:lnTo>
                  <a:pt x="2508708" y="2138589"/>
                </a:lnTo>
                <a:lnTo>
                  <a:pt x="2495149" y="2158317"/>
                </a:lnTo>
                <a:lnTo>
                  <a:pt x="2481248" y="2177806"/>
                </a:lnTo>
                <a:lnTo>
                  <a:pt x="2467008" y="2197049"/>
                </a:lnTo>
                <a:lnTo>
                  <a:pt x="2452436" y="2216041"/>
                </a:lnTo>
                <a:lnTo>
                  <a:pt x="2437533" y="2234776"/>
                </a:lnTo>
                <a:lnTo>
                  <a:pt x="2422307" y="2253247"/>
                </a:lnTo>
                <a:lnTo>
                  <a:pt x="2406760" y="2271451"/>
                </a:lnTo>
                <a:lnTo>
                  <a:pt x="2390897" y="2289380"/>
                </a:lnTo>
                <a:lnTo>
                  <a:pt x="2374725" y="2307029"/>
                </a:lnTo>
                <a:lnTo>
                  <a:pt x="2358246" y="2324393"/>
                </a:lnTo>
                <a:lnTo>
                  <a:pt x="2341468" y="2341468"/>
                </a:lnTo>
                <a:lnTo>
                  <a:pt x="2324393" y="2358246"/>
                </a:lnTo>
                <a:lnTo>
                  <a:pt x="2307029" y="2374725"/>
                </a:lnTo>
                <a:lnTo>
                  <a:pt x="2289380" y="2390897"/>
                </a:lnTo>
                <a:lnTo>
                  <a:pt x="2271451" y="2406760"/>
                </a:lnTo>
                <a:lnTo>
                  <a:pt x="2253247" y="2422307"/>
                </a:lnTo>
                <a:lnTo>
                  <a:pt x="2234776" y="2437533"/>
                </a:lnTo>
                <a:lnTo>
                  <a:pt x="2216041" y="2452436"/>
                </a:lnTo>
                <a:lnTo>
                  <a:pt x="2197049" y="2467008"/>
                </a:lnTo>
                <a:lnTo>
                  <a:pt x="2177806" y="2481248"/>
                </a:lnTo>
                <a:lnTo>
                  <a:pt x="2158317" y="2495149"/>
                </a:lnTo>
                <a:lnTo>
                  <a:pt x="2138589" y="2508708"/>
                </a:lnTo>
                <a:lnTo>
                  <a:pt x="2118627" y="2521921"/>
                </a:lnTo>
                <a:lnTo>
                  <a:pt x="2098437" y="2534783"/>
                </a:lnTo>
                <a:lnTo>
                  <a:pt x="2078026" y="2547291"/>
                </a:lnTo>
                <a:lnTo>
                  <a:pt x="2057400" y="2559440"/>
                </a:lnTo>
                <a:lnTo>
                  <a:pt x="2036565" y="2571228"/>
                </a:lnTo>
                <a:lnTo>
                  <a:pt x="2015527" y="2582651"/>
                </a:lnTo>
                <a:lnTo>
                  <a:pt x="1994293" y="2593705"/>
                </a:lnTo>
                <a:lnTo>
                  <a:pt x="1972870" y="2604386"/>
                </a:lnTo>
                <a:lnTo>
                  <a:pt x="1951263" y="2614692"/>
                </a:lnTo>
                <a:lnTo>
                  <a:pt x="1929480" y="2624619"/>
                </a:lnTo>
                <a:lnTo>
                  <a:pt x="1907527" y="2634164"/>
                </a:lnTo>
                <a:lnTo>
                  <a:pt x="1885410" y="2643325"/>
                </a:lnTo>
                <a:lnTo>
                  <a:pt x="1863137" y="2652099"/>
                </a:lnTo>
                <a:lnTo>
                  <a:pt x="1840715" y="2660482"/>
                </a:lnTo>
                <a:lnTo>
                  <a:pt x="1818149" y="2668473"/>
                </a:lnTo>
                <a:lnTo>
                  <a:pt x="1795448" y="2676069"/>
                </a:lnTo>
                <a:lnTo>
                  <a:pt x="1772617" y="2683268"/>
                </a:lnTo>
                <a:lnTo>
                  <a:pt x="1749664" y="2690067"/>
                </a:lnTo>
                <a:lnTo>
                  <a:pt x="1726596" y="2696464"/>
                </a:lnTo>
                <a:lnTo>
                  <a:pt x="1703420" y="2702458"/>
                </a:lnTo>
                <a:lnTo>
                  <a:pt x="1680143" y="2708046"/>
                </a:lnTo>
                <a:lnTo>
                  <a:pt x="1656772" y="2713227"/>
                </a:lnTo>
                <a:lnTo>
                  <a:pt x="1633314" y="2718000"/>
                </a:lnTo>
                <a:lnTo>
                  <a:pt x="1609776" y="2722362"/>
                </a:lnTo>
                <a:lnTo>
                  <a:pt x="1586166" y="2726313"/>
                </a:lnTo>
                <a:lnTo>
                  <a:pt x="1562490" y="2729852"/>
                </a:lnTo>
                <a:lnTo>
                  <a:pt x="1538756" y="2732976"/>
                </a:lnTo>
                <a:lnTo>
                  <a:pt x="1514971" y="2735686"/>
                </a:lnTo>
                <a:lnTo>
                  <a:pt x="1491143" y="2737981"/>
                </a:lnTo>
                <a:lnTo>
                  <a:pt x="1467278" y="2739859"/>
                </a:lnTo>
                <a:lnTo>
                  <a:pt x="1443384" y="2741320"/>
                </a:lnTo>
                <a:lnTo>
                  <a:pt x="1419468" y="2742364"/>
                </a:lnTo>
                <a:lnTo>
                  <a:pt x="1395538" y="2742991"/>
                </a:lnTo>
                <a:lnTo>
                  <a:pt x="1371600" y="2743200"/>
                </a:lnTo>
                <a:lnTo>
                  <a:pt x="1347662" y="2742991"/>
                </a:lnTo>
                <a:lnTo>
                  <a:pt x="1323732" y="2742364"/>
                </a:lnTo>
                <a:lnTo>
                  <a:pt x="1299816" y="2741320"/>
                </a:lnTo>
                <a:lnTo>
                  <a:pt x="1275922" y="2739859"/>
                </a:lnTo>
                <a:lnTo>
                  <a:pt x="1252057" y="2737981"/>
                </a:lnTo>
                <a:lnTo>
                  <a:pt x="1228229" y="2735686"/>
                </a:lnTo>
                <a:lnTo>
                  <a:pt x="1204444" y="2732976"/>
                </a:lnTo>
                <a:lnTo>
                  <a:pt x="1180710" y="2729852"/>
                </a:lnTo>
                <a:lnTo>
                  <a:pt x="1157034" y="2726313"/>
                </a:lnTo>
                <a:lnTo>
                  <a:pt x="1133424" y="2722362"/>
                </a:lnTo>
                <a:lnTo>
                  <a:pt x="1109886" y="2718000"/>
                </a:lnTo>
                <a:lnTo>
                  <a:pt x="1086428" y="2713227"/>
                </a:lnTo>
                <a:lnTo>
                  <a:pt x="1063057" y="2708046"/>
                </a:lnTo>
                <a:lnTo>
                  <a:pt x="1039780" y="2702458"/>
                </a:lnTo>
                <a:lnTo>
                  <a:pt x="1016604" y="2696464"/>
                </a:lnTo>
                <a:lnTo>
                  <a:pt x="993536" y="2690067"/>
                </a:lnTo>
                <a:lnTo>
                  <a:pt x="970583" y="2683268"/>
                </a:lnTo>
                <a:lnTo>
                  <a:pt x="947752" y="2676069"/>
                </a:lnTo>
                <a:lnTo>
                  <a:pt x="925051" y="2668473"/>
                </a:lnTo>
                <a:lnTo>
                  <a:pt x="902485" y="2660482"/>
                </a:lnTo>
                <a:lnTo>
                  <a:pt x="880063" y="2652099"/>
                </a:lnTo>
                <a:lnTo>
                  <a:pt x="857790" y="2643325"/>
                </a:lnTo>
                <a:lnTo>
                  <a:pt x="835673" y="2634164"/>
                </a:lnTo>
                <a:lnTo>
                  <a:pt x="813720" y="2624619"/>
                </a:lnTo>
                <a:lnTo>
                  <a:pt x="791937" y="2614692"/>
                </a:lnTo>
                <a:lnTo>
                  <a:pt x="770330" y="2604386"/>
                </a:lnTo>
                <a:lnTo>
                  <a:pt x="748907" y="2593705"/>
                </a:lnTo>
                <a:lnTo>
                  <a:pt x="727673" y="2582651"/>
                </a:lnTo>
                <a:lnTo>
                  <a:pt x="706635" y="2571228"/>
                </a:lnTo>
                <a:lnTo>
                  <a:pt x="685800" y="2559440"/>
                </a:lnTo>
                <a:lnTo>
                  <a:pt x="665174" y="2547291"/>
                </a:lnTo>
                <a:lnTo>
                  <a:pt x="644763" y="2534783"/>
                </a:lnTo>
                <a:lnTo>
                  <a:pt x="624573" y="2521921"/>
                </a:lnTo>
                <a:lnTo>
                  <a:pt x="604611" y="2508708"/>
                </a:lnTo>
                <a:lnTo>
                  <a:pt x="584883" y="2495149"/>
                </a:lnTo>
                <a:lnTo>
                  <a:pt x="565394" y="2481248"/>
                </a:lnTo>
                <a:lnTo>
                  <a:pt x="546151" y="2467008"/>
                </a:lnTo>
                <a:lnTo>
                  <a:pt x="527159" y="2452436"/>
                </a:lnTo>
                <a:lnTo>
                  <a:pt x="508424" y="2437533"/>
                </a:lnTo>
                <a:lnTo>
                  <a:pt x="489953" y="2422307"/>
                </a:lnTo>
                <a:lnTo>
                  <a:pt x="471749" y="2406760"/>
                </a:lnTo>
                <a:lnTo>
                  <a:pt x="453820" y="2390897"/>
                </a:lnTo>
                <a:lnTo>
                  <a:pt x="436171" y="2374725"/>
                </a:lnTo>
                <a:lnTo>
                  <a:pt x="418807" y="2358246"/>
                </a:lnTo>
                <a:lnTo>
                  <a:pt x="401732" y="2341468"/>
                </a:lnTo>
                <a:lnTo>
                  <a:pt x="384954" y="2324393"/>
                </a:lnTo>
                <a:lnTo>
                  <a:pt x="368475" y="2307029"/>
                </a:lnTo>
                <a:lnTo>
                  <a:pt x="352303" y="2289380"/>
                </a:lnTo>
                <a:lnTo>
                  <a:pt x="336440" y="2271451"/>
                </a:lnTo>
                <a:lnTo>
                  <a:pt x="320893" y="2253247"/>
                </a:lnTo>
                <a:lnTo>
                  <a:pt x="305667" y="2234776"/>
                </a:lnTo>
                <a:lnTo>
                  <a:pt x="290764" y="2216041"/>
                </a:lnTo>
                <a:lnTo>
                  <a:pt x="276192" y="2197049"/>
                </a:lnTo>
                <a:lnTo>
                  <a:pt x="261952" y="2177806"/>
                </a:lnTo>
                <a:lnTo>
                  <a:pt x="248051" y="2158317"/>
                </a:lnTo>
                <a:lnTo>
                  <a:pt x="234492" y="2138589"/>
                </a:lnTo>
                <a:lnTo>
                  <a:pt x="221279" y="2118627"/>
                </a:lnTo>
                <a:lnTo>
                  <a:pt x="208417" y="2098437"/>
                </a:lnTo>
                <a:lnTo>
                  <a:pt x="195909" y="2078026"/>
                </a:lnTo>
                <a:lnTo>
                  <a:pt x="183760" y="2057400"/>
                </a:lnTo>
                <a:lnTo>
                  <a:pt x="171972" y="2036565"/>
                </a:lnTo>
                <a:lnTo>
                  <a:pt x="160549" y="2015527"/>
                </a:lnTo>
                <a:lnTo>
                  <a:pt x="149495" y="1994293"/>
                </a:lnTo>
                <a:lnTo>
                  <a:pt x="138814" y="1972870"/>
                </a:lnTo>
                <a:lnTo>
                  <a:pt x="128508" y="1951263"/>
                </a:lnTo>
                <a:lnTo>
                  <a:pt x="118581" y="1929480"/>
                </a:lnTo>
                <a:lnTo>
                  <a:pt x="109036" y="1907527"/>
                </a:lnTo>
                <a:lnTo>
                  <a:pt x="99875" y="1885410"/>
                </a:lnTo>
                <a:lnTo>
                  <a:pt x="91101" y="1863137"/>
                </a:lnTo>
                <a:lnTo>
                  <a:pt x="82718" y="1840715"/>
                </a:lnTo>
                <a:lnTo>
                  <a:pt x="74727" y="1818149"/>
                </a:lnTo>
                <a:lnTo>
                  <a:pt x="67131" y="1795448"/>
                </a:lnTo>
                <a:lnTo>
                  <a:pt x="59932" y="1772617"/>
                </a:lnTo>
                <a:lnTo>
                  <a:pt x="53133" y="1749664"/>
                </a:lnTo>
                <a:lnTo>
                  <a:pt x="46736" y="1726596"/>
                </a:lnTo>
                <a:lnTo>
                  <a:pt x="40742" y="1703420"/>
                </a:lnTo>
                <a:lnTo>
                  <a:pt x="35154" y="1680143"/>
                </a:lnTo>
                <a:lnTo>
                  <a:pt x="29973" y="1656772"/>
                </a:lnTo>
                <a:lnTo>
                  <a:pt x="25200" y="1633314"/>
                </a:lnTo>
                <a:lnTo>
                  <a:pt x="20838" y="1609776"/>
                </a:lnTo>
                <a:lnTo>
                  <a:pt x="16887" y="1586166"/>
                </a:lnTo>
                <a:lnTo>
                  <a:pt x="13348" y="1562490"/>
                </a:lnTo>
                <a:lnTo>
                  <a:pt x="10224" y="1538756"/>
                </a:lnTo>
                <a:lnTo>
                  <a:pt x="7514" y="1514971"/>
                </a:lnTo>
                <a:lnTo>
                  <a:pt x="5219" y="1491143"/>
                </a:lnTo>
                <a:lnTo>
                  <a:pt x="3341" y="1467278"/>
                </a:lnTo>
                <a:lnTo>
                  <a:pt x="1880" y="1443384"/>
                </a:lnTo>
                <a:lnTo>
                  <a:pt x="836" y="1419468"/>
                </a:lnTo>
                <a:lnTo>
                  <a:pt x="209" y="1395538"/>
                </a:lnTo>
                <a:lnTo>
                  <a:pt x="0" y="1371600"/>
                </a:lnTo>
                <a:lnTo>
                  <a:pt x="209" y="1347662"/>
                </a:lnTo>
                <a:lnTo>
                  <a:pt x="836" y="1323732"/>
                </a:lnTo>
                <a:lnTo>
                  <a:pt x="1880" y="1299816"/>
                </a:lnTo>
                <a:lnTo>
                  <a:pt x="3341" y="1275922"/>
                </a:lnTo>
                <a:lnTo>
                  <a:pt x="5219" y="1252057"/>
                </a:lnTo>
                <a:lnTo>
                  <a:pt x="7514" y="1228229"/>
                </a:lnTo>
                <a:lnTo>
                  <a:pt x="10224" y="1204444"/>
                </a:lnTo>
                <a:lnTo>
                  <a:pt x="13348" y="1180710"/>
                </a:lnTo>
                <a:lnTo>
                  <a:pt x="16887" y="1157034"/>
                </a:lnTo>
                <a:lnTo>
                  <a:pt x="20838" y="1133424"/>
                </a:lnTo>
                <a:lnTo>
                  <a:pt x="25200" y="1109886"/>
                </a:lnTo>
                <a:lnTo>
                  <a:pt x="29973" y="1086428"/>
                </a:lnTo>
                <a:lnTo>
                  <a:pt x="35154" y="1063057"/>
                </a:lnTo>
                <a:lnTo>
                  <a:pt x="40742" y="1039780"/>
                </a:lnTo>
                <a:lnTo>
                  <a:pt x="46736" y="1016604"/>
                </a:lnTo>
                <a:lnTo>
                  <a:pt x="53133" y="993536"/>
                </a:lnTo>
                <a:lnTo>
                  <a:pt x="59932" y="970583"/>
                </a:lnTo>
                <a:lnTo>
                  <a:pt x="67131" y="947752"/>
                </a:lnTo>
                <a:lnTo>
                  <a:pt x="74727" y="925051"/>
                </a:lnTo>
                <a:lnTo>
                  <a:pt x="82718" y="902485"/>
                </a:lnTo>
                <a:lnTo>
                  <a:pt x="91101" y="880063"/>
                </a:lnTo>
                <a:lnTo>
                  <a:pt x="99875" y="857790"/>
                </a:lnTo>
                <a:lnTo>
                  <a:pt x="109036" y="835673"/>
                </a:lnTo>
                <a:lnTo>
                  <a:pt x="118581" y="813720"/>
                </a:lnTo>
                <a:lnTo>
                  <a:pt x="128508" y="791937"/>
                </a:lnTo>
                <a:lnTo>
                  <a:pt x="138814" y="770330"/>
                </a:lnTo>
                <a:lnTo>
                  <a:pt x="149495" y="748907"/>
                </a:lnTo>
                <a:lnTo>
                  <a:pt x="160549" y="727673"/>
                </a:lnTo>
                <a:lnTo>
                  <a:pt x="171972" y="706635"/>
                </a:lnTo>
                <a:lnTo>
                  <a:pt x="183760" y="685800"/>
                </a:lnTo>
                <a:lnTo>
                  <a:pt x="195909" y="665174"/>
                </a:lnTo>
                <a:lnTo>
                  <a:pt x="208417" y="644763"/>
                </a:lnTo>
                <a:lnTo>
                  <a:pt x="221279" y="624573"/>
                </a:lnTo>
                <a:lnTo>
                  <a:pt x="234492" y="604611"/>
                </a:lnTo>
                <a:lnTo>
                  <a:pt x="248051" y="584883"/>
                </a:lnTo>
                <a:lnTo>
                  <a:pt x="261952" y="565394"/>
                </a:lnTo>
                <a:lnTo>
                  <a:pt x="276192" y="546151"/>
                </a:lnTo>
                <a:lnTo>
                  <a:pt x="290764" y="527159"/>
                </a:lnTo>
                <a:lnTo>
                  <a:pt x="305667" y="508424"/>
                </a:lnTo>
                <a:lnTo>
                  <a:pt x="320893" y="489953"/>
                </a:lnTo>
                <a:lnTo>
                  <a:pt x="336440" y="471749"/>
                </a:lnTo>
                <a:lnTo>
                  <a:pt x="352303" y="453820"/>
                </a:lnTo>
                <a:lnTo>
                  <a:pt x="368475" y="436171"/>
                </a:lnTo>
                <a:lnTo>
                  <a:pt x="384954" y="418807"/>
                </a:lnTo>
                <a:lnTo>
                  <a:pt x="401732" y="401732"/>
                </a:lnTo>
                <a:lnTo>
                  <a:pt x="418807" y="384954"/>
                </a:lnTo>
                <a:lnTo>
                  <a:pt x="436171" y="368475"/>
                </a:lnTo>
                <a:lnTo>
                  <a:pt x="453820" y="352303"/>
                </a:lnTo>
                <a:lnTo>
                  <a:pt x="471749" y="336440"/>
                </a:lnTo>
                <a:lnTo>
                  <a:pt x="489953" y="320893"/>
                </a:lnTo>
                <a:lnTo>
                  <a:pt x="508424" y="305667"/>
                </a:lnTo>
                <a:lnTo>
                  <a:pt x="527159" y="290764"/>
                </a:lnTo>
                <a:lnTo>
                  <a:pt x="546151" y="276192"/>
                </a:lnTo>
                <a:lnTo>
                  <a:pt x="565394" y="261952"/>
                </a:lnTo>
                <a:lnTo>
                  <a:pt x="584883" y="248051"/>
                </a:lnTo>
                <a:lnTo>
                  <a:pt x="604611" y="234492"/>
                </a:lnTo>
                <a:lnTo>
                  <a:pt x="624573" y="221279"/>
                </a:lnTo>
                <a:lnTo>
                  <a:pt x="644763" y="208417"/>
                </a:lnTo>
                <a:lnTo>
                  <a:pt x="665174" y="195909"/>
                </a:lnTo>
                <a:lnTo>
                  <a:pt x="685800" y="183760"/>
                </a:lnTo>
                <a:lnTo>
                  <a:pt x="706635" y="171972"/>
                </a:lnTo>
                <a:lnTo>
                  <a:pt x="727673" y="160549"/>
                </a:lnTo>
                <a:lnTo>
                  <a:pt x="748907" y="149495"/>
                </a:lnTo>
                <a:lnTo>
                  <a:pt x="770330" y="138814"/>
                </a:lnTo>
                <a:lnTo>
                  <a:pt x="791937" y="128508"/>
                </a:lnTo>
                <a:lnTo>
                  <a:pt x="813720" y="118581"/>
                </a:lnTo>
                <a:lnTo>
                  <a:pt x="835673" y="109036"/>
                </a:lnTo>
                <a:lnTo>
                  <a:pt x="857790" y="99875"/>
                </a:lnTo>
                <a:lnTo>
                  <a:pt x="880063" y="91101"/>
                </a:lnTo>
                <a:lnTo>
                  <a:pt x="902485" y="82718"/>
                </a:lnTo>
                <a:lnTo>
                  <a:pt x="925051" y="74727"/>
                </a:lnTo>
                <a:lnTo>
                  <a:pt x="947752" y="67131"/>
                </a:lnTo>
                <a:lnTo>
                  <a:pt x="970583" y="59932"/>
                </a:lnTo>
                <a:lnTo>
                  <a:pt x="993536" y="53133"/>
                </a:lnTo>
                <a:lnTo>
                  <a:pt x="1016604" y="46736"/>
                </a:lnTo>
                <a:lnTo>
                  <a:pt x="1039780" y="40742"/>
                </a:lnTo>
                <a:lnTo>
                  <a:pt x="1063057" y="35154"/>
                </a:lnTo>
                <a:lnTo>
                  <a:pt x="1086428" y="29973"/>
                </a:lnTo>
                <a:lnTo>
                  <a:pt x="1109886" y="25200"/>
                </a:lnTo>
                <a:lnTo>
                  <a:pt x="1133424" y="20838"/>
                </a:lnTo>
                <a:lnTo>
                  <a:pt x="1157034" y="16887"/>
                </a:lnTo>
                <a:lnTo>
                  <a:pt x="1180710" y="13348"/>
                </a:lnTo>
                <a:lnTo>
                  <a:pt x="1204444" y="10224"/>
                </a:lnTo>
                <a:lnTo>
                  <a:pt x="1228229" y="7514"/>
                </a:lnTo>
                <a:lnTo>
                  <a:pt x="1252057" y="5219"/>
                </a:lnTo>
                <a:lnTo>
                  <a:pt x="1275922" y="3341"/>
                </a:lnTo>
                <a:lnTo>
                  <a:pt x="1299816" y="1880"/>
                </a:lnTo>
                <a:lnTo>
                  <a:pt x="1323732" y="836"/>
                </a:lnTo>
                <a:lnTo>
                  <a:pt x="1347662" y="209"/>
                </a:lnTo>
                <a:lnTo>
                  <a:pt x="1371600" y="0"/>
                </a:lnTo>
                <a:lnTo>
                  <a:pt x="1395538" y="209"/>
                </a:lnTo>
                <a:lnTo>
                  <a:pt x="1419468" y="836"/>
                </a:lnTo>
                <a:lnTo>
                  <a:pt x="1443384" y="1880"/>
                </a:lnTo>
                <a:lnTo>
                  <a:pt x="1467278" y="3341"/>
                </a:lnTo>
                <a:lnTo>
                  <a:pt x="1491143" y="5219"/>
                </a:lnTo>
                <a:lnTo>
                  <a:pt x="1514971" y="7514"/>
                </a:lnTo>
                <a:lnTo>
                  <a:pt x="1538756" y="10224"/>
                </a:lnTo>
                <a:lnTo>
                  <a:pt x="1562490" y="13348"/>
                </a:lnTo>
                <a:lnTo>
                  <a:pt x="1586166" y="16887"/>
                </a:lnTo>
                <a:lnTo>
                  <a:pt x="1609776" y="20838"/>
                </a:lnTo>
                <a:lnTo>
                  <a:pt x="1633314" y="25200"/>
                </a:lnTo>
                <a:lnTo>
                  <a:pt x="1656772" y="29973"/>
                </a:lnTo>
                <a:lnTo>
                  <a:pt x="1680143" y="35154"/>
                </a:lnTo>
                <a:lnTo>
                  <a:pt x="1703420" y="40742"/>
                </a:lnTo>
                <a:lnTo>
                  <a:pt x="1726596" y="46736"/>
                </a:lnTo>
                <a:lnTo>
                  <a:pt x="1749664" y="53133"/>
                </a:lnTo>
                <a:lnTo>
                  <a:pt x="1772617" y="59932"/>
                </a:lnTo>
                <a:lnTo>
                  <a:pt x="1795448" y="67131"/>
                </a:lnTo>
                <a:lnTo>
                  <a:pt x="1818149" y="74727"/>
                </a:lnTo>
                <a:lnTo>
                  <a:pt x="1840715" y="82718"/>
                </a:lnTo>
                <a:lnTo>
                  <a:pt x="1863137" y="91101"/>
                </a:lnTo>
                <a:lnTo>
                  <a:pt x="1885410" y="99875"/>
                </a:lnTo>
                <a:lnTo>
                  <a:pt x="1907527" y="109036"/>
                </a:lnTo>
                <a:lnTo>
                  <a:pt x="1929480" y="118581"/>
                </a:lnTo>
                <a:lnTo>
                  <a:pt x="1951263" y="128508"/>
                </a:lnTo>
                <a:lnTo>
                  <a:pt x="1972870" y="138814"/>
                </a:lnTo>
                <a:lnTo>
                  <a:pt x="1994293" y="149495"/>
                </a:lnTo>
                <a:lnTo>
                  <a:pt x="2015527" y="160549"/>
                </a:lnTo>
                <a:lnTo>
                  <a:pt x="2036565" y="171972"/>
                </a:lnTo>
                <a:lnTo>
                  <a:pt x="2057400" y="183760"/>
                </a:lnTo>
                <a:lnTo>
                  <a:pt x="2078026" y="195909"/>
                </a:lnTo>
                <a:lnTo>
                  <a:pt x="2098437" y="208417"/>
                </a:lnTo>
                <a:lnTo>
                  <a:pt x="2118627" y="221279"/>
                </a:lnTo>
                <a:lnTo>
                  <a:pt x="2138589" y="234492"/>
                </a:lnTo>
                <a:lnTo>
                  <a:pt x="2158317" y="248051"/>
                </a:lnTo>
                <a:lnTo>
                  <a:pt x="2177806" y="261952"/>
                </a:lnTo>
                <a:lnTo>
                  <a:pt x="2197049" y="276192"/>
                </a:lnTo>
                <a:lnTo>
                  <a:pt x="2216041" y="290764"/>
                </a:lnTo>
                <a:lnTo>
                  <a:pt x="2234776" y="305667"/>
                </a:lnTo>
                <a:lnTo>
                  <a:pt x="2253247" y="320893"/>
                </a:lnTo>
                <a:lnTo>
                  <a:pt x="2271451" y="336440"/>
                </a:lnTo>
                <a:lnTo>
                  <a:pt x="2289380" y="352303"/>
                </a:lnTo>
                <a:lnTo>
                  <a:pt x="2307029" y="368475"/>
                </a:lnTo>
                <a:lnTo>
                  <a:pt x="2324393" y="384954"/>
                </a:lnTo>
                <a:lnTo>
                  <a:pt x="2341468" y="401732"/>
                </a:lnTo>
                <a:lnTo>
                  <a:pt x="2358246" y="418807"/>
                </a:lnTo>
                <a:lnTo>
                  <a:pt x="2374725" y="436171"/>
                </a:lnTo>
                <a:lnTo>
                  <a:pt x="2390897" y="453820"/>
                </a:lnTo>
                <a:lnTo>
                  <a:pt x="2406760" y="471749"/>
                </a:lnTo>
                <a:lnTo>
                  <a:pt x="2422307" y="489953"/>
                </a:lnTo>
                <a:lnTo>
                  <a:pt x="2437533" y="508424"/>
                </a:lnTo>
                <a:lnTo>
                  <a:pt x="2452436" y="527159"/>
                </a:lnTo>
                <a:lnTo>
                  <a:pt x="2467008" y="546151"/>
                </a:lnTo>
                <a:lnTo>
                  <a:pt x="2481248" y="565394"/>
                </a:lnTo>
                <a:lnTo>
                  <a:pt x="2495149" y="584883"/>
                </a:lnTo>
                <a:lnTo>
                  <a:pt x="2508708" y="604611"/>
                </a:lnTo>
                <a:lnTo>
                  <a:pt x="2521921" y="624573"/>
                </a:lnTo>
                <a:lnTo>
                  <a:pt x="2534783" y="644763"/>
                </a:lnTo>
                <a:lnTo>
                  <a:pt x="2547291" y="665174"/>
                </a:lnTo>
                <a:lnTo>
                  <a:pt x="2559440" y="685800"/>
                </a:lnTo>
                <a:lnTo>
                  <a:pt x="2571228" y="706635"/>
                </a:lnTo>
                <a:lnTo>
                  <a:pt x="2582651" y="727673"/>
                </a:lnTo>
                <a:lnTo>
                  <a:pt x="2593705" y="748907"/>
                </a:lnTo>
                <a:lnTo>
                  <a:pt x="2604386" y="770330"/>
                </a:lnTo>
                <a:lnTo>
                  <a:pt x="2614692" y="791937"/>
                </a:lnTo>
                <a:lnTo>
                  <a:pt x="2624619" y="813720"/>
                </a:lnTo>
                <a:lnTo>
                  <a:pt x="2634164" y="835673"/>
                </a:lnTo>
                <a:lnTo>
                  <a:pt x="2643325" y="857790"/>
                </a:lnTo>
                <a:lnTo>
                  <a:pt x="2652099" y="880063"/>
                </a:lnTo>
                <a:lnTo>
                  <a:pt x="2660482" y="902485"/>
                </a:lnTo>
                <a:lnTo>
                  <a:pt x="2668473" y="925051"/>
                </a:lnTo>
                <a:lnTo>
                  <a:pt x="2676069" y="947752"/>
                </a:lnTo>
                <a:lnTo>
                  <a:pt x="2683268" y="970583"/>
                </a:lnTo>
                <a:lnTo>
                  <a:pt x="2690067" y="993536"/>
                </a:lnTo>
                <a:lnTo>
                  <a:pt x="2696464" y="1016604"/>
                </a:lnTo>
                <a:lnTo>
                  <a:pt x="2702458" y="1039780"/>
                </a:lnTo>
                <a:lnTo>
                  <a:pt x="2708046" y="1063057"/>
                </a:lnTo>
                <a:lnTo>
                  <a:pt x="2713227" y="1086428"/>
                </a:lnTo>
                <a:lnTo>
                  <a:pt x="2718000" y="1109886"/>
                </a:lnTo>
                <a:lnTo>
                  <a:pt x="2722362" y="1133424"/>
                </a:lnTo>
                <a:lnTo>
                  <a:pt x="2726313" y="1157034"/>
                </a:lnTo>
                <a:lnTo>
                  <a:pt x="2729852" y="1180710"/>
                </a:lnTo>
                <a:lnTo>
                  <a:pt x="2732976" y="1204444"/>
                </a:lnTo>
                <a:lnTo>
                  <a:pt x="2735686" y="1228229"/>
                </a:lnTo>
                <a:lnTo>
                  <a:pt x="2737981" y="1252057"/>
                </a:lnTo>
                <a:lnTo>
                  <a:pt x="2739859" y="1275922"/>
                </a:lnTo>
                <a:lnTo>
                  <a:pt x="2741320" y="1299816"/>
                </a:lnTo>
                <a:lnTo>
                  <a:pt x="2742364" y="1323732"/>
                </a:lnTo>
                <a:lnTo>
                  <a:pt x="2742991" y="1347662"/>
                </a:lnTo>
                <a:lnTo>
                  <a:pt x="2743200" y="1371600"/>
                </a:lnTo>
              </a:path>
            </a:pathLst>
          </a:custGeom>
          <a:noFill xmlns:a="http://schemas.openxmlformats.org/drawingml/2006/main"/>
          <a:ln xmlns:a="http://schemas.openxmlformats.org/drawingml/2006/main" w="9525">
            <a:solidFill>
              <a:srgbClr val="FAFAFA">
                <a:alpha val="48000"/>
              </a:srgbClr>
            </a:solidFill>
            <a:prstDash val="solid"/>
          </a:ln>
        </p:spPr>
      </p:sp>
      <p:sp>
        <p:nvSpPr>
          <p:cNvPr id="7" name="">
            <a:extLst xmlns:a="http://schemas.openxmlformats.org/drawingml/2006/main">
              <a:ext uri="{FF2B5EF4-FFF2-40B4-BE49-F238E27FC236}">
                <a16:creationId xmlns:a16="http://schemas.microsoft.com/office/drawing/2014/main" id="{8ADD07CB-A383-4E04-B437-9FE9913D94BB}"/>
              </a:ext>
            </a:extLst>
          </p:cNvPr>
          <p:cNvSpPr>
            <a:spLocks xmlns:a="http://schemas.openxmlformats.org/drawingml/2006/main" noGrp="1"/>
          </p:cNvSpPr>
          <p:nvPr/>
        </p:nvSpPr>
        <p:spPr>
          <a:xfrm xmlns:a="http://schemas.openxmlformats.org/drawingml/2006/main">
            <a:off x="9734550" y="2057400"/>
            <a:ext cx="2437533" cy="2743200"/>
          </a:xfrm>
          <a:custGeom xmlns:a="http://schemas.openxmlformats.org/drawingml/2006/main">
            <a:pathLst>
              <a:path w="2437533" h="2743200">
                <a:moveTo>
                  <a:pt x="2437533" y="2234776"/>
                </a:moveTo>
                <a:lnTo>
                  <a:pt x="2422307" y="2253247"/>
                </a:lnTo>
                <a:lnTo>
                  <a:pt x="2406760" y="2271451"/>
                </a:lnTo>
                <a:lnTo>
                  <a:pt x="2390897" y="2289380"/>
                </a:lnTo>
                <a:lnTo>
                  <a:pt x="2374725" y="2307029"/>
                </a:lnTo>
                <a:lnTo>
                  <a:pt x="2358246" y="2324393"/>
                </a:lnTo>
                <a:lnTo>
                  <a:pt x="2341468" y="2341468"/>
                </a:lnTo>
                <a:lnTo>
                  <a:pt x="2324393" y="2358246"/>
                </a:lnTo>
                <a:lnTo>
                  <a:pt x="2307029" y="2374725"/>
                </a:lnTo>
                <a:lnTo>
                  <a:pt x="2289380" y="2390897"/>
                </a:lnTo>
                <a:lnTo>
                  <a:pt x="2271451" y="2406760"/>
                </a:lnTo>
                <a:lnTo>
                  <a:pt x="2253247" y="2422307"/>
                </a:lnTo>
                <a:lnTo>
                  <a:pt x="2234776" y="2437533"/>
                </a:lnTo>
                <a:lnTo>
                  <a:pt x="2216041" y="2452436"/>
                </a:lnTo>
                <a:lnTo>
                  <a:pt x="2197049" y="2467008"/>
                </a:lnTo>
                <a:lnTo>
                  <a:pt x="2177806" y="2481248"/>
                </a:lnTo>
                <a:lnTo>
                  <a:pt x="2158317" y="2495149"/>
                </a:lnTo>
                <a:lnTo>
                  <a:pt x="2138589" y="2508708"/>
                </a:lnTo>
                <a:lnTo>
                  <a:pt x="2118627" y="2521921"/>
                </a:lnTo>
                <a:lnTo>
                  <a:pt x="2098437" y="2534783"/>
                </a:lnTo>
                <a:lnTo>
                  <a:pt x="2078026" y="2547291"/>
                </a:lnTo>
                <a:lnTo>
                  <a:pt x="2057400" y="2559440"/>
                </a:lnTo>
                <a:lnTo>
                  <a:pt x="2036565" y="2571228"/>
                </a:lnTo>
                <a:lnTo>
                  <a:pt x="2015527" y="2582651"/>
                </a:lnTo>
                <a:lnTo>
                  <a:pt x="1994293" y="2593705"/>
                </a:lnTo>
                <a:lnTo>
                  <a:pt x="1972870" y="2604386"/>
                </a:lnTo>
                <a:lnTo>
                  <a:pt x="1951263" y="2614692"/>
                </a:lnTo>
                <a:lnTo>
                  <a:pt x="1929480" y="2624619"/>
                </a:lnTo>
                <a:lnTo>
                  <a:pt x="1907527" y="2634164"/>
                </a:lnTo>
                <a:lnTo>
                  <a:pt x="1885410" y="2643325"/>
                </a:lnTo>
                <a:lnTo>
                  <a:pt x="1863137" y="2652099"/>
                </a:lnTo>
                <a:lnTo>
                  <a:pt x="1840715" y="2660482"/>
                </a:lnTo>
                <a:lnTo>
                  <a:pt x="1818149" y="2668473"/>
                </a:lnTo>
                <a:lnTo>
                  <a:pt x="1795448" y="2676069"/>
                </a:lnTo>
                <a:lnTo>
                  <a:pt x="1772617" y="2683268"/>
                </a:lnTo>
                <a:lnTo>
                  <a:pt x="1749664" y="2690067"/>
                </a:lnTo>
                <a:lnTo>
                  <a:pt x="1726596" y="2696464"/>
                </a:lnTo>
                <a:lnTo>
                  <a:pt x="1703420" y="2702458"/>
                </a:lnTo>
                <a:lnTo>
                  <a:pt x="1680143" y="2708046"/>
                </a:lnTo>
                <a:lnTo>
                  <a:pt x="1656772" y="2713227"/>
                </a:lnTo>
                <a:lnTo>
                  <a:pt x="1633314" y="2718000"/>
                </a:lnTo>
                <a:lnTo>
                  <a:pt x="1609776" y="2722362"/>
                </a:lnTo>
                <a:lnTo>
                  <a:pt x="1586166" y="2726313"/>
                </a:lnTo>
                <a:lnTo>
                  <a:pt x="1562490" y="2729852"/>
                </a:lnTo>
                <a:lnTo>
                  <a:pt x="1538756" y="2732976"/>
                </a:lnTo>
                <a:lnTo>
                  <a:pt x="1514971" y="2735686"/>
                </a:lnTo>
                <a:lnTo>
                  <a:pt x="1491143" y="2737981"/>
                </a:lnTo>
                <a:lnTo>
                  <a:pt x="1467278" y="2739859"/>
                </a:lnTo>
                <a:lnTo>
                  <a:pt x="1443384" y="2741320"/>
                </a:lnTo>
                <a:lnTo>
                  <a:pt x="1419468" y="2742364"/>
                </a:lnTo>
                <a:lnTo>
                  <a:pt x="1395538" y="2742991"/>
                </a:lnTo>
                <a:lnTo>
                  <a:pt x="1371600" y="2743200"/>
                </a:lnTo>
                <a:lnTo>
                  <a:pt x="1347662" y="2742991"/>
                </a:lnTo>
                <a:lnTo>
                  <a:pt x="1323732" y="2742364"/>
                </a:lnTo>
                <a:lnTo>
                  <a:pt x="1299816" y="2741320"/>
                </a:lnTo>
                <a:lnTo>
                  <a:pt x="1275922" y="2739859"/>
                </a:lnTo>
                <a:lnTo>
                  <a:pt x="1252057" y="2737981"/>
                </a:lnTo>
                <a:lnTo>
                  <a:pt x="1228229" y="2735686"/>
                </a:lnTo>
                <a:lnTo>
                  <a:pt x="1204444" y="2732976"/>
                </a:lnTo>
                <a:lnTo>
                  <a:pt x="1180710" y="2729852"/>
                </a:lnTo>
                <a:lnTo>
                  <a:pt x="1157034" y="2726313"/>
                </a:lnTo>
                <a:lnTo>
                  <a:pt x="1133424" y="2722362"/>
                </a:lnTo>
                <a:lnTo>
                  <a:pt x="1109886" y="2718000"/>
                </a:lnTo>
                <a:lnTo>
                  <a:pt x="1086428" y="2713227"/>
                </a:lnTo>
                <a:lnTo>
                  <a:pt x="1063057" y="2708046"/>
                </a:lnTo>
                <a:lnTo>
                  <a:pt x="1039780" y="2702458"/>
                </a:lnTo>
                <a:lnTo>
                  <a:pt x="1016604" y="2696464"/>
                </a:lnTo>
                <a:lnTo>
                  <a:pt x="993536" y="2690067"/>
                </a:lnTo>
                <a:lnTo>
                  <a:pt x="970583" y="2683268"/>
                </a:lnTo>
                <a:lnTo>
                  <a:pt x="947752" y="2676069"/>
                </a:lnTo>
                <a:lnTo>
                  <a:pt x="925051" y="2668473"/>
                </a:lnTo>
                <a:lnTo>
                  <a:pt x="902485" y="2660482"/>
                </a:lnTo>
                <a:lnTo>
                  <a:pt x="880063" y="2652099"/>
                </a:lnTo>
                <a:lnTo>
                  <a:pt x="857790" y="2643325"/>
                </a:lnTo>
                <a:lnTo>
                  <a:pt x="835673" y="2634164"/>
                </a:lnTo>
                <a:lnTo>
                  <a:pt x="813720" y="2624619"/>
                </a:lnTo>
                <a:lnTo>
                  <a:pt x="791937" y="2614692"/>
                </a:lnTo>
                <a:lnTo>
                  <a:pt x="770330" y="2604386"/>
                </a:lnTo>
                <a:lnTo>
                  <a:pt x="748907" y="2593705"/>
                </a:lnTo>
                <a:lnTo>
                  <a:pt x="727673" y="2582651"/>
                </a:lnTo>
                <a:lnTo>
                  <a:pt x="706635" y="2571228"/>
                </a:lnTo>
                <a:lnTo>
                  <a:pt x="685800" y="2559440"/>
                </a:lnTo>
                <a:lnTo>
                  <a:pt x="665174" y="2547291"/>
                </a:lnTo>
                <a:lnTo>
                  <a:pt x="644763" y="2534783"/>
                </a:lnTo>
                <a:lnTo>
                  <a:pt x="624573" y="2521921"/>
                </a:lnTo>
                <a:lnTo>
                  <a:pt x="604611" y="2508708"/>
                </a:lnTo>
                <a:lnTo>
                  <a:pt x="584883" y="2495149"/>
                </a:lnTo>
                <a:lnTo>
                  <a:pt x="565394" y="2481248"/>
                </a:lnTo>
                <a:lnTo>
                  <a:pt x="546151" y="2467008"/>
                </a:lnTo>
                <a:lnTo>
                  <a:pt x="527159" y="2452436"/>
                </a:lnTo>
                <a:lnTo>
                  <a:pt x="508424" y="2437533"/>
                </a:lnTo>
                <a:lnTo>
                  <a:pt x="489953" y="2422307"/>
                </a:lnTo>
                <a:lnTo>
                  <a:pt x="471749" y="2406760"/>
                </a:lnTo>
                <a:lnTo>
                  <a:pt x="453820" y="2390897"/>
                </a:lnTo>
                <a:lnTo>
                  <a:pt x="436171" y="2374725"/>
                </a:lnTo>
                <a:lnTo>
                  <a:pt x="418807" y="2358246"/>
                </a:lnTo>
                <a:lnTo>
                  <a:pt x="401732" y="2341468"/>
                </a:lnTo>
                <a:lnTo>
                  <a:pt x="384954" y="2324393"/>
                </a:lnTo>
                <a:lnTo>
                  <a:pt x="368475" y="2307029"/>
                </a:lnTo>
                <a:lnTo>
                  <a:pt x="352303" y="2289380"/>
                </a:lnTo>
                <a:lnTo>
                  <a:pt x="336440" y="2271451"/>
                </a:lnTo>
                <a:lnTo>
                  <a:pt x="320893" y="2253247"/>
                </a:lnTo>
                <a:lnTo>
                  <a:pt x="305667" y="2234776"/>
                </a:lnTo>
                <a:lnTo>
                  <a:pt x="290764" y="2216041"/>
                </a:lnTo>
                <a:lnTo>
                  <a:pt x="276192" y="2197049"/>
                </a:lnTo>
                <a:lnTo>
                  <a:pt x="261952" y="2177806"/>
                </a:lnTo>
                <a:lnTo>
                  <a:pt x="248051" y="2158317"/>
                </a:lnTo>
                <a:lnTo>
                  <a:pt x="234492" y="2138589"/>
                </a:lnTo>
                <a:lnTo>
                  <a:pt x="221279" y="2118627"/>
                </a:lnTo>
                <a:lnTo>
                  <a:pt x="208417" y="2098437"/>
                </a:lnTo>
                <a:lnTo>
                  <a:pt x="195909" y="2078026"/>
                </a:lnTo>
                <a:lnTo>
                  <a:pt x="183760" y="2057400"/>
                </a:lnTo>
                <a:lnTo>
                  <a:pt x="171972" y="2036565"/>
                </a:lnTo>
                <a:lnTo>
                  <a:pt x="160549" y="2015527"/>
                </a:lnTo>
                <a:lnTo>
                  <a:pt x="149495" y="1994293"/>
                </a:lnTo>
                <a:lnTo>
                  <a:pt x="138814" y="1972870"/>
                </a:lnTo>
                <a:lnTo>
                  <a:pt x="128508" y="1951263"/>
                </a:lnTo>
                <a:lnTo>
                  <a:pt x="118581" y="1929480"/>
                </a:lnTo>
                <a:lnTo>
                  <a:pt x="109036" y="1907527"/>
                </a:lnTo>
                <a:lnTo>
                  <a:pt x="99875" y="1885410"/>
                </a:lnTo>
                <a:lnTo>
                  <a:pt x="91101" y="1863137"/>
                </a:lnTo>
                <a:lnTo>
                  <a:pt x="82718" y="1840715"/>
                </a:lnTo>
                <a:lnTo>
                  <a:pt x="74727" y="1818149"/>
                </a:lnTo>
                <a:lnTo>
                  <a:pt x="67131" y="1795448"/>
                </a:lnTo>
                <a:lnTo>
                  <a:pt x="59932" y="1772617"/>
                </a:lnTo>
                <a:lnTo>
                  <a:pt x="53133" y="1749664"/>
                </a:lnTo>
                <a:lnTo>
                  <a:pt x="46736" y="1726596"/>
                </a:lnTo>
                <a:lnTo>
                  <a:pt x="40742" y="1703420"/>
                </a:lnTo>
                <a:lnTo>
                  <a:pt x="35154" y="1680143"/>
                </a:lnTo>
                <a:lnTo>
                  <a:pt x="29973" y="1656772"/>
                </a:lnTo>
                <a:lnTo>
                  <a:pt x="25200" y="1633314"/>
                </a:lnTo>
                <a:lnTo>
                  <a:pt x="20838" y="1609776"/>
                </a:lnTo>
                <a:lnTo>
                  <a:pt x="16887" y="1586166"/>
                </a:lnTo>
                <a:lnTo>
                  <a:pt x="13348" y="1562490"/>
                </a:lnTo>
                <a:lnTo>
                  <a:pt x="10224" y="1538756"/>
                </a:lnTo>
                <a:lnTo>
                  <a:pt x="7514" y="1514971"/>
                </a:lnTo>
                <a:lnTo>
                  <a:pt x="5219" y="1491143"/>
                </a:lnTo>
                <a:lnTo>
                  <a:pt x="3341" y="1467278"/>
                </a:lnTo>
                <a:lnTo>
                  <a:pt x="1880" y="1443384"/>
                </a:lnTo>
                <a:lnTo>
                  <a:pt x="836" y="1419468"/>
                </a:lnTo>
                <a:lnTo>
                  <a:pt x="209" y="1395538"/>
                </a:lnTo>
                <a:lnTo>
                  <a:pt x="0" y="1371600"/>
                </a:lnTo>
                <a:lnTo>
                  <a:pt x="209" y="1347662"/>
                </a:lnTo>
                <a:lnTo>
                  <a:pt x="836" y="1323732"/>
                </a:lnTo>
                <a:lnTo>
                  <a:pt x="1880" y="1299816"/>
                </a:lnTo>
                <a:lnTo>
                  <a:pt x="3341" y="1275922"/>
                </a:lnTo>
                <a:lnTo>
                  <a:pt x="5219" y="1252057"/>
                </a:lnTo>
                <a:lnTo>
                  <a:pt x="7514" y="1228229"/>
                </a:lnTo>
                <a:lnTo>
                  <a:pt x="10224" y="1204444"/>
                </a:lnTo>
                <a:lnTo>
                  <a:pt x="13348" y="1180710"/>
                </a:lnTo>
                <a:lnTo>
                  <a:pt x="16887" y="1157034"/>
                </a:lnTo>
                <a:lnTo>
                  <a:pt x="20838" y="1133424"/>
                </a:lnTo>
                <a:lnTo>
                  <a:pt x="25200" y="1109886"/>
                </a:lnTo>
                <a:lnTo>
                  <a:pt x="29973" y="1086428"/>
                </a:lnTo>
                <a:lnTo>
                  <a:pt x="35154" y="1063057"/>
                </a:lnTo>
                <a:lnTo>
                  <a:pt x="40742" y="1039780"/>
                </a:lnTo>
                <a:lnTo>
                  <a:pt x="46736" y="1016604"/>
                </a:lnTo>
                <a:lnTo>
                  <a:pt x="53133" y="993536"/>
                </a:lnTo>
                <a:lnTo>
                  <a:pt x="59932" y="970583"/>
                </a:lnTo>
                <a:lnTo>
                  <a:pt x="67131" y="947752"/>
                </a:lnTo>
                <a:lnTo>
                  <a:pt x="74727" y="925051"/>
                </a:lnTo>
                <a:lnTo>
                  <a:pt x="82718" y="902485"/>
                </a:lnTo>
                <a:lnTo>
                  <a:pt x="91101" y="880063"/>
                </a:lnTo>
                <a:lnTo>
                  <a:pt x="99875" y="857790"/>
                </a:lnTo>
                <a:lnTo>
                  <a:pt x="109036" y="835673"/>
                </a:lnTo>
                <a:lnTo>
                  <a:pt x="118581" y="813720"/>
                </a:lnTo>
                <a:lnTo>
                  <a:pt x="128508" y="791937"/>
                </a:lnTo>
                <a:lnTo>
                  <a:pt x="138814" y="770330"/>
                </a:lnTo>
                <a:lnTo>
                  <a:pt x="149495" y="748907"/>
                </a:lnTo>
                <a:lnTo>
                  <a:pt x="160549" y="727673"/>
                </a:lnTo>
                <a:lnTo>
                  <a:pt x="171972" y="706635"/>
                </a:lnTo>
                <a:lnTo>
                  <a:pt x="183760" y="685800"/>
                </a:lnTo>
                <a:lnTo>
                  <a:pt x="195909" y="665174"/>
                </a:lnTo>
                <a:lnTo>
                  <a:pt x="208417" y="644763"/>
                </a:lnTo>
                <a:lnTo>
                  <a:pt x="221279" y="624573"/>
                </a:lnTo>
                <a:lnTo>
                  <a:pt x="234492" y="604611"/>
                </a:lnTo>
                <a:lnTo>
                  <a:pt x="248051" y="584883"/>
                </a:lnTo>
                <a:lnTo>
                  <a:pt x="261952" y="565394"/>
                </a:lnTo>
                <a:lnTo>
                  <a:pt x="276192" y="546151"/>
                </a:lnTo>
                <a:lnTo>
                  <a:pt x="290764" y="527159"/>
                </a:lnTo>
                <a:lnTo>
                  <a:pt x="305667" y="508424"/>
                </a:lnTo>
                <a:lnTo>
                  <a:pt x="320893" y="489953"/>
                </a:lnTo>
                <a:lnTo>
                  <a:pt x="336440" y="471749"/>
                </a:lnTo>
                <a:lnTo>
                  <a:pt x="352303" y="453820"/>
                </a:lnTo>
                <a:lnTo>
                  <a:pt x="368475" y="436171"/>
                </a:lnTo>
                <a:lnTo>
                  <a:pt x="384954" y="418807"/>
                </a:lnTo>
                <a:lnTo>
                  <a:pt x="401732" y="401732"/>
                </a:lnTo>
                <a:lnTo>
                  <a:pt x="418807" y="384954"/>
                </a:lnTo>
                <a:lnTo>
                  <a:pt x="436171" y="368475"/>
                </a:lnTo>
                <a:lnTo>
                  <a:pt x="453820" y="352303"/>
                </a:lnTo>
                <a:lnTo>
                  <a:pt x="471749" y="336440"/>
                </a:lnTo>
                <a:lnTo>
                  <a:pt x="489953" y="320893"/>
                </a:lnTo>
                <a:lnTo>
                  <a:pt x="508424" y="305667"/>
                </a:lnTo>
                <a:lnTo>
                  <a:pt x="527159" y="290764"/>
                </a:lnTo>
                <a:lnTo>
                  <a:pt x="546151" y="276192"/>
                </a:lnTo>
                <a:lnTo>
                  <a:pt x="565394" y="261952"/>
                </a:lnTo>
                <a:lnTo>
                  <a:pt x="584883" y="248051"/>
                </a:lnTo>
                <a:lnTo>
                  <a:pt x="604611" y="234492"/>
                </a:lnTo>
                <a:lnTo>
                  <a:pt x="624573" y="221279"/>
                </a:lnTo>
                <a:lnTo>
                  <a:pt x="644763" y="208417"/>
                </a:lnTo>
                <a:lnTo>
                  <a:pt x="665174" y="195909"/>
                </a:lnTo>
                <a:lnTo>
                  <a:pt x="685800" y="183760"/>
                </a:lnTo>
                <a:lnTo>
                  <a:pt x="706635" y="171972"/>
                </a:lnTo>
                <a:lnTo>
                  <a:pt x="727673" y="160549"/>
                </a:lnTo>
                <a:lnTo>
                  <a:pt x="748907" y="149495"/>
                </a:lnTo>
                <a:lnTo>
                  <a:pt x="770330" y="138814"/>
                </a:lnTo>
                <a:lnTo>
                  <a:pt x="791937" y="128508"/>
                </a:lnTo>
                <a:lnTo>
                  <a:pt x="813720" y="118581"/>
                </a:lnTo>
                <a:lnTo>
                  <a:pt x="835673" y="109036"/>
                </a:lnTo>
                <a:lnTo>
                  <a:pt x="857790" y="99875"/>
                </a:lnTo>
                <a:lnTo>
                  <a:pt x="880063" y="91101"/>
                </a:lnTo>
                <a:lnTo>
                  <a:pt x="902485" y="82718"/>
                </a:lnTo>
                <a:lnTo>
                  <a:pt x="925051" y="74727"/>
                </a:lnTo>
                <a:lnTo>
                  <a:pt x="947752" y="67131"/>
                </a:lnTo>
                <a:lnTo>
                  <a:pt x="970583" y="59932"/>
                </a:lnTo>
                <a:lnTo>
                  <a:pt x="993536" y="53133"/>
                </a:lnTo>
                <a:lnTo>
                  <a:pt x="1016604" y="46736"/>
                </a:lnTo>
                <a:lnTo>
                  <a:pt x="1039780" y="40742"/>
                </a:lnTo>
                <a:lnTo>
                  <a:pt x="1063057" y="35154"/>
                </a:lnTo>
                <a:lnTo>
                  <a:pt x="1086428" y="29973"/>
                </a:lnTo>
                <a:lnTo>
                  <a:pt x="1109886" y="25200"/>
                </a:lnTo>
                <a:lnTo>
                  <a:pt x="1133424" y="20838"/>
                </a:lnTo>
                <a:lnTo>
                  <a:pt x="1157034" y="16887"/>
                </a:lnTo>
                <a:lnTo>
                  <a:pt x="1180710" y="13348"/>
                </a:lnTo>
                <a:lnTo>
                  <a:pt x="1204444" y="10224"/>
                </a:lnTo>
                <a:lnTo>
                  <a:pt x="1228229" y="7514"/>
                </a:lnTo>
                <a:lnTo>
                  <a:pt x="1252057" y="5219"/>
                </a:lnTo>
                <a:lnTo>
                  <a:pt x="1275922" y="3341"/>
                </a:lnTo>
                <a:lnTo>
                  <a:pt x="1299816" y="1880"/>
                </a:lnTo>
                <a:lnTo>
                  <a:pt x="1323732" y="836"/>
                </a:lnTo>
                <a:lnTo>
                  <a:pt x="1347662" y="209"/>
                </a:lnTo>
                <a:lnTo>
                  <a:pt x="1371600" y="0"/>
                </a:lnTo>
                <a:lnTo>
                  <a:pt x="1395538" y="209"/>
                </a:lnTo>
                <a:lnTo>
                  <a:pt x="1419468" y="836"/>
                </a:lnTo>
                <a:lnTo>
                  <a:pt x="1443384" y="1880"/>
                </a:lnTo>
                <a:lnTo>
                  <a:pt x="1467278" y="3341"/>
                </a:lnTo>
                <a:lnTo>
                  <a:pt x="1491143" y="5219"/>
                </a:lnTo>
                <a:lnTo>
                  <a:pt x="1514971" y="7514"/>
                </a:lnTo>
                <a:lnTo>
                  <a:pt x="1538756" y="10224"/>
                </a:lnTo>
                <a:lnTo>
                  <a:pt x="1562490" y="13348"/>
                </a:lnTo>
                <a:lnTo>
                  <a:pt x="1586166" y="16887"/>
                </a:lnTo>
                <a:lnTo>
                  <a:pt x="1609776" y="20838"/>
                </a:lnTo>
                <a:lnTo>
                  <a:pt x="1633314" y="25200"/>
                </a:lnTo>
                <a:lnTo>
                  <a:pt x="1656772" y="29973"/>
                </a:lnTo>
                <a:lnTo>
                  <a:pt x="1680143" y="35154"/>
                </a:lnTo>
                <a:lnTo>
                  <a:pt x="1703420" y="40742"/>
                </a:lnTo>
                <a:lnTo>
                  <a:pt x="1726596" y="46736"/>
                </a:lnTo>
                <a:lnTo>
                  <a:pt x="1749664" y="53133"/>
                </a:lnTo>
                <a:lnTo>
                  <a:pt x="1772617" y="59932"/>
                </a:lnTo>
                <a:lnTo>
                  <a:pt x="1795448" y="67131"/>
                </a:lnTo>
                <a:lnTo>
                  <a:pt x="1818149" y="74727"/>
                </a:lnTo>
                <a:lnTo>
                  <a:pt x="1840715" y="82718"/>
                </a:lnTo>
                <a:lnTo>
                  <a:pt x="1863137" y="91101"/>
                </a:lnTo>
                <a:lnTo>
                  <a:pt x="1885410" y="99875"/>
                </a:lnTo>
                <a:lnTo>
                  <a:pt x="1907527" y="109036"/>
                </a:lnTo>
                <a:lnTo>
                  <a:pt x="1929480" y="118581"/>
                </a:lnTo>
                <a:lnTo>
                  <a:pt x="1951263" y="128508"/>
                </a:lnTo>
                <a:lnTo>
                  <a:pt x="1972870" y="138814"/>
                </a:lnTo>
                <a:lnTo>
                  <a:pt x="1994293" y="149495"/>
                </a:lnTo>
                <a:lnTo>
                  <a:pt x="2015527" y="160549"/>
                </a:lnTo>
                <a:lnTo>
                  <a:pt x="2036565" y="171972"/>
                </a:lnTo>
                <a:lnTo>
                  <a:pt x="2057400" y="183760"/>
                </a:lnTo>
                <a:lnTo>
                  <a:pt x="2078026" y="195909"/>
                </a:lnTo>
                <a:lnTo>
                  <a:pt x="2098437" y="208417"/>
                </a:lnTo>
                <a:lnTo>
                  <a:pt x="2118627" y="221279"/>
                </a:lnTo>
                <a:lnTo>
                  <a:pt x="2138589" y="234492"/>
                </a:lnTo>
                <a:lnTo>
                  <a:pt x="2158317" y="248051"/>
                </a:lnTo>
                <a:lnTo>
                  <a:pt x="2177806" y="261952"/>
                </a:lnTo>
                <a:lnTo>
                  <a:pt x="2197049" y="276192"/>
                </a:lnTo>
                <a:lnTo>
                  <a:pt x="2216041" y="290764"/>
                </a:lnTo>
                <a:lnTo>
                  <a:pt x="2234776" y="305667"/>
                </a:lnTo>
                <a:lnTo>
                  <a:pt x="2253247" y="320893"/>
                </a:lnTo>
                <a:lnTo>
                  <a:pt x="2271451" y="336440"/>
                </a:lnTo>
                <a:lnTo>
                  <a:pt x="2289380" y="352303"/>
                </a:lnTo>
                <a:lnTo>
                  <a:pt x="2307029" y="368475"/>
                </a:lnTo>
                <a:lnTo>
                  <a:pt x="2324393" y="384954"/>
                </a:lnTo>
                <a:lnTo>
                  <a:pt x="2341468" y="401732"/>
                </a:lnTo>
                <a:lnTo>
                  <a:pt x="2358246" y="418807"/>
                </a:lnTo>
                <a:lnTo>
                  <a:pt x="2374725" y="436171"/>
                </a:lnTo>
                <a:lnTo>
                  <a:pt x="2390897" y="453820"/>
                </a:lnTo>
                <a:lnTo>
                  <a:pt x="2406760" y="471749"/>
                </a:lnTo>
                <a:lnTo>
                  <a:pt x="2422307" y="489953"/>
                </a:lnTo>
                <a:lnTo>
                  <a:pt x="2437533" y="508424"/>
                </a:lnTo>
              </a:path>
            </a:pathLst>
          </a:custGeom>
          <a:noFill xmlns:a="http://schemas.openxmlformats.org/drawingml/2006/main"/>
          <a:ln xmlns:a="http://schemas.openxmlformats.org/drawingml/2006/main" w="9525">
            <a:solidFill>
              <a:srgbClr val="FAFAFA">
                <a:alpha val="35000"/>
              </a:srgbClr>
            </a:solidFill>
            <a:prstDash val="solid"/>
          </a:ln>
        </p:spPr>
      </p:sp>
      <p:sp>
        <p:nvSpPr>
          <p:cNvPr id="8" name="">
            <a:extLst xmlns:a="http://schemas.openxmlformats.org/drawingml/2006/main">
              <a:ext uri="{FF2B5EF4-FFF2-40B4-BE49-F238E27FC236}">
                <a16:creationId xmlns:a16="http://schemas.microsoft.com/office/drawing/2014/main" id="{134F7D74-E625-437A-A182-AC0EF4D6AD2A}"/>
              </a:ext>
            </a:extLst>
          </p:cNvPr>
          <p:cNvSpPr>
            <a:spLocks xmlns:a="http://schemas.openxmlformats.org/drawingml/2006/main" noGrp="1"/>
          </p:cNvSpPr>
          <p:nvPr/>
        </p:nvSpPr>
        <p:spPr>
          <a:xfrm xmlns:a="http://schemas.openxmlformats.org/drawingml/2006/main">
            <a:off x="4977039" y="2291892"/>
            <a:ext cx="537480" cy="713260"/>
          </a:xfrm>
          <a:custGeom xmlns:a="http://schemas.openxmlformats.org/drawingml/2006/main">
            <a:pathLst>
              <a:path w="537480" h="713260">
                <a:moveTo>
                  <a:pt x="0" y="0"/>
                </a:moveTo>
                <a:lnTo>
                  <a:pt x="19728" y="13559"/>
                </a:lnTo>
                <a:lnTo>
                  <a:pt x="39217" y="27460"/>
                </a:lnTo>
                <a:lnTo>
                  <a:pt x="58460" y="41699"/>
                </a:lnTo>
                <a:lnTo>
                  <a:pt x="77452" y="56272"/>
                </a:lnTo>
                <a:lnTo>
                  <a:pt x="96187" y="71175"/>
                </a:lnTo>
                <a:lnTo>
                  <a:pt x="114658" y="86401"/>
                </a:lnTo>
                <a:lnTo>
                  <a:pt x="132862" y="101948"/>
                </a:lnTo>
                <a:lnTo>
                  <a:pt x="150791" y="117810"/>
                </a:lnTo>
                <a:lnTo>
                  <a:pt x="168440" y="133983"/>
                </a:lnTo>
                <a:lnTo>
                  <a:pt x="185804" y="150461"/>
                </a:lnTo>
                <a:lnTo>
                  <a:pt x="202879" y="167240"/>
                </a:lnTo>
                <a:lnTo>
                  <a:pt x="219657" y="184315"/>
                </a:lnTo>
                <a:lnTo>
                  <a:pt x="236136" y="201679"/>
                </a:lnTo>
                <a:lnTo>
                  <a:pt x="252308" y="219328"/>
                </a:lnTo>
                <a:lnTo>
                  <a:pt x="268171" y="237257"/>
                </a:lnTo>
                <a:lnTo>
                  <a:pt x="283718" y="255460"/>
                </a:lnTo>
                <a:lnTo>
                  <a:pt x="298944" y="273932"/>
                </a:lnTo>
                <a:lnTo>
                  <a:pt x="313847" y="292667"/>
                </a:lnTo>
                <a:lnTo>
                  <a:pt x="328419" y="311658"/>
                </a:lnTo>
                <a:lnTo>
                  <a:pt x="342659" y="330902"/>
                </a:lnTo>
                <a:lnTo>
                  <a:pt x="356560" y="350390"/>
                </a:lnTo>
                <a:lnTo>
                  <a:pt x="370119" y="370119"/>
                </a:lnTo>
                <a:lnTo>
                  <a:pt x="383332" y="390081"/>
                </a:lnTo>
                <a:lnTo>
                  <a:pt x="396194" y="410271"/>
                </a:lnTo>
                <a:lnTo>
                  <a:pt x="408702" y="430682"/>
                </a:lnTo>
                <a:lnTo>
                  <a:pt x="420851" y="451308"/>
                </a:lnTo>
                <a:lnTo>
                  <a:pt x="432639" y="472143"/>
                </a:lnTo>
                <a:lnTo>
                  <a:pt x="444062" y="493181"/>
                </a:lnTo>
                <a:lnTo>
                  <a:pt x="455116" y="514415"/>
                </a:lnTo>
                <a:lnTo>
                  <a:pt x="465797" y="535838"/>
                </a:lnTo>
                <a:lnTo>
                  <a:pt x="476103" y="557445"/>
                </a:lnTo>
                <a:lnTo>
                  <a:pt x="486030" y="579228"/>
                </a:lnTo>
                <a:lnTo>
                  <a:pt x="495575" y="601181"/>
                </a:lnTo>
                <a:lnTo>
                  <a:pt x="504736" y="623298"/>
                </a:lnTo>
                <a:lnTo>
                  <a:pt x="513510" y="645570"/>
                </a:lnTo>
                <a:lnTo>
                  <a:pt x="521893" y="667993"/>
                </a:lnTo>
                <a:lnTo>
                  <a:pt x="529884" y="690559"/>
                </a:lnTo>
                <a:lnTo>
                  <a:pt x="537480" y="713260"/>
                </a:lnTo>
              </a:path>
            </a:pathLst>
          </a:custGeom>
          <a:noFill xmlns:a="http://schemas.openxmlformats.org/drawingml/2006/main"/>
          <a:ln xmlns:a="http://schemas.openxmlformats.org/drawingml/2006/main" w="20955">
            <a:solidFill>
              <a:srgbClr val="22C55E"/>
            </a:solidFill>
            <a:prstDash val="solid"/>
          </a:ln>
        </p:spPr>
      </p:sp>
      <p:sp>
        <p:nvSpPr>
          <p:cNvPr id="9" name="">
            <a:extLst xmlns:a="http://schemas.openxmlformats.org/drawingml/2006/main">
              <a:ext uri="{FF2B5EF4-FFF2-40B4-BE49-F238E27FC236}">
                <a16:creationId xmlns:a16="http://schemas.microsoft.com/office/drawing/2014/main" id="{6868B9B6-CD0D-49D7-A38A-43735B01D6CF}"/>
              </a:ext>
            </a:extLst>
          </p:cNvPr>
          <p:cNvSpPr>
            <a:spLocks xmlns:a="http://schemas.openxmlformats.org/drawingml/2006/main" noGrp="1"/>
          </p:cNvSpPr>
          <p:nvPr/>
        </p:nvSpPr>
        <p:spPr>
          <a:xfrm xmlns:a="http://schemas.openxmlformats.org/drawingml/2006/main" rot="0">
            <a:off x="3162300" y="3209925"/>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700" b="0">
                <a:solidFill>
                  <a:srgbClr val="FAFAFA"/>
                </a:solidFill>
                <a:latin typeface="DM Sans"/>
                <a:ea typeface="DM Sans"/>
                <a:cs typeface="DM Sans"/>
              </a:defRPr>
            </a:defPPr>
            <a:lvl1pPr algn="ctr">
              <a:defRPr sz="2700" b="0">
                <a:solidFill>
                  <a:srgbClr val="FAFAFA"/>
                </a:solidFill>
                <a:latin typeface="DM Sans"/>
                <a:ea typeface="DM Sans"/>
                <a:cs typeface="DM Sans"/>
              </a:defRPr>
            </a:lvl1pPr>
            <a:lvl2pPr algn="ctr">
              <a:defRPr sz="2700" b="0">
                <a:solidFill>
                  <a:srgbClr val="FAFAFA"/>
                </a:solidFill>
                <a:latin typeface="DM Sans"/>
                <a:ea typeface="DM Sans"/>
                <a:cs typeface="DM Sans"/>
              </a:defRPr>
            </a:lvl2pPr>
            <a:lvl3pPr algn="ctr">
              <a:defRPr sz="2700" b="0">
                <a:solidFill>
                  <a:srgbClr val="FAFAFA"/>
                </a:solidFill>
                <a:latin typeface="DM Sans"/>
                <a:ea typeface="DM Sans"/>
                <a:cs typeface="DM Sans"/>
              </a:defRPr>
            </a:lvl3pPr>
            <a:lvl4pPr algn="ctr">
              <a:defRPr sz="2700" b="0">
                <a:solidFill>
                  <a:srgbClr val="FAFAFA"/>
                </a:solidFill>
                <a:latin typeface="DM Sans"/>
                <a:ea typeface="DM Sans"/>
                <a:cs typeface="DM Sans"/>
              </a:defRPr>
            </a:lvl4pPr>
            <a:lvl5pPr algn="ctr">
              <a:defRPr sz="2700" b="0">
                <a:solidFill>
                  <a:srgbClr val="FAFAFA"/>
                </a:solidFill>
                <a:latin typeface="DM Sans"/>
                <a:ea typeface="DM Sans"/>
                <a:cs typeface="DM Sans"/>
              </a:defRPr>
            </a:lvl5pPr>
            <a:lvl6pPr algn="ctr">
              <a:defRPr sz="2700" b="0">
                <a:solidFill>
                  <a:srgbClr val="FAFAFA"/>
                </a:solidFill>
                <a:latin typeface="DM Sans"/>
                <a:ea typeface="DM Sans"/>
                <a:cs typeface="DM Sans"/>
              </a:defRPr>
            </a:lvl6pPr>
            <a:lvl7pPr algn="ctr">
              <a:defRPr sz="2700" b="0">
                <a:solidFill>
                  <a:srgbClr val="FAFAFA"/>
                </a:solidFill>
                <a:latin typeface="DM Sans"/>
                <a:ea typeface="DM Sans"/>
                <a:cs typeface="DM Sans"/>
              </a:defRPr>
            </a:lvl7pPr>
            <a:lvl8pPr algn="ctr">
              <a:defRPr sz="2700" b="0">
                <a:solidFill>
                  <a:srgbClr val="FAFAFA"/>
                </a:solidFill>
                <a:latin typeface="DM Sans"/>
                <a:ea typeface="DM Sans"/>
                <a:cs typeface="DM Sans"/>
              </a:defRPr>
            </a:lvl8pPr>
            <a:lvl9pPr algn="ctr">
              <a:defRPr sz="2700" b="0">
                <a:solidFill>
                  <a:srgbClr val="FAFAFA"/>
                </a:solidFill>
                <a:latin typeface="DM Sans"/>
                <a:ea typeface="DM Sans"/>
                <a:cs typeface="DM Sans"/>
              </a:defRPr>
            </a:lvl9pPr>
          </a:lstStyle>
          <a:p xmlns:a="http://schemas.openxmlformats.org/drawingml/2006/main">
            <a:pPr algn="ctr">
              <a:defRPr sz="2700" b="0">
                <a:solidFill>
                  <a:srgbClr val="FAFAFA"/>
                </a:solidFill>
                <a:latin typeface="DM Sans"/>
                <a:ea typeface="DM Sans"/>
                <a:cs typeface="DM Sans"/>
              </a:defRPr>
            </a:pPr>
            <a:r>
              <a:rPr sz="2700" b="0">
                <a:solidFill>
                  <a:srgbClr val="FAFAFA"/>
                </a:solidFill>
                <a:latin typeface="DM Sans"/>
                <a:ea typeface="DM Sans"/>
                <a:cs typeface="DM Sans"/>
              </a:rPr>
              <a:t>Orecast</a:t>
            </a:r>
          </a:p>
        </p:txBody>
      </p:sp>
      <p:sp>
        <p:nvSpPr>
          <p:cNvPr id="10" name="">
            <a:extLst xmlns:a="http://schemas.openxmlformats.org/drawingml/2006/main">
              <a:ext uri="{FF2B5EF4-FFF2-40B4-BE49-F238E27FC236}">
                <a16:creationId xmlns:a16="http://schemas.microsoft.com/office/drawing/2014/main" id="{C1E21412-A083-4734-8DE7-352EB7E9BC4D}"/>
              </a:ext>
            </a:extLst>
          </p:cNvPr>
          <p:cNvSpPr>
            <a:spLocks xmlns:a="http://schemas.openxmlformats.org/drawingml/2006/main" noGrp="1"/>
          </p:cNvSpPr>
          <p:nvPr/>
        </p:nvSpPr>
        <p:spPr>
          <a:xfrm xmlns:a="http://schemas.openxmlformats.org/drawingml/2006/main" rot="0">
            <a:off x="8705850" y="62769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OXHack 2026</a:t>
            </a:r>
          </a:p>
        </p:txBody>
      </p:sp>
      <p:sp>
        <p:nvSpPr>
          <p:cNvPr id="11" name="">
            <a:extLst xmlns:a="http://schemas.openxmlformats.org/drawingml/2006/main">
              <a:ext uri="{FF2B5EF4-FFF2-40B4-BE49-F238E27FC236}">
                <a16:creationId xmlns:a16="http://schemas.microsoft.com/office/drawing/2014/main" id="{5922789C-28E6-44B1-8BDD-2D5300DC9805}"/>
              </a:ext>
            </a:extLst>
          </p:cNvPr>
          <p:cNvSpPr>
            <a:spLocks xmlns:a="http://schemas.openxmlformats.org/drawingml/2006/main" noGrp="1"/>
          </p:cNvSpPr>
          <p:nvPr/>
        </p:nvSpPr>
        <p:spPr>
          <a:xfrm xmlns:a="http://schemas.openxmlformats.org/drawingml/2006/main">
            <a:off x="10668000" y="6334125"/>
            <a:ext cx="285750" cy="95"/>
          </a:xfrm>
          <a:custGeom xmlns:a="http://schemas.openxmlformats.org/drawingml/2006/main">
            <a:pathLst>
              <a:path w="285750" h="95">
                <a:moveTo>
                  <a:pt x="0" y="0"/>
                </a:moveTo>
                <a:lnTo>
                  <a:pt x="285750" y="0"/>
                </a:lnTo>
              </a:path>
            </a:pathLst>
          </a:custGeom>
          <a:noFill xmlns:a="http://schemas.openxmlformats.org/drawingml/2006/main"/>
          <a:ln xmlns:a="http://schemas.openxmlformats.org/drawingml/2006/main" w="7144">
            <a:solidFill>
              <a:srgbClr val="FAFAFA"/>
            </a:solidFill>
            <a:prstDash val="solid"/>
          </a:ln>
        </p:spPr>
      </p:sp>
      <p:sp>
        <p:nvSpPr>
          <p:cNvPr id="12" name="">
            <a:extLst xmlns:a="http://schemas.openxmlformats.org/drawingml/2006/main">
              <a:ext uri="{FF2B5EF4-FFF2-40B4-BE49-F238E27FC236}">
                <a16:creationId xmlns:a16="http://schemas.microsoft.com/office/drawing/2014/main" id="{38778E85-7737-4F35-96DF-7DCFA546119A}"/>
              </a:ext>
            </a:extLst>
          </p:cNvPr>
          <p:cNvSpPr>
            <a:spLocks xmlns:a="http://schemas.openxmlformats.org/drawingml/2006/main" noGrp="1"/>
          </p:cNvSpPr>
          <p:nvPr/>
        </p:nvSpPr>
        <p:spPr>
          <a:xfrm xmlns:a="http://schemas.openxmlformats.org/drawingml/2006/main">
            <a:off x="10915650" y="6305550"/>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FAFAFA"/>
            </a:solidFill>
            <a:prstDash val="solid"/>
          </a:ln>
        </p:spPr>
      </p:sp>
      <p:sp>
        <p:nvSpPr>
          <p:cNvPr id="13" name="">
            <a:extLst xmlns:a="http://schemas.openxmlformats.org/drawingml/2006/main">
              <a:ext uri="{FF2B5EF4-FFF2-40B4-BE49-F238E27FC236}">
                <a16:creationId xmlns:a16="http://schemas.microsoft.com/office/drawing/2014/main" id="{86A8E925-42A6-48EC-8420-A53ED872257D}"/>
              </a:ext>
            </a:extLst>
          </p:cNvPr>
          <p:cNvSpPr>
            <a:spLocks xmlns:a="http://schemas.openxmlformats.org/drawingml/2006/main" noGrp="1"/>
          </p:cNvSpPr>
          <p:nvPr/>
        </p:nvSpPr>
        <p:spPr>
          <a:xfrm xmlns:a="http://schemas.openxmlformats.org/drawingml/2006/main">
            <a:off x="10915650" y="6334125"/>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FAFAFA"/>
            </a:solidFill>
            <a:prstDash val="solid"/>
          </a:ln>
        </p:spPr>
      </p:sp>
      <p:sp>
        <p:nvSpPr>
          <p:cNvPr id="14" name="">
            <a:extLst xmlns:a="http://schemas.openxmlformats.org/drawingml/2006/main">
              <a:ext uri="{FF2B5EF4-FFF2-40B4-BE49-F238E27FC236}">
                <a16:creationId xmlns:a16="http://schemas.microsoft.com/office/drawing/2014/main" id="{68339505-A97C-4673-9A05-BD4302AFC679}"/>
              </a:ext>
            </a:extLst>
          </p:cNvPr>
          <p:cNvSpPr>
            <a:spLocks xmlns:a="http://schemas.openxmlformats.org/drawingml/2006/main" noGrp="1"/>
          </p:cNvSpPr>
          <p:nvPr/>
        </p:nvSpPr>
        <p:spPr>
          <a:xfrm xmlns:a="http://schemas.openxmlformats.org/drawingml/2006/main" rot="0">
            <a:off x="11163300" y="6276975"/>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75" b="0">
                <a:solidFill>
                  <a:srgbClr val="FAFAFA"/>
                </a:solidFill>
                <a:latin typeface="DM Sans"/>
                <a:ea typeface="DM Sans"/>
                <a:cs typeface="DM Sans"/>
              </a:defRPr>
            </a:defPPr>
            <a:lvl1pPr algn="l">
              <a:defRPr sz="675" b="0">
                <a:solidFill>
                  <a:srgbClr val="FAFAFA"/>
                </a:solidFill>
                <a:latin typeface="DM Sans"/>
                <a:ea typeface="DM Sans"/>
                <a:cs typeface="DM Sans"/>
              </a:defRPr>
            </a:lvl1pPr>
            <a:lvl2pPr algn="l">
              <a:defRPr sz="675" b="0">
                <a:solidFill>
                  <a:srgbClr val="FAFAFA"/>
                </a:solidFill>
                <a:latin typeface="DM Sans"/>
                <a:ea typeface="DM Sans"/>
                <a:cs typeface="DM Sans"/>
              </a:defRPr>
            </a:lvl2pPr>
            <a:lvl3pPr algn="l">
              <a:defRPr sz="675" b="0">
                <a:solidFill>
                  <a:srgbClr val="FAFAFA"/>
                </a:solidFill>
                <a:latin typeface="DM Sans"/>
                <a:ea typeface="DM Sans"/>
                <a:cs typeface="DM Sans"/>
              </a:defRPr>
            </a:lvl3pPr>
            <a:lvl4pPr algn="l">
              <a:defRPr sz="675" b="0">
                <a:solidFill>
                  <a:srgbClr val="FAFAFA"/>
                </a:solidFill>
                <a:latin typeface="DM Sans"/>
                <a:ea typeface="DM Sans"/>
                <a:cs typeface="DM Sans"/>
              </a:defRPr>
            </a:lvl4pPr>
            <a:lvl5pPr algn="l">
              <a:defRPr sz="675" b="0">
                <a:solidFill>
                  <a:srgbClr val="FAFAFA"/>
                </a:solidFill>
                <a:latin typeface="DM Sans"/>
                <a:ea typeface="DM Sans"/>
                <a:cs typeface="DM Sans"/>
              </a:defRPr>
            </a:lvl5pPr>
            <a:lvl6pPr algn="l">
              <a:defRPr sz="675" b="0">
                <a:solidFill>
                  <a:srgbClr val="FAFAFA"/>
                </a:solidFill>
                <a:latin typeface="DM Sans"/>
                <a:ea typeface="DM Sans"/>
                <a:cs typeface="DM Sans"/>
              </a:defRPr>
            </a:lvl6pPr>
            <a:lvl7pPr algn="l">
              <a:defRPr sz="675" b="0">
                <a:solidFill>
                  <a:srgbClr val="FAFAFA"/>
                </a:solidFill>
                <a:latin typeface="DM Sans"/>
                <a:ea typeface="DM Sans"/>
                <a:cs typeface="DM Sans"/>
              </a:defRPr>
            </a:lvl7pPr>
            <a:lvl8pPr algn="l">
              <a:defRPr sz="675" b="0">
                <a:solidFill>
                  <a:srgbClr val="FAFAFA"/>
                </a:solidFill>
                <a:latin typeface="DM Sans"/>
                <a:ea typeface="DM Sans"/>
                <a:cs typeface="DM Sans"/>
              </a:defRPr>
            </a:lvl8pPr>
            <a:lvl9pPr algn="l">
              <a:defRPr sz="675" b="0">
                <a:solidFill>
                  <a:srgbClr val="FAFAFA"/>
                </a:solidFill>
                <a:latin typeface="DM Sans"/>
                <a:ea typeface="DM Sans"/>
                <a:cs typeface="DM Sans"/>
              </a:defRPr>
            </a:lvl9pPr>
          </a:lstStyle>
          <a:p xmlns:a="http://schemas.openxmlformats.org/drawingml/2006/main">
            <a:pPr algn="l">
              <a:defRPr sz="675" b="0">
                <a:solidFill>
                  <a:srgbClr val="FAFAFA"/>
                </a:solidFill>
                <a:latin typeface="DM Sans"/>
                <a:ea typeface="DM Sans"/>
                <a:cs typeface="DM Sans"/>
              </a:defRPr>
            </a:pPr>
            <a:r>
              <a:rPr sz="675" b="0">
                <a:solidFill>
                  <a:srgbClr val="FAFAFA"/>
                </a:solidFill>
                <a:latin typeface="DM Sans"/>
                <a:ea typeface="DM Sans"/>
                <a:cs typeface="DM Sans"/>
              </a:rPr>
              <a:t>25 October 2026</a:t>
            </a:r>
          </a:p>
        </p:txBody>
      </p:sp>
    </p:spTree>
    <p:extLst>
      <p:ext uri="{BB962C8B-B14F-4D97-AF65-F5344CB8AC3E}">
        <p14:creationId xmlns:p14="http://schemas.microsoft.com/office/powerpoint/2010/main" val="826056769"/>
      </p:ext>
    </p:extLst>
  </p:cSld>
</p:sld>
</file>

<file path=ppt/slides/slide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6CCD8E53-984D-44D3-A431-DF4B41DA0367}"/>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6762B80A-6995-42EB-9D23-9E8A08E89CBE}"/>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01</a:t>
            </a:r>
          </a:p>
        </p:txBody>
      </p:sp>
      <p:sp>
        <p:nvSpPr>
          <p:cNvPr id="3" name="">
            <a:extLst xmlns:a="http://schemas.openxmlformats.org/drawingml/2006/main">
              <a:ext uri="{FF2B5EF4-FFF2-40B4-BE49-F238E27FC236}">
                <a16:creationId xmlns:a16="http://schemas.microsoft.com/office/drawing/2014/main" id="{0850B615-1193-4386-AB41-AA64DEF4DDD2}"/>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326D3078-A730-4150-ABA7-9450E4DBE5A2}"/>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3288684E-AD46-4D8C-8911-35DB17A8E1D7}"/>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865616B0-4AAE-4299-ABAE-DEA4DE9CE674}"/>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Time and evidence</a:t>
            </a:r>
          </a:p>
        </p:txBody>
      </p:sp>
      <p:sp>
        <p:nvSpPr>
          <p:cNvPr id="7" name="">
            <a:extLst xmlns:a="http://schemas.openxmlformats.org/drawingml/2006/main">
              <a:ext uri="{FF2B5EF4-FFF2-40B4-BE49-F238E27FC236}">
                <a16:creationId xmlns:a16="http://schemas.microsoft.com/office/drawing/2014/main" id="{B7355C2D-AC51-41D8-8B9D-C9C041296508}"/>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0A0A0A"/>
                </a:solidFill>
                <a:latin typeface="DM Sans"/>
                <a:ea typeface="DM Sans"/>
                <a:cs typeface="DM Sans"/>
              </a:defRPr>
            </a:defPPr>
            <a:lvl1pPr algn="r">
              <a:defRPr sz="900" b="0">
                <a:solidFill>
                  <a:srgbClr val="0A0A0A"/>
                </a:solidFill>
                <a:latin typeface="DM Sans"/>
                <a:ea typeface="DM Sans"/>
                <a:cs typeface="DM Sans"/>
              </a:defRPr>
            </a:lvl1pPr>
            <a:lvl2pPr algn="r">
              <a:defRPr sz="900" b="0">
                <a:solidFill>
                  <a:srgbClr val="0A0A0A"/>
                </a:solidFill>
                <a:latin typeface="DM Sans"/>
                <a:ea typeface="DM Sans"/>
                <a:cs typeface="DM Sans"/>
              </a:defRPr>
            </a:lvl2pPr>
            <a:lvl3pPr algn="r">
              <a:defRPr sz="900" b="0">
                <a:solidFill>
                  <a:srgbClr val="0A0A0A"/>
                </a:solidFill>
                <a:latin typeface="DM Sans"/>
                <a:ea typeface="DM Sans"/>
                <a:cs typeface="DM Sans"/>
              </a:defRPr>
            </a:lvl3pPr>
            <a:lvl4pPr algn="r">
              <a:defRPr sz="900" b="0">
                <a:solidFill>
                  <a:srgbClr val="0A0A0A"/>
                </a:solidFill>
                <a:latin typeface="DM Sans"/>
                <a:ea typeface="DM Sans"/>
                <a:cs typeface="DM Sans"/>
              </a:defRPr>
            </a:lvl4pPr>
            <a:lvl5pPr algn="r">
              <a:defRPr sz="900" b="0">
                <a:solidFill>
                  <a:srgbClr val="0A0A0A"/>
                </a:solidFill>
                <a:latin typeface="DM Sans"/>
                <a:ea typeface="DM Sans"/>
                <a:cs typeface="DM Sans"/>
              </a:defRPr>
            </a:lvl5pPr>
            <a:lvl6pPr algn="r">
              <a:defRPr sz="900" b="0">
                <a:solidFill>
                  <a:srgbClr val="0A0A0A"/>
                </a:solidFill>
                <a:latin typeface="DM Sans"/>
                <a:ea typeface="DM Sans"/>
                <a:cs typeface="DM Sans"/>
              </a:defRPr>
            </a:lvl6pPr>
            <a:lvl7pPr algn="r">
              <a:defRPr sz="900" b="0">
                <a:solidFill>
                  <a:srgbClr val="0A0A0A"/>
                </a:solidFill>
                <a:latin typeface="DM Sans"/>
                <a:ea typeface="DM Sans"/>
                <a:cs typeface="DM Sans"/>
              </a:defRPr>
            </a:lvl7pPr>
            <a:lvl8pPr algn="r">
              <a:defRPr sz="900" b="0">
                <a:solidFill>
                  <a:srgbClr val="0A0A0A"/>
                </a:solidFill>
                <a:latin typeface="DM Sans"/>
                <a:ea typeface="DM Sans"/>
                <a:cs typeface="DM Sans"/>
              </a:defRPr>
            </a:lvl8pPr>
            <a:lvl9pPr algn="r">
              <a:defRPr sz="900" b="0">
                <a:solidFill>
                  <a:srgbClr val="0A0A0A"/>
                </a:solidFill>
                <a:latin typeface="DM Sans"/>
                <a:ea typeface="DM Sans"/>
                <a:cs typeface="DM Sans"/>
              </a:defRPr>
            </a:lvl9pPr>
          </a:lstStyle>
          <a:p xmlns:a="http://schemas.openxmlformats.org/drawingml/2006/main">
            <a:pPr algn="r">
              <a:defRPr sz="900" b="0">
                <a:solidFill>
                  <a:srgbClr val="0A0A0A"/>
                </a:solidFill>
                <a:latin typeface="DM Sans"/>
                <a:ea typeface="DM Sans"/>
                <a:cs typeface="DM Sans"/>
              </a:defRPr>
            </a:pPr>
            <a:r>
              <a:rPr sz="900" b="0">
                <a:solidFill>
                  <a:srgbClr val="0A0A0A"/>
                </a:solidFill>
                <a:latin typeface="DM Sans"/>
                <a:ea typeface="DM Sans"/>
                <a:cs typeface="DM Sans"/>
              </a:rPr>
              <a:t>Orecast</a:t>
            </a:r>
          </a:p>
        </p:txBody>
      </p:sp>
      <p:sp>
        <p:nvSpPr>
          <p:cNvPr id="8" name="">
            <a:extLst xmlns:a="http://schemas.openxmlformats.org/drawingml/2006/main">
              <a:ext uri="{FF2B5EF4-FFF2-40B4-BE49-F238E27FC236}">
                <a16:creationId xmlns:a16="http://schemas.microsoft.com/office/drawing/2014/main" id="{7A898EC9-2619-4935-89CE-568656B591FF}"/>
              </a:ext>
            </a:extLst>
          </p:cNvPr>
          <p:cNvSpPr>
            <a:spLocks xmlns:a="http://schemas.openxmlformats.org/drawingml/2006/main" noGrp="1"/>
          </p:cNvSpPr>
          <p:nvPr/>
        </p:nvSpPr>
        <p:spPr>
          <a:xfrm xmlns:a="http://schemas.openxmlformats.org/drawingml/2006/main" rot="0">
            <a:off x="400050" y="895350"/>
            <a:ext cx="11382375"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850" b="0">
                <a:solidFill>
                  <a:srgbClr val="0A0A0A"/>
                </a:solidFill>
                <a:latin typeface="DM Sans"/>
                <a:ea typeface="DM Sans"/>
                <a:cs typeface="DM Sans"/>
              </a:defRPr>
            </a:defPPr>
            <a:lvl1pPr algn="l">
              <a:defRPr sz="2850" b="0">
                <a:solidFill>
                  <a:srgbClr val="0A0A0A"/>
                </a:solidFill>
                <a:latin typeface="DM Sans"/>
                <a:ea typeface="DM Sans"/>
                <a:cs typeface="DM Sans"/>
              </a:defRPr>
            </a:lvl1pPr>
            <a:lvl2pPr algn="l">
              <a:defRPr sz="2850" b="0">
                <a:solidFill>
                  <a:srgbClr val="0A0A0A"/>
                </a:solidFill>
                <a:latin typeface="DM Sans"/>
                <a:ea typeface="DM Sans"/>
                <a:cs typeface="DM Sans"/>
              </a:defRPr>
            </a:lvl2pPr>
            <a:lvl3pPr algn="l">
              <a:defRPr sz="2850" b="0">
                <a:solidFill>
                  <a:srgbClr val="0A0A0A"/>
                </a:solidFill>
                <a:latin typeface="DM Sans"/>
                <a:ea typeface="DM Sans"/>
                <a:cs typeface="DM Sans"/>
              </a:defRPr>
            </a:lvl3pPr>
            <a:lvl4pPr algn="l">
              <a:defRPr sz="2850" b="0">
                <a:solidFill>
                  <a:srgbClr val="0A0A0A"/>
                </a:solidFill>
                <a:latin typeface="DM Sans"/>
                <a:ea typeface="DM Sans"/>
                <a:cs typeface="DM Sans"/>
              </a:defRPr>
            </a:lvl4pPr>
            <a:lvl5pPr algn="l">
              <a:defRPr sz="2850" b="0">
                <a:solidFill>
                  <a:srgbClr val="0A0A0A"/>
                </a:solidFill>
                <a:latin typeface="DM Sans"/>
                <a:ea typeface="DM Sans"/>
                <a:cs typeface="DM Sans"/>
              </a:defRPr>
            </a:lvl5pPr>
            <a:lvl6pPr algn="l">
              <a:defRPr sz="2850" b="0">
                <a:solidFill>
                  <a:srgbClr val="0A0A0A"/>
                </a:solidFill>
                <a:latin typeface="DM Sans"/>
                <a:ea typeface="DM Sans"/>
                <a:cs typeface="DM Sans"/>
              </a:defRPr>
            </a:lvl6pPr>
            <a:lvl7pPr algn="l">
              <a:defRPr sz="2850" b="0">
                <a:solidFill>
                  <a:srgbClr val="0A0A0A"/>
                </a:solidFill>
                <a:latin typeface="DM Sans"/>
                <a:ea typeface="DM Sans"/>
                <a:cs typeface="DM Sans"/>
              </a:defRPr>
            </a:lvl7pPr>
            <a:lvl8pPr algn="l">
              <a:defRPr sz="2850" b="0">
                <a:solidFill>
                  <a:srgbClr val="0A0A0A"/>
                </a:solidFill>
                <a:latin typeface="DM Sans"/>
                <a:ea typeface="DM Sans"/>
                <a:cs typeface="DM Sans"/>
              </a:defRPr>
            </a:lvl8pPr>
            <a:lvl9pPr algn="l">
              <a:defRPr sz="2850" b="0">
                <a:solidFill>
                  <a:srgbClr val="0A0A0A"/>
                </a:solidFill>
                <a:latin typeface="DM Sans"/>
                <a:ea typeface="DM Sans"/>
                <a:cs typeface="DM Sans"/>
              </a:defRPr>
            </a:lvl9pPr>
          </a:lstStyle>
          <a:p xmlns:a="http://schemas.openxmlformats.org/drawingml/2006/main">
            <a:pPr algn="l">
              <a:defRPr sz="2850" b="0">
                <a:solidFill>
                  <a:srgbClr val="0A0A0A"/>
                </a:solidFill>
                <a:latin typeface="DM Sans"/>
                <a:ea typeface="DM Sans"/>
                <a:cs typeface="DM Sans"/>
              </a:defRPr>
            </a:pPr>
            <a:r>
              <a:rPr sz="2850" b="0">
                <a:solidFill>
                  <a:srgbClr val="0A0A0A"/>
                </a:solidFill>
                <a:latin typeface="DM Sans"/>
                <a:ea typeface="DM Sans"/>
                <a:cs typeface="DM Sans"/>
              </a:rPr>
              <a:t>Mineral evidence, changing conditions and time</a:t>
            </a:r>
          </a:p>
          <a:p xmlns:a="http://schemas.openxmlformats.org/drawingml/2006/main">
            <a:pPr algn="l">
              <a:defRPr sz="2850" b="0">
                <a:solidFill>
                  <a:srgbClr val="0A0A0A"/>
                </a:solidFill>
                <a:latin typeface="DM Sans"/>
                <a:ea typeface="DM Sans"/>
                <a:cs typeface="DM Sans"/>
              </a:defRPr>
            </a:pPr>
            <a:r>
              <a:rPr sz="2850" b="0">
                <a:solidFill>
                  <a:srgbClr val="0A0A0A"/>
                </a:solidFill>
                <a:latin typeface="DM Sans"/>
                <a:ea typeface="DM Sans"/>
                <a:cs typeface="DM Sans"/>
              </a:rPr>
              <a:t>to exit belong in the same decision.</a:t>
            </a:r>
          </a:p>
        </p:txBody>
      </p:sp>
      <p:sp>
        <p:nvSpPr>
          <p:cNvPr id="9" name="">
            <a:extLst xmlns:a="http://schemas.openxmlformats.org/drawingml/2006/main">
              <a:ext uri="{FF2B5EF4-FFF2-40B4-BE49-F238E27FC236}">
                <a16:creationId xmlns:a16="http://schemas.microsoft.com/office/drawing/2014/main" id="{A0C1B1FD-A830-427D-BFD9-1C4D250759C2}"/>
              </a:ext>
            </a:extLst>
          </p:cNvPr>
          <p:cNvSpPr>
            <a:spLocks xmlns:a="http://schemas.openxmlformats.org/drawingml/2006/main" noGrp="1"/>
          </p:cNvSpPr>
          <p:nvPr/>
        </p:nvSpPr>
        <p:spPr>
          <a:xfrm xmlns:a="http://schemas.openxmlformats.org/drawingml/2006/main" rot="0">
            <a:off x="400050" y="2190750"/>
            <a:ext cx="10858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0A0A0A"/>
                </a:solidFill>
                <a:latin typeface="DM Sans"/>
                <a:ea typeface="DM Sans"/>
                <a:cs typeface="DM Sans"/>
              </a:defRPr>
            </a:defPPr>
            <a:lvl1pPr algn="l">
              <a:defRPr sz="1875" b="0">
                <a:solidFill>
                  <a:srgbClr val="0A0A0A"/>
                </a:solidFill>
                <a:latin typeface="DM Sans"/>
                <a:ea typeface="DM Sans"/>
                <a:cs typeface="DM Sans"/>
              </a:defRPr>
            </a:lvl1pPr>
            <a:lvl2pPr algn="l">
              <a:defRPr sz="1875" b="0">
                <a:solidFill>
                  <a:srgbClr val="0A0A0A"/>
                </a:solidFill>
                <a:latin typeface="DM Sans"/>
                <a:ea typeface="DM Sans"/>
                <a:cs typeface="DM Sans"/>
              </a:defRPr>
            </a:lvl2pPr>
            <a:lvl3pPr algn="l">
              <a:defRPr sz="1875" b="0">
                <a:solidFill>
                  <a:srgbClr val="0A0A0A"/>
                </a:solidFill>
                <a:latin typeface="DM Sans"/>
                <a:ea typeface="DM Sans"/>
                <a:cs typeface="DM Sans"/>
              </a:defRPr>
            </a:lvl3pPr>
            <a:lvl4pPr algn="l">
              <a:defRPr sz="1875" b="0">
                <a:solidFill>
                  <a:srgbClr val="0A0A0A"/>
                </a:solidFill>
                <a:latin typeface="DM Sans"/>
                <a:ea typeface="DM Sans"/>
                <a:cs typeface="DM Sans"/>
              </a:defRPr>
            </a:lvl4pPr>
            <a:lvl5pPr algn="l">
              <a:defRPr sz="1875" b="0">
                <a:solidFill>
                  <a:srgbClr val="0A0A0A"/>
                </a:solidFill>
                <a:latin typeface="DM Sans"/>
                <a:ea typeface="DM Sans"/>
                <a:cs typeface="DM Sans"/>
              </a:defRPr>
            </a:lvl5pPr>
            <a:lvl6pPr algn="l">
              <a:defRPr sz="1875" b="0">
                <a:solidFill>
                  <a:srgbClr val="0A0A0A"/>
                </a:solidFill>
                <a:latin typeface="DM Sans"/>
                <a:ea typeface="DM Sans"/>
                <a:cs typeface="DM Sans"/>
              </a:defRPr>
            </a:lvl6pPr>
            <a:lvl7pPr algn="l">
              <a:defRPr sz="1875" b="0">
                <a:solidFill>
                  <a:srgbClr val="0A0A0A"/>
                </a:solidFill>
                <a:latin typeface="DM Sans"/>
                <a:ea typeface="DM Sans"/>
                <a:cs typeface="DM Sans"/>
              </a:defRPr>
            </a:lvl7pPr>
            <a:lvl8pPr algn="l">
              <a:defRPr sz="1875" b="0">
                <a:solidFill>
                  <a:srgbClr val="0A0A0A"/>
                </a:solidFill>
                <a:latin typeface="DM Sans"/>
                <a:ea typeface="DM Sans"/>
                <a:cs typeface="DM Sans"/>
              </a:defRPr>
            </a:lvl8pPr>
            <a:lvl9pPr algn="l">
              <a:defRPr sz="1875" b="0">
                <a:solidFill>
                  <a:srgbClr val="0A0A0A"/>
                </a:solidFill>
                <a:latin typeface="DM Sans"/>
                <a:ea typeface="DM Sans"/>
                <a:cs typeface="DM Sans"/>
              </a:defRPr>
            </a:lvl9pPr>
          </a:lstStyle>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A $30,000 historical signing-payment reference</a:t>
            </a:r>
          </a:p>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becomes a $30,050 assumed whole-lot entry.</a:t>
            </a:r>
          </a:p>
        </p:txBody>
      </p:sp>
      <p:sp>
        <p:nvSpPr>
          <p:cNvPr id="10" name="">
            <a:extLst xmlns:a="http://schemas.openxmlformats.org/drawingml/2006/main">
              <a:ext uri="{FF2B5EF4-FFF2-40B4-BE49-F238E27FC236}">
                <a16:creationId xmlns:a16="http://schemas.microsoft.com/office/drawing/2014/main" id="{35720B76-4102-46FC-88A4-89F563110BA7}"/>
              </a:ext>
            </a:extLst>
          </p:cNvPr>
          <p:cNvSpPr>
            <a:spLocks xmlns:a="http://schemas.openxmlformats.org/drawingml/2006/main" noGrp="1"/>
          </p:cNvSpPr>
          <p:nvPr/>
        </p:nvSpPr>
        <p:spPr>
          <a:xfrm xmlns:a="http://schemas.openxmlformats.org/drawingml/2006/main" rot="0">
            <a:off x="400050" y="3048000"/>
            <a:ext cx="1123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737373"/>
                </a:solidFill>
                <a:latin typeface="DM Sans"/>
                <a:ea typeface="DM Sans"/>
                <a:cs typeface="DM Sans"/>
              </a:defRPr>
            </a:defPPr>
            <a:lvl1pPr algn="l">
              <a:defRPr sz="1125" b="0">
                <a:solidFill>
                  <a:srgbClr val="737373"/>
                </a:solidFill>
                <a:latin typeface="DM Sans"/>
                <a:ea typeface="DM Sans"/>
                <a:cs typeface="DM Sans"/>
              </a:defRPr>
            </a:lvl1pPr>
            <a:lvl2pPr algn="l">
              <a:defRPr sz="1125" b="0">
                <a:solidFill>
                  <a:srgbClr val="737373"/>
                </a:solidFill>
                <a:latin typeface="DM Sans"/>
                <a:ea typeface="DM Sans"/>
                <a:cs typeface="DM Sans"/>
              </a:defRPr>
            </a:lvl2pPr>
            <a:lvl3pPr algn="l">
              <a:defRPr sz="1125" b="0">
                <a:solidFill>
                  <a:srgbClr val="737373"/>
                </a:solidFill>
                <a:latin typeface="DM Sans"/>
                <a:ea typeface="DM Sans"/>
                <a:cs typeface="DM Sans"/>
              </a:defRPr>
            </a:lvl3pPr>
            <a:lvl4pPr algn="l">
              <a:defRPr sz="1125" b="0">
                <a:solidFill>
                  <a:srgbClr val="737373"/>
                </a:solidFill>
                <a:latin typeface="DM Sans"/>
                <a:ea typeface="DM Sans"/>
                <a:cs typeface="DM Sans"/>
              </a:defRPr>
            </a:lvl4pPr>
            <a:lvl5pPr algn="l">
              <a:defRPr sz="1125" b="0">
                <a:solidFill>
                  <a:srgbClr val="737373"/>
                </a:solidFill>
                <a:latin typeface="DM Sans"/>
                <a:ea typeface="DM Sans"/>
                <a:cs typeface="DM Sans"/>
              </a:defRPr>
            </a:lvl5pPr>
            <a:lvl6pPr algn="l">
              <a:defRPr sz="1125" b="0">
                <a:solidFill>
                  <a:srgbClr val="737373"/>
                </a:solidFill>
                <a:latin typeface="DM Sans"/>
                <a:ea typeface="DM Sans"/>
                <a:cs typeface="DM Sans"/>
              </a:defRPr>
            </a:lvl6pPr>
            <a:lvl7pPr algn="l">
              <a:defRPr sz="1125" b="0">
                <a:solidFill>
                  <a:srgbClr val="737373"/>
                </a:solidFill>
                <a:latin typeface="DM Sans"/>
                <a:ea typeface="DM Sans"/>
                <a:cs typeface="DM Sans"/>
              </a:defRPr>
            </a:lvl7pPr>
            <a:lvl8pPr algn="l">
              <a:defRPr sz="1125" b="0">
                <a:solidFill>
                  <a:srgbClr val="737373"/>
                </a:solidFill>
                <a:latin typeface="DM Sans"/>
                <a:ea typeface="DM Sans"/>
                <a:cs typeface="DM Sans"/>
              </a:defRPr>
            </a:lvl8pPr>
            <a:lvl9pPr algn="l">
              <a:defRPr sz="1125" b="0">
                <a:solidFill>
                  <a:srgbClr val="737373"/>
                </a:solidFill>
                <a:latin typeface="DM Sans"/>
                <a:ea typeface="DM Sans"/>
                <a:cs typeface="DM Sans"/>
              </a:defRPr>
            </a:lvl9pPr>
          </a:lstStyle>
          <a:p xmlns:a="http://schemas.openxmlformats.org/drawingml/2006/main">
            <a:pPr algn="l">
              <a:defRPr sz="1125" b="0">
                <a:solidFill>
                  <a:srgbClr val="737373"/>
                </a:solidFill>
                <a:latin typeface="DM Sans"/>
                <a:ea typeface="DM Sans"/>
                <a:cs typeface="DM Sans"/>
              </a:defRPr>
            </a:pPr>
            <a:r>
              <a:rPr sz="1125" b="0">
                <a:solidFill>
                  <a:srgbClr val="737373"/>
                </a:solidFill>
                <a:latin typeface="DM Sans"/>
                <a:ea typeface="DM Sans"/>
                <a:cs typeface="DM Sans"/>
              </a:rPr>
              <a:t>Two selected historical payments, not a current quote or full contract cost.</a:t>
            </a:r>
          </a:p>
        </p:txBody>
      </p:sp>
      <p:sp>
        <p:nvSpPr>
          <p:cNvPr id="11" name="">
            <a:extLst xmlns:a="http://schemas.openxmlformats.org/drawingml/2006/main">
              <a:ext uri="{FF2B5EF4-FFF2-40B4-BE49-F238E27FC236}">
                <a16:creationId xmlns:a16="http://schemas.microsoft.com/office/drawing/2014/main" id="{625D88CA-BB8B-4323-9852-17FDBBB026A8}"/>
              </a:ext>
            </a:extLst>
          </p:cNvPr>
          <p:cNvSpPr>
            <a:spLocks xmlns:a="http://schemas.openxmlformats.org/drawingml/2006/main" noGrp="1"/>
          </p:cNvSpPr>
          <p:nvPr/>
        </p:nvSpPr>
        <p:spPr>
          <a:xfrm xmlns:a="http://schemas.openxmlformats.org/drawingml/2006/main" rot="0">
            <a:off x="400050" y="3362325"/>
            <a:ext cx="1123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737373"/>
                </a:solidFill>
                <a:latin typeface="DM Sans"/>
                <a:ea typeface="DM Sans"/>
                <a:cs typeface="DM Sans"/>
              </a:defRPr>
            </a:defPPr>
            <a:lvl1pPr algn="l">
              <a:defRPr sz="1125" b="0">
                <a:solidFill>
                  <a:srgbClr val="737373"/>
                </a:solidFill>
                <a:latin typeface="DM Sans"/>
                <a:ea typeface="DM Sans"/>
                <a:cs typeface="DM Sans"/>
              </a:defRPr>
            </a:lvl1pPr>
            <a:lvl2pPr algn="l">
              <a:defRPr sz="1125" b="0">
                <a:solidFill>
                  <a:srgbClr val="737373"/>
                </a:solidFill>
                <a:latin typeface="DM Sans"/>
                <a:ea typeface="DM Sans"/>
                <a:cs typeface="DM Sans"/>
              </a:defRPr>
            </a:lvl2pPr>
            <a:lvl3pPr algn="l">
              <a:defRPr sz="1125" b="0">
                <a:solidFill>
                  <a:srgbClr val="737373"/>
                </a:solidFill>
                <a:latin typeface="DM Sans"/>
                <a:ea typeface="DM Sans"/>
                <a:cs typeface="DM Sans"/>
              </a:defRPr>
            </a:lvl3pPr>
            <a:lvl4pPr algn="l">
              <a:defRPr sz="1125" b="0">
                <a:solidFill>
                  <a:srgbClr val="737373"/>
                </a:solidFill>
                <a:latin typeface="DM Sans"/>
                <a:ea typeface="DM Sans"/>
                <a:cs typeface="DM Sans"/>
              </a:defRPr>
            </a:lvl4pPr>
            <a:lvl5pPr algn="l">
              <a:defRPr sz="1125" b="0">
                <a:solidFill>
                  <a:srgbClr val="737373"/>
                </a:solidFill>
                <a:latin typeface="DM Sans"/>
                <a:ea typeface="DM Sans"/>
                <a:cs typeface="DM Sans"/>
              </a:defRPr>
            </a:lvl5pPr>
            <a:lvl6pPr algn="l">
              <a:defRPr sz="1125" b="0">
                <a:solidFill>
                  <a:srgbClr val="737373"/>
                </a:solidFill>
                <a:latin typeface="DM Sans"/>
                <a:ea typeface="DM Sans"/>
                <a:cs typeface="DM Sans"/>
              </a:defRPr>
            </a:lvl6pPr>
            <a:lvl7pPr algn="l">
              <a:defRPr sz="1125" b="0">
                <a:solidFill>
                  <a:srgbClr val="737373"/>
                </a:solidFill>
                <a:latin typeface="DM Sans"/>
                <a:ea typeface="DM Sans"/>
                <a:cs typeface="DM Sans"/>
              </a:defRPr>
            </a:lvl7pPr>
            <a:lvl8pPr algn="l">
              <a:defRPr sz="1125" b="0">
                <a:solidFill>
                  <a:srgbClr val="737373"/>
                </a:solidFill>
                <a:latin typeface="DM Sans"/>
                <a:ea typeface="DM Sans"/>
                <a:cs typeface="DM Sans"/>
              </a:defRPr>
            </a:lvl8pPr>
            <a:lvl9pPr algn="l">
              <a:defRPr sz="1125" b="0">
                <a:solidFill>
                  <a:srgbClr val="737373"/>
                </a:solidFill>
                <a:latin typeface="DM Sans"/>
                <a:ea typeface="DM Sans"/>
                <a:cs typeface="DM Sans"/>
              </a:defRPr>
            </a:lvl9pPr>
          </a:lstStyle>
          <a:p xmlns:a="http://schemas.openxmlformats.org/drawingml/2006/main">
            <a:pPr algn="l">
              <a:defRPr sz="1125" b="0">
                <a:solidFill>
                  <a:srgbClr val="737373"/>
                </a:solidFill>
                <a:latin typeface="DM Sans"/>
                <a:ea typeface="DM Sans"/>
                <a:cs typeface="DM Sans"/>
              </a:defRPr>
            </a:pPr>
            <a:r>
              <a:rPr sz="1125" b="0">
                <a:solidFill>
                  <a:srgbClr val="737373"/>
                </a:solidFill>
                <a:latin typeface="DM Sans"/>
                <a:ea typeface="DM Sans"/>
                <a:cs typeface="DM Sans"/>
              </a:rPr>
              <a:t>Assumed fund $1,502,500 · $30,050 per lot · $150,250 open / lifetime · 5 positions</a:t>
            </a:r>
          </a:p>
        </p:txBody>
      </p:sp>
      <p:sp>
        <p:nvSpPr>
          <p:cNvPr id="12" name="">
            <a:extLst xmlns:a="http://schemas.openxmlformats.org/drawingml/2006/main">
              <a:ext uri="{FF2B5EF4-FFF2-40B4-BE49-F238E27FC236}">
                <a16:creationId xmlns:a16="http://schemas.microsoft.com/office/drawing/2014/main" id="{ECCBFD9C-E626-415F-9D98-F8CE82FDE7E1}"/>
              </a:ext>
            </a:extLst>
          </p:cNvPr>
          <p:cNvSpPr>
            <a:spLocks xmlns:a="http://schemas.openxmlformats.org/drawingml/2006/main" noGrp="1"/>
          </p:cNvSpPr>
          <p:nvPr/>
        </p:nvSpPr>
        <p:spPr>
          <a:xfrm xmlns:a="http://schemas.openxmlformats.org/drawingml/2006/main">
            <a:off x="152400" y="3771900"/>
            <a:ext cx="11887200" cy="2933700"/>
          </a:xfrm>
          <a:prstGeom xmlns:a="http://schemas.openxmlformats.org/drawingml/2006/main" prst="roundRect">
            <a:avLst>
              <a:gd name="adj" fmla="val 8766"/>
            </a:avLst>
          </a:prstGeom>
          <a:solidFill xmlns:a="http://schemas.openxmlformats.org/drawingml/2006/main">
            <a:srgbClr val="0A0A0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8BDF7CF-9D44-418F-BF84-80BEFAE2D3E2}"/>
              </a:ext>
            </a:extLst>
          </p:cNvPr>
          <p:cNvSpPr>
            <a:spLocks xmlns:a="http://schemas.openxmlformats.org/drawingml/2006/main" noGrp="1"/>
          </p:cNvSpPr>
          <p:nvPr/>
        </p:nvSpPr>
        <p:spPr>
          <a:xfrm xmlns:a="http://schemas.openxmlformats.org/drawingml/2006/main" rot="0">
            <a:off x="400050" y="4019550"/>
            <a:ext cx="1524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FAFAFA"/>
                </a:solidFill>
                <a:latin typeface="DM Sans"/>
                <a:ea typeface="DM Sans"/>
                <a:cs typeface="DM Sans"/>
              </a:defRPr>
            </a:defPPr>
            <a:lvl1pPr algn="l">
              <a:defRPr sz="1575" b="0">
                <a:solidFill>
                  <a:srgbClr val="FAFAFA"/>
                </a:solidFill>
                <a:latin typeface="DM Sans"/>
                <a:ea typeface="DM Sans"/>
                <a:cs typeface="DM Sans"/>
              </a:defRPr>
            </a:lvl1pPr>
            <a:lvl2pPr algn="l">
              <a:defRPr sz="1575" b="0">
                <a:solidFill>
                  <a:srgbClr val="FAFAFA"/>
                </a:solidFill>
                <a:latin typeface="DM Sans"/>
                <a:ea typeface="DM Sans"/>
                <a:cs typeface="DM Sans"/>
              </a:defRPr>
            </a:lvl2pPr>
            <a:lvl3pPr algn="l">
              <a:defRPr sz="1575" b="0">
                <a:solidFill>
                  <a:srgbClr val="FAFAFA"/>
                </a:solidFill>
                <a:latin typeface="DM Sans"/>
                <a:ea typeface="DM Sans"/>
                <a:cs typeface="DM Sans"/>
              </a:defRPr>
            </a:lvl3pPr>
            <a:lvl4pPr algn="l">
              <a:defRPr sz="1575" b="0">
                <a:solidFill>
                  <a:srgbClr val="FAFAFA"/>
                </a:solidFill>
                <a:latin typeface="DM Sans"/>
                <a:ea typeface="DM Sans"/>
                <a:cs typeface="DM Sans"/>
              </a:defRPr>
            </a:lvl4pPr>
            <a:lvl5pPr algn="l">
              <a:defRPr sz="1575" b="0">
                <a:solidFill>
                  <a:srgbClr val="FAFAFA"/>
                </a:solidFill>
                <a:latin typeface="DM Sans"/>
                <a:ea typeface="DM Sans"/>
                <a:cs typeface="DM Sans"/>
              </a:defRPr>
            </a:lvl5pPr>
            <a:lvl6pPr algn="l">
              <a:defRPr sz="1575" b="0">
                <a:solidFill>
                  <a:srgbClr val="FAFAFA"/>
                </a:solidFill>
                <a:latin typeface="DM Sans"/>
                <a:ea typeface="DM Sans"/>
                <a:cs typeface="DM Sans"/>
              </a:defRPr>
            </a:lvl6pPr>
            <a:lvl7pPr algn="l">
              <a:defRPr sz="1575" b="0">
                <a:solidFill>
                  <a:srgbClr val="FAFAFA"/>
                </a:solidFill>
                <a:latin typeface="DM Sans"/>
                <a:ea typeface="DM Sans"/>
                <a:cs typeface="DM Sans"/>
              </a:defRPr>
            </a:lvl7pPr>
            <a:lvl8pPr algn="l">
              <a:defRPr sz="1575" b="0">
                <a:solidFill>
                  <a:srgbClr val="FAFAFA"/>
                </a:solidFill>
                <a:latin typeface="DM Sans"/>
                <a:ea typeface="DM Sans"/>
                <a:cs typeface="DM Sans"/>
              </a:defRPr>
            </a:lvl8pPr>
            <a:lvl9pPr algn="l">
              <a:defRPr sz="1575" b="0">
                <a:solidFill>
                  <a:srgbClr val="FAFAFA"/>
                </a:solidFill>
                <a:latin typeface="DM Sans"/>
                <a:ea typeface="DM Sans"/>
                <a:cs typeface="DM Sans"/>
              </a:defRPr>
            </a:lvl9pPr>
          </a:lstStyle>
          <a:p xmlns:a="http://schemas.openxmlformats.org/drawingml/2006/main">
            <a:pPr algn="l">
              <a:defRPr sz="1575" b="0">
                <a:solidFill>
                  <a:srgbClr val="FAFAFA"/>
                </a:solidFill>
                <a:latin typeface="DM Sans"/>
                <a:ea typeface="DM Sans"/>
                <a:cs typeface="DM Sans"/>
              </a:defRPr>
            </a:pPr>
            <a:r>
              <a:rPr sz="1575" b="0">
                <a:solidFill>
                  <a:srgbClr val="FAFAFA"/>
                </a:solidFill>
                <a:latin typeface="DM Sans"/>
                <a:ea typeface="DM Sans"/>
                <a:cs typeface="DM Sans"/>
              </a:rPr>
              <a:t>Evidence</a:t>
            </a:r>
          </a:p>
        </p:txBody>
      </p:sp>
      <p:sp>
        <p:nvSpPr>
          <p:cNvPr id="14" name="">
            <a:extLst xmlns:a="http://schemas.openxmlformats.org/drawingml/2006/main">
              <a:ext uri="{FF2B5EF4-FFF2-40B4-BE49-F238E27FC236}">
                <a16:creationId xmlns:a16="http://schemas.microsoft.com/office/drawing/2014/main" id="{6B3EB62D-226B-426A-8FE3-0080EDA2E765}"/>
              </a:ext>
            </a:extLst>
          </p:cNvPr>
          <p:cNvSpPr>
            <a:spLocks xmlns:a="http://schemas.openxmlformats.org/drawingml/2006/main" noGrp="1"/>
          </p:cNvSpPr>
          <p:nvPr/>
        </p:nvSpPr>
        <p:spPr>
          <a:xfrm xmlns:a="http://schemas.openxmlformats.org/drawingml/2006/main" rot="0">
            <a:off x="2114550" y="3914775"/>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COLLECTED</a:t>
            </a:r>
          </a:p>
        </p:txBody>
      </p:sp>
      <p:sp>
        <p:nvSpPr>
          <p:cNvPr id="15" name="">
            <a:extLst xmlns:a="http://schemas.openxmlformats.org/drawingml/2006/main">
              <a:ext uri="{FF2B5EF4-FFF2-40B4-BE49-F238E27FC236}">
                <a16:creationId xmlns:a16="http://schemas.microsoft.com/office/drawing/2014/main" id="{9FCBC974-9857-430E-ABC1-0D840ACAFD46}"/>
              </a:ext>
            </a:extLst>
          </p:cNvPr>
          <p:cNvSpPr>
            <a:spLocks xmlns:a="http://schemas.openxmlformats.org/drawingml/2006/main" noGrp="1"/>
          </p:cNvSpPr>
          <p:nvPr/>
        </p:nvSpPr>
        <p:spPr>
          <a:xfrm xmlns:a="http://schemas.openxmlformats.org/drawingml/2006/main" rot="0">
            <a:off x="2114550" y="4114800"/>
            <a:ext cx="2533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FAFAFA"/>
                </a:solidFill>
                <a:latin typeface="DM Sans"/>
                <a:ea typeface="DM Sans"/>
                <a:cs typeface="DM Sans"/>
              </a:defRPr>
            </a:defPPr>
            <a:lvl1pPr algn="l">
              <a:defRPr sz="1350" b="0">
                <a:solidFill>
                  <a:srgbClr val="FAFAFA"/>
                </a:solidFill>
                <a:latin typeface="DM Sans"/>
                <a:ea typeface="DM Sans"/>
                <a:cs typeface="DM Sans"/>
              </a:defRPr>
            </a:lvl1pPr>
            <a:lvl2pPr algn="l">
              <a:defRPr sz="1350" b="0">
                <a:solidFill>
                  <a:srgbClr val="FAFAFA"/>
                </a:solidFill>
                <a:latin typeface="DM Sans"/>
                <a:ea typeface="DM Sans"/>
                <a:cs typeface="DM Sans"/>
              </a:defRPr>
            </a:lvl2pPr>
            <a:lvl3pPr algn="l">
              <a:defRPr sz="1350" b="0">
                <a:solidFill>
                  <a:srgbClr val="FAFAFA"/>
                </a:solidFill>
                <a:latin typeface="DM Sans"/>
                <a:ea typeface="DM Sans"/>
                <a:cs typeface="DM Sans"/>
              </a:defRPr>
            </a:lvl3pPr>
            <a:lvl4pPr algn="l">
              <a:defRPr sz="1350" b="0">
                <a:solidFill>
                  <a:srgbClr val="FAFAFA"/>
                </a:solidFill>
                <a:latin typeface="DM Sans"/>
                <a:ea typeface="DM Sans"/>
                <a:cs typeface="DM Sans"/>
              </a:defRPr>
            </a:lvl4pPr>
            <a:lvl5pPr algn="l">
              <a:defRPr sz="1350" b="0">
                <a:solidFill>
                  <a:srgbClr val="FAFAFA"/>
                </a:solidFill>
                <a:latin typeface="DM Sans"/>
                <a:ea typeface="DM Sans"/>
                <a:cs typeface="DM Sans"/>
              </a:defRPr>
            </a:lvl5pPr>
            <a:lvl6pPr algn="l">
              <a:defRPr sz="1350" b="0">
                <a:solidFill>
                  <a:srgbClr val="FAFAFA"/>
                </a:solidFill>
                <a:latin typeface="DM Sans"/>
                <a:ea typeface="DM Sans"/>
                <a:cs typeface="DM Sans"/>
              </a:defRPr>
            </a:lvl6pPr>
            <a:lvl7pPr algn="l">
              <a:defRPr sz="1350" b="0">
                <a:solidFill>
                  <a:srgbClr val="FAFAFA"/>
                </a:solidFill>
                <a:latin typeface="DM Sans"/>
                <a:ea typeface="DM Sans"/>
                <a:cs typeface="DM Sans"/>
              </a:defRPr>
            </a:lvl7pPr>
            <a:lvl8pPr algn="l">
              <a:defRPr sz="1350" b="0">
                <a:solidFill>
                  <a:srgbClr val="FAFAFA"/>
                </a:solidFill>
                <a:latin typeface="DM Sans"/>
                <a:ea typeface="DM Sans"/>
                <a:cs typeface="DM Sans"/>
              </a:defRPr>
            </a:lvl8pPr>
            <a:lvl9pPr algn="l">
              <a:defRPr sz="1350" b="0">
                <a:solidFill>
                  <a:srgbClr val="FAFAFA"/>
                </a:solidFill>
                <a:latin typeface="DM Sans"/>
                <a:ea typeface="DM Sans"/>
                <a:cs typeface="DM Sans"/>
              </a:defRPr>
            </a:lvl9pPr>
          </a:lstStyle>
          <a:p xmlns:a="http://schemas.openxmlformats.org/drawingml/2006/main">
            <a:pPr algn="l">
              <a:defRPr sz="1350" b="0">
                <a:solidFill>
                  <a:srgbClr val="FAFAFA"/>
                </a:solidFill>
                <a:latin typeface="DM Sans"/>
                <a:ea typeface="DM Sans"/>
                <a:cs typeface="DM Sans"/>
              </a:defRPr>
            </a:pPr>
            <a:r>
              <a:rPr sz="1350" b="0">
                <a:solidFill>
                  <a:srgbClr val="FAFAFA"/>
                </a:solidFill>
                <a:latin typeface="DM Sans"/>
                <a:ea typeface="DM Sans"/>
                <a:cs typeface="DM Sans"/>
              </a:rPr>
              <a:t>June–July 2016</a:t>
            </a:r>
          </a:p>
        </p:txBody>
      </p:sp>
      <p:sp>
        <p:nvSpPr>
          <p:cNvPr id="16" name="">
            <a:extLst xmlns:a="http://schemas.openxmlformats.org/drawingml/2006/main">
              <a:ext uri="{FF2B5EF4-FFF2-40B4-BE49-F238E27FC236}">
                <a16:creationId xmlns:a16="http://schemas.microsoft.com/office/drawing/2014/main" id="{C12CDC99-FB77-459B-9B92-AB52236A7870}"/>
              </a:ext>
            </a:extLst>
          </p:cNvPr>
          <p:cNvSpPr>
            <a:spLocks xmlns:a="http://schemas.openxmlformats.org/drawingml/2006/main" noGrp="1"/>
          </p:cNvSpPr>
          <p:nvPr/>
        </p:nvSpPr>
        <p:spPr>
          <a:xfrm xmlns:a="http://schemas.openxmlformats.org/drawingml/2006/main" rot="0">
            <a:off x="6343650" y="3914775"/>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PUBLISHED</a:t>
            </a:r>
          </a:p>
        </p:txBody>
      </p:sp>
      <p:sp>
        <p:nvSpPr>
          <p:cNvPr id="17" name="">
            <a:extLst xmlns:a="http://schemas.openxmlformats.org/drawingml/2006/main">
              <a:ext uri="{FF2B5EF4-FFF2-40B4-BE49-F238E27FC236}">
                <a16:creationId xmlns:a16="http://schemas.microsoft.com/office/drawing/2014/main" id="{357C21A3-5B78-47E8-9DDA-167952400CBD}"/>
              </a:ext>
            </a:extLst>
          </p:cNvPr>
          <p:cNvSpPr>
            <a:spLocks xmlns:a="http://schemas.openxmlformats.org/drawingml/2006/main" noGrp="1"/>
          </p:cNvSpPr>
          <p:nvPr/>
        </p:nvSpPr>
        <p:spPr>
          <a:xfrm xmlns:a="http://schemas.openxmlformats.org/drawingml/2006/main" rot="0">
            <a:off x="6343650" y="41148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FAFAFA"/>
                </a:solidFill>
                <a:latin typeface="DM Sans"/>
                <a:ea typeface="DM Sans"/>
                <a:cs typeface="DM Sans"/>
              </a:defRPr>
            </a:defPPr>
            <a:lvl1pPr algn="l">
              <a:defRPr sz="1350" b="0">
                <a:solidFill>
                  <a:srgbClr val="FAFAFA"/>
                </a:solidFill>
                <a:latin typeface="DM Sans"/>
                <a:ea typeface="DM Sans"/>
                <a:cs typeface="DM Sans"/>
              </a:defRPr>
            </a:lvl1pPr>
            <a:lvl2pPr algn="l">
              <a:defRPr sz="1350" b="0">
                <a:solidFill>
                  <a:srgbClr val="FAFAFA"/>
                </a:solidFill>
                <a:latin typeface="DM Sans"/>
                <a:ea typeface="DM Sans"/>
                <a:cs typeface="DM Sans"/>
              </a:defRPr>
            </a:lvl2pPr>
            <a:lvl3pPr algn="l">
              <a:defRPr sz="1350" b="0">
                <a:solidFill>
                  <a:srgbClr val="FAFAFA"/>
                </a:solidFill>
                <a:latin typeface="DM Sans"/>
                <a:ea typeface="DM Sans"/>
                <a:cs typeface="DM Sans"/>
              </a:defRPr>
            </a:lvl3pPr>
            <a:lvl4pPr algn="l">
              <a:defRPr sz="1350" b="0">
                <a:solidFill>
                  <a:srgbClr val="FAFAFA"/>
                </a:solidFill>
                <a:latin typeface="DM Sans"/>
                <a:ea typeface="DM Sans"/>
                <a:cs typeface="DM Sans"/>
              </a:defRPr>
            </a:lvl4pPr>
            <a:lvl5pPr algn="l">
              <a:defRPr sz="1350" b="0">
                <a:solidFill>
                  <a:srgbClr val="FAFAFA"/>
                </a:solidFill>
                <a:latin typeface="DM Sans"/>
                <a:ea typeface="DM Sans"/>
                <a:cs typeface="DM Sans"/>
              </a:defRPr>
            </a:lvl5pPr>
            <a:lvl6pPr algn="l">
              <a:defRPr sz="1350" b="0">
                <a:solidFill>
                  <a:srgbClr val="FAFAFA"/>
                </a:solidFill>
                <a:latin typeface="DM Sans"/>
                <a:ea typeface="DM Sans"/>
                <a:cs typeface="DM Sans"/>
              </a:defRPr>
            </a:lvl6pPr>
            <a:lvl7pPr algn="l">
              <a:defRPr sz="1350" b="0">
                <a:solidFill>
                  <a:srgbClr val="FAFAFA"/>
                </a:solidFill>
                <a:latin typeface="DM Sans"/>
                <a:ea typeface="DM Sans"/>
                <a:cs typeface="DM Sans"/>
              </a:defRPr>
            </a:lvl7pPr>
            <a:lvl8pPr algn="l">
              <a:defRPr sz="1350" b="0">
                <a:solidFill>
                  <a:srgbClr val="FAFAFA"/>
                </a:solidFill>
                <a:latin typeface="DM Sans"/>
                <a:ea typeface="DM Sans"/>
                <a:cs typeface="DM Sans"/>
              </a:defRPr>
            </a:lvl8pPr>
            <a:lvl9pPr algn="l">
              <a:defRPr sz="1350" b="0">
                <a:solidFill>
                  <a:srgbClr val="FAFAFA"/>
                </a:solidFill>
                <a:latin typeface="DM Sans"/>
                <a:ea typeface="DM Sans"/>
                <a:cs typeface="DM Sans"/>
              </a:defRPr>
            </a:lvl9pPr>
          </a:lstStyle>
          <a:p xmlns:a="http://schemas.openxmlformats.org/drawingml/2006/main">
            <a:pPr algn="l">
              <a:defRPr sz="1350" b="0">
                <a:solidFill>
                  <a:srgbClr val="FAFAFA"/>
                </a:solidFill>
                <a:latin typeface="DM Sans"/>
                <a:ea typeface="DM Sans"/>
                <a:cs typeface="DM Sans"/>
              </a:defRPr>
            </a:pPr>
            <a:r>
              <a:rPr sz="1350" b="0">
                <a:solidFill>
                  <a:srgbClr val="FAFAFA"/>
                </a:solidFill>
                <a:latin typeface="DM Sans"/>
                <a:ea typeface="DM Sans"/>
                <a:cs typeface="DM Sans"/>
              </a:rPr>
              <a:t>November 2016</a:t>
            </a:r>
          </a:p>
        </p:txBody>
      </p:sp>
      <p:sp>
        <p:nvSpPr>
          <p:cNvPr id="18" name="">
            <a:extLst xmlns:a="http://schemas.openxmlformats.org/drawingml/2006/main">
              <a:ext uri="{FF2B5EF4-FFF2-40B4-BE49-F238E27FC236}">
                <a16:creationId xmlns:a16="http://schemas.microsoft.com/office/drawing/2014/main" id="{2C85A2EF-D497-46D7-87B9-DBD84C8AF02D}"/>
              </a:ext>
            </a:extLst>
          </p:cNvPr>
          <p:cNvSpPr>
            <a:spLocks xmlns:a="http://schemas.openxmlformats.org/drawingml/2006/main" noGrp="1"/>
          </p:cNvSpPr>
          <p:nvPr/>
        </p:nvSpPr>
        <p:spPr>
          <a:xfrm xmlns:a="http://schemas.openxmlformats.org/drawingml/2006/main">
            <a:off x="2124075" y="4448175"/>
            <a:ext cx="9477375" cy="95"/>
          </a:xfrm>
          <a:custGeom xmlns:a="http://schemas.openxmlformats.org/drawingml/2006/main">
            <a:pathLst>
              <a:path w="9477375" h="95">
                <a:moveTo>
                  <a:pt x="0" y="0"/>
                </a:moveTo>
                <a:lnTo>
                  <a:pt x="9477375" y="0"/>
                </a:lnTo>
              </a:path>
            </a:pathLst>
          </a:custGeom>
          <a:noFill xmlns:a="http://schemas.openxmlformats.org/drawingml/2006/main"/>
          <a:ln xmlns:a="http://schemas.openxmlformats.org/drawingml/2006/main" w="7620">
            <a:solidFill>
              <a:srgbClr val="FAFAFA">
                <a:alpha val="70000"/>
              </a:srgbClr>
            </a:solidFill>
            <a:prstDash val="solid"/>
          </a:ln>
        </p:spPr>
      </p:sp>
      <p:sp>
        <p:nvSpPr>
          <p:cNvPr id="19" name="">
            <a:extLst xmlns:a="http://schemas.openxmlformats.org/drawingml/2006/main">
              <a:ext uri="{FF2B5EF4-FFF2-40B4-BE49-F238E27FC236}">
                <a16:creationId xmlns:a16="http://schemas.microsoft.com/office/drawing/2014/main" id="{11CD26B1-82FD-4EB9-9009-BFDEBEFABCDF}"/>
              </a:ext>
            </a:extLst>
          </p:cNvPr>
          <p:cNvSpPr>
            <a:spLocks xmlns:a="http://schemas.openxmlformats.org/drawingml/2006/main" noGrp="1"/>
          </p:cNvSpPr>
          <p:nvPr/>
        </p:nvSpPr>
        <p:spPr>
          <a:xfrm xmlns:a="http://schemas.openxmlformats.org/drawingml/2006/main">
            <a:off x="2095500" y="4419600"/>
            <a:ext cx="57150" cy="57150"/>
          </a:xfrm>
          <a:prstGeom xmlns:a="http://schemas.openxmlformats.org/drawingml/2006/main" prst="ellipse">
            <a:avLst/>
          </a:prstGeom>
          <a:solidFill xmlns:a="http://schemas.openxmlformats.org/drawingml/2006/main">
            <a:srgbClr val="FAFAFA"/>
          </a:solidFill>
          <a:ln xmlns:a="http://schemas.openxmlformats.org/drawingml/2006/main" w="0">
            <a:solidFill>
              <a:srgbClr val="FAFAFA"/>
            </a:solidFill>
            <a:prstDash val="solid"/>
          </a:ln>
        </p:spPr>
      </p:sp>
      <p:sp>
        <p:nvSpPr>
          <p:cNvPr id="20" name="">
            <a:extLst xmlns:a="http://schemas.openxmlformats.org/drawingml/2006/main">
              <a:ext uri="{FF2B5EF4-FFF2-40B4-BE49-F238E27FC236}">
                <a16:creationId xmlns:a16="http://schemas.microsoft.com/office/drawing/2014/main" id="{F785C572-75AA-4FD9-998A-09D6F364B4B2}"/>
              </a:ext>
            </a:extLst>
          </p:cNvPr>
          <p:cNvSpPr>
            <a:spLocks xmlns:a="http://schemas.openxmlformats.org/drawingml/2006/main" noGrp="1"/>
          </p:cNvSpPr>
          <p:nvPr/>
        </p:nvSpPr>
        <p:spPr>
          <a:xfrm xmlns:a="http://schemas.openxmlformats.org/drawingml/2006/main">
            <a:off x="6315075" y="4419600"/>
            <a:ext cx="57150" cy="57150"/>
          </a:xfrm>
          <a:prstGeom xmlns:a="http://schemas.openxmlformats.org/drawingml/2006/main" prst="ellipse">
            <a:avLst/>
          </a:prstGeom>
          <a:solidFill xmlns:a="http://schemas.openxmlformats.org/drawingml/2006/main">
            <a:srgbClr val="FAFAFA"/>
          </a:solidFill>
          <a:ln xmlns:a="http://schemas.openxmlformats.org/drawingml/2006/main" w="0">
            <a:solidFill>
              <a:srgbClr val="FAFAFA"/>
            </a:solidFill>
            <a:prstDash val="solid"/>
          </a:ln>
        </p:spPr>
      </p:sp>
      <p:sp>
        <p:nvSpPr>
          <p:cNvPr id="21" name="">
            <a:extLst xmlns:a="http://schemas.openxmlformats.org/drawingml/2006/main">
              <a:ext uri="{FF2B5EF4-FFF2-40B4-BE49-F238E27FC236}">
                <a16:creationId xmlns:a16="http://schemas.microsoft.com/office/drawing/2014/main" id="{254D31AA-F6A2-4C44-9DC4-05D57B506DFD}"/>
              </a:ext>
            </a:extLst>
          </p:cNvPr>
          <p:cNvSpPr>
            <a:spLocks xmlns:a="http://schemas.openxmlformats.org/drawingml/2006/main" noGrp="1"/>
          </p:cNvSpPr>
          <p:nvPr/>
        </p:nvSpPr>
        <p:spPr>
          <a:xfrm xmlns:a="http://schemas.openxmlformats.org/drawingml/2006/main">
            <a:off x="11315700" y="4448175"/>
            <a:ext cx="485775" cy="95"/>
          </a:xfrm>
          <a:custGeom xmlns:a="http://schemas.openxmlformats.org/drawingml/2006/main">
            <a:pathLst>
              <a:path w="485775" h="95">
                <a:moveTo>
                  <a:pt x="0" y="0"/>
                </a:moveTo>
                <a:lnTo>
                  <a:pt x="485775" y="0"/>
                </a:lnTo>
              </a:path>
            </a:pathLst>
          </a:custGeom>
          <a:noFill xmlns:a="http://schemas.openxmlformats.org/drawingml/2006/main"/>
          <a:ln xmlns:a="http://schemas.openxmlformats.org/drawingml/2006/main" w="7144">
            <a:solidFill>
              <a:srgbClr val="FAFAFA"/>
            </a:solidFill>
            <a:prstDash val="solid"/>
          </a:ln>
        </p:spPr>
      </p:sp>
      <p:sp>
        <p:nvSpPr>
          <p:cNvPr id="22" name="">
            <a:extLst xmlns:a="http://schemas.openxmlformats.org/drawingml/2006/main">
              <a:ext uri="{FF2B5EF4-FFF2-40B4-BE49-F238E27FC236}">
                <a16:creationId xmlns:a16="http://schemas.microsoft.com/office/drawing/2014/main" id="{6A1E5050-F952-4459-BF25-AE208B0450BE}"/>
              </a:ext>
            </a:extLst>
          </p:cNvPr>
          <p:cNvSpPr>
            <a:spLocks xmlns:a="http://schemas.openxmlformats.org/drawingml/2006/main" noGrp="1"/>
          </p:cNvSpPr>
          <p:nvPr/>
        </p:nvSpPr>
        <p:spPr>
          <a:xfrm xmlns:a="http://schemas.openxmlformats.org/drawingml/2006/main">
            <a:off x="11763375" y="4419600"/>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FAFAFA"/>
            </a:solidFill>
            <a:prstDash val="solid"/>
          </a:ln>
        </p:spPr>
      </p:sp>
      <p:sp>
        <p:nvSpPr>
          <p:cNvPr id="23" name="">
            <a:extLst xmlns:a="http://schemas.openxmlformats.org/drawingml/2006/main">
              <a:ext uri="{FF2B5EF4-FFF2-40B4-BE49-F238E27FC236}">
                <a16:creationId xmlns:a16="http://schemas.microsoft.com/office/drawing/2014/main" id="{A6063861-00D5-4B7F-ADC3-FF62572FDB1D}"/>
              </a:ext>
            </a:extLst>
          </p:cNvPr>
          <p:cNvSpPr>
            <a:spLocks xmlns:a="http://schemas.openxmlformats.org/drawingml/2006/main" noGrp="1"/>
          </p:cNvSpPr>
          <p:nvPr/>
        </p:nvSpPr>
        <p:spPr>
          <a:xfrm xmlns:a="http://schemas.openxmlformats.org/drawingml/2006/main">
            <a:off x="11763375" y="4448175"/>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FAFAFA"/>
            </a:solidFill>
            <a:prstDash val="solid"/>
          </a:ln>
        </p:spPr>
      </p:sp>
      <p:sp>
        <p:nvSpPr>
          <p:cNvPr id="24" name="">
            <a:extLst xmlns:a="http://schemas.openxmlformats.org/drawingml/2006/main">
              <a:ext uri="{FF2B5EF4-FFF2-40B4-BE49-F238E27FC236}">
                <a16:creationId xmlns:a16="http://schemas.microsoft.com/office/drawing/2014/main" id="{F6331CF9-6ED9-456B-9215-32185F5689CE}"/>
              </a:ext>
            </a:extLst>
          </p:cNvPr>
          <p:cNvSpPr>
            <a:spLocks xmlns:a="http://schemas.openxmlformats.org/drawingml/2006/main" noGrp="1"/>
          </p:cNvSpPr>
          <p:nvPr/>
        </p:nvSpPr>
        <p:spPr>
          <a:xfrm xmlns:a="http://schemas.openxmlformats.org/drawingml/2006/main" rot="0">
            <a:off x="400050" y="4772025"/>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FAFAFA"/>
                </a:solidFill>
                <a:latin typeface="DM Sans"/>
                <a:ea typeface="DM Sans"/>
                <a:cs typeface="DM Sans"/>
              </a:defRPr>
            </a:defPPr>
            <a:lvl1pPr algn="l">
              <a:defRPr sz="1575" b="0">
                <a:solidFill>
                  <a:srgbClr val="FAFAFA"/>
                </a:solidFill>
                <a:latin typeface="DM Sans"/>
                <a:ea typeface="DM Sans"/>
                <a:cs typeface="DM Sans"/>
              </a:defRPr>
            </a:lvl1pPr>
            <a:lvl2pPr algn="l">
              <a:defRPr sz="1575" b="0">
                <a:solidFill>
                  <a:srgbClr val="FAFAFA"/>
                </a:solidFill>
                <a:latin typeface="DM Sans"/>
                <a:ea typeface="DM Sans"/>
                <a:cs typeface="DM Sans"/>
              </a:defRPr>
            </a:lvl2pPr>
            <a:lvl3pPr algn="l">
              <a:defRPr sz="1575" b="0">
                <a:solidFill>
                  <a:srgbClr val="FAFAFA"/>
                </a:solidFill>
                <a:latin typeface="DM Sans"/>
                <a:ea typeface="DM Sans"/>
                <a:cs typeface="DM Sans"/>
              </a:defRPr>
            </a:lvl3pPr>
            <a:lvl4pPr algn="l">
              <a:defRPr sz="1575" b="0">
                <a:solidFill>
                  <a:srgbClr val="FAFAFA"/>
                </a:solidFill>
                <a:latin typeface="DM Sans"/>
                <a:ea typeface="DM Sans"/>
                <a:cs typeface="DM Sans"/>
              </a:defRPr>
            </a:lvl4pPr>
            <a:lvl5pPr algn="l">
              <a:defRPr sz="1575" b="0">
                <a:solidFill>
                  <a:srgbClr val="FAFAFA"/>
                </a:solidFill>
                <a:latin typeface="DM Sans"/>
                <a:ea typeface="DM Sans"/>
                <a:cs typeface="DM Sans"/>
              </a:defRPr>
            </a:lvl5pPr>
            <a:lvl6pPr algn="l">
              <a:defRPr sz="1575" b="0">
                <a:solidFill>
                  <a:srgbClr val="FAFAFA"/>
                </a:solidFill>
                <a:latin typeface="DM Sans"/>
                <a:ea typeface="DM Sans"/>
                <a:cs typeface="DM Sans"/>
              </a:defRPr>
            </a:lvl6pPr>
            <a:lvl7pPr algn="l">
              <a:defRPr sz="1575" b="0">
                <a:solidFill>
                  <a:srgbClr val="FAFAFA"/>
                </a:solidFill>
                <a:latin typeface="DM Sans"/>
                <a:ea typeface="DM Sans"/>
                <a:cs typeface="DM Sans"/>
              </a:defRPr>
            </a:lvl7pPr>
            <a:lvl8pPr algn="l">
              <a:defRPr sz="1575" b="0">
                <a:solidFill>
                  <a:srgbClr val="FAFAFA"/>
                </a:solidFill>
                <a:latin typeface="DM Sans"/>
                <a:ea typeface="DM Sans"/>
                <a:cs typeface="DM Sans"/>
              </a:defRPr>
            </a:lvl8pPr>
            <a:lvl9pPr algn="l">
              <a:defRPr sz="1575" b="0">
                <a:solidFill>
                  <a:srgbClr val="FAFAFA"/>
                </a:solidFill>
                <a:latin typeface="DM Sans"/>
                <a:ea typeface="DM Sans"/>
                <a:cs typeface="DM Sans"/>
              </a:defRPr>
            </a:lvl9pPr>
          </a:lstStyle>
          <a:p xmlns:a="http://schemas.openxmlformats.org/drawingml/2006/main">
            <a:pPr algn="l">
              <a:defRPr sz="1575" b="0">
                <a:solidFill>
                  <a:srgbClr val="FAFAFA"/>
                </a:solidFill>
                <a:latin typeface="DM Sans"/>
                <a:ea typeface="DM Sans"/>
                <a:cs typeface="DM Sans"/>
              </a:defRPr>
            </a:pPr>
            <a:r>
              <a:rPr sz="1575" b="0">
                <a:solidFill>
                  <a:srgbClr val="FAFAFA"/>
                </a:solidFill>
                <a:latin typeface="DM Sans"/>
                <a:ea typeface="DM Sans"/>
                <a:cs typeface="DM Sans"/>
              </a:rPr>
              <a:t>Simulation</a:t>
            </a:r>
          </a:p>
        </p:txBody>
      </p:sp>
      <p:sp>
        <p:nvSpPr>
          <p:cNvPr id="25" name="">
            <a:extLst xmlns:a="http://schemas.openxmlformats.org/drawingml/2006/main">
              <a:ext uri="{FF2B5EF4-FFF2-40B4-BE49-F238E27FC236}">
                <a16:creationId xmlns:a16="http://schemas.microsoft.com/office/drawing/2014/main" id="{3FF3D47A-A3C7-481A-AF98-340874BCE395}"/>
              </a:ext>
            </a:extLst>
          </p:cNvPr>
          <p:cNvSpPr>
            <a:spLocks xmlns:a="http://schemas.openxmlformats.org/drawingml/2006/main" noGrp="1"/>
          </p:cNvSpPr>
          <p:nvPr/>
        </p:nvSpPr>
        <p:spPr>
          <a:xfrm xmlns:a="http://schemas.openxmlformats.org/drawingml/2006/main" rot="0">
            <a:off x="2124075" y="4657725"/>
            <a:ext cx="3905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FAFAFA"/>
                </a:solidFill>
                <a:latin typeface="DM Sans"/>
                <a:ea typeface="DM Sans"/>
                <a:cs typeface="DM Sans"/>
              </a:defRPr>
            </a:defPPr>
            <a:lvl1pPr algn="l">
              <a:defRPr sz="1350" b="0">
                <a:solidFill>
                  <a:srgbClr val="FAFAFA"/>
                </a:solidFill>
                <a:latin typeface="DM Sans"/>
                <a:ea typeface="DM Sans"/>
                <a:cs typeface="DM Sans"/>
              </a:defRPr>
            </a:lvl1pPr>
            <a:lvl2pPr algn="l">
              <a:defRPr sz="1350" b="0">
                <a:solidFill>
                  <a:srgbClr val="FAFAFA"/>
                </a:solidFill>
                <a:latin typeface="DM Sans"/>
                <a:ea typeface="DM Sans"/>
                <a:cs typeface="DM Sans"/>
              </a:defRPr>
            </a:lvl2pPr>
            <a:lvl3pPr algn="l">
              <a:defRPr sz="1350" b="0">
                <a:solidFill>
                  <a:srgbClr val="FAFAFA"/>
                </a:solidFill>
                <a:latin typeface="DM Sans"/>
                <a:ea typeface="DM Sans"/>
                <a:cs typeface="DM Sans"/>
              </a:defRPr>
            </a:lvl3pPr>
            <a:lvl4pPr algn="l">
              <a:defRPr sz="1350" b="0">
                <a:solidFill>
                  <a:srgbClr val="FAFAFA"/>
                </a:solidFill>
                <a:latin typeface="DM Sans"/>
                <a:ea typeface="DM Sans"/>
                <a:cs typeface="DM Sans"/>
              </a:defRPr>
            </a:lvl4pPr>
            <a:lvl5pPr algn="l">
              <a:defRPr sz="1350" b="0">
                <a:solidFill>
                  <a:srgbClr val="FAFAFA"/>
                </a:solidFill>
                <a:latin typeface="DM Sans"/>
                <a:ea typeface="DM Sans"/>
                <a:cs typeface="DM Sans"/>
              </a:defRPr>
            </a:lvl5pPr>
            <a:lvl6pPr algn="l">
              <a:defRPr sz="1350" b="0">
                <a:solidFill>
                  <a:srgbClr val="FAFAFA"/>
                </a:solidFill>
                <a:latin typeface="DM Sans"/>
                <a:ea typeface="DM Sans"/>
                <a:cs typeface="DM Sans"/>
              </a:defRPr>
            </a:lvl6pPr>
            <a:lvl7pPr algn="l">
              <a:defRPr sz="1350" b="0">
                <a:solidFill>
                  <a:srgbClr val="FAFAFA"/>
                </a:solidFill>
                <a:latin typeface="DM Sans"/>
                <a:ea typeface="DM Sans"/>
                <a:cs typeface="DM Sans"/>
              </a:defRPr>
            </a:lvl7pPr>
            <a:lvl8pPr algn="l">
              <a:defRPr sz="1350" b="0">
                <a:solidFill>
                  <a:srgbClr val="FAFAFA"/>
                </a:solidFill>
                <a:latin typeface="DM Sans"/>
                <a:ea typeface="DM Sans"/>
                <a:cs typeface="DM Sans"/>
              </a:defRPr>
            </a:lvl8pPr>
            <a:lvl9pPr algn="l">
              <a:defRPr sz="1350" b="0">
                <a:solidFill>
                  <a:srgbClr val="FAFAFA"/>
                </a:solidFill>
                <a:latin typeface="DM Sans"/>
                <a:ea typeface="DM Sans"/>
                <a:cs typeface="DM Sans"/>
              </a:defRPr>
            </a:lvl9pPr>
          </a:lstStyle>
          <a:p xmlns:a="http://schemas.openxmlformats.org/drawingml/2006/main">
            <a:pPr algn="l">
              <a:defRPr sz="1350" b="0">
                <a:solidFill>
                  <a:srgbClr val="FAFAFA"/>
                </a:solidFill>
                <a:latin typeface="DM Sans"/>
                <a:ea typeface="DM Sans"/>
                <a:cs typeface="DM Sans"/>
              </a:defRPr>
            </a:pPr>
            <a:r>
              <a:rPr sz="1350" b="0">
                <a:solidFill>
                  <a:srgbClr val="FAFAFA"/>
                </a:solidFill>
                <a:latin typeface="DM Sans"/>
                <a:ea typeface="DM Sans"/>
                <a:cs typeface="DM Sans"/>
              </a:rPr>
              <a:t>Five simulated days</a:t>
            </a:r>
          </a:p>
        </p:txBody>
      </p:sp>
      <p:sp>
        <p:nvSpPr>
          <p:cNvPr id="26" name="">
            <a:extLst xmlns:a="http://schemas.openxmlformats.org/drawingml/2006/main">
              <a:ext uri="{FF2B5EF4-FFF2-40B4-BE49-F238E27FC236}">
                <a16:creationId xmlns:a16="http://schemas.microsoft.com/office/drawing/2014/main" id="{A6CD3610-6DE7-47F1-8A5D-05D870589608}"/>
              </a:ext>
            </a:extLst>
          </p:cNvPr>
          <p:cNvSpPr>
            <a:spLocks xmlns:a="http://schemas.openxmlformats.org/drawingml/2006/main" noGrp="1"/>
          </p:cNvSpPr>
          <p:nvPr/>
        </p:nvSpPr>
        <p:spPr>
          <a:xfrm xmlns:a="http://schemas.openxmlformats.org/drawingml/2006/main" rot="0">
            <a:off x="8477250" y="4657725"/>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FAFAFA"/>
                </a:solidFill>
                <a:latin typeface="DM Sans"/>
                <a:ea typeface="DM Sans"/>
                <a:cs typeface="DM Sans"/>
              </a:defRPr>
            </a:defPPr>
            <a:lvl1pPr algn="l">
              <a:defRPr sz="1050" b="0">
                <a:solidFill>
                  <a:srgbClr val="FAFAFA"/>
                </a:solidFill>
                <a:latin typeface="DM Sans"/>
                <a:ea typeface="DM Sans"/>
                <a:cs typeface="DM Sans"/>
              </a:defRPr>
            </a:lvl1pPr>
            <a:lvl2pPr algn="l">
              <a:defRPr sz="1050" b="0">
                <a:solidFill>
                  <a:srgbClr val="FAFAFA"/>
                </a:solidFill>
                <a:latin typeface="DM Sans"/>
                <a:ea typeface="DM Sans"/>
                <a:cs typeface="DM Sans"/>
              </a:defRPr>
            </a:lvl2pPr>
            <a:lvl3pPr algn="l">
              <a:defRPr sz="1050" b="0">
                <a:solidFill>
                  <a:srgbClr val="FAFAFA"/>
                </a:solidFill>
                <a:latin typeface="DM Sans"/>
                <a:ea typeface="DM Sans"/>
                <a:cs typeface="DM Sans"/>
              </a:defRPr>
            </a:lvl3pPr>
            <a:lvl4pPr algn="l">
              <a:defRPr sz="1050" b="0">
                <a:solidFill>
                  <a:srgbClr val="FAFAFA"/>
                </a:solidFill>
                <a:latin typeface="DM Sans"/>
                <a:ea typeface="DM Sans"/>
                <a:cs typeface="DM Sans"/>
              </a:defRPr>
            </a:lvl4pPr>
            <a:lvl5pPr algn="l">
              <a:defRPr sz="1050" b="0">
                <a:solidFill>
                  <a:srgbClr val="FAFAFA"/>
                </a:solidFill>
                <a:latin typeface="DM Sans"/>
                <a:ea typeface="DM Sans"/>
                <a:cs typeface="DM Sans"/>
              </a:defRPr>
            </a:lvl5pPr>
            <a:lvl6pPr algn="l">
              <a:defRPr sz="1050" b="0">
                <a:solidFill>
                  <a:srgbClr val="FAFAFA"/>
                </a:solidFill>
                <a:latin typeface="DM Sans"/>
                <a:ea typeface="DM Sans"/>
                <a:cs typeface="DM Sans"/>
              </a:defRPr>
            </a:lvl6pPr>
            <a:lvl7pPr algn="l">
              <a:defRPr sz="1050" b="0">
                <a:solidFill>
                  <a:srgbClr val="FAFAFA"/>
                </a:solidFill>
                <a:latin typeface="DM Sans"/>
                <a:ea typeface="DM Sans"/>
                <a:cs typeface="DM Sans"/>
              </a:defRPr>
            </a:lvl7pPr>
            <a:lvl8pPr algn="l">
              <a:defRPr sz="1050" b="0">
                <a:solidFill>
                  <a:srgbClr val="FAFAFA"/>
                </a:solidFill>
                <a:latin typeface="DM Sans"/>
                <a:ea typeface="DM Sans"/>
                <a:cs typeface="DM Sans"/>
              </a:defRPr>
            </a:lvl8pPr>
            <a:lvl9pPr algn="l">
              <a:defRPr sz="1050" b="0">
                <a:solidFill>
                  <a:srgbClr val="FAFAFA"/>
                </a:solidFill>
                <a:latin typeface="DM Sans"/>
                <a:ea typeface="DM Sans"/>
                <a:cs typeface="DM Sans"/>
              </a:defRPr>
            </a:lvl9pPr>
          </a:lstStyle>
          <a:p xmlns:a="http://schemas.openxmlformats.org/drawingml/2006/main">
            <a:pPr algn="l">
              <a:defRPr sz="1050" b="0">
                <a:solidFill>
                  <a:srgbClr val="FAFAFA"/>
                </a:solidFill>
                <a:latin typeface="DM Sans"/>
                <a:ea typeface="DM Sans"/>
                <a:cs typeface="DM Sans"/>
              </a:defRPr>
            </a:pPr>
            <a:r>
              <a:rPr sz="1050" b="0">
                <a:solidFill>
                  <a:srgbClr val="FAFAFA"/>
                </a:solidFill>
                <a:latin typeface="DM Sans"/>
                <a:ea typeface="DM Sans"/>
                <a:cs typeface="DM Sans"/>
              </a:rPr>
              <a:t>News at day 3</a:t>
            </a:r>
          </a:p>
        </p:txBody>
      </p:sp>
      <p:sp>
        <p:nvSpPr>
          <p:cNvPr id="27" name="">
            <a:extLst xmlns:a="http://schemas.openxmlformats.org/drawingml/2006/main">
              <a:ext uri="{FF2B5EF4-FFF2-40B4-BE49-F238E27FC236}">
                <a16:creationId xmlns:a16="http://schemas.microsoft.com/office/drawing/2014/main" id="{40984D0D-EC88-49A3-A365-6A85541C3EEA}"/>
              </a:ext>
            </a:extLst>
          </p:cNvPr>
          <p:cNvSpPr>
            <a:spLocks xmlns:a="http://schemas.openxmlformats.org/drawingml/2006/main" noGrp="1"/>
          </p:cNvSpPr>
          <p:nvPr/>
        </p:nvSpPr>
        <p:spPr>
          <a:xfrm xmlns:a="http://schemas.openxmlformats.org/drawingml/2006/main">
            <a:off x="2124075" y="5105400"/>
            <a:ext cx="9677400" cy="95"/>
          </a:xfrm>
          <a:custGeom xmlns:a="http://schemas.openxmlformats.org/drawingml/2006/main">
            <a:pathLst>
              <a:path w="9677400" h="95">
                <a:moveTo>
                  <a:pt x="0" y="0"/>
                </a:moveTo>
                <a:lnTo>
                  <a:pt x="9677400" y="0"/>
                </a:lnTo>
              </a:path>
            </a:pathLst>
          </a:custGeom>
          <a:noFill xmlns:a="http://schemas.openxmlformats.org/drawingml/2006/main"/>
          <a:ln xmlns:a="http://schemas.openxmlformats.org/drawingml/2006/main" w="7620">
            <a:solidFill>
              <a:srgbClr val="FAFAFA">
                <a:alpha val="75000"/>
              </a:srgbClr>
            </a:solidFill>
            <a:prstDash val="solid"/>
          </a:ln>
        </p:spPr>
      </p:sp>
      <p:sp>
        <p:nvSpPr>
          <p:cNvPr id="28" name="">
            <a:extLst xmlns:a="http://schemas.openxmlformats.org/drawingml/2006/main">
              <a:ext uri="{FF2B5EF4-FFF2-40B4-BE49-F238E27FC236}">
                <a16:creationId xmlns:a16="http://schemas.microsoft.com/office/drawing/2014/main" id="{983AC4DB-EDAD-4E05-BF75-72340EA998DF}"/>
              </a:ext>
            </a:extLst>
          </p:cNvPr>
          <p:cNvSpPr>
            <a:spLocks xmlns:a="http://schemas.openxmlformats.org/drawingml/2006/main" noGrp="1"/>
          </p:cNvSpPr>
          <p:nvPr/>
        </p:nvSpPr>
        <p:spPr>
          <a:xfrm xmlns:a="http://schemas.openxmlformats.org/drawingml/2006/main">
            <a:off x="225742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29" name="">
            <a:extLst xmlns:a="http://schemas.openxmlformats.org/drawingml/2006/main">
              <a:ext uri="{FF2B5EF4-FFF2-40B4-BE49-F238E27FC236}">
                <a16:creationId xmlns:a16="http://schemas.microsoft.com/office/drawing/2014/main" id="{A114EA26-86FA-4BEA-8A94-8BA66937128B}"/>
              </a:ext>
            </a:extLst>
          </p:cNvPr>
          <p:cNvSpPr>
            <a:spLocks xmlns:a="http://schemas.openxmlformats.org/drawingml/2006/main" noGrp="1"/>
          </p:cNvSpPr>
          <p:nvPr/>
        </p:nvSpPr>
        <p:spPr>
          <a:xfrm xmlns:a="http://schemas.openxmlformats.org/drawingml/2006/main" rot="0">
            <a:off x="194310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1</a:t>
            </a:r>
          </a:p>
        </p:txBody>
      </p:sp>
      <p:sp>
        <p:nvSpPr>
          <p:cNvPr id="30" name="">
            <a:extLst xmlns:a="http://schemas.openxmlformats.org/drawingml/2006/main">
              <a:ext uri="{FF2B5EF4-FFF2-40B4-BE49-F238E27FC236}">
                <a16:creationId xmlns:a16="http://schemas.microsoft.com/office/drawing/2014/main" id="{ECD7BBE0-24D9-4D5C-87FB-4DD29AA4C467}"/>
              </a:ext>
            </a:extLst>
          </p:cNvPr>
          <p:cNvSpPr>
            <a:spLocks xmlns:a="http://schemas.openxmlformats.org/drawingml/2006/main" noGrp="1"/>
          </p:cNvSpPr>
          <p:nvPr/>
        </p:nvSpPr>
        <p:spPr>
          <a:xfrm xmlns:a="http://schemas.openxmlformats.org/drawingml/2006/main">
            <a:off x="456247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31" name="">
            <a:extLst xmlns:a="http://schemas.openxmlformats.org/drawingml/2006/main">
              <a:ext uri="{FF2B5EF4-FFF2-40B4-BE49-F238E27FC236}">
                <a16:creationId xmlns:a16="http://schemas.microsoft.com/office/drawing/2014/main" id="{3F01F83F-1166-4EDF-94F0-48CFC278CA5D}"/>
              </a:ext>
            </a:extLst>
          </p:cNvPr>
          <p:cNvSpPr>
            <a:spLocks xmlns:a="http://schemas.openxmlformats.org/drawingml/2006/main" noGrp="1"/>
          </p:cNvSpPr>
          <p:nvPr/>
        </p:nvSpPr>
        <p:spPr>
          <a:xfrm xmlns:a="http://schemas.openxmlformats.org/drawingml/2006/main" rot="0">
            <a:off x="424815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2</a:t>
            </a:r>
          </a:p>
        </p:txBody>
      </p:sp>
      <p:sp>
        <p:nvSpPr>
          <p:cNvPr id="32" name="">
            <a:extLst xmlns:a="http://schemas.openxmlformats.org/drawingml/2006/main">
              <a:ext uri="{FF2B5EF4-FFF2-40B4-BE49-F238E27FC236}">
                <a16:creationId xmlns:a16="http://schemas.microsoft.com/office/drawing/2014/main" id="{DAA24838-A92F-45BF-A765-8F3EE9649A1D}"/>
              </a:ext>
            </a:extLst>
          </p:cNvPr>
          <p:cNvSpPr>
            <a:spLocks xmlns:a="http://schemas.openxmlformats.org/drawingml/2006/main" noGrp="1"/>
          </p:cNvSpPr>
          <p:nvPr/>
        </p:nvSpPr>
        <p:spPr>
          <a:xfrm xmlns:a="http://schemas.openxmlformats.org/drawingml/2006/main">
            <a:off x="686752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33" name="">
            <a:extLst xmlns:a="http://schemas.openxmlformats.org/drawingml/2006/main">
              <a:ext uri="{FF2B5EF4-FFF2-40B4-BE49-F238E27FC236}">
                <a16:creationId xmlns:a16="http://schemas.microsoft.com/office/drawing/2014/main" id="{356A14C4-9F6A-48D9-8A54-57D1FEC7B090}"/>
              </a:ext>
            </a:extLst>
          </p:cNvPr>
          <p:cNvSpPr>
            <a:spLocks xmlns:a="http://schemas.openxmlformats.org/drawingml/2006/main" noGrp="1"/>
          </p:cNvSpPr>
          <p:nvPr/>
        </p:nvSpPr>
        <p:spPr>
          <a:xfrm xmlns:a="http://schemas.openxmlformats.org/drawingml/2006/main" rot="0">
            <a:off x="655320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22C55E"/>
                </a:solidFill>
                <a:latin typeface="DM Sans"/>
                <a:ea typeface="DM Sans"/>
                <a:cs typeface="DM Sans"/>
              </a:defRPr>
            </a:defPPr>
            <a:lvl1pPr algn="ctr">
              <a:defRPr sz="750" b="0">
                <a:solidFill>
                  <a:srgbClr val="22C55E"/>
                </a:solidFill>
                <a:latin typeface="DM Sans"/>
                <a:ea typeface="DM Sans"/>
                <a:cs typeface="DM Sans"/>
              </a:defRPr>
            </a:lvl1pPr>
            <a:lvl2pPr algn="ctr">
              <a:defRPr sz="750" b="0">
                <a:solidFill>
                  <a:srgbClr val="22C55E"/>
                </a:solidFill>
                <a:latin typeface="DM Sans"/>
                <a:ea typeface="DM Sans"/>
                <a:cs typeface="DM Sans"/>
              </a:defRPr>
            </a:lvl2pPr>
            <a:lvl3pPr algn="ctr">
              <a:defRPr sz="750" b="0">
                <a:solidFill>
                  <a:srgbClr val="22C55E"/>
                </a:solidFill>
                <a:latin typeface="DM Sans"/>
                <a:ea typeface="DM Sans"/>
                <a:cs typeface="DM Sans"/>
              </a:defRPr>
            </a:lvl3pPr>
            <a:lvl4pPr algn="ctr">
              <a:defRPr sz="750" b="0">
                <a:solidFill>
                  <a:srgbClr val="22C55E"/>
                </a:solidFill>
                <a:latin typeface="DM Sans"/>
                <a:ea typeface="DM Sans"/>
                <a:cs typeface="DM Sans"/>
              </a:defRPr>
            </a:lvl4pPr>
            <a:lvl5pPr algn="ctr">
              <a:defRPr sz="750" b="0">
                <a:solidFill>
                  <a:srgbClr val="22C55E"/>
                </a:solidFill>
                <a:latin typeface="DM Sans"/>
                <a:ea typeface="DM Sans"/>
                <a:cs typeface="DM Sans"/>
              </a:defRPr>
            </a:lvl5pPr>
            <a:lvl6pPr algn="ctr">
              <a:defRPr sz="750" b="0">
                <a:solidFill>
                  <a:srgbClr val="22C55E"/>
                </a:solidFill>
                <a:latin typeface="DM Sans"/>
                <a:ea typeface="DM Sans"/>
                <a:cs typeface="DM Sans"/>
              </a:defRPr>
            </a:lvl6pPr>
            <a:lvl7pPr algn="ctr">
              <a:defRPr sz="750" b="0">
                <a:solidFill>
                  <a:srgbClr val="22C55E"/>
                </a:solidFill>
                <a:latin typeface="DM Sans"/>
                <a:ea typeface="DM Sans"/>
                <a:cs typeface="DM Sans"/>
              </a:defRPr>
            </a:lvl7pPr>
            <a:lvl8pPr algn="ctr">
              <a:defRPr sz="750" b="0">
                <a:solidFill>
                  <a:srgbClr val="22C55E"/>
                </a:solidFill>
                <a:latin typeface="DM Sans"/>
                <a:ea typeface="DM Sans"/>
                <a:cs typeface="DM Sans"/>
              </a:defRPr>
            </a:lvl8pPr>
            <a:lvl9pPr algn="ctr">
              <a:defRPr sz="750" b="0">
                <a:solidFill>
                  <a:srgbClr val="22C55E"/>
                </a:solidFill>
                <a:latin typeface="DM Sans"/>
                <a:ea typeface="DM Sans"/>
                <a:cs typeface="DM Sans"/>
              </a:defRPr>
            </a:lvl9pPr>
          </a:lstStyle>
          <a:p xmlns:a="http://schemas.openxmlformats.org/drawingml/2006/main">
            <a:pPr algn="ctr">
              <a:defRPr sz="750" b="0">
                <a:solidFill>
                  <a:srgbClr val="22C55E"/>
                </a:solidFill>
                <a:latin typeface="DM Sans"/>
                <a:ea typeface="DM Sans"/>
                <a:cs typeface="DM Sans"/>
              </a:defRPr>
            </a:pPr>
            <a:r>
              <a:rPr sz="750" b="0">
                <a:solidFill>
                  <a:srgbClr val="22C55E"/>
                </a:solidFill>
                <a:latin typeface="DM Sans"/>
                <a:ea typeface="DM Sans"/>
                <a:cs typeface="DM Sans"/>
              </a:rPr>
              <a:t>DAY 3</a:t>
            </a:r>
          </a:p>
        </p:txBody>
      </p:sp>
      <p:sp>
        <p:nvSpPr>
          <p:cNvPr id="34" name="">
            <a:extLst xmlns:a="http://schemas.openxmlformats.org/drawingml/2006/main">
              <a:ext uri="{FF2B5EF4-FFF2-40B4-BE49-F238E27FC236}">
                <a16:creationId xmlns:a16="http://schemas.microsoft.com/office/drawing/2014/main" id="{2196DEAD-9193-45CD-B1B3-A254E713F273}"/>
              </a:ext>
            </a:extLst>
          </p:cNvPr>
          <p:cNvSpPr>
            <a:spLocks xmlns:a="http://schemas.openxmlformats.org/drawingml/2006/main" noGrp="1"/>
          </p:cNvSpPr>
          <p:nvPr/>
        </p:nvSpPr>
        <p:spPr>
          <a:xfrm xmlns:a="http://schemas.openxmlformats.org/drawingml/2006/main">
            <a:off x="917257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35" name="">
            <a:extLst xmlns:a="http://schemas.openxmlformats.org/drawingml/2006/main">
              <a:ext uri="{FF2B5EF4-FFF2-40B4-BE49-F238E27FC236}">
                <a16:creationId xmlns:a16="http://schemas.microsoft.com/office/drawing/2014/main" id="{D6BD276F-2D30-4B69-9002-B0462BCA703C}"/>
              </a:ext>
            </a:extLst>
          </p:cNvPr>
          <p:cNvSpPr>
            <a:spLocks xmlns:a="http://schemas.openxmlformats.org/drawingml/2006/main" noGrp="1"/>
          </p:cNvSpPr>
          <p:nvPr/>
        </p:nvSpPr>
        <p:spPr>
          <a:xfrm xmlns:a="http://schemas.openxmlformats.org/drawingml/2006/main" rot="0">
            <a:off x="885825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4</a:t>
            </a:r>
          </a:p>
        </p:txBody>
      </p:sp>
      <p:sp>
        <p:nvSpPr>
          <p:cNvPr id="36" name="">
            <a:extLst xmlns:a="http://schemas.openxmlformats.org/drawingml/2006/main">
              <a:ext uri="{FF2B5EF4-FFF2-40B4-BE49-F238E27FC236}">
                <a16:creationId xmlns:a16="http://schemas.microsoft.com/office/drawing/2014/main" id="{2E04E0E0-C2D6-4E7F-A1B9-95326BE55C90}"/>
              </a:ext>
            </a:extLst>
          </p:cNvPr>
          <p:cNvSpPr>
            <a:spLocks xmlns:a="http://schemas.openxmlformats.org/drawingml/2006/main" noGrp="1"/>
          </p:cNvSpPr>
          <p:nvPr/>
        </p:nvSpPr>
        <p:spPr>
          <a:xfrm xmlns:a="http://schemas.openxmlformats.org/drawingml/2006/main">
            <a:off x="1147762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37" name="">
            <a:extLst xmlns:a="http://schemas.openxmlformats.org/drawingml/2006/main">
              <a:ext uri="{FF2B5EF4-FFF2-40B4-BE49-F238E27FC236}">
                <a16:creationId xmlns:a16="http://schemas.microsoft.com/office/drawing/2014/main" id="{A351628A-FDE4-4B9A-A852-5C2C51486B58}"/>
              </a:ext>
            </a:extLst>
          </p:cNvPr>
          <p:cNvSpPr>
            <a:spLocks xmlns:a="http://schemas.openxmlformats.org/drawingml/2006/main" noGrp="1"/>
          </p:cNvSpPr>
          <p:nvPr/>
        </p:nvSpPr>
        <p:spPr>
          <a:xfrm xmlns:a="http://schemas.openxmlformats.org/drawingml/2006/main" rot="0">
            <a:off x="1116330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5</a:t>
            </a:r>
          </a:p>
        </p:txBody>
      </p:sp>
      <p:sp>
        <p:nvSpPr>
          <p:cNvPr id="38" name="">
            <a:extLst xmlns:a="http://schemas.openxmlformats.org/drawingml/2006/main">
              <a:ext uri="{FF2B5EF4-FFF2-40B4-BE49-F238E27FC236}">
                <a16:creationId xmlns:a16="http://schemas.microsoft.com/office/drawing/2014/main" id="{41CB2E9C-D0BA-4315-845E-BD85038B1F21}"/>
              </a:ext>
            </a:extLst>
          </p:cNvPr>
          <p:cNvSpPr>
            <a:spLocks xmlns:a="http://schemas.openxmlformats.org/drawingml/2006/main" noGrp="1"/>
          </p:cNvSpPr>
          <p:nvPr/>
        </p:nvSpPr>
        <p:spPr>
          <a:xfrm xmlns:a="http://schemas.openxmlformats.org/drawingml/2006/main" rot="0">
            <a:off x="400050" y="57531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FAFAFA"/>
                </a:solidFill>
                <a:latin typeface="DM Sans"/>
                <a:ea typeface="DM Sans"/>
                <a:cs typeface="DM Sans"/>
              </a:defRPr>
            </a:defPPr>
            <a:lvl1pPr algn="l">
              <a:defRPr sz="1575" b="0">
                <a:solidFill>
                  <a:srgbClr val="FAFAFA"/>
                </a:solidFill>
                <a:latin typeface="DM Sans"/>
                <a:ea typeface="DM Sans"/>
                <a:cs typeface="DM Sans"/>
              </a:defRPr>
            </a:lvl1pPr>
            <a:lvl2pPr algn="l">
              <a:defRPr sz="1575" b="0">
                <a:solidFill>
                  <a:srgbClr val="FAFAFA"/>
                </a:solidFill>
                <a:latin typeface="DM Sans"/>
                <a:ea typeface="DM Sans"/>
                <a:cs typeface="DM Sans"/>
              </a:defRPr>
            </a:lvl2pPr>
            <a:lvl3pPr algn="l">
              <a:defRPr sz="1575" b="0">
                <a:solidFill>
                  <a:srgbClr val="FAFAFA"/>
                </a:solidFill>
                <a:latin typeface="DM Sans"/>
                <a:ea typeface="DM Sans"/>
                <a:cs typeface="DM Sans"/>
              </a:defRPr>
            </a:lvl3pPr>
            <a:lvl4pPr algn="l">
              <a:defRPr sz="1575" b="0">
                <a:solidFill>
                  <a:srgbClr val="FAFAFA"/>
                </a:solidFill>
                <a:latin typeface="DM Sans"/>
                <a:ea typeface="DM Sans"/>
                <a:cs typeface="DM Sans"/>
              </a:defRPr>
            </a:lvl4pPr>
            <a:lvl5pPr algn="l">
              <a:defRPr sz="1575" b="0">
                <a:solidFill>
                  <a:srgbClr val="FAFAFA"/>
                </a:solidFill>
                <a:latin typeface="DM Sans"/>
                <a:ea typeface="DM Sans"/>
                <a:cs typeface="DM Sans"/>
              </a:defRPr>
            </a:lvl5pPr>
            <a:lvl6pPr algn="l">
              <a:defRPr sz="1575" b="0">
                <a:solidFill>
                  <a:srgbClr val="FAFAFA"/>
                </a:solidFill>
                <a:latin typeface="DM Sans"/>
                <a:ea typeface="DM Sans"/>
                <a:cs typeface="DM Sans"/>
              </a:defRPr>
            </a:lvl6pPr>
            <a:lvl7pPr algn="l">
              <a:defRPr sz="1575" b="0">
                <a:solidFill>
                  <a:srgbClr val="FAFAFA"/>
                </a:solidFill>
                <a:latin typeface="DM Sans"/>
                <a:ea typeface="DM Sans"/>
                <a:cs typeface="DM Sans"/>
              </a:defRPr>
            </a:lvl7pPr>
            <a:lvl8pPr algn="l">
              <a:defRPr sz="1575" b="0">
                <a:solidFill>
                  <a:srgbClr val="FAFAFA"/>
                </a:solidFill>
                <a:latin typeface="DM Sans"/>
                <a:ea typeface="DM Sans"/>
                <a:cs typeface="DM Sans"/>
              </a:defRPr>
            </a:lvl8pPr>
            <a:lvl9pPr algn="l">
              <a:defRPr sz="1575" b="0">
                <a:solidFill>
                  <a:srgbClr val="FAFAFA"/>
                </a:solidFill>
                <a:latin typeface="DM Sans"/>
                <a:ea typeface="DM Sans"/>
                <a:cs typeface="DM Sans"/>
              </a:defRPr>
            </a:lvl9pPr>
          </a:lstStyle>
          <a:p xmlns:a="http://schemas.openxmlformats.org/drawingml/2006/main">
            <a:pPr algn="l">
              <a:defRPr sz="1575" b="0">
                <a:solidFill>
                  <a:srgbClr val="FAFAFA"/>
                </a:solidFill>
                <a:latin typeface="DM Sans"/>
                <a:ea typeface="DM Sans"/>
                <a:cs typeface="DM Sans"/>
              </a:defRPr>
            </a:pPr>
            <a:r>
              <a:rPr sz="1575" b="0">
                <a:solidFill>
                  <a:srgbClr val="FAFAFA"/>
                </a:solidFill>
                <a:latin typeface="DM Sans"/>
                <a:ea typeface="DM Sans"/>
                <a:cs typeface="DM Sans"/>
              </a:rPr>
              <a:t>Assignment</a:t>
            </a:r>
          </a:p>
        </p:txBody>
      </p:sp>
      <p:sp>
        <p:nvSpPr>
          <p:cNvPr id="39" name="">
            <a:extLst xmlns:a="http://schemas.openxmlformats.org/drawingml/2006/main">
              <a:ext uri="{FF2B5EF4-FFF2-40B4-BE49-F238E27FC236}">
                <a16:creationId xmlns:a16="http://schemas.microsoft.com/office/drawing/2014/main" id="{68404AD7-060A-48A7-9133-1A7A9098FEF9}"/>
              </a:ext>
            </a:extLst>
          </p:cNvPr>
          <p:cNvSpPr>
            <a:spLocks xmlns:a="http://schemas.openxmlformats.org/drawingml/2006/main" noGrp="1"/>
          </p:cNvSpPr>
          <p:nvPr/>
        </p:nvSpPr>
        <p:spPr>
          <a:xfrm xmlns:a="http://schemas.openxmlformats.org/drawingml/2006/main" rot="0">
            <a:off x="2124075" y="56007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HOLDING PERIOD</a:t>
            </a:r>
          </a:p>
        </p:txBody>
      </p:sp>
      <p:sp>
        <p:nvSpPr>
          <p:cNvPr id="40" name="">
            <a:extLst xmlns:a="http://schemas.openxmlformats.org/drawingml/2006/main">
              <a:ext uri="{FF2B5EF4-FFF2-40B4-BE49-F238E27FC236}">
                <a16:creationId xmlns:a16="http://schemas.microsoft.com/office/drawing/2014/main" id="{5C9D6FDC-45A4-4EB6-BAC9-BD756A0978CD}"/>
              </a:ext>
            </a:extLst>
          </p:cNvPr>
          <p:cNvSpPr>
            <a:spLocks xmlns:a="http://schemas.openxmlformats.org/drawingml/2006/main" noGrp="1"/>
          </p:cNvSpPr>
          <p:nvPr/>
        </p:nvSpPr>
        <p:spPr>
          <a:xfrm xmlns:a="http://schemas.openxmlformats.org/drawingml/2006/main">
            <a:off x="2124075" y="5962650"/>
            <a:ext cx="9677400" cy="95"/>
          </a:xfrm>
          <a:custGeom xmlns:a="http://schemas.openxmlformats.org/drawingml/2006/main">
            <a:pathLst>
              <a:path w="9677400" h="95">
                <a:moveTo>
                  <a:pt x="0" y="0"/>
                </a:moveTo>
                <a:lnTo>
                  <a:pt x="9677400" y="0"/>
                </a:lnTo>
              </a:path>
            </a:pathLst>
          </a:custGeom>
          <a:noFill xmlns:a="http://schemas.openxmlformats.org/drawingml/2006/main"/>
          <a:ln xmlns:a="http://schemas.openxmlformats.org/drawingml/2006/main" w="7620">
            <a:solidFill>
              <a:srgbClr val="FAFAFA">
                <a:alpha val="75000"/>
              </a:srgbClr>
            </a:solidFill>
            <a:prstDash val="solid"/>
          </a:ln>
        </p:spPr>
      </p:sp>
      <p:sp>
        <p:nvSpPr>
          <p:cNvPr id="41" name="">
            <a:extLst xmlns:a="http://schemas.openxmlformats.org/drawingml/2006/main">
              <a:ext uri="{FF2B5EF4-FFF2-40B4-BE49-F238E27FC236}">
                <a16:creationId xmlns:a16="http://schemas.microsoft.com/office/drawing/2014/main" id="{C9F07FB4-EF95-4FFB-B8BB-2B154B4874AF}"/>
              </a:ext>
            </a:extLst>
          </p:cNvPr>
          <p:cNvSpPr>
            <a:spLocks xmlns:a="http://schemas.openxmlformats.org/drawingml/2006/main" noGrp="1"/>
          </p:cNvSpPr>
          <p:nvPr/>
        </p:nvSpPr>
        <p:spPr>
          <a:xfrm xmlns:a="http://schemas.openxmlformats.org/drawingml/2006/main">
            <a:off x="3733800" y="5905500"/>
            <a:ext cx="95" cy="114300"/>
          </a:xfrm>
          <a:custGeom xmlns:a="http://schemas.openxmlformats.org/drawingml/2006/main">
            <a:pathLst>
              <a:path w="95" h="114300">
                <a:moveTo>
                  <a:pt x="0" y="0"/>
                </a:moveTo>
                <a:lnTo>
                  <a:pt x="0" y="114300"/>
                </a:lnTo>
              </a:path>
            </a:pathLst>
          </a:custGeom>
          <a:noFill xmlns:a="http://schemas.openxmlformats.org/drawingml/2006/main"/>
          <a:ln xmlns:a="http://schemas.openxmlformats.org/drawingml/2006/main" w="7620">
            <a:solidFill>
              <a:srgbClr val="FAFAFA"/>
            </a:solidFill>
            <a:prstDash val="solid"/>
          </a:ln>
        </p:spPr>
      </p:sp>
      <p:sp>
        <p:nvSpPr>
          <p:cNvPr id="42" name="">
            <a:extLst xmlns:a="http://schemas.openxmlformats.org/drawingml/2006/main">
              <a:ext uri="{FF2B5EF4-FFF2-40B4-BE49-F238E27FC236}">
                <a16:creationId xmlns:a16="http://schemas.microsoft.com/office/drawing/2014/main" id="{341FBA24-1214-42A1-AAC5-DAD5F3AF0B22}"/>
              </a:ext>
            </a:extLst>
          </p:cNvPr>
          <p:cNvSpPr>
            <a:spLocks xmlns:a="http://schemas.openxmlformats.org/drawingml/2006/main" noGrp="1"/>
          </p:cNvSpPr>
          <p:nvPr/>
        </p:nvSpPr>
        <p:spPr>
          <a:xfrm xmlns:a="http://schemas.openxmlformats.org/drawingml/2006/main" rot="0">
            <a:off x="3295650" y="6134100"/>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FAFAFA"/>
                </a:solidFill>
                <a:latin typeface="DM Sans"/>
                <a:ea typeface="DM Sans"/>
                <a:cs typeface="DM Sans"/>
              </a:defRPr>
            </a:defPPr>
            <a:lvl1pPr algn="ctr">
              <a:defRPr sz="900" b="0">
                <a:solidFill>
                  <a:srgbClr val="FAFAFA"/>
                </a:solidFill>
                <a:latin typeface="DM Sans"/>
                <a:ea typeface="DM Sans"/>
                <a:cs typeface="DM Sans"/>
              </a:defRPr>
            </a:lvl1pPr>
            <a:lvl2pPr algn="ctr">
              <a:defRPr sz="900" b="0">
                <a:solidFill>
                  <a:srgbClr val="FAFAFA"/>
                </a:solidFill>
                <a:latin typeface="DM Sans"/>
                <a:ea typeface="DM Sans"/>
                <a:cs typeface="DM Sans"/>
              </a:defRPr>
            </a:lvl2pPr>
            <a:lvl3pPr algn="ctr">
              <a:defRPr sz="900" b="0">
                <a:solidFill>
                  <a:srgbClr val="FAFAFA"/>
                </a:solidFill>
                <a:latin typeface="DM Sans"/>
                <a:ea typeface="DM Sans"/>
                <a:cs typeface="DM Sans"/>
              </a:defRPr>
            </a:lvl3pPr>
            <a:lvl4pPr algn="ctr">
              <a:defRPr sz="900" b="0">
                <a:solidFill>
                  <a:srgbClr val="FAFAFA"/>
                </a:solidFill>
                <a:latin typeface="DM Sans"/>
                <a:ea typeface="DM Sans"/>
                <a:cs typeface="DM Sans"/>
              </a:defRPr>
            </a:lvl4pPr>
            <a:lvl5pPr algn="ctr">
              <a:defRPr sz="900" b="0">
                <a:solidFill>
                  <a:srgbClr val="FAFAFA"/>
                </a:solidFill>
                <a:latin typeface="DM Sans"/>
                <a:ea typeface="DM Sans"/>
                <a:cs typeface="DM Sans"/>
              </a:defRPr>
            </a:lvl5pPr>
            <a:lvl6pPr algn="ctr">
              <a:defRPr sz="900" b="0">
                <a:solidFill>
                  <a:srgbClr val="FAFAFA"/>
                </a:solidFill>
                <a:latin typeface="DM Sans"/>
                <a:ea typeface="DM Sans"/>
                <a:cs typeface="DM Sans"/>
              </a:defRPr>
            </a:lvl6pPr>
            <a:lvl7pPr algn="ctr">
              <a:defRPr sz="900" b="0">
                <a:solidFill>
                  <a:srgbClr val="FAFAFA"/>
                </a:solidFill>
                <a:latin typeface="DM Sans"/>
                <a:ea typeface="DM Sans"/>
                <a:cs typeface="DM Sans"/>
              </a:defRPr>
            </a:lvl7pPr>
            <a:lvl8pPr algn="ctr">
              <a:defRPr sz="900" b="0">
                <a:solidFill>
                  <a:srgbClr val="FAFAFA"/>
                </a:solidFill>
                <a:latin typeface="DM Sans"/>
                <a:ea typeface="DM Sans"/>
                <a:cs typeface="DM Sans"/>
              </a:defRPr>
            </a:lvl8pPr>
            <a:lvl9pPr algn="ctr">
              <a:defRPr sz="900" b="0">
                <a:solidFill>
                  <a:srgbClr val="FAFAFA"/>
                </a:solidFill>
                <a:latin typeface="DM Sans"/>
                <a:ea typeface="DM Sans"/>
                <a:cs typeface="DM Sans"/>
              </a:defRPr>
            </a:lvl9pPr>
          </a:lstStyle>
          <a:p xmlns:a="http://schemas.openxmlformats.org/drawingml/2006/main">
            <a:pPr algn="ctr">
              <a:defRPr sz="900" b="0">
                <a:solidFill>
                  <a:srgbClr val="FAFAFA"/>
                </a:solidFill>
                <a:latin typeface="DM Sans"/>
                <a:ea typeface="DM Sans"/>
                <a:cs typeface="DM Sans"/>
              </a:defRPr>
            </a:pPr>
            <a:r>
              <a:rPr sz="900" b="0">
                <a:solidFill>
                  <a:srgbClr val="FAFAFA"/>
                </a:solidFill>
                <a:latin typeface="DM Sans"/>
                <a:ea typeface="DM Sans"/>
                <a:cs typeface="DM Sans"/>
              </a:rPr>
              <a:t>30 DAYS</a:t>
            </a:r>
          </a:p>
        </p:txBody>
      </p:sp>
      <p:sp>
        <p:nvSpPr>
          <p:cNvPr id="43" name="">
            <a:extLst xmlns:a="http://schemas.openxmlformats.org/drawingml/2006/main">
              <a:ext uri="{FF2B5EF4-FFF2-40B4-BE49-F238E27FC236}">
                <a16:creationId xmlns:a16="http://schemas.microsoft.com/office/drawing/2014/main" id="{C5151CAF-6D2D-4A9F-957B-4867472886F8}"/>
              </a:ext>
            </a:extLst>
          </p:cNvPr>
          <p:cNvSpPr>
            <a:spLocks xmlns:a="http://schemas.openxmlformats.org/drawingml/2006/main" noGrp="1"/>
          </p:cNvSpPr>
          <p:nvPr/>
        </p:nvSpPr>
        <p:spPr>
          <a:xfrm xmlns:a="http://schemas.openxmlformats.org/drawingml/2006/main">
            <a:off x="6962775" y="5905500"/>
            <a:ext cx="95" cy="114300"/>
          </a:xfrm>
          <a:custGeom xmlns:a="http://schemas.openxmlformats.org/drawingml/2006/main">
            <a:pathLst>
              <a:path w="95" h="114300">
                <a:moveTo>
                  <a:pt x="0" y="0"/>
                </a:moveTo>
                <a:lnTo>
                  <a:pt x="0" y="114300"/>
                </a:lnTo>
              </a:path>
            </a:pathLst>
          </a:custGeom>
          <a:noFill xmlns:a="http://schemas.openxmlformats.org/drawingml/2006/main"/>
          <a:ln xmlns:a="http://schemas.openxmlformats.org/drawingml/2006/main" w="7620">
            <a:solidFill>
              <a:srgbClr val="FAFAFA"/>
            </a:solidFill>
            <a:prstDash val="solid"/>
          </a:ln>
        </p:spPr>
      </p:sp>
      <p:sp>
        <p:nvSpPr>
          <p:cNvPr id="44" name="">
            <a:extLst xmlns:a="http://schemas.openxmlformats.org/drawingml/2006/main">
              <a:ext uri="{FF2B5EF4-FFF2-40B4-BE49-F238E27FC236}">
                <a16:creationId xmlns:a16="http://schemas.microsoft.com/office/drawing/2014/main" id="{13D3C76E-339D-4233-B945-4564E6E3FA09}"/>
              </a:ext>
            </a:extLst>
          </p:cNvPr>
          <p:cNvSpPr>
            <a:spLocks xmlns:a="http://schemas.openxmlformats.org/drawingml/2006/main" noGrp="1"/>
          </p:cNvSpPr>
          <p:nvPr/>
        </p:nvSpPr>
        <p:spPr>
          <a:xfrm xmlns:a="http://schemas.openxmlformats.org/drawingml/2006/main" rot="0">
            <a:off x="6524625" y="6134100"/>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22C55E"/>
                </a:solidFill>
                <a:latin typeface="DM Sans"/>
                <a:ea typeface="DM Sans"/>
                <a:cs typeface="DM Sans"/>
              </a:defRPr>
            </a:defPPr>
            <a:lvl1pPr algn="ctr">
              <a:defRPr sz="900" b="0">
                <a:solidFill>
                  <a:srgbClr val="22C55E"/>
                </a:solidFill>
                <a:latin typeface="DM Sans"/>
                <a:ea typeface="DM Sans"/>
                <a:cs typeface="DM Sans"/>
              </a:defRPr>
            </a:lvl1pPr>
            <a:lvl2pPr algn="ctr">
              <a:defRPr sz="900" b="0">
                <a:solidFill>
                  <a:srgbClr val="22C55E"/>
                </a:solidFill>
                <a:latin typeface="DM Sans"/>
                <a:ea typeface="DM Sans"/>
                <a:cs typeface="DM Sans"/>
              </a:defRPr>
            </a:lvl2pPr>
            <a:lvl3pPr algn="ctr">
              <a:defRPr sz="900" b="0">
                <a:solidFill>
                  <a:srgbClr val="22C55E"/>
                </a:solidFill>
                <a:latin typeface="DM Sans"/>
                <a:ea typeface="DM Sans"/>
                <a:cs typeface="DM Sans"/>
              </a:defRPr>
            </a:lvl3pPr>
            <a:lvl4pPr algn="ctr">
              <a:defRPr sz="900" b="0">
                <a:solidFill>
                  <a:srgbClr val="22C55E"/>
                </a:solidFill>
                <a:latin typeface="DM Sans"/>
                <a:ea typeface="DM Sans"/>
                <a:cs typeface="DM Sans"/>
              </a:defRPr>
            </a:lvl4pPr>
            <a:lvl5pPr algn="ctr">
              <a:defRPr sz="900" b="0">
                <a:solidFill>
                  <a:srgbClr val="22C55E"/>
                </a:solidFill>
                <a:latin typeface="DM Sans"/>
                <a:ea typeface="DM Sans"/>
                <a:cs typeface="DM Sans"/>
              </a:defRPr>
            </a:lvl5pPr>
            <a:lvl6pPr algn="ctr">
              <a:defRPr sz="900" b="0">
                <a:solidFill>
                  <a:srgbClr val="22C55E"/>
                </a:solidFill>
                <a:latin typeface="DM Sans"/>
                <a:ea typeface="DM Sans"/>
                <a:cs typeface="DM Sans"/>
              </a:defRPr>
            </a:lvl6pPr>
            <a:lvl7pPr algn="ctr">
              <a:defRPr sz="900" b="0">
                <a:solidFill>
                  <a:srgbClr val="22C55E"/>
                </a:solidFill>
                <a:latin typeface="DM Sans"/>
                <a:ea typeface="DM Sans"/>
                <a:cs typeface="DM Sans"/>
              </a:defRPr>
            </a:lvl7pPr>
            <a:lvl8pPr algn="ctr">
              <a:defRPr sz="900" b="0">
                <a:solidFill>
                  <a:srgbClr val="22C55E"/>
                </a:solidFill>
                <a:latin typeface="DM Sans"/>
                <a:ea typeface="DM Sans"/>
                <a:cs typeface="DM Sans"/>
              </a:defRPr>
            </a:lvl8pPr>
            <a:lvl9pPr algn="ctr">
              <a:defRPr sz="900" b="0">
                <a:solidFill>
                  <a:srgbClr val="22C55E"/>
                </a:solidFill>
                <a:latin typeface="DM Sans"/>
                <a:ea typeface="DM Sans"/>
                <a:cs typeface="DM Sans"/>
              </a:defRPr>
            </a:lvl9pPr>
          </a:lstStyle>
          <a:p xmlns:a="http://schemas.openxmlformats.org/drawingml/2006/main">
            <a:pPr algn="ctr">
              <a:defRPr sz="900" b="0">
                <a:solidFill>
                  <a:srgbClr val="22C55E"/>
                </a:solidFill>
                <a:latin typeface="DM Sans"/>
                <a:ea typeface="DM Sans"/>
                <a:cs typeface="DM Sans"/>
              </a:defRPr>
            </a:pPr>
            <a:r>
              <a:rPr sz="900" b="0">
                <a:solidFill>
                  <a:srgbClr val="22C55E"/>
                </a:solidFill>
                <a:latin typeface="DM Sans"/>
                <a:ea typeface="DM Sans"/>
                <a:cs typeface="DM Sans"/>
              </a:rPr>
              <a:t>90 DAYS</a:t>
            </a:r>
          </a:p>
        </p:txBody>
      </p:sp>
      <p:sp>
        <p:nvSpPr>
          <p:cNvPr id="45" name="">
            <a:extLst xmlns:a="http://schemas.openxmlformats.org/drawingml/2006/main">
              <a:ext uri="{FF2B5EF4-FFF2-40B4-BE49-F238E27FC236}">
                <a16:creationId xmlns:a16="http://schemas.microsoft.com/office/drawing/2014/main" id="{6D0726BC-6A91-4A43-87DB-4E42588198F9}"/>
              </a:ext>
            </a:extLst>
          </p:cNvPr>
          <p:cNvSpPr>
            <a:spLocks xmlns:a="http://schemas.openxmlformats.org/drawingml/2006/main" noGrp="1"/>
          </p:cNvSpPr>
          <p:nvPr/>
        </p:nvSpPr>
        <p:spPr>
          <a:xfrm xmlns:a="http://schemas.openxmlformats.org/drawingml/2006/main">
            <a:off x="11525250" y="5905500"/>
            <a:ext cx="95" cy="114300"/>
          </a:xfrm>
          <a:custGeom xmlns:a="http://schemas.openxmlformats.org/drawingml/2006/main">
            <a:pathLst>
              <a:path w="95" h="114300">
                <a:moveTo>
                  <a:pt x="0" y="0"/>
                </a:moveTo>
                <a:lnTo>
                  <a:pt x="0" y="114300"/>
                </a:lnTo>
              </a:path>
            </a:pathLst>
          </a:custGeom>
          <a:noFill xmlns:a="http://schemas.openxmlformats.org/drawingml/2006/main"/>
          <a:ln xmlns:a="http://schemas.openxmlformats.org/drawingml/2006/main" w="7620">
            <a:solidFill>
              <a:srgbClr val="FAFAFA"/>
            </a:solidFill>
            <a:prstDash val="solid"/>
          </a:ln>
        </p:spPr>
      </p:sp>
      <p:sp>
        <p:nvSpPr>
          <p:cNvPr id="46" name="">
            <a:extLst xmlns:a="http://schemas.openxmlformats.org/drawingml/2006/main">
              <a:ext uri="{FF2B5EF4-FFF2-40B4-BE49-F238E27FC236}">
                <a16:creationId xmlns:a16="http://schemas.microsoft.com/office/drawing/2014/main" id="{AEF4CDF6-89C4-4D45-A395-B51BA2B38AFC}"/>
              </a:ext>
            </a:extLst>
          </p:cNvPr>
          <p:cNvSpPr>
            <a:spLocks xmlns:a="http://schemas.openxmlformats.org/drawingml/2006/main" noGrp="1"/>
          </p:cNvSpPr>
          <p:nvPr/>
        </p:nvSpPr>
        <p:spPr>
          <a:xfrm xmlns:a="http://schemas.openxmlformats.org/drawingml/2006/main" rot="0">
            <a:off x="11087100" y="6134100"/>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FAFAFA"/>
                </a:solidFill>
                <a:latin typeface="DM Sans"/>
                <a:ea typeface="DM Sans"/>
                <a:cs typeface="DM Sans"/>
              </a:defRPr>
            </a:defPPr>
            <a:lvl1pPr algn="ctr">
              <a:defRPr sz="900" b="0">
                <a:solidFill>
                  <a:srgbClr val="FAFAFA"/>
                </a:solidFill>
                <a:latin typeface="DM Sans"/>
                <a:ea typeface="DM Sans"/>
                <a:cs typeface="DM Sans"/>
              </a:defRPr>
            </a:lvl1pPr>
            <a:lvl2pPr algn="ctr">
              <a:defRPr sz="900" b="0">
                <a:solidFill>
                  <a:srgbClr val="FAFAFA"/>
                </a:solidFill>
                <a:latin typeface="DM Sans"/>
                <a:ea typeface="DM Sans"/>
                <a:cs typeface="DM Sans"/>
              </a:defRPr>
            </a:lvl2pPr>
            <a:lvl3pPr algn="ctr">
              <a:defRPr sz="900" b="0">
                <a:solidFill>
                  <a:srgbClr val="FAFAFA"/>
                </a:solidFill>
                <a:latin typeface="DM Sans"/>
                <a:ea typeface="DM Sans"/>
                <a:cs typeface="DM Sans"/>
              </a:defRPr>
            </a:lvl3pPr>
            <a:lvl4pPr algn="ctr">
              <a:defRPr sz="900" b="0">
                <a:solidFill>
                  <a:srgbClr val="FAFAFA"/>
                </a:solidFill>
                <a:latin typeface="DM Sans"/>
                <a:ea typeface="DM Sans"/>
                <a:cs typeface="DM Sans"/>
              </a:defRPr>
            </a:lvl4pPr>
            <a:lvl5pPr algn="ctr">
              <a:defRPr sz="900" b="0">
                <a:solidFill>
                  <a:srgbClr val="FAFAFA"/>
                </a:solidFill>
                <a:latin typeface="DM Sans"/>
                <a:ea typeface="DM Sans"/>
                <a:cs typeface="DM Sans"/>
              </a:defRPr>
            </a:lvl5pPr>
            <a:lvl6pPr algn="ctr">
              <a:defRPr sz="900" b="0">
                <a:solidFill>
                  <a:srgbClr val="FAFAFA"/>
                </a:solidFill>
                <a:latin typeface="DM Sans"/>
                <a:ea typeface="DM Sans"/>
                <a:cs typeface="DM Sans"/>
              </a:defRPr>
            </a:lvl6pPr>
            <a:lvl7pPr algn="ctr">
              <a:defRPr sz="900" b="0">
                <a:solidFill>
                  <a:srgbClr val="FAFAFA"/>
                </a:solidFill>
                <a:latin typeface="DM Sans"/>
                <a:ea typeface="DM Sans"/>
                <a:cs typeface="DM Sans"/>
              </a:defRPr>
            </a:lvl7pPr>
            <a:lvl8pPr algn="ctr">
              <a:defRPr sz="900" b="0">
                <a:solidFill>
                  <a:srgbClr val="FAFAFA"/>
                </a:solidFill>
                <a:latin typeface="DM Sans"/>
                <a:ea typeface="DM Sans"/>
                <a:cs typeface="DM Sans"/>
              </a:defRPr>
            </a:lvl8pPr>
            <a:lvl9pPr algn="ctr">
              <a:defRPr sz="900" b="0">
                <a:solidFill>
                  <a:srgbClr val="FAFAFA"/>
                </a:solidFill>
                <a:latin typeface="DM Sans"/>
                <a:ea typeface="DM Sans"/>
                <a:cs typeface="DM Sans"/>
              </a:defRPr>
            </a:lvl9pPr>
          </a:lstStyle>
          <a:p xmlns:a="http://schemas.openxmlformats.org/drawingml/2006/main">
            <a:pPr algn="ctr">
              <a:defRPr sz="900" b="0">
                <a:solidFill>
                  <a:srgbClr val="FAFAFA"/>
                </a:solidFill>
                <a:latin typeface="DM Sans"/>
                <a:ea typeface="DM Sans"/>
                <a:cs typeface="DM Sans"/>
              </a:defRPr>
            </a:pPr>
            <a:r>
              <a:rPr sz="900" b="0">
                <a:solidFill>
                  <a:srgbClr val="FAFAFA"/>
                </a:solidFill>
                <a:latin typeface="DM Sans"/>
                <a:ea typeface="DM Sans"/>
                <a:cs typeface="DM Sans"/>
              </a:rPr>
              <a:t>180 DAYS</a:t>
            </a:r>
          </a:p>
        </p:txBody>
      </p:sp>
      <p:sp>
        <p:nvSpPr>
          <p:cNvPr id="47" name="">
            <a:extLst xmlns:a="http://schemas.openxmlformats.org/drawingml/2006/main">
              <a:ext uri="{FF2B5EF4-FFF2-40B4-BE49-F238E27FC236}">
                <a16:creationId xmlns:a16="http://schemas.microsoft.com/office/drawing/2014/main" id="{701583CE-5C0F-4842-B768-DD793FC32400}"/>
              </a:ext>
            </a:extLst>
          </p:cNvPr>
          <p:cNvSpPr>
            <a:spLocks xmlns:a="http://schemas.openxmlformats.org/drawingml/2006/main" noGrp="1"/>
          </p:cNvSpPr>
          <p:nvPr/>
        </p:nvSpPr>
        <p:spPr>
          <a:xfrm xmlns:a="http://schemas.openxmlformats.org/drawingml/2006/main" rot="0">
            <a:off x="400050" y="6486525"/>
            <a:ext cx="109537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A3A3A3"/>
                </a:solidFill>
                <a:latin typeface="DM Sans"/>
                <a:ea typeface="DM Sans"/>
                <a:cs typeface="DM Sans"/>
              </a:defRPr>
            </a:defPPr>
            <a:lvl1pPr algn="l">
              <a:defRPr sz="750" b="0">
                <a:solidFill>
                  <a:srgbClr val="A3A3A3"/>
                </a:solidFill>
                <a:latin typeface="DM Sans"/>
                <a:ea typeface="DM Sans"/>
                <a:cs typeface="DM Sans"/>
              </a:defRPr>
            </a:lvl1pPr>
            <a:lvl2pPr algn="l">
              <a:defRPr sz="750" b="0">
                <a:solidFill>
                  <a:srgbClr val="A3A3A3"/>
                </a:solidFill>
                <a:latin typeface="DM Sans"/>
                <a:ea typeface="DM Sans"/>
                <a:cs typeface="DM Sans"/>
              </a:defRPr>
            </a:lvl2pPr>
            <a:lvl3pPr algn="l">
              <a:defRPr sz="750" b="0">
                <a:solidFill>
                  <a:srgbClr val="A3A3A3"/>
                </a:solidFill>
                <a:latin typeface="DM Sans"/>
                <a:ea typeface="DM Sans"/>
                <a:cs typeface="DM Sans"/>
              </a:defRPr>
            </a:lvl3pPr>
            <a:lvl4pPr algn="l">
              <a:defRPr sz="750" b="0">
                <a:solidFill>
                  <a:srgbClr val="A3A3A3"/>
                </a:solidFill>
                <a:latin typeface="DM Sans"/>
                <a:ea typeface="DM Sans"/>
                <a:cs typeface="DM Sans"/>
              </a:defRPr>
            </a:lvl4pPr>
            <a:lvl5pPr algn="l">
              <a:defRPr sz="750" b="0">
                <a:solidFill>
                  <a:srgbClr val="A3A3A3"/>
                </a:solidFill>
                <a:latin typeface="DM Sans"/>
                <a:ea typeface="DM Sans"/>
                <a:cs typeface="DM Sans"/>
              </a:defRPr>
            </a:lvl5pPr>
            <a:lvl6pPr algn="l">
              <a:defRPr sz="750" b="0">
                <a:solidFill>
                  <a:srgbClr val="A3A3A3"/>
                </a:solidFill>
                <a:latin typeface="DM Sans"/>
                <a:ea typeface="DM Sans"/>
                <a:cs typeface="DM Sans"/>
              </a:defRPr>
            </a:lvl6pPr>
            <a:lvl7pPr algn="l">
              <a:defRPr sz="750" b="0">
                <a:solidFill>
                  <a:srgbClr val="A3A3A3"/>
                </a:solidFill>
                <a:latin typeface="DM Sans"/>
                <a:ea typeface="DM Sans"/>
                <a:cs typeface="DM Sans"/>
              </a:defRPr>
            </a:lvl7pPr>
            <a:lvl8pPr algn="l">
              <a:defRPr sz="750" b="0">
                <a:solidFill>
                  <a:srgbClr val="A3A3A3"/>
                </a:solidFill>
                <a:latin typeface="DM Sans"/>
                <a:ea typeface="DM Sans"/>
                <a:cs typeface="DM Sans"/>
              </a:defRPr>
            </a:lvl8pPr>
            <a:lvl9pPr algn="l">
              <a:defRPr sz="750" b="0">
                <a:solidFill>
                  <a:srgbClr val="A3A3A3"/>
                </a:solidFill>
                <a:latin typeface="DM Sans"/>
                <a:ea typeface="DM Sans"/>
                <a:cs typeface="DM Sans"/>
              </a:defRPr>
            </a:lvl9pPr>
          </a:lstStyle>
          <a:p xmlns:a="http://schemas.openxmlformats.org/drawingml/2006/main">
            <a:pPr algn="l">
              <a:defRPr sz="750" b="0">
                <a:solidFill>
                  <a:srgbClr val="A3A3A3"/>
                </a:solidFill>
                <a:latin typeface="DM Sans"/>
                <a:ea typeface="DM Sans"/>
                <a:cs typeface="DM Sans"/>
              </a:defRPr>
            </a:pPr>
            <a:r>
              <a:rPr sz="750" b="0">
                <a:solidFill>
                  <a:srgbClr val="A3A3A3"/>
                </a:solidFill>
                <a:latin typeface="DM Sans"/>
                <a:ea typeface="DM Sans"/>
                <a:cs typeface="DM Sans"/>
              </a:rPr>
              <a:t>Timelines are illustrative. The holding period and closing buffer must fit before expiry.</a:t>
            </a:r>
          </a:p>
        </p:txBody>
      </p:sp>
    </p:spTree>
    <p:extLst>
      <p:ext uri="{BB962C8B-B14F-4D97-AF65-F5344CB8AC3E}">
        <p14:creationId xmlns:p14="http://schemas.microsoft.com/office/powerpoint/2010/main" val="1055969404"/>
      </p:ext>
    </p:extLst>
  </p:cSld>
</p:sld>
</file>

<file path=ppt/slides/slide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511EEE1-5C77-46FC-9B5C-9E605E8B7762}"/>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7D641666-777D-40B2-B6ED-79FE8F28184D}"/>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02</a:t>
            </a:r>
          </a:p>
        </p:txBody>
      </p:sp>
      <p:sp>
        <p:nvSpPr>
          <p:cNvPr id="3" name="">
            <a:extLst xmlns:a="http://schemas.openxmlformats.org/drawingml/2006/main">
              <a:ext uri="{FF2B5EF4-FFF2-40B4-BE49-F238E27FC236}">
                <a16:creationId xmlns:a16="http://schemas.microsoft.com/office/drawing/2014/main" id="{62413AEA-FF5D-4DF7-BAEB-876888F3431B}"/>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D5684115-B3EA-4FE2-BB1B-AFD1376F3AD3}"/>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8AB90FBC-8364-4052-B95A-A330173C330D}"/>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41559724-9CD0-436B-8819-3540B606924D}"/>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Observed evidence</a:t>
            </a:r>
          </a:p>
        </p:txBody>
      </p:sp>
      <p:sp>
        <p:nvSpPr>
          <p:cNvPr id="7" name="">
            <a:extLst xmlns:a="http://schemas.openxmlformats.org/drawingml/2006/main">
              <a:ext uri="{FF2B5EF4-FFF2-40B4-BE49-F238E27FC236}">
                <a16:creationId xmlns:a16="http://schemas.microsoft.com/office/drawing/2014/main" id="{E8B97AA8-2DBD-4F22-B5AD-C093ABE1802E}"/>
              </a:ext>
            </a:extLst>
          </p:cNvPr>
          <p:cNvSpPr>
            <a:spLocks xmlns:a="http://schemas.openxmlformats.org/drawingml/2006/main" noGrp="1"/>
          </p:cNvSpPr>
          <p:nvPr/>
        </p:nvSpPr>
        <p:spPr>
          <a:xfrm xmlns:a="http://schemas.openxmlformats.org/drawingml/2006/main" rot="0">
            <a:off x="400050" y="185737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We begin with</a:t>
            </a:r>
          </a:p>
        </p:txBody>
      </p:sp>
      <p:sp>
        <p:nvSpPr>
          <p:cNvPr id="8" name="">
            <a:extLst xmlns:a="http://schemas.openxmlformats.org/drawingml/2006/main">
              <a:ext uri="{FF2B5EF4-FFF2-40B4-BE49-F238E27FC236}">
                <a16:creationId xmlns:a16="http://schemas.microsoft.com/office/drawing/2014/main" id="{3F45BCC4-C44D-4D0E-81D0-4E24733C971A}"/>
              </a:ext>
            </a:extLst>
          </p:cNvPr>
          <p:cNvSpPr>
            <a:spLocks xmlns:a="http://schemas.openxmlformats.org/drawingml/2006/main" noGrp="1"/>
          </p:cNvSpPr>
          <p:nvPr/>
        </p:nvSpPr>
        <p:spPr>
          <a:xfrm xmlns:a="http://schemas.openxmlformats.org/drawingml/2006/main" rot="0">
            <a:off x="400050" y="2314575"/>
            <a:ext cx="25717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475" b="0">
                <a:solidFill>
                  <a:srgbClr val="0A0A0A"/>
                </a:solidFill>
                <a:latin typeface="DM Sans Light"/>
                <a:ea typeface="DM Sans Light"/>
                <a:cs typeface="DM Sans Light"/>
              </a:defRPr>
            </a:defPPr>
            <a:lvl1pPr algn="l">
              <a:defRPr sz="8475" b="0">
                <a:solidFill>
                  <a:srgbClr val="0A0A0A"/>
                </a:solidFill>
                <a:latin typeface="DM Sans Light"/>
                <a:ea typeface="DM Sans Light"/>
                <a:cs typeface="DM Sans Light"/>
              </a:defRPr>
            </a:lvl1pPr>
            <a:lvl2pPr algn="l">
              <a:defRPr sz="8475" b="0">
                <a:solidFill>
                  <a:srgbClr val="0A0A0A"/>
                </a:solidFill>
                <a:latin typeface="DM Sans Light"/>
                <a:ea typeface="DM Sans Light"/>
                <a:cs typeface="DM Sans Light"/>
              </a:defRPr>
            </a:lvl2pPr>
            <a:lvl3pPr algn="l">
              <a:defRPr sz="8475" b="0">
                <a:solidFill>
                  <a:srgbClr val="0A0A0A"/>
                </a:solidFill>
                <a:latin typeface="DM Sans Light"/>
                <a:ea typeface="DM Sans Light"/>
                <a:cs typeface="DM Sans Light"/>
              </a:defRPr>
            </a:lvl3pPr>
            <a:lvl4pPr algn="l">
              <a:defRPr sz="8475" b="0">
                <a:solidFill>
                  <a:srgbClr val="0A0A0A"/>
                </a:solidFill>
                <a:latin typeface="DM Sans Light"/>
                <a:ea typeface="DM Sans Light"/>
                <a:cs typeface="DM Sans Light"/>
              </a:defRPr>
            </a:lvl4pPr>
            <a:lvl5pPr algn="l">
              <a:defRPr sz="8475" b="0">
                <a:solidFill>
                  <a:srgbClr val="0A0A0A"/>
                </a:solidFill>
                <a:latin typeface="DM Sans Light"/>
                <a:ea typeface="DM Sans Light"/>
                <a:cs typeface="DM Sans Light"/>
              </a:defRPr>
            </a:lvl5pPr>
            <a:lvl6pPr algn="l">
              <a:defRPr sz="8475" b="0">
                <a:solidFill>
                  <a:srgbClr val="0A0A0A"/>
                </a:solidFill>
                <a:latin typeface="DM Sans Light"/>
                <a:ea typeface="DM Sans Light"/>
                <a:cs typeface="DM Sans Light"/>
              </a:defRPr>
            </a:lvl6pPr>
            <a:lvl7pPr algn="l">
              <a:defRPr sz="8475" b="0">
                <a:solidFill>
                  <a:srgbClr val="0A0A0A"/>
                </a:solidFill>
                <a:latin typeface="DM Sans Light"/>
                <a:ea typeface="DM Sans Light"/>
                <a:cs typeface="DM Sans Light"/>
              </a:defRPr>
            </a:lvl7pPr>
            <a:lvl8pPr algn="l">
              <a:defRPr sz="8475" b="0">
                <a:solidFill>
                  <a:srgbClr val="0A0A0A"/>
                </a:solidFill>
                <a:latin typeface="DM Sans Light"/>
                <a:ea typeface="DM Sans Light"/>
                <a:cs typeface="DM Sans Light"/>
              </a:defRPr>
            </a:lvl8pPr>
            <a:lvl9pPr algn="l">
              <a:defRPr sz="8475" b="0">
                <a:solidFill>
                  <a:srgbClr val="0A0A0A"/>
                </a:solidFill>
                <a:latin typeface="DM Sans Light"/>
                <a:ea typeface="DM Sans Light"/>
                <a:cs typeface="DM Sans Light"/>
              </a:defRPr>
            </a:lvl9pPr>
          </a:lstStyle>
          <a:p xmlns:a="http://schemas.openxmlformats.org/drawingml/2006/main">
            <a:pPr algn="l">
              <a:defRPr sz="8475" b="0">
                <a:solidFill>
                  <a:srgbClr val="0A0A0A"/>
                </a:solidFill>
                <a:latin typeface="DM Sans Light"/>
                <a:ea typeface="DM Sans Light"/>
                <a:cs typeface="DM Sans Light"/>
              </a:defRPr>
            </a:pPr>
            <a:r>
              <a:rPr sz="8475" b="0">
                <a:solidFill>
                  <a:srgbClr val="0A0A0A"/>
                </a:solidFill>
                <a:latin typeface="DM Sans Light"/>
                <a:ea typeface="DM Sans Light"/>
                <a:cs typeface="DM Sans Light"/>
              </a:rPr>
              <a:t>67</a:t>
            </a:r>
          </a:p>
        </p:txBody>
      </p:sp>
      <p:sp>
        <p:nvSpPr>
          <p:cNvPr id="9" name="">
            <a:extLst xmlns:a="http://schemas.openxmlformats.org/drawingml/2006/main">
              <a:ext uri="{FF2B5EF4-FFF2-40B4-BE49-F238E27FC236}">
                <a16:creationId xmlns:a16="http://schemas.microsoft.com/office/drawing/2014/main" id="{88484696-24E5-40D3-9C4F-E5C450DAD956}"/>
              </a:ext>
            </a:extLst>
          </p:cNvPr>
          <p:cNvSpPr>
            <a:spLocks xmlns:a="http://schemas.openxmlformats.org/drawingml/2006/main" noGrp="1"/>
          </p:cNvSpPr>
          <p:nvPr/>
        </p:nvSpPr>
        <p:spPr>
          <a:xfrm xmlns:a="http://schemas.openxmlformats.org/drawingml/2006/main">
            <a:off x="447675" y="3609975"/>
            <a:ext cx="1381125" cy="95"/>
          </a:xfrm>
          <a:custGeom xmlns:a="http://schemas.openxmlformats.org/drawingml/2006/main">
            <a:pathLst>
              <a:path w="1381125" h="95">
                <a:moveTo>
                  <a:pt x="0" y="0"/>
                </a:moveTo>
                <a:lnTo>
                  <a:pt x="1381125" y="0"/>
                </a:lnTo>
              </a:path>
            </a:pathLst>
          </a:custGeom>
          <a:noFill xmlns:a="http://schemas.openxmlformats.org/drawingml/2006/main"/>
          <a:ln xmlns:a="http://schemas.openxmlformats.org/drawingml/2006/main" w="17145">
            <a:solidFill>
              <a:srgbClr val="0A0A0A"/>
            </a:solidFill>
            <a:prstDash val="solid"/>
          </a:ln>
        </p:spPr>
      </p:sp>
      <p:sp>
        <p:nvSpPr>
          <p:cNvPr id="10" name="">
            <a:extLst xmlns:a="http://schemas.openxmlformats.org/drawingml/2006/main">
              <a:ext uri="{FF2B5EF4-FFF2-40B4-BE49-F238E27FC236}">
                <a16:creationId xmlns:a16="http://schemas.microsoft.com/office/drawing/2014/main" id="{41AC2A37-CFB4-4013-8C87-E5843DE7B86A}"/>
              </a:ext>
            </a:extLst>
          </p:cNvPr>
          <p:cNvSpPr>
            <a:spLocks xmlns:a="http://schemas.openxmlformats.org/drawingml/2006/main" noGrp="1"/>
          </p:cNvSpPr>
          <p:nvPr/>
        </p:nvSpPr>
        <p:spPr>
          <a:xfrm xmlns:a="http://schemas.openxmlformats.org/drawingml/2006/main" rot="0">
            <a:off x="400050" y="3848100"/>
            <a:ext cx="542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measured sediment samples</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from Tok River, Alaska.</a:t>
            </a:r>
          </a:p>
        </p:txBody>
      </p:sp>
      <p:sp>
        <p:nvSpPr>
          <p:cNvPr id="11" name="">
            <a:extLst xmlns:a="http://schemas.openxmlformats.org/drawingml/2006/main">
              <a:ext uri="{FF2B5EF4-FFF2-40B4-BE49-F238E27FC236}">
                <a16:creationId xmlns:a16="http://schemas.microsoft.com/office/drawing/2014/main" id="{517226F0-4386-4241-AF5D-B1542C8BF752}"/>
              </a:ext>
            </a:extLst>
          </p:cNvPr>
          <p:cNvSpPr>
            <a:spLocks xmlns:a="http://schemas.openxmlformats.org/drawingml/2006/main" noGrp="1"/>
          </p:cNvSpPr>
          <p:nvPr/>
        </p:nvSpPr>
        <p:spPr>
          <a:xfrm xmlns:a="http://schemas.openxmlformats.org/drawingml/2006/main" rot="0">
            <a:off x="400050" y="5219700"/>
            <a:ext cx="533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0A0A0A"/>
                </a:solidFill>
                <a:latin typeface="DM Sans"/>
                <a:ea typeface="DM Sans"/>
                <a:cs typeface="DM Sans"/>
              </a:defRPr>
            </a:defPPr>
            <a:lvl1pPr algn="l">
              <a:defRPr sz="1725" b="0">
                <a:solidFill>
                  <a:srgbClr val="0A0A0A"/>
                </a:solidFill>
                <a:latin typeface="DM Sans"/>
                <a:ea typeface="DM Sans"/>
                <a:cs typeface="DM Sans"/>
              </a:defRPr>
            </a:lvl1pPr>
            <a:lvl2pPr algn="l">
              <a:defRPr sz="1725" b="0">
                <a:solidFill>
                  <a:srgbClr val="0A0A0A"/>
                </a:solidFill>
                <a:latin typeface="DM Sans"/>
                <a:ea typeface="DM Sans"/>
                <a:cs typeface="DM Sans"/>
              </a:defRPr>
            </a:lvl2pPr>
            <a:lvl3pPr algn="l">
              <a:defRPr sz="1725" b="0">
                <a:solidFill>
                  <a:srgbClr val="0A0A0A"/>
                </a:solidFill>
                <a:latin typeface="DM Sans"/>
                <a:ea typeface="DM Sans"/>
                <a:cs typeface="DM Sans"/>
              </a:defRPr>
            </a:lvl3pPr>
            <a:lvl4pPr algn="l">
              <a:defRPr sz="1725" b="0">
                <a:solidFill>
                  <a:srgbClr val="0A0A0A"/>
                </a:solidFill>
                <a:latin typeface="DM Sans"/>
                <a:ea typeface="DM Sans"/>
                <a:cs typeface="DM Sans"/>
              </a:defRPr>
            </a:lvl4pPr>
            <a:lvl5pPr algn="l">
              <a:defRPr sz="1725" b="0">
                <a:solidFill>
                  <a:srgbClr val="0A0A0A"/>
                </a:solidFill>
                <a:latin typeface="DM Sans"/>
                <a:ea typeface="DM Sans"/>
                <a:cs typeface="DM Sans"/>
              </a:defRPr>
            </a:lvl5pPr>
            <a:lvl6pPr algn="l">
              <a:defRPr sz="1725" b="0">
                <a:solidFill>
                  <a:srgbClr val="0A0A0A"/>
                </a:solidFill>
                <a:latin typeface="DM Sans"/>
                <a:ea typeface="DM Sans"/>
                <a:cs typeface="DM Sans"/>
              </a:defRPr>
            </a:lvl6pPr>
            <a:lvl7pPr algn="l">
              <a:defRPr sz="1725" b="0">
                <a:solidFill>
                  <a:srgbClr val="0A0A0A"/>
                </a:solidFill>
                <a:latin typeface="DM Sans"/>
                <a:ea typeface="DM Sans"/>
                <a:cs typeface="DM Sans"/>
              </a:defRPr>
            </a:lvl7pPr>
            <a:lvl8pPr algn="l">
              <a:defRPr sz="1725" b="0">
                <a:solidFill>
                  <a:srgbClr val="0A0A0A"/>
                </a:solidFill>
                <a:latin typeface="DM Sans"/>
                <a:ea typeface="DM Sans"/>
                <a:cs typeface="DM Sans"/>
              </a:defRPr>
            </a:lvl8pPr>
            <a:lvl9pPr algn="l">
              <a:defRPr sz="1725" b="0">
                <a:solidFill>
                  <a:srgbClr val="0A0A0A"/>
                </a:solidFill>
                <a:latin typeface="DM Sans"/>
                <a:ea typeface="DM Sans"/>
                <a:cs typeface="DM Sans"/>
              </a:defRPr>
            </a:lvl9pPr>
          </a:lstStyle>
          <a:p xmlns:a="http://schemas.openxmlformats.org/drawingml/2006/main">
            <a:pPr algn="l">
              <a:defRPr sz="1725" b="0">
                <a:solidFill>
                  <a:srgbClr val="0A0A0A"/>
                </a:solidFill>
                <a:latin typeface="DM Sans"/>
                <a:ea typeface="DM Sans"/>
                <a:cs typeface="DM Sans"/>
              </a:defRPr>
            </a:pPr>
            <a:r>
              <a:rPr sz="1725" b="0">
                <a:solidFill>
                  <a:srgbClr val="0A0A0A"/>
                </a:solidFill>
                <a:latin typeface="DM Sans"/>
                <a:ea typeface="DM Sans"/>
                <a:cs typeface="DM Sans"/>
              </a:rPr>
              <a:t>A has 33 samples. B has 34.</a:t>
            </a:r>
          </a:p>
          <a:p xmlns:a="http://schemas.openxmlformats.org/drawingml/2006/main">
            <a:pPr algn="l">
              <a:defRPr sz="1725" b="0">
                <a:solidFill>
                  <a:srgbClr val="0A0A0A"/>
                </a:solidFill>
                <a:latin typeface="DM Sans"/>
                <a:ea typeface="DM Sans"/>
                <a:cs typeface="DM Sans"/>
              </a:defRPr>
            </a:pPr>
            <a:r>
              <a:rPr sz="1725" b="0">
                <a:solidFill>
                  <a:srgbClr val="0A0A0A"/>
                </a:solidFill>
                <a:latin typeface="DM Sans"/>
                <a:ea typeface="DM Sans"/>
                <a:cs typeface="DM Sans"/>
              </a:rPr>
              <a:t>Primary gold assays screen the evidence.</a:t>
            </a:r>
          </a:p>
        </p:txBody>
      </p:sp>
      <p:sp>
        <p:nvSpPr>
          <p:cNvPr id="12" name="">
            <a:extLst xmlns:a="http://schemas.openxmlformats.org/drawingml/2006/main">
              <a:ext uri="{FF2B5EF4-FFF2-40B4-BE49-F238E27FC236}">
                <a16:creationId xmlns:a16="http://schemas.microsoft.com/office/drawing/2014/main" id="{A19D02CB-7252-4B0E-A279-E71F05E0085F}"/>
              </a:ext>
            </a:extLst>
          </p:cNvPr>
          <p:cNvSpPr>
            <a:spLocks xmlns:a="http://schemas.openxmlformats.org/drawingml/2006/main" noGrp="1"/>
          </p:cNvSpPr>
          <p:nvPr/>
        </p:nvSpPr>
        <p:spPr>
          <a:xfrm xmlns:a="http://schemas.openxmlformats.org/drawingml/2006/main" rot="0">
            <a:off x="400050" y="6200775"/>
            <a:ext cx="533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737373"/>
                </a:solidFill>
                <a:latin typeface="DM Sans"/>
                <a:ea typeface="DM Sans"/>
                <a:cs typeface="DM Sans"/>
              </a:defRPr>
            </a:defPPr>
            <a:lvl1pPr algn="l">
              <a:defRPr sz="900" b="0">
                <a:solidFill>
                  <a:srgbClr val="737373"/>
                </a:solidFill>
                <a:latin typeface="DM Sans"/>
                <a:ea typeface="DM Sans"/>
                <a:cs typeface="DM Sans"/>
              </a:defRPr>
            </a:lvl1pPr>
            <a:lvl2pPr algn="l">
              <a:defRPr sz="900" b="0">
                <a:solidFill>
                  <a:srgbClr val="737373"/>
                </a:solidFill>
                <a:latin typeface="DM Sans"/>
                <a:ea typeface="DM Sans"/>
                <a:cs typeface="DM Sans"/>
              </a:defRPr>
            </a:lvl2pPr>
            <a:lvl3pPr algn="l">
              <a:defRPr sz="900" b="0">
                <a:solidFill>
                  <a:srgbClr val="737373"/>
                </a:solidFill>
                <a:latin typeface="DM Sans"/>
                <a:ea typeface="DM Sans"/>
                <a:cs typeface="DM Sans"/>
              </a:defRPr>
            </a:lvl3pPr>
            <a:lvl4pPr algn="l">
              <a:defRPr sz="900" b="0">
                <a:solidFill>
                  <a:srgbClr val="737373"/>
                </a:solidFill>
                <a:latin typeface="DM Sans"/>
                <a:ea typeface="DM Sans"/>
                <a:cs typeface="DM Sans"/>
              </a:defRPr>
            </a:lvl4pPr>
            <a:lvl5pPr algn="l">
              <a:defRPr sz="900" b="0">
                <a:solidFill>
                  <a:srgbClr val="737373"/>
                </a:solidFill>
                <a:latin typeface="DM Sans"/>
                <a:ea typeface="DM Sans"/>
                <a:cs typeface="DM Sans"/>
              </a:defRPr>
            </a:lvl5pPr>
            <a:lvl6pPr algn="l">
              <a:defRPr sz="900" b="0">
                <a:solidFill>
                  <a:srgbClr val="737373"/>
                </a:solidFill>
                <a:latin typeface="DM Sans"/>
                <a:ea typeface="DM Sans"/>
                <a:cs typeface="DM Sans"/>
              </a:defRPr>
            </a:lvl6pPr>
            <a:lvl7pPr algn="l">
              <a:defRPr sz="900" b="0">
                <a:solidFill>
                  <a:srgbClr val="737373"/>
                </a:solidFill>
                <a:latin typeface="DM Sans"/>
                <a:ea typeface="DM Sans"/>
                <a:cs typeface="DM Sans"/>
              </a:defRPr>
            </a:lvl7pPr>
            <a:lvl8pPr algn="l">
              <a:defRPr sz="900" b="0">
                <a:solidFill>
                  <a:srgbClr val="737373"/>
                </a:solidFill>
                <a:latin typeface="DM Sans"/>
                <a:ea typeface="DM Sans"/>
                <a:cs typeface="DM Sans"/>
              </a:defRPr>
            </a:lvl8pPr>
            <a:lvl9pPr algn="l">
              <a:defRPr sz="900" b="0">
                <a:solidFill>
                  <a:srgbClr val="737373"/>
                </a:solidFill>
                <a:latin typeface="DM Sans"/>
                <a:ea typeface="DM Sans"/>
                <a:cs typeface="DM Sans"/>
              </a:defRPr>
            </a:lvl9pPr>
          </a:lstStyle>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Recoverable ounces remain a separate assumption.</a:t>
            </a:r>
          </a:p>
        </p:txBody>
      </p:sp>
      <p:sp>
        <p:nvSpPr>
          <p:cNvPr id="13" name="">
            <a:extLst xmlns:a="http://schemas.openxmlformats.org/drawingml/2006/main">
              <a:ext uri="{FF2B5EF4-FFF2-40B4-BE49-F238E27FC236}">
                <a16:creationId xmlns:a16="http://schemas.microsoft.com/office/drawing/2014/main" id="{D5189321-8E9E-42CA-96AE-4631EA853BC2}"/>
              </a:ext>
            </a:extLst>
          </p:cNvPr>
          <p:cNvSpPr>
            <a:spLocks xmlns:a="http://schemas.openxmlformats.org/drawingml/2006/main" noGrp="1"/>
          </p:cNvSpPr>
          <p:nvPr/>
        </p:nvSpPr>
        <p:spPr>
          <a:xfrm xmlns:a="http://schemas.openxmlformats.org/drawingml/2006/main">
            <a:off x="6172200" y="152400"/>
            <a:ext cx="5867400" cy="6553200"/>
          </a:xfrm>
          <a:prstGeom xmlns:a="http://schemas.openxmlformats.org/drawingml/2006/main" prst="roundRect">
            <a:avLst>
              <a:gd name="adj" fmla="val 4058"/>
            </a:avLst>
          </a:prstGeom>
          <a:solidFill xmlns:a="http://schemas.openxmlformats.org/drawingml/2006/main">
            <a:srgbClr val="0A0A0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CB96C9-59C7-4F1F-A3BD-974BC8431DCC}"/>
              </a:ext>
            </a:extLst>
          </p:cNvPr>
          <p:cNvSpPr>
            <a:spLocks xmlns:a="http://schemas.openxmlformats.org/drawingml/2006/main" noGrp="1"/>
          </p:cNvSpPr>
          <p:nvPr/>
        </p:nvSpPr>
        <p:spPr>
          <a:xfrm xmlns:a="http://schemas.openxmlformats.org/drawingml/2006/main" rot="0">
            <a:off x="6438900" y="409575"/>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FAFAFA"/>
                </a:solidFill>
                <a:latin typeface="DM Sans"/>
                <a:ea typeface="DM Sans"/>
                <a:cs typeface="DM Sans"/>
              </a:defRPr>
            </a:defPPr>
            <a:lvl1pPr algn="l">
              <a:defRPr sz="2175" b="0">
                <a:solidFill>
                  <a:srgbClr val="FAFAFA"/>
                </a:solidFill>
                <a:latin typeface="DM Sans"/>
                <a:ea typeface="DM Sans"/>
                <a:cs typeface="DM Sans"/>
              </a:defRPr>
            </a:lvl1pPr>
            <a:lvl2pPr algn="l">
              <a:defRPr sz="2175" b="0">
                <a:solidFill>
                  <a:srgbClr val="FAFAFA"/>
                </a:solidFill>
                <a:latin typeface="DM Sans"/>
                <a:ea typeface="DM Sans"/>
                <a:cs typeface="DM Sans"/>
              </a:defRPr>
            </a:lvl2pPr>
            <a:lvl3pPr algn="l">
              <a:defRPr sz="2175" b="0">
                <a:solidFill>
                  <a:srgbClr val="FAFAFA"/>
                </a:solidFill>
                <a:latin typeface="DM Sans"/>
                <a:ea typeface="DM Sans"/>
                <a:cs typeface="DM Sans"/>
              </a:defRPr>
            </a:lvl3pPr>
            <a:lvl4pPr algn="l">
              <a:defRPr sz="2175" b="0">
                <a:solidFill>
                  <a:srgbClr val="FAFAFA"/>
                </a:solidFill>
                <a:latin typeface="DM Sans"/>
                <a:ea typeface="DM Sans"/>
                <a:cs typeface="DM Sans"/>
              </a:defRPr>
            </a:lvl4pPr>
            <a:lvl5pPr algn="l">
              <a:defRPr sz="2175" b="0">
                <a:solidFill>
                  <a:srgbClr val="FAFAFA"/>
                </a:solidFill>
                <a:latin typeface="DM Sans"/>
                <a:ea typeface="DM Sans"/>
                <a:cs typeface="DM Sans"/>
              </a:defRPr>
            </a:lvl5pPr>
            <a:lvl6pPr algn="l">
              <a:defRPr sz="2175" b="0">
                <a:solidFill>
                  <a:srgbClr val="FAFAFA"/>
                </a:solidFill>
                <a:latin typeface="DM Sans"/>
                <a:ea typeface="DM Sans"/>
                <a:cs typeface="DM Sans"/>
              </a:defRPr>
            </a:lvl6pPr>
            <a:lvl7pPr algn="l">
              <a:defRPr sz="2175" b="0">
                <a:solidFill>
                  <a:srgbClr val="FAFAFA"/>
                </a:solidFill>
                <a:latin typeface="DM Sans"/>
                <a:ea typeface="DM Sans"/>
                <a:cs typeface="DM Sans"/>
              </a:defRPr>
            </a:lvl7pPr>
            <a:lvl8pPr algn="l">
              <a:defRPr sz="2175" b="0">
                <a:solidFill>
                  <a:srgbClr val="FAFAFA"/>
                </a:solidFill>
                <a:latin typeface="DM Sans"/>
                <a:ea typeface="DM Sans"/>
                <a:cs typeface="DM Sans"/>
              </a:defRPr>
            </a:lvl8pPr>
            <a:lvl9pPr algn="l">
              <a:defRPr sz="2175" b="0">
                <a:solidFill>
                  <a:srgbClr val="FAFAFA"/>
                </a:solidFill>
                <a:latin typeface="DM Sans"/>
                <a:ea typeface="DM Sans"/>
                <a:cs typeface="DM Sans"/>
              </a:defRPr>
            </a:lvl9pPr>
          </a:lstStyle>
          <a:p xmlns:a="http://schemas.openxmlformats.org/drawingml/2006/main">
            <a:pPr algn="l">
              <a:defRPr sz="2175" b="0">
                <a:solidFill>
                  <a:srgbClr val="FAFAFA"/>
                </a:solidFill>
                <a:latin typeface="DM Sans"/>
                <a:ea typeface="DM Sans"/>
                <a:cs typeface="DM Sans"/>
              </a:defRPr>
            </a:pPr>
            <a:r>
              <a:rPr sz="2175" b="0">
                <a:solidFill>
                  <a:srgbClr val="FAFAFA"/>
                </a:solidFill>
                <a:latin typeface="DM Sans"/>
                <a:ea typeface="DM Sans"/>
                <a:cs typeface="DM Sans"/>
              </a:rPr>
              <a:t>The evidence explorer</a:t>
            </a:r>
          </a:p>
        </p:txBody>
      </p:sp>
      <p:sp>
        <p:nvSpPr>
          <p:cNvPr id="15" name="">
            <a:extLst xmlns:a="http://schemas.openxmlformats.org/drawingml/2006/main">
              <a:ext uri="{FF2B5EF4-FFF2-40B4-BE49-F238E27FC236}">
                <a16:creationId xmlns:a16="http://schemas.microsoft.com/office/drawing/2014/main" id="{284F540E-545F-4B95-821E-29467EC77BB9}"/>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FAFAFA"/>
                </a:solidFill>
                <a:latin typeface="DM Sans"/>
                <a:ea typeface="DM Sans"/>
                <a:cs typeface="DM Sans"/>
              </a:defRPr>
            </a:defPPr>
            <a:lvl1pPr algn="r">
              <a:defRPr sz="900" b="0">
                <a:solidFill>
                  <a:srgbClr val="FAFAFA"/>
                </a:solidFill>
                <a:latin typeface="DM Sans"/>
                <a:ea typeface="DM Sans"/>
                <a:cs typeface="DM Sans"/>
              </a:defRPr>
            </a:lvl1pPr>
            <a:lvl2pPr algn="r">
              <a:defRPr sz="900" b="0">
                <a:solidFill>
                  <a:srgbClr val="FAFAFA"/>
                </a:solidFill>
                <a:latin typeface="DM Sans"/>
                <a:ea typeface="DM Sans"/>
                <a:cs typeface="DM Sans"/>
              </a:defRPr>
            </a:lvl2pPr>
            <a:lvl3pPr algn="r">
              <a:defRPr sz="900" b="0">
                <a:solidFill>
                  <a:srgbClr val="FAFAFA"/>
                </a:solidFill>
                <a:latin typeface="DM Sans"/>
                <a:ea typeface="DM Sans"/>
                <a:cs typeface="DM Sans"/>
              </a:defRPr>
            </a:lvl3pPr>
            <a:lvl4pPr algn="r">
              <a:defRPr sz="900" b="0">
                <a:solidFill>
                  <a:srgbClr val="FAFAFA"/>
                </a:solidFill>
                <a:latin typeface="DM Sans"/>
                <a:ea typeface="DM Sans"/>
                <a:cs typeface="DM Sans"/>
              </a:defRPr>
            </a:lvl4pPr>
            <a:lvl5pPr algn="r">
              <a:defRPr sz="900" b="0">
                <a:solidFill>
                  <a:srgbClr val="FAFAFA"/>
                </a:solidFill>
                <a:latin typeface="DM Sans"/>
                <a:ea typeface="DM Sans"/>
                <a:cs typeface="DM Sans"/>
              </a:defRPr>
            </a:lvl5pPr>
            <a:lvl6pPr algn="r">
              <a:defRPr sz="900" b="0">
                <a:solidFill>
                  <a:srgbClr val="FAFAFA"/>
                </a:solidFill>
                <a:latin typeface="DM Sans"/>
                <a:ea typeface="DM Sans"/>
                <a:cs typeface="DM Sans"/>
              </a:defRPr>
            </a:lvl6pPr>
            <a:lvl7pPr algn="r">
              <a:defRPr sz="900" b="0">
                <a:solidFill>
                  <a:srgbClr val="FAFAFA"/>
                </a:solidFill>
                <a:latin typeface="DM Sans"/>
                <a:ea typeface="DM Sans"/>
                <a:cs typeface="DM Sans"/>
              </a:defRPr>
            </a:lvl7pPr>
            <a:lvl8pPr algn="r">
              <a:defRPr sz="900" b="0">
                <a:solidFill>
                  <a:srgbClr val="FAFAFA"/>
                </a:solidFill>
                <a:latin typeface="DM Sans"/>
                <a:ea typeface="DM Sans"/>
                <a:cs typeface="DM Sans"/>
              </a:defRPr>
            </a:lvl8pPr>
            <a:lvl9pPr algn="r">
              <a:defRPr sz="900" b="0">
                <a:solidFill>
                  <a:srgbClr val="FAFAFA"/>
                </a:solidFill>
                <a:latin typeface="DM Sans"/>
                <a:ea typeface="DM Sans"/>
                <a:cs typeface="DM Sans"/>
              </a:defRPr>
            </a:lvl9pPr>
          </a:lstStyle>
          <a:p xmlns:a="http://schemas.openxmlformats.org/drawingml/2006/main">
            <a:pPr algn="r">
              <a:defRPr sz="900" b="0">
                <a:solidFill>
                  <a:srgbClr val="FAFAFA"/>
                </a:solidFill>
                <a:latin typeface="DM Sans"/>
                <a:ea typeface="DM Sans"/>
                <a:cs typeface="DM Sans"/>
              </a:defRPr>
            </a:pPr>
            <a:r>
              <a:rPr sz="900" b="0">
                <a:solidFill>
                  <a:srgbClr val="FAFAFA"/>
                </a:solidFill>
                <a:latin typeface="DM Sans"/>
                <a:ea typeface="DM Sans"/>
                <a:cs typeface="DM Sans"/>
              </a:rPr>
              <a:t>Orecast</a:t>
            </a:r>
          </a:p>
        </p:txBody>
      </p:sp>
      <p:pic>
        <p:nvPicPr>
          <p:cNvPr id="16" name="">
            <a:extLst xmlns:a="http://schemas.openxmlformats.org/drawingml/2006/main">
              <a:ext uri="{FF2B5EF4-FFF2-40B4-BE49-F238E27FC236}">
                <a16:creationId xmlns:a16="http://schemas.microsoft.com/office/drawing/2014/main" id="{4B5DD1D6-7CF6-46A8-AB9D-FE2DCC23ECBA}"/>
              </a:ext>
            </a:extLst>
          </p:cNvPr>
          <p:cNvPicPr>
            <a:picLocks xmlns:a="http://schemas.openxmlformats.org/drawingml/2006/main" noChangeAspect="1"/>
          </p:cNvPicPr>
          <p:nvPr/>
        </p:nvPicPr>
        <p:blipFill>
          <a:blip xmlns:r="http://schemas.openxmlformats.org/officeDocument/2006/relationships" xmlns:a="http://schemas.openxmlformats.org/drawingml/2006/main" r:embed="R1ae23de5da9247c0"/>
          <a:srcRect xmlns:a="http://schemas.openxmlformats.org/drawingml/2006/main" l="11057" t="0" r="11057" b="0"/>
          <a:stretch xmlns:a="http://schemas.openxmlformats.org/drawingml/2006/main">
            <a:fillRect l="0" t="0" r="0" b="0"/>
          </a:stretch>
        </p:blipFill>
        <p:spPr>
          <a:xfrm xmlns:a="http://schemas.openxmlformats.org/drawingml/2006/main">
            <a:off x="6381750" y="1066800"/>
            <a:ext cx="5448300" cy="4857750"/>
          </a:xfrm>
          <a:prstGeom xmlns:a="http://schemas.openxmlformats.org/drawingml/2006/main" prst="roundRect">
            <a:avLst>
              <a:gd name="adj" fmla="val 3137"/>
            </a:avLst>
          </a:prstGeom>
        </p:spPr>
      </p:pic>
      <p:sp>
        <p:nvSpPr>
          <p:cNvPr id="17" name="">
            <a:extLst xmlns:a="http://schemas.openxmlformats.org/drawingml/2006/main">
              <a:ext uri="{FF2B5EF4-FFF2-40B4-BE49-F238E27FC236}">
                <a16:creationId xmlns:a16="http://schemas.microsoft.com/office/drawing/2014/main" id="{C8F3CF6D-8BF1-4CCE-A68D-F12DBAFF747C}"/>
              </a:ext>
            </a:extLst>
          </p:cNvPr>
          <p:cNvSpPr>
            <a:spLocks xmlns:a="http://schemas.openxmlformats.org/drawingml/2006/main" noGrp="1"/>
          </p:cNvSpPr>
          <p:nvPr/>
        </p:nvSpPr>
        <p:spPr>
          <a:xfrm xmlns:a="http://schemas.openxmlformats.org/drawingml/2006/main" rot="0">
            <a:off x="6438900" y="6219825"/>
            <a:ext cx="5238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FAFAFA"/>
                </a:solidFill>
                <a:latin typeface="DM Sans"/>
                <a:ea typeface="DM Sans"/>
                <a:cs typeface="DM Sans"/>
              </a:defRPr>
            </a:defPPr>
            <a:lvl1pPr algn="l">
              <a:defRPr sz="900" b="0">
                <a:solidFill>
                  <a:srgbClr val="FAFAFA"/>
                </a:solidFill>
                <a:latin typeface="DM Sans"/>
                <a:ea typeface="DM Sans"/>
                <a:cs typeface="DM Sans"/>
              </a:defRPr>
            </a:lvl1pPr>
            <a:lvl2pPr algn="l">
              <a:defRPr sz="900" b="0">
                <a:solidFill>
                  <a:srgbClr val="FAFAFA"/>
                </a:solidFill>
                <a:latin typeface="DM Sans"/>
                <a:ea typeface="DM Sans"/>
                <a:cs typeface="DM Sans"/>
              </a:defRPr>
            </a:lvl2pPr>
            <a:lvl3pPr algn="l">
              <a:defRPr sz="900" b="0">
                <a:solidFill>
                  <a:srgbClr val="FAFAFA"/>
                </a:solidFill>
                <a:latin typeface="DM Sans"/>
                <a:ea typeface="DM Sans"/>
                <a:cs typeface="DM Sans"/>
              </a:defRPr>
            </a:lvl3pPr>
            <a:lvl4pPr algn="l">
              <a:defRPr sz="900" b="0">
                <a:solidFill>
                  <a:srgbClr val="FAFAFA"/>
                </a:solidFill>
                <a:latin typeface="DM Sans"/>
                <a:ea typeface="DM Sans"/>
                <a:cs typeface="DM Sans"/>
              </a:defRPr>
            </a:lvl4pPr>
            <a:lvl5pPr algn="l">
              <a:defRPr sz="900" b="0">
                <a:solidFill>
                  <a:srgbClr val="FAFAFA"/>
                </a:solidFill>
                <a:latin typeface="DM Sans"/>
                <a:ea typeface="DM Sans"/>
                <a:cs typeface="DM Sans"/>
              </a:defRPr>
            </a:lvl5pPr>
            <a:lvl6pPr algn="l">
              <a:defRPr sz="900" b="0">
                <a:solidFill>
                  <a:srgbClr val="FAFAFA"/>
                </a:solidFill>
                <a:latin typeface="DM Sans"/>
                <a:ea typeface="DM Sans"/>
                <a:cs typeface="DM Sans"/>
              </a:defRPr>
            </a:lvl6pPr>
            <a:lvl7pPr algn="l">
              <a:defRPr sz="900" b="0">
                <a:solidFill>
                  <a:srgbClr val="FAFAFA"/>
                </a:solidFill>
                <a:latin typeface="DM Sans"/>
                <a:ea typeface="DM Sans"/>
                <a:cs typeface="DM Sans"/>
              </a:defRPr>
            </a:lvl7pPr>
            <a:lvl8pPr algn="l">
              <a:defRPr sz="900" b="0">
                <a:solidFill>
                  <a:srgbClr val="FAFAFA"/>
                </a:solidFill>
                <a:latin typeface="DM Sans"/>
                <a:ea typeface="DM Sans"/>
                <a:cs typeface="DM Sans"/>
              </a:defRPr>
            </a:lvl8pPr>
            <a:lvl9pPr algn="l">
              <a:defRPr sz="900" b="0">
                <a:solidFill>
                  <a:srgbClr val="FAFAFA"/>
                </a:solidFill>
                <a:latin typeface="DM Sans"/>
                <a:ea typeface="DM Sans"/>
                <a:cs typeface="DM Sans"/>
              </a:defRPr>
            </a:lvl9pPr>
          </a:lstStyle>
          <a:p xmlns:a="http://schemas.openxmlformats.org/drawingml/2006/main">
            <a:pPr algn="l">
              <a:defRPr sz="900" b="0">
                <a:solidFill>
                  <a:srgbClr val="FAFAFA"/>
                </a:solidFill>
                <a:latin typeface="DM Sans"/>
                <a:ea typeface="DM Sans"/>
                <a:cs typeface="DM Sans"/>
              </a:defRPr>
            </a:pPr>
            <a:r>
              <a:rPr sz="900" b="0">
                <a:solidFill>
                  <a:srgbClr val="FAFAFA"/>
                </a:solidFill>
                <a:latin typeface="DM Sans"/>
                <a:ea typeface="DM Sans"/>
                <a:cs typeface="DM Sans"/>
              </a:rPr>
              <a:t>Alaska DGGS RDF 2016-10. Comparison areas, not available listings.</a:t>
            </a:r>
          </a:p>
        </p:txBody>
      </p:sp>
    </p:spTree>
    <p:extLst>
      <p:ext uri="{BB962C8B-B14F-4D97-AF65-F5344CB8AC3E}">
        <p14:creationId xmlns:p14="http://schemas.microsoft.com/office/powerpoint/2010/main" val="1098717596"/>
      </p:ext>
    </p:extLst>
  </p:cSld>
</p:sld>
</file>

<file path=ppt/slides/slide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4" name="">
            <a:extLst xmlns:a="http://schemas.openxmlformats.org/drawingml/2006/main">
              <a:ext uri="{FF2B5EF4-FFF2-40B4-BE49-F238E27FC236}">
                <a16:creationId xmlns:a16="http://schemas.microsoft.com/office/drawing/2014/main" id="{445E1807-C9A5-403C-81C6-AB95A64FEE72}"/>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C8CF65EC-0667-4861-A7D2-4C5725CE2E79}"/>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03</a:t>
            </a:r>
          </a:p>
        </p:txBody>
      </p:sp>
      <p:sp>
        <p:nvSpPr>
          <p:cNvPr id="3" name="">
            <a:extLst xmlns:a="http://schemas.openxmlformats.org/drawingml/2006/main">
              <a:ext uri="{FF2B5EF4-FFF2-40B4-BE49-F238E27FC236}">
                <a16:creationId xmlns:a16="http://schemas.microsoft.com/office/drawing/2014/main" id="{BEDCDD6D-8423-45A6-ADC1-50369B350322}"/>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3655B3BC-F719-40DC-B956-A61ECD98F7D9}"/>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5ABD5F22-E9B0-4BB0-B64A-990194AB6BDD}"/>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C1451281-CC4C-4CAF-848C-4483CA37DD64}"/>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Algorithm</a:t>
            </a:r>
          </a:p>
        </p:txBody>
      </p:sp>
      <p:sp>
        <p:nvSpPr>
          <p:cNvPr id="7" name="">
            <a:extLst xmlns:a="http://schemas.openxmlformats.org/drawingml/2006/main">
              <a:ext uri="{FF2B5EF4-FFF2-40B4-BE49-F238E27FC236}">
                <a16:creationId xmlns:a16="http://schemas.microsoft.com/office/drawing/2014/main" id="{39C7F239-95A4-49FB-B46E-1B2396C4A099}"/>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0A0A0A"/>
                </a:solidFill>
                <a:latin typeface="DM Sans"/>
                <a:ea typeface="DM Sans"/>
                <a:cs typeface="DM Sans"/>
              </a:defRPr>
            </a:defPPr>
            <a:lvl1pPr algn="r">
              <a:defRPr sz="900" b="0">
                <a:solidFill>
                  <a:srgbClr val="0A0A0A"/>
                </a:solidFill>
                <a:latin typeface="DM Sans"/>
                <a:ea typeface="DM Sans"/>
                <a:cs typeface="DM Sans"/>
              </a:defRPr>
            </a:lvl1pPr>
            <a:lvl2pPr algn="r">
              <a:defRPr sz="900" b="0">
                <a:solidFill>
                  <a:srgbClr val="0A0A0A"/>
                </a:solidFill>
                <a:latin typeface="DM Sans"/>
                <a:ea typeface="DM Sans"/>
                <a:cs typeface="DM Sans"/>
              </a:defRPr>
            </a:lvl2pPr>
            <a:lvl3pPr algn="r">
              <a:defRPr sz="900" b="0">
                <a:solidFill>
                  <a:srgbClr val="0A0A0A"/>
                </a:solidFill>
                <a:latin typeface="DM Sans"/>
                <a:ea typeface="DM Sans"/>
                <a:cs typeface="DM Sans"/>
              </a:defRPr>
            </a:lvl3pPr>
            <a:lvl4pPr algn="r">
              <a:defRPr sz="900" b="0">
                <a:solidFill>
                  <a:srgbClr val="0A0A0A"/>
                </a:solidFill>
                <a:latin typeface="DM Sans"/>
                <a:ea typeface="DM Sans"/>
                <a:cs typeface="DM Sans"/>
              </a:defRPr>
            </a:lvl4pPr>
            <a:lvl5pPr algn="r">
              <a:defRPr sz="900" b="0">
                <a:solidFill>
                  <a:srgbClr val="0A0A0A"/>
                </a:solidFill>
                <a:latin typeface="DM Sans"/>
                <a:ea typeface="DM Sans"/>
                <a:cs typeface="DM Sans"/>
              </a:defRPr>
            </a:lvl5pPr>
            <a:lvl6pPr algn="r">
              <a:defRPr sz="900" b="0">
                <a:solidFill>
                  <a:srgbClr val="0A0A0A"/>
                </a:solidFill>
                <a:latin typeface="DM Sans"/>
                <a:ea typeface="DM Sans"/>
                <a:cs typeface="DM Sans"/>
              </a:defRPr>
            </a:lvl6pPr>
            <a:lvl7pPr algn="r">
              <a:defRPr sz="900" b="0">
                <a:solidFill>
                  <a:srgbClr val="0A0A0A"/>
                </a:solidFill>
                <a:latin typeface="DM Sans"/>
                <a:ea typeface="DM Sans"/>
                <a:cs typeface="DM Sans"/>
              </a:defRPr>
            </a:lvl7pPr>
            <a:lvl8pPr algn="r">
              <a:defRPr sz="900" b="0">
                <a:solidFill>
                  <a:srgbClr val="0A0A0A"/>
                </a:solidFill>
                <a:latin typeface="DM Sans"/>
                <a:ea typeface="DM Sans"/>
                <a:cs typeface="DM Sans"/>
              </a:defRPr>
            </a:lvl8pPr>
            <a:lvl9pPr algn="r">
              <a:defRPr sz="900" b="0">
                <a:solidFill>
                  <a:srgbClr val="0A0A0A"/>
                </a:solidFill>
                <a:latin typeface="DM Sans"/>
                <a:ea typeface="DM Sans"/>
                <a:cs typeface="DM Sans"/>
              </a:defRPr>
            </a:lvl9pPr>
          </a:lstStyle>
          <a:p xmlns:a="http://schemas.openxmlformats.org/drawingml/2006/main">
            <a:pPr algn="r">
              <a:defRPr sz="900" b="0">
                <a:solidFill>
                  <a:srgbClr val="0A0A0A"/>
                </a:solidFill>
                <a:latin typeface="DM Sans"/>
                <a:ea typeface="DM Sans"/>
                <a:cs typeface="DM Sans"/>
              </a:defRPr>
            </a:pPr>
            <a:r>
              <a:rPr sz="900" b="0">
                <a:solidFill>
                  <a:srgbClr val="0A0A0A"/>
                </a:solidFill>
                <a:latin typeface="DM Sans"/>
                <a:ea typeface="DM Sans"/>
                <a:cs typeface="DM Sans"/>
              </a:rPr>
              <a:t>Orecast</a:t>
            </a:r>
          </a:p>
        </p:txBody>
      </p:sp>
      <p:pic>
        <p:nvPicPr>
          <p:cNvPr id="8" name="">
            <a:extLst xmlns:a="http://schemas.openxmlformats.org/drawingml/2006/main">
              <a:ext uri="{FF2B5EF4-FFF2-40B4-BE49-F238E27FC236}">
                <a16:creationId xmlns:a16="http://schemas.microsoft.com/office/drawing/2014/main" id="{DDEF5BBD-F162-4477-8D72-497D56F51BD1}"/>
              </a:ext>
            </a:extLst>
          </p:cNvPr>
          <p:cNvPicPr>
            <a:picLocks xmlns:a="http://schemas.openxmlformats.org/drawingml/2006/main" noChangeAspect="1"/>
          </p:cNvPicPr>
          <p:nvPr/>
        </p:nvPicPr>
        <p:blipFill>
          <a:blip xmlns:r="http://schemas.openxmlformats.org/officeDocument/2006/relationships" xmlns:a="http://schemas.openxmlformats.org/drawingml/2006/main" r:embed="Rcb1bcb7f1b9d4240"/>
          <a:srcRect xmlns:a="http://schemas.openxmlformats.org/drawingml/2006/main" l="0" t="17874" r="0" b="17874"/>
          <a:stretch xmlns:a="http://schemas.openxmlformats.org/drawingml/2006/main">
            <a:fillRect l="0" t="0" r="0" b="0"/>
          </a:stretch>
        </p:blipFill>
        <p:spPr>
          <a:xfrm xmlns:a="http://schemas.openxmlformats.org/drawingml/2006/main">
            <a:off x="2552700" y="0"/>
            <a:ext cx="2647950" cy="1438275"/>
          </a:xfrm>
          <a:prstGeom xmlns:a="http://schemas.openxmlformats.org/drawingml/2006/main" prst="roundRect">
            <a:avLst>
              <a:gd name="adj" fmla="val 15894"/>
            </a:avLst>
          </a:prstGeom>
        </p:spPr>
      </p:pic>
      <p:sp>
        <p:nvSpPr>
          <p:cNvPr id="9" name="">
            <a:extLst xmlns:a="http://schemas.openxmlformats.org/drawingml/2006/main">
              <a:ext uri="{FF2B5EF4-FFF2-40B4-BE49-F238E27FC236}">
                <a16:creationId xmlns:a16="http://schemas.microsoft.com/office/drawing/2014/main" id="{7E1F4631-E66B-49E8-82DC-D4E29327A6C5}"/>
              </a:ext>
            </a:extLst>
          </p:cNvPr>
          <p:cNvSpPr>
            <a:spLocks xmlns:a="http://schemas.openxmlformats.org/drawingml/2006/main" noGrp="1"/>
          </p:cNvSpPr>
          <p:nvPr/>
        </p:nvSpPr>
        <p:spPr>
          <a:xfrm xmlns:a="http://schemas.openxmlformats.org/drawingml/2006/main" rot="0">
            <a:off x="400050" y="2038350"/>
            <a:ext cx="4857750" cy="2200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Orecast adjusts the</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gold forecast, then</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recomputes mineral</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and interest value,</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assignment and cash.</a:t>
            </a:r>
          </a:p>
        </p:txBody>
      </p:sp>
      <p:sp>
        <p:nvSpPr>
          <p:cNvPr id="10" name="">
            <a:extLst xmlns:a="http://schemas.openxmlformats.org/drawingml/2006/main">
              <a:ext uri="{FF2B5EF4-FFF2-40B4-BE49-F238E27FC236}">
                <a16:creationId xmlns:a16="http://schemas.microsoft.com/office/drawing/2014/main" id="{9A309F3E-322F-4A12-8099-CFC138BAE585}"/>
              </a:ext>
            </a:extLst>
          </p:cNvPr>
          <p:cNvSpPr>
            <a:spLocks xmlns:a="http://schemas.openxmlformats.org/drawingml/2006/main" noGrp="1"/>
          </p:cNvSpPr>
          <p:nvPr/>
        </p:nvSpPr>
        <p:spPr>
          <a:xfrm xmlns:a="http://schemas.openxmlformats.org/drawingml/2006/main" rot="0">
            <a:off x="400050" y="4819650"/>
            <a:ext cx="4857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0A0A0A"/>
                </a:solidFill>
                <a:latin typeface="DM Sans"/>
                <a:ea typeface="DM Sans"/>
                <a:cs typeface="DM Sans"/>
              </a:defRPr>
            </a:defPPr>
            <a:lvl1pPr algn="l">
              <a:defRPr sz="1575" b="0">
                <a:solidFill>
                  <a:srgbClr val="0A0A0A"/>
                </a:solidFill>
                <a:latin typeface="DM Sans"/>
                <a:ea typeface="DM Sans"/>
                <a:cs typeface="DM Sans"/>
              </a:defRPr>
            </a:lvl1pPr>
            <a:lvl2pPr algn="l">
              <a:defRPr sz="1575" b="0">
                <a:solidFill>
                  <a:srgbClr val="0A0A0A"/>
                </a:solidFill>
                <a:latin typeface="DM Sans"/>
                <a:ea typeface="DM Sans"/>
                <a:cs typeface="DM Sans"/>
              </a:defRPr>
            </a:lvl2pPr>
            <a:lvl3pPr algn="l">
              <a:defRPr sz="1575" b="0">
                <a:solidFill>
                  <a:srgbClr val="0A0A0A"/>
                </a:solidFill>
                <a:latin typeface="DM Sans"/>
                <a:ea typeface="DM Sans"/>
                <a:cs typeface="DM Sans"/>
              </a:defRPr>
            </a:lvl3pPr>
            <a:lvl4pPr algn="l">
              <a:defRPr sz="1575" b="0">
                <a:solidFill>
                  <a:srgbClr val="0A0A0A"/>
                </a:solidFill>
                <a:latin typeface="DM Sans"/>
                <a:ea typeface="DM Sans"/>
                <a:cs typeface="DM Sans"/>
              </a:defRPr>
            </a:lvl4pPr>
            <a:lvl5pPr algn="l">
              <a:defRPr sz="1575" b="0">
                <a:solidFill>
                  <a:srgbClr val="0A0A0A"/>
                </a:solidFill>
                <a:latin typeface="DM Sans"/>
                <a:ea typeface="DM Sans"/>
                <a:cs typeface="DM Sans"/>
              </a:defRPr>
            </a:lvl5pPr>
            <a:lvl6pPr algn="l">
              <a:defRPr sz="1575" b="0">
                <a:solidFill>
                  <a:srgbClr val="0A0A0A"/>
                </a:solidFill>
                <a:latin typeface="DM Sans"/>
                <a:ea typeface="DM Sans"/>
                <a:cs typeface="DM Sans"/>
              </a:defRPr>
            </a:lvl6pPr>
            <a:lvl7pPr algn="l">
              <a:defRPr sz="1575" b="0">
                <a:solidFill>
                  <a:srgbClr val="0A0A0A"/>
                </a:solidFill>
                <a:latin typeface="DM Sans"/>
                <a:ea typeface="DM Sans"/>
                <a:cs typeface="DM Sans"/>
              </a:defRPr>
            </a:lvl7pPr>
            <a:lvl8pPr algn="l">
              <a:defRPr sz="1575" b="0">
                <a:solidFill>
                  <a:srgbClr val="0A0A0A"/>
                </a:solidFill>
                <a:latin typeface="DM Sans"/>
                <a:ea typeface="DM Sans"/>
                <a:cs typeface="DM Sans"/>
              </a:defRPr>
            </a:lvl8pPr>
            <a:lvl9pPr algn="l">
              <a:defRPr sz="1575" b="0">
                <a:solidFill>
                  <a:srgbClr val="0A0A0A"/>
                </a:solidFill>
                <a:latin typeface="DM Sans"/>
                <a:ea typeface="DM Sans"/>
                <a:cs typeface="DM Sans"/>
              </a:defRPr>
            </a:lvl9pPr>
          </a:lstStyle>
          <a:p xmlns:a="http://schemas.openxmlformats.org/drawingml/2006/main">
            <a:pPr algn="l">
              <a:defRPr sz="1575" b="0">
                <a:solidFill>
                  <a:srgbClr val="0A0A0A"/>
                </a:solidFill>
                <a:latin typeface="DM Sans"/>
                <a:ea typeface="DM Sans"/>
                <a:cs typeface="DM Sans"/>
              </a:defRPr>
            </a:pPr>
            <a:r>
              <a:rPr sz="1575" b="0">
                <a:solidFill>
                  <a:srgbClr val="0A0A0A"/>
                </a:solidFill>
                <a:latin typeface="DM Sans"/>
                <a:ea typeface="DM Sans"/>
                <a:cs typeface="DM Sans"/>
              </a:rPr>
              <a:t>Observed assays screen evidence.</a:t>
            </a:r>
          </a:p>
          <a:p xmlns:a="http://schemas.openxmlformats.org/drawingml/2006/main">
            <a:pPr algn="l">
              <a:defRPr sz="1575" b="0">
                <a:solidFill>
                  <a:srgbClr val="0A0A0A"/>
                </a:solidFill>
                <a:latin typeface="DM Sans"/>
                <a:ea typeface="DM Sans"/>
                <a:cs typeface="DM Sans"/>
              </a:defRPr>
            </a:pPr>
            <a:r>
              <a:rPr sz="1575" b="0">
                <a:solidFill>
                  <a:srgbClr val="0A0A0A"/>
                </a:solidFill>
                <a:latin typeface="DM Sans"/>
                <a:ea typeface="DM Sans"/>
                <a:cs typeface="DM Sans"/>
              </a:rPr>
              <a:t>Recorded support informs a scenario.</a:t>
            </a:r>
          </a:p>
          <a:p xmlns:a="http://schemas.openxmlformats.org/drawingml/2006/main">
            <a:pPr algn="l">
              <a:defRPr sz="1575" b="0">
                <a:solidFill>
                  <a:srgbClr val="0A0A0A"/>
                </a:solidFill>
                <a:latin typeface="DM Sans"/>
                <a:ea typeface="DM Sans"/>
                <a:cs typeface="DM Sans"/>
              </a:defRPr>
            </a:pPr>
            <a:r>
              <a:rPr sz="1575" b="0">
                <a:solidFill>
                  <a:srgbClr val="0A0A0A"/>
                </a:solidFill>
                <a:latin typeface="DM Sans"/>
                <a:ea typeface="DM Sans"/>
                <a:cs typeface="DM Sans"/>
              </a:rPr>
              <a:t>Gold response and economics are assumed.</a:t>
            </a:r>
          </a:p>
        </p:txBody>
      </p:sp>
      <p:sp>
        <p:nvSpPr>
          <p:cNvPr id="11" name="">
            <a:extLst xmlns:a="http://schemas.openxmlformats.org/drawingml/2006/main">
              <a:ext uri="{FF2B5EF4-FFF2-40B4-BE49-F238E27FC236}">
                <a16:creationId xmlns:a16="http://schemas.microsoft.com/office/drawing/2014/main" id="{CE781556-5145-44F3-80E5-F64B475B0F7C}"/>
              </a:ext>
            </a:extLst>
          </p:cNvPr>
          <p:cNvSpPr>
            <a:spLocks xmlns:a="http://schemas.openxmlformats.org/drawingml/2006/main" noGrp="1"/>
          </p:cNvSpPr>
          <p:nvPr/>
        </p:nvSpPr>
        <p:spPr>
          <a:xfrm xmlns:a="http://schemas.openxmlformats.org/drawingml/2006/main">
            <a:off x="5581650" y="4419600"/>
            <a:ext cx="4895850" cy="1866900"/>
          </a:xfrm>
          <a:custGeom xmlns:a="http://schemas.openxmlformats.org/drawingml/2006/main">
            <a:pathLst>
              <a:path w="4895850" h="1866900">
                <a:moveTo>
                  <a:pt x="2447925" y="0"/>
                </a:moveTo>
                <a:lnTo>
                  <a:pt x="4895850" y="933450"/>
                </a:lnTo>
                <a:lnTo>
                  <a:pt x="2447925" y="1866900"/>
                </a:lnTo>
                <a:lnTo>
                  <a:pt x="0" y="933450"/>
                </a:lnTo>
                <a:close/>
              </a:path>
            </a:pathLst>
          </a:custGeom>
          <a:solidFill xmlns:a="http://schemas.openxmlformats.org/drawingml/2006/main">
            <a:srgbClr val="FAFAFA"/>
          </a:solidFill>
          <a:ln xmlns:a="http://schemas.openxmlformats.org/drawingml/2006/main" w="7144">
            <a:solidFill>
              <a:srgbClr val="0A0A0A"/>
            </a:solidFill>
            <a:prstDash val="solid"/>
          </a:ln>
        </p:spPr>
      </p:sp>
      <p:sp>
        <p:nvSpPr>
          <p:cNvPr id="12" name="">
            <a:extLst xmlns:a="http://schemas.openxmlformats.org/drawingml/2006/main">
              <a:ext uri="{FF2B5EF4-FFF2-40B4-BE49-F238E27FC236}">
                <a16:creationId xmlns:a16="http://schemas.microsoft.com/office/drawing/2014/main" id="{19B5150A-EA6C-46AF-B9AA-65572118DEE3}"/>
              </a:ext>
            </a:extLst>
          </p:cNvPr>
          <p:cNvSpPr>
            <a:spLocks xmlns:a="http://schemas.openxmlformats.org/drawingml/2006/main" noGrp="1"/>
          </p:cNvSpPr>
          <p:nvPr/>
        </p:nvSpPr>
        <p:spPr>
          <a:xfrm xmlns:a="http://schemas.openxmlformats.org/drawingml/2006/main">
            <a:off x="7539990" y="460629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3" name="">
            <a:extLst xmlns:a="http://schemas.openxmlformats.org/drawingml/2006/main">
              <a:ext uri="{FF2B5EF4-FFF2-40B4-BE49-F238E27FC236}">
                <a16:creationId xmlns:a16="http://schemas.microsoft.com/office/drawing/2014/main" id="{892C9DE0-322A-40D9-BA8A-1B2D633DA246}"/>
              </a:ext>
            </a:extLst>
          </p:cNvPr>
          <p:cNvSpPr>
            <a:spLocks xmlns:a="http://schemas.openxmlformats.org/drawingml/2006/main" noGrp="1"/>
          </p:cNvSpPr>
          <p:nvPr/>
        </p:nvSpPr>
        <p:spPr>
          <a:xfrm xmlns:a="http://schemas.openxmlformats.org/drawingml/2006/main">
            <a:off x="6071235" y="460629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14" name="">
            <a:extLst xmlns:a="http://schemas.openxmlformats.org/drawingml/2006/main">
              <a:ext uri="{FF2B5EF4-FFF2-40B4-BE49-F238E27FC236}">
                <a16:creationId xmlns:a16="http://schemas.microsoft.com/office/drawing/2014/main" id="{0C8BFDDD-C240-4C88-9B4A-0E34F7DB49D2}"/>
              </a:ext>
            </a:extLst>
          </p:cNvPr>
          <p:cNvSpPr>
            <a:spLocks xmlns:a="http://schemas.openxmlformats.org/drawingml/2006/main" noGrp="1"/>
          </p:cNvSpPr>
          <p:nvPr/>
        </p:nvSpPr>
        <p:spPr>
          <a:xfrm xmlns:a="http://schemas.openxmlformats.org/drawingml/2006/main">
            <a:off x="7050405" y="479298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5" name="">
            <a:extLst xmlns:a="http://schemas.openxmlformats.org/drawingml/2006/main">
              <a:ext uri="{FF2B5EF4-FFF2-40B4-BE49-F238E27FC236}">
                <a16:creationId xmlns:a16="http://schemas.microsoft.com/office/drawing/2014/main" id="{1C2651A9-4554-4AE7-874D-7E6288E6EA69}"/>
              </a:ext>
            </a:extLst>
          </p:cNvPr>
          <p:cNvSpPr>
            <a:spLocks xmlns:a="http://schemas.openxmlformats.org/drawingml/2006/main" noGrp="1"/>
          </p:cNvSpPr>
          <p:nvPr/>
        </p:nvSpPr>
        <p:spPr>
          <a:xfrm xmlns:a="http://schemas.openxmlformats.org/drawingml/2006/main">
            <a:off x="6560820" y="479298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16" name="">
            <a:extLst xmlns:a="http://schemas.openxmlformats.org/drawingml/2006/main">
              <a:ext uri="{FF2B5EF4-FFF2-40B4-BE49-F238E27FC236}">
                <a16:creationId xmlns:a16="http://schemas.microsoft.com/office/drawing/2014/main" id="{9E4EFD6A-FEBD-4A45-B2E7-2C4AE151D32D}"/>
              </a:ext>
            </a:extLst>
          </p:cNvPr>
          <p:cNvSpPr>
            <a:spLocks xmlns:a="http://schemas.openxmlformats.org/drawingml/2006/main" noGrp="1"/>
          </p:cNvSpPr>
          <p:nvPr/>
        </p:nvSpPr>
        <p:spPr>
          <a:xfrm xmlns:a="http://schemas.openxmlformats.org/drawingml/2006/main">
            <a:off x="6560820" y="497967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7" name="">
            <a:extLst xmlns:a="http://schemas.openxmlformats.org/drawingml/2006/main">
              <a:ext uri="{FF2B5EF4-FFF2-40B4-BE49-F238E27FC236}">
                <a16:creationId xmlns:a16="http://schemas.microsoft.com/office/drawing/2014/main" id="{8FE8DC48-8D82-4F57-AA58-1C55FE7D3910}"/>
              </a:ext>
            </a:extLst>
          </p:cNvPr>
          <p:cNvSpPr>
            <a:spLocks xmlns:a="http://schemas.openxmlformats.org/drawingml/2006/main" noGrp="1"/>
          </p:cNvSpPr>
          <p:nvPr/>
        </p:nvSpPr>
        <p:spPr>
          <a:xfrm xmlns:a="http://schemas.openxmlformats.org/drawingml/2006/main">
            <a:off x="7050405" y="497967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18" name="">
            <a:extLst xmlns:a="http://schemas.openxmlformats.org/drawingml/2006/main">
              <a:ext uri="{FF2B5EF4-FFF2-40B4-BE49-F238E27FC236}">
                <a16:creationId xmlns:a16="http://schemas.microsoft.com/office/drawing/2014/main" id="{1B6263FC-8FD0-4B9A-8ED5-4F713BDE3644}"/>
              </a:ext>
            </a:extLst>
          </p:cNvPr>
          <p:cNvSpPr>
            <a:spLocks xmlns:a="http://schemas.openxmlformats.org/drawingml/2006/main" noGrp="1"/>
          </p:cNvSpPr>
          <p:nvPr/>
        </p:nvSpPr>
        <p:spPr>
          <a:xfrm xmlns:a="http://schemas.openxmlformats.org/drawingml/2006/main">
            <a:off x="6071235" y="516636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9" name="">
            <a:extLst xmlns:a="http://schemas.openxmlformats.org/drawingml/2006/main">
              <a:ext uri="{FF2B5EF4-FFF2-40B4-BE49-F238E27FC236}">
                <a16:creationId xmlns:a16="http://schemas.microsoft.com/office/drawing/2014/main" id="{EF962DF1-77D7-4477-A5E4-4C98D0EF1030}"/>
              </a:ext>
            </a:extLst>
          </p:cNvPr>
          <p:cNvSpPr>
            <a:spLocks xmlns:a="http://schemas.openxmlformats.org/drawingml/2006/main" noGrp="1"/>
          </p:cNvSpPr>
          <p:nvPr/>
        </p:nvSpPr>
        <p:spPr>
          <a:xfrm xmlns:a="http://schemas.openxmlformats.org/drawingml/2006/main">
            <a:off x="7539990" y="516636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20" name="">
            <a:extLst xmlns:a="http://schemas.openxmlformats.org/drawingml/2006/main">
              <a:ext uri="{FF2B5EF4-FFF2-40B4-BE49-F238E27FC236}">
                <a16:creationId xmlns:a16="http://schemas.microsoft.com/office/drawing/2014/main" id="{E75F61B9-D7CF-40E7-8485-A5BEA022D10F}"/>
              </a:ext>
            </a:extLst>
          </p:cNvPr>
          <p:cNvSpPr>
            <a:spLocks xmlns:a="http://schemas.openxmlformats.org/drawingml/2006/main" noGrp="1"/>
          </p:cNvSpPr>
          <p:nvPr/>
        </p:nvSpPr>
        <p:spPr>
          <a:xfrm xmlns:a="http://schemas.openxmlformats.org/drawingml/2006/main">
            <a:off x="7784783" y="4893945"/>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1" name="">
            <a:extLst xmlns:a="http://schemas.openxmlformats.org/drawingml/2006/main">
              <a:ext uri="{FF2B5EF4-FFF2-40B4-BE49-F238E27FC236}">
                <a16:creationId xmlns:a16="http://schemas.microsoft.com/office/drawing/2014/main" id="{833AF0E7-EE26-40C3-A1AD-D334D5ACE423}"/>
              </a:ext>
            </a:extLst>
          </p:cNvPr>
          <p:cNvSpPr>
            <a:spLocks xmlns:a="http://schemas.openxmlformats.org/drawingml/2006/main" noGrp="1"/>
          </p:cNvSpPr>
          <p:nvPr/>
        </p:nvSpPr>
        <p:spPr>
          <a:xfrm xmlns:a="http://schemas.openxmlformats.org/drawingml/2006/main">
            <a:off x="7784783" y="4979670"/>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2" name="">
            <a:extLst xmlns:a="http://schemas.openxmlformats.org/drawingml/2006/main">
              <a:ext uri="{FF2B5EF4-FFF2-40B4-BE49-F238E27FC236}">
                <a16:creationId xmlns:a16="http://schemas.microsoft.com/office/drawing/2014/main" id="{F352DC6D-4CCF-4758-9E35-FA094C5563ED}"/>
              </a:ext>
            </a:extLst>
          </p:cNvPr>
          <p:cNvSpPr>
            <a:spLocks xmlns:a="http://schemas.openxmlformats.org/drawingml/2006/main" noGrp="1"/>
          </p:cNvSpPr>
          <p:nvPr/>
        </p:nvSpPr>
        <p:spPr>
          <a:xfrm xmlns:a="http://schemas.openxmlformats.org/drawingml/2006/main">
            <a:off x="7956233" y="4979670"/>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3" name="">
            <a:extLst xmlns:a="http://schemas.openxmlformats.org/drawingml/2006/main">
              <a:ext uri="{FF2B5EF4-FFF2-40B4-BE49-F238E27FC236}">
                <a16:creationId xmlns:a16="http://schemas.microsoft.com/office/drawing/2014/main" id="{80F0548D-3B3C-4CC0-91E0-8876C5E47900}"/>
              </a:ext>
            </a:extLst>
          </p:cNvPr>
          <p:cNvSpPr>
            <a:spLocks xmlns:a="http://schemas.openxmlformats.org/drawingml/2006/main" noGrp="1"/>
          </p:cNvSpPr>
          <p:nvPr/>
        </p:nvSpPr>
        <p:spPr>
          <a:xfrm xmlns:a="http://schemas.openxmlformats.org/drawingml/2006/main">
            <a:off x="8249888" y="5295328"/>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4" name="">
            <a:extLst xmlns:a="http://schemas.openxmlformats.org/drawingml/2006/main">
              <a:ext uri="{FF2B5EF4-FFF2-40B4-BE49-F238E27FC236}">
                <a16:creationId xmlns:a16="http://schemas.microsoft.com/office/drawing/2014/main" id="{F183E2FA-EF05-46A1-A467-6447B4B7BC56}"/>
              </a:ext>
            </a:extLst>
          </p:cNvPr>
          <p:cNvSpPr>
            <a:spLocks xmlns:a="http://schemas.openxmlformats.org/drawingml/2006/main" noGrp="1"/>
          </p:cNvSpPr>
          <p:nvPr/>
        </p:nvSpPr>
        <p:spPr>
          <a:xfrm xmlns:a="http://schemas.openxmlformats.org/drawingml/2006/main">
            <a:off x="8249888" y="5381053"/>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5" name="">
            <a:extLst xmlns:a="http://schemas.openxmlformats.org/drawingml/2006/main">
              <a:ext uri="{FF2B5EF4-FFF2-40B4-BE49-F238E27FC236}">
                <a16:creationId xmlns:a16="http://schemas.microsoft.com/office/drawing/2014/main" id="{AE432252-AF80-4F4D-8492-BE01CB3EEFD4}"/>
              </a:ext>
            </a:extLst>
          </p:cNvPr>
          <p:cNvSpPr>
            <a:spLocks xmlns:a="http://schemas.openxmlformats.org/drawingml/2006/main" noGrp="1"/>
          </p:cNvSpPr>
          <p:nvPr/>
        </p:nvSpPr>
        <p:spPr>
          <a:xfrm xmlns:a="http://schemas.openxmlformats.org/drawingml/2006/main">
            <a:off x="8421338" y="5381053"/>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6" name="">
            <a:extLst xmlns:a="http://schemas.openxmlformats.org/drawingml/2006/main">
              <a:ext uri="{FF2B5EF4-FFF2-40B4-BE49-F238E27FC236}">
                <a16:creationId xmlns:a16="http://schemas.microsoft.com/office/drawing/2014/main" id="{6EA178E5-B7C6-43D8-BF49-B8225CDC6E68}"/>
              </a:ext>
            </a:extLst>
          </p:cNvPr>
          <p:cNvSpPr>
            <a:spLocks xmlns:a="http://schemas.openxmlformats.org/drawingml/2006/main" noGrp="1"/>
          </p:cNvSpPr>
          <p:nvPr/>
        </p:nvSpPr>
        <p:spPr>
          <a:xfrm xmlns:a="http://schemas.openxmlformats.org/drawingml/2006/main">
            <a:off x="10306050" y="5353050"/>
            <a:ext cx="76200" cy="95"/>
          </a:xfrm>
          <a:custGeom xmlns:a="http://schemas.openxmlformats.org/drawingml/2006/main">
            <a:pathLst>
              <a:path w="76200" h="95">
                <a:moveTo>
                  <a:pt x="76200" y="0"/>
                </a:moveTo>
                <a:lnTo>
                  <a:pt x="0" y="0"/>
                </a:lnTo>
              </a:path>
            </a:pathLst>
          </a:custGeom>
          <a:noFill xmlns:a="http://schemas.openxmlformats.org/drawingml/2006/main"/>
          <a:ln xmlns:a="http://schemas.openxmlformats.org/drawingml/2006/main" w="5715">
            <a:solidFill>
              <a:srgbClr val="0A0A0A"/>
            </a:solidFill>
            <a:prstDash val="solid"/>
          </a:ln>
        </p:spPr>
      </p:sp>
      <p:sp>
        <p:nvSpPr>
          <p:cNvPr id="27" name="">
            <a:extLst xmlns:a="http://schemas.openxmlformats.org/drawingml/2006/main">
              <a:ext uri="{FF2B5EF4-FFF2-40B4-BE49-F238E27FC236}">
                <a16:creationId xmlns:a16="http://schemas.microsoft.com/office/drawing/2014/main" id="{E5EF70D9-1CA3-4D2D-8F6E-7BF5294FBEDC}"/>
              </a:ext>
            </a:extLst>
          </p:cNvPr>
          <p:cNvSpPr>
            <a:spLocks xmlns:a="http://schemas.openxmlformats.org/drawingml/2006/main" noGrp="1"/>
          </p:cNvSpPr>
          <p:nvPr/>
        </p:nvSpPr>
        <p:spPr>
          <a:xfrm xmlns:a="http://schemas.openxmlformats.org/drawingml/2006/main" rot="0">
            <a:off x="10382250" y="4572000"/>
            <a:ext cx="15621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Assignment</a:t>
            </a:r>
          </a:p>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and cash</a:t>
            </a:r>
          </a:p>
        </p:txBody>
      </p:sp>
      <p:sp>
        <p:nvSpPr>
          <p:cNvPr id="28" name="">
            <a:extLst xmlns:a="http://schemas.openxmlformats.org/drawingml/2006/main">
              <a:ext uri="{FF2B5EF4-FFF2-40B4-BE49-F238E27FC236}">
                <a16:creationId xmlns:a16="http://schemas.microsoft.com/office/drawing/2014/main" id="{77F3A714-FBA5-4289-B79D-2B04002E43EB}"/>
              </a:ext>
            </a:extLst>
          </p:cNvPr>
          <p:cNvSpPr>
            <a:spLocks xmlns:a="http://schemas.openxmlformats.org/drawingml/2006/main" noGrp="1"/>
          </p:cNvSpPr>
          <p:nvPr/>
        </p:nvSpPr>
        <p:spPr>
          <a:xfrm xmlns:a="http://schemas.openxmlformats.org/drawingml/2006/main" rot="0">
            <a:off x="10382250" y="502920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Assumed</a:t>
            </a:r>
          </a:p>
        </p:txBody>
      </p:sp>
      <p:sp>
        <p:nvSpPr>
          <p:cNvPr id="29" name="">
            <a:extLst xmlns:a="http://schemas.openxmlformats.org/drawingml/2006/main">
              <a:ext uri="{FF2B5EF4-FFF2-40B4-BE49-F238E27FC236}">
                <a16:creationId xmlns:a16="http://schemas.microsoft.com/office/drawing/2014/main" id="{694AF9C2-FDA1-4785-BAA6-AB1257566F77}"/>
              </a:ext>
            </a:extLst>
          </p:cNvPr>
          <p:cNvSpPr>
            <a:spLocks xmlns:a="http://schemas.openxmlformats.org/drawingml/2006/main" noGrp="1"/>
          </p:cNvSpPr>
          <p:nvPr/>
        </p:nvSpPr>
        <p:spPr>
          <a:xfrm xmlns:a="http://schemas.openxmlformats.org/drawingml/2006/main">
            <a:off x="5876925" y="2905125"/>
            <a:ext cx="4305300" cy="1628775"/>
          </a:xfrm>
          <a:custGeom xmlns:a="http://schemas.openxmlformats.org/drawingml/2006/main">
            <a:pathLst>
              <a:path w="4305300" h="1628775">
                <a:moveTo>
                  <a:pt x="2152650" y="0"/>
                </a:moveTo>
                <a:lnTo>
                  <a:pt x="4305300" y="814388"/>
                </a:lnTo>
                <a:lnTo>
                  <a:pt x="2152650" y="1628775"/>
                </a:lnTo>
                <a:lnTo>
                  <a:pt x="0" y="814388"/>
                </a:lnTo>
                <a:close/>
              </a:path>
            </a:pathLst>
          </a:custGeom>
          <a:solidFill xmlns:a="http://schemas.openxmlformats.org/drawingml/2006/main">
            <a:srgbClr val="FAFAFA"/>
          </a:solidFill>
          <a:ln xmlns:a="http://schemas.openxmlformats.org/drawingml/2006/main" w="7144">
            <a:solidFill>
              <a:srgbClr val="22C55E"/>
            </a:solidFill>
            <a:prstDash val="solid"/>
          </a:ln>
        </p:spPr>
      </p:sp>
      <p:sp>
        <p:nvSpPr>
          <p:cNvPr id="30" name="">
            <a:extLst xmlns:a="http://schemas.openxmlformats.org/drawingml/2006/main">
              <a:ext uri="{FF2B5EF4-FFF2-40B4-BE49-F238E27FC236}">
                <a16:creationId xmlns:a16="http://schemas.microsoft.com/office/drawing/2014/main" id="{74A60DB1-3603-4651-B431-D048994E3EB4}"/>
              </a:ext>
            </a:extLst>
          </p:cNvPr>
          <p:cNvSpPr>
            <a:spLocks xmlns:a="http://schemas.openxmlformats.org/drawingml/2006/main" noGrp="1"/>
          </p:cNvSpPr>
          <p:nvPr/>
        </p:nvSpPr>
        <p:spPr>
          <a:xfrm xmlns:a="http://schemas.openxmlformats.org/drawingml/2006/main">
            <a:off x="7599045" y="3068003"/>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1" name="">
            <a:extLst xmlns:a="http://schemas.openxmlformats.org/drawingml/2006/main">
              <a:ext uri="{FF2B5EF4-FFF2-40B4-BE49-F238E27FC236}">
                <a16:creationId xmlns:a16="http://schemas.microsoft.com/office/drawing/2014/main" id="{DF3AF101-BF0A-4762-9320-AAE603DD53F4}"/>
              </a:ext>
            </a:extLst>
          </p:cNvPr>
          <p:cNvSpPr>
            <a:spLocks xmlns:a="http://schemas.openxmlformats.org/drawingml/2006/main" noGrp="1"/>
          </p:cNvSpPr>
          <p:nvPr/>
        </p:nvSpPr>
        <p:spPr>
          <a:xfrm xmlns:a="http://schemas.openxmlformats.org/drawingml/2006/main">
            <a:off x="6307455" y="3068003"/>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2" name="">
            <a:extLst xmlns:a="http://schemas.openxmlformats.org/drawingml/2006/main">
              <a:ext uri="{FF2B5EF4-FFF2-40B4-BE49-F238E27FC236}">
                <a16:creationId xmlns:a16="http://schemas.microsoft.com/office/drawing/2014/main" id="{69863ECF-90C7-4487-B8B2-3BCBE8D2530B}"/>
              </a:ext>
            </a:extLst>
          </p:cNvPr>
          <p:cNvSpPr>
            <a:spLocks xmlns:a="http://schemas.openxmlformats.org/drawingml/2006/main" noGrp="1"/>
          </p:cNvSpPr>
          <p:nvPr/>
        </p:nvSpPr>
        <p:spPr>
          <a:xfrm xmlns:a="http://schemas.openxmlformats.org/drawingml/2006/main">
            <a:off x="7168515" y="3230880"/>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3" name="">
            <a:extLst xmlns:a="http://schemas.openxmlformats.org/drawingml/2006/main">
              <a:ext uri="{FF2B5EF4-FFF2-40B4-BE49-F238E27FC236}">
                <a16:creationId xmlns:a16="http://schemas.microsoft.com/office/drawing/2014/main" id="{71E563EC-BEF2-4F91-B715-391489794DFA}"/>
              </a:ext>
            </a:extLst>
          </p:cNvPr>
          <p:cNvSpPr>
            <a:spLocks xmlns:a="http://schemas.openxmlformats.org/drawingml/2006/main" noGrp="1"/>
          </p:cNvSpPr>
          <p:nvPr/>
        </p:nvSpPr>
        <p:spPr>
          <a:xfrm xmlns:a="http://schemas.openxmlformats.org/drawingml/2006/main">
            <a:off x="6737985" y="3230880"/>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4" name="">
            <a:extLst xmlns:a="http://schemas.openxmlformats.org/drawingml/2006/main">
              <a:ext uri="{FF2B5EF4-FFF2-40B4-BE49-F238E27FC236}">
                <a16:creationId xmlns:a16="http://schemas.microsoft.com/office/drawing/2014/main" id="{49DF10FF-25F5-4476-BADA-021F1BF9BCBD}"/>
              </a:ext>
            </a:extLst>
          </p:cNvPr>
          <p:cNvSpPr>
            <a:spLocks xmlns:a="http://schemas.openxmlformats.org/drawingml/2006/main" noGrp="1"/>
          </p:cNvSpPr>
          <p:nvPr/>
        </p:nvSpPr>
        <p:spPr>
          <a:xfrm xmlns:a="http://schemas.openxmlformats.org/drawingml/2006/main">
            <a:off x="6737985" y="3393758"/>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5" name="">
            <a:extLst xmlns:a="http://schemas.openxmlformats.org/drawingml/2006/main">
              <a:ext uri="{FF2B5EF4-FFF2-40B4-BE49-F238E27FC236}">
                <a16:creationId xmlns:a16="http://schemas.microsoft.com/office/drawing/2014/main" id="{CAE0EB0B-28F2-4FD6-BBE1-E57AD04F0D75}"/>
              </a:ext>
            </a:extLst>
          </p:cNvPr>
          <p:cNvSpPr>
            <a:spLocks xmlns:a="http://schemas.openxmlformats.org/drawingml/2006/main" noGrp="1"/>
          </p:cNvSpPr>
          <p:nvPr/>
        </p:nvSpPr>
        <p:spPr>
          <a:xfrm xmlns:a="http://schemas.openxmlformats.org/drawingml/2006/main">
            <a:off x="7168515" y="3393758"/>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6" name="">
            <a:extLst xmlns:a="http://schemas.openxmlformats.org/drawingml/2006/main">
              <a:ext uri="{FF2B5EF4-FFF2-40B4-BE49-F238E27FC236}">
                <a16:creationId xmlns:a16="http://schemas.microsoft.com/office/drawing/2014/main" id="{DA8C1A37-863B-4A77-A3A7-A6B15B81AB8C}"/>
              </a:ext>
            </a:extLst>
          </p:cNvPr>
          <p:cNvSpPr>
            <a:spLocks xmlns:a="http://schemas.openxmlformats.org/drawingml/2006/main" noGrp="1"/>
          </p:cNvSpPr>
          <p:nvPr/>
        </p:nvSpPr>
        <p:spPr>
          <a:xfrm xmlns:a="http://schemas.openxmlformats.org/drawingml/2006/main">
            <a:off x="6307455" y="3556635"/>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7" name="">
            <a:extLst xmlns:a="http://schemas.openxmlformats.org/drawingml/2006/main">
              <a:ext uri="{FF2B5EF4-FFF2-40B4-BE49-F238E27FC236}">
                <a16:creationId xmlns:a16="http://schemas.microsoft.com/office/drawing/2014/main" id="{AD4C2AEF-22AD-4F48-BAE8-394540BA342E}"/>
              </a:ext>
            </a:extLst>
          </p:cNvPr>
          <p:cNvSpPr>
            <a:spLocks xmlns:a="http://schemas.openxmlformats.org/drawingml/2006/main" noGrp="1"/>
          </p:cNvSpPr>
          <p:nvPr/>
        </p:nvSpPr>
        <p:spPr>
          <a:xfrm xmlns:a="http://schemas.openxmlformats.org/drawingml/2006/main">
            <a:off x="7599045" y="3556635"/>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8" name="">
            <a:extLst xmlns:a="http://schemas.openxmlformats.org/drawingml/2006/main">
              <a:ext uri="{FF2B5EF4-FFF2-40B4-BE49-F238E27FC236}">
                <a16:creationId xmlns:a16="http://schemas.microsoft.com/office/drawing/2014/main" id="{2DA186BB-8004-4305-B5B0-D90A69ED1F6E}"/>
              </a:ext>
            </a:extLst>
          </p:cNvPr>
          <p:cNvSpPr>
            <a:spLocks xmlns:a="http://schemas.openxmlformats.org/drawingml/2006/main" noGrp="1"/>
          </p:cNvSpPr>
          <p:nvPr/>
        </p:nvSpPr>
        <p:spPr>
          <a:xfrm xmlns:a="http://schemas.openxmlformats.org/drawingml/2006/main">
            <a:off x="7835837" y="3185874"/>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39" name="">
            <a:extLst xmlns:a="http://schemas.openxmlformats.org/drawingml/2006/main">
              <a:ext uri="{FF2B5EF4-FFF2-40B4-BE49-F238E27FC236}">
                <a16:creationId xmlns:a16="http://schemas.microsoft.com/office/drawing/2014/main" id="{C8FB6E14-270F-488F-8182-D6AE5FC706B9}"/>
              </a:ext>
            </a:extLst>
          </p:cNvPr>
          <p:cNvSpPr>
            <a:spLocks xmlns:a="http://schemas.openxmlformats.org/drawingml/2006/main" noGrp="1"/>
          </p:cNvSpPr>
          <p:nvPr/>
        </p:nvSpPr>
        <p:spPr>
          <a:xfrm xmlns:a="http://schemas.openxmlformats.org/drawingml/2006/main">
            <a:off x="7835837" y="3271599"/>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0" name="">
            <a:extLst xmlns:a="http://schemas.openxmlformats.org/drawingml/2006/main">
              <a:ext uri="{FF2B5EF4-FFF2-40B4-BE49-F238E27FC236}">
                <a16:creationId xmlns:a16="http://schemas.microsoft.com/office/drawing/2014/main" id="{3B333530-C428-469C-90D4-FA908F9B65BC}"/>
              </a:ext>
            </a:extLst>
          </p:cNvPr>
          <p:cNvSpPr>
            <a:spLocks xmlns:a="http://schemas.openxmlformats.org/drawingml/2006/main" noGrp="1"/>
          </p:cNvSpPr>
          <p:nvPr/>
        </p:nvSpPr>
        <p:spPr>
          <a:xfrm xmlns:a="http://schemas.openxmlformats.org/drawingml/2006/main">
            <a:off x="8007287" y="3271599"/>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1" name="">
            <a:extLst xmlns:a="http://schemas.openxmlformats.org/drawingml/2006/main">
              <a:ext uri="{FF2B5EF4-FFF2-40B4-BE49-F238E27FC236}">
                <a16:creationId xmlns:a16="http://schemas.microsoft.com/office/drawing/2014/main" id="{DF937582-5357-43EB-A013-6C51A04D2738}"/>
              </a:ext>
            </a:extLst>
          </p:cNvPr>
          <p:cNvSpPr>
            <a:spLocks xmlns:a="http://schemas.openxmlformats.org/drawingml/2006/main" noGrp="1"/>
          </p:cNvSpPr>
          <p:nvPr/>
        </p:nvSpPr>
        <p:spPr>
          <a:xfrm xmlns:a="http://schemas.openxmlformats.org/drawingml/2006/main">
            <a:off x="8460105" y="3405759"/>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2" name="">
            <a:extLst xmlns:a="http://schemas.openxmlformats.org/drawingml/2006/main">
              <a:ext uri="{FF2B5EF4-FFF2-40B4-BE49-F238E27FC236}">
                <a16:creationId xmlns:a16="http://schemas.microsoft.com/office/drawing/2014/main" id="{2FAD61CD-6F91-4CD0-AD3C-E95197D3A890}"/>
              </a:ext>
            </a:extLst>
          </p:cNvPr>
          <p:cNvSpPr>
            <a:spLocks xmlns:a="http://schemas.openxmlformats.org/drawingml/2006/main" noGrp="1"/>
          </p:cNvSpPr>
          <p:nvPr/>
        </p:nvSpPr>
        <p:spPr>
          <a:xfrm xmlns:a="http://schemas.openxmlformats.org/drawingml/2006/main">
            <a:off x="8460105" y="3491484"/>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3" name="">
            <a:extLst xmlns:a="http://schemas.openxmlformats.org/drawingml/2006/main">
              <a:ext uri="{FF2B5EF4-FFF2-40B4-BE49-F238E27FC236}">
                <a16:creationId xmlns:a16="http://schemas.microsoft.com/office/drawing/2014/main" id="{EC898A6C-3CBD-49B6-B8F4-956DBB4FA17D}"/>
              </a:ext>
            </a:extLst>
          </p:cNvPr>
          <p:cNvSpPr>
            <a:spLocks xmlns:a="http://schemas.openxmlformats.org/drawingml/2006/main" noGrp="1"/>
          </p:cNvSpPr>
          <p:nvPr/>
        </p:nvSpPr>
        <p:spPr>
          <a:xfrm xmlns:a="http://schemas.openxmlformats.org/drawingml/2006/main">
            <a:off x="8631555" y="3491484"/>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4" name="">
            <a:extLst xmlns:a="http://schemas.openxmlformats.org/drawingml/2006/main">
              <a:ext uri="{FF2B5EF4-FFF2-40B4-BE49-F238E27FC236}">
                <a16:creationId xmlns:a16="http://schemas.microsoft.com/office/drawing/2014/main" id="{697F32F6-C4CB-424A-8ED1-F5DC65D1F5CA}"/>
              </a:ext>
            </a:extLst>
          </p:cNvPr>
          <p:cNvSpPr>
            <a:spLocks xmlns:a="http://schemas.openxmlformats.org/drawingml/2006/main" noGrp="1"/>
          </p:cNvSpPr>
          <p:nvPr/>
        </p:nvSpPr>
        <p:spPr>
          <a:xfrm xmlns:a="http://schemas.openxmlformats.org/drawingml/2006/main">
            <a:off x="8266367" y="375594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5" name="">
            <a:extLst xmlns:a="http://schemas.openxmlformats.org/drawingml/2006/main">
              <a:ext uri="{FF2B5EF4-FFF2-40B4-BE49-F238E27FC236}">
                <a16:creationId xmlns:a16="http://schemas.microsoft.com/office/drawing/2014/main" id="{1103F5D1-C200-4441-B710-5BE371517971}"/>
              </a:ext>
            </a:extLst>
          </p:cNvPr>
          <p:cNvSpPr>
            <a:spLocks xmlns:a="http://schemas.openxmlformats.org/drawingml/2006/main" noGrp="1"/>
          </p:cNvSpPr>
          <p:nvPr/>
        </p:nvSpPr>
        <p:spPr>
          <a:xfrm xmlns:a="http://schemas.openxmlformats.org/drawingml/2006/main">
            <a:off x="8266367" y="384167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6" name="">
            <a:extLst xmlns:a="http://schemas.openxmlformats.org/drawingml/2006/main">
              <a:ext uri="{FF2B5EF4-FFF2-40B4-BE49-F238E27FC236}">
                <a16:creationId xmlns:a16="http://schemas.microsoft.com/office/drawing/2014/main" id="{621BBAB1-489D-4D05-A101-2F3DA62CAA2B}"/>
              </a:ext>
            </a:extLst>
          </p:cNvPr>
          <p:cNvSpPr>
            <a:spLocks xmlns:a="http://schemas.openxmlformats.org/drawingml/2006/main" noGrp="1"/>
          </p:cNvSpPr>
          <p:nvPr/>
        </p:nvSpPr>
        <p:spPr>
          <a:xfrm xmlns:a="http://schemas.openxmlformats.org/drawingml/2006/main">
            <a:off x="8437817" y="384167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7" name="">
            <a:extLst xmlns:a="http://schemas.openxmlformats.org/drawingml/2006/main">
              <a:ext uri="{FF2B5EF4-FFF2-40B4-BE49-F238E27FC236}">
                <a16:creationId xmlns:a16="http://schemas.microsoft.com/office/drawing/2014/main" id="{629F91DD-93AC-48CF-8482-AE4DD7829EC3}"/>
              </a:ext>
            </a:extLst>
          </p:cNvPr>
          <p:cNvSpPr>
            <a:spLocks xmlns:a="http://schemas.openxmlformats.org/drawingml/2006/main" noGrp="1"/>
          </p:cNvSpPr>
          <p:nvPr/>
        </p:nvSpPr>
        <p:spPr>
          <a:xfrm xmlns:a="http://schemas.openxmlformats.org/drawingml/2006/main">
            <a:off x="7319201" y="360935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8" name="">
            <a:extLst xmlns:a="http://schemas.openxmlformats.org/drawingml/2006/main">
              <a:ext uri="{FF2B5EF4-FFF2-40B4-BE49-F238E27FC236}">
                <a16:creationId xmlns:a16="http://schemas.microsoft.com/office/drawing/2014/main" id="{358D8564-563A-4489-A492-FA80B29963AB}"/>
              </a:ext>
            </a:extLst>
          </p:cNvPr>
          <p:cNvSpPr>
            <a:spLocks xmlns:a="http://schemas.openxmlformats.org/drawingml/2006/main" noGrp="1"/>
          </p:cNvSpPr>
          <p:nvPr/>
        </p:nvSpPr>
        <p:spPr>
          <a:xfrm xmlns:a="http://schemas.openxmlformats.org/drawingml/2006/main">
            <a:off x="7319201" y="369508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9" name="">
            <a:extLst xmlns:a="http://schemas.openxmlformats.org/drawingml/2006/main">
              <a:ext uri="{FF2B5EF4-FFF2-40B4-BE49-F238E27FC236}">
                <a16:creationId xmlns:a16="http://schemas.microsoft.com/office/drawing/2014/main" id="{71081E84-DC91-4514-9CF6-ACFD815AA276}"/>
              </a:ext>
            </a:extLst>
          </p:cNvPr>
          <p:cNvSpPr>
            <a:spLocks xmlns:a="http://schemas.openxmlformats.org/drawingml/2006/main" noGrp="1"/>
          </p:cNvSpPr>
          <p:nvPr/>
        </p:nvSpPr>
        <p:spPr>
          <a:xfrm xmlns:a="http://schemas.openxmlformats.org/drawingml/2006/main">
            <a:off x="7490651" y="369508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50" name="">
            <a:extLst xmlns:a="http://schemas.openxmlformats.org/drawingml/2006/main">
              <a:ext uri="{FF2B5EF4-FFF2-40B4-BE49-F238E27FC236}">
                <a16:creationId xmlns:a16="http://schemas.microsoft.com/office/drawing/2014/main" id="{1781236B-AA90-4F52-8CE4-EC58B0BA9DE9}"/>
              </a:ext>
            </a:extLst>
          </p:cNvPr>
          <p:cNvSpPr>
            <a:spLocks xmlns:a="http://schemas.openxmlformats.org/drawingml/2006/main" noGrp="1"/>
          </p:cNvSpPr>
          <p:nvPr/>
        </p:nvSpPr>
        <p:spPr>
          <a:xfrm xmlns:a="http://schemas.openxmlformats.org/drawingml/2006/main">
            <a:off x="10086975" y="3719513"/>
            <a:ext cx="219075" cy="95"/>
          </a:xfrm>
          <a:custGeom xmlns:a="http://schemas.openxmlformats.org/drawingml/2006/main">
            <a:pathLst>
              <a:path w="219075" h="95">
                <a:moveTo>
                  <a:pt x="0" y="0"/>
                </a:moveTo>
                <a:lnTo>
                  <a:pt x="219075" y="0"/>
                </a:lnTo>
              </a:path>
            </a:pathLst>
          </a:custGeom>
          <a:noFill xmlns:a="http://schemas.openxmlformats.org/drawingml/2006/main"/>
          <a:ln xmlns:a="http://schemas.openxmlformats.org/drawingml/2006/main" w="5715">
            <a:solidFill>
              <a:srgbClr val="22C55E"/>
            </a:solidFill>
            <a:prstDash val="solid"/>
          </a:ln>
        </p:spPr>
      </p:sp>
      <p:sp>
        <p:nvSpPr>
          <p:cNvPr id="51" name="">
            <a:extLst xmlns:a="http://schemas.openxmlformats.org/drawingml/2006/main">
              <a:ext uri="{FF2B5EF4-FFF2-40B4-BE49-F238E27FC236}">
                <a16:creationId xmlns:a16="http://schemas.microsoft.com/office/drawing/2014/main" id="{E3CFBFB6-4F3C-4594-99AE-69A814DDC1CE}"/>
              </a:ext>
            </a:extLst>
          </p:cNvPr>
          <p:cNvSpPr>
            <a:spLocks xmlns:a="http://schemas.openxmlformats.org/drawingml/2006/main" noGrp="1"/>
          </p:cNvSpPr>
          <p:nvPr/>
        </p:nvSpPr>
        <p:spPr>
          <a:xfrm xmlns:a="http://schemas.openxmlformats.org/drawingml/2006/main" rot="0">
            <a:off x="10382250" y="3529013"/>
            <a:ext cx="15621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Gold</a:t>
            </a:r>
          </a:p>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forecast</a:t>
            </a:r>
          </a:p>
        </p:txBody>
      </p:sp>
      <p:sp>
        <p:nvSpPr>
          <p:cNvPr id="52" name="">
            <a:extLst xmlns:a="http://schemas.openxmlformats.org/drawingml/2006/main">
              <a:ext uri="{FF2B5EF4-FFF2-40B4-BE49-F238E27FC236}">
                <a16:creationId xmlns:a16="http://schemas.microsoft.com/office/drawing/2014/main" id="{CF90BE51-BB90-4EAA-A17C-C7F0CD4DFADD}"/>
              </a:ext>
            </a:extLst>
          </p:cNvPr>
          <p:cNvSpPr>
            <a:spLocks xmlns:a="http://schemas.openxmlformats.org/drawingml/2006/main" noGrp="1"/>
          </p:cNvSpPr>
          <p:nvPr/>
        </p:nvSpPr>
        <p:spPr>
          <a:xfrm xmlns:a="http://schemas.openxmlformats.org/drawingml/2006/main" rot="0">
            <a:off x="10382250" y="3986213"/>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Assumed</a:t>
            </a:r>
          </a:p>
        </p:txBody>
      </p:sp>
      <p:sp>
        <p:nvSpPr>
          <p:cNvPr id="53" name="">
            <a:extLst xmlns:a="http://schemas.openxmlformats.org/drawingml/2006/main">
              <a:ext uri="{FF2B5EF4-FFF2-40B4-BE49-F238E27FC236}">
                <a16:creationId xmlns:a16="http://schemas.microsoft.com/office/drawing/2014/main" id="{32FA78AA-8F8E-41D1-93A8-253604C0B459}"/>
              </a:ext>
            </a:extLst>
          </p:cNvPr>
          <p:cNvSpPr>
            <a:spLocks xmlns:a="http://schemas.openxmlformats.org/drawingml/2006/main" noGrp="1"/>
          </p:cNvSpPr>
          <p:nvPr/>
        </p:nvSpPr>
        <p:spPr>
          <a:xfrm xmlns:a="http://schemas.openxmlformats.org/drawingml/2006/main">
            <a:off x="5876925" y="1685925"/>
            <a:ext cx="4305300" cy="1628775"/>
          </a:xfrm>
          <a:custGeom xmlns:a="http://schemas.openxmlformats.org/drawingml/2006/main">
            <a:pathLst>
              <a:path w="4305300" h="1628775">
                <a:moveTo>
                  <a:pt x="2152650" y="0"/>
                </a:moveTo>
                <a:lnTo>
                  <a:pt x="4305300" y="814388"/>
                </a:lnTo>
                <a:lnTo>
                  <a:pt x="2152650" y="1628775"/>
                </a:lnTo>
                <a:lnTo>
                  <a:pt x="0" y="814388"/>
                </a:lnTo>
                <a:close/>
              </a:path>
            </a:pathLst>
          </a:custGeom>
          <a:solidFill xmlns:a="http://schemas.openxmlformats.org/drawingml/2006/main">
            <a:srgbClr val="FAFAFA"/>
          </a:solidFill>
          <a:ln xmlns:a="http://schemas.openxmlformats.org/drawingml/2006/main" w="7144">
            <a:solidFill>
              <a:srgbClr val="B6B6B6"/>
            </a:solidFill>
            <a:prstDash val="solid"/>
          </a:ln>
        </p:spPr>
      </p:sp>
      <p:sp>
        <p:nvSpPr>
          <p:cNvPr id="54" name="">
            <a:extLst xmlns:a="http://schemas.openxmlformats.org/drawingml/2006/main">
              <a:ext uri="{FF2B5EF4-FFF2-40B4-BE49-F238E27FC236}">
                <a16:creationId xmlns:a16="http://schemas.microsoft.com/office/drawing/2014/main" id="{0B1BD01F-F28B-4F14-A659-BC302056A688}"/>
              </a:ext>
            </a:extLst>
          </p:cNvPr>
          <p:cNvSpPr>
            <a:spLocks xmlns:a="http://schemas.openxmlformats.org/drawingml/2006/main" noGrp="1"/>
          </p:cNvSpPr>
          <p:nvPr/>
        </p:nvSpPr>
        <p:spPr>
          <a:xfrm xmlns:a="http://schemas.openxmlformats.org/drawingml/2006/main">
            <a:off x="7599045" y="1848803"/>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55" name="">
            <a:extLst xmlns:a="http://schemas.openxmlformats.org/drawingml/2006/main">
              <a:ext uri="{FF2B5EF4-FFF2-40B4-BE49-F238E27FC236}">
                <a16:creationId xmlns:a16="http://schemas.microsoft.com/office/drawing/2014/main" id="{9B7119A1-4497-4F76-B167-62B2598673AA}"/>
              </a:ext>
            </a:extLst>
          </p:cNvPr>
          <p:cNvSpPr>
            <a:spLocks xmlns:a="http://schemas.openxmlformats.org/drawingml/2006/main" noGrp="1"/>
          </p:cNvSpPr>
          <p:nvPr/>
        </p:nvSpPr>
        <p:spPr>
          <a:xfrm xmlns:a="http://schemas.openxmlformats.org/drawingml/2006/main">
            <a:off x="6307455" y="1848803"/>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56" name="">
            <a:extLst xmlns:a="http://schemas.openxmlformats.org/drawingml/2006/main">
              <a:ext uri="{FF2B5EF4-FFF2-40B4-BE49-F238E27FC236}">
                <a16:creationId xmlns:a16="http://schemas.microsoft.com/office/drawing/2014/main" id="{22B34F8C-FD43-4261-90C6-A3AFB58B2200}"/>
              </a:ext>
            </a:extLst>
          </p:cNvPr>
          <p:cNvSpPr>
            <a:spLocks xmlns:a="http://schemas.openxmlformats.org/drawingml/2006/main" noGrp="1"/>
          </p:cNvSpPr>
          <p:nvPr/>
        </p:nvSpPr>
        <p:spPr>
          <a:xfrm xmlns:a="http://schemas.openxmlformats.org/drawingml/2006/main">
            <a:off x="7168515" y="2011680"/>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57" name="">
            <a:extLst xmlns:a="http://schemas.openxmlformats.org/drawingml/2006/main">
              <a:ext uri="{FF2B5EF4-FFF2-40B4-BE49-F238E27FC236}">
                <a16:creationId xmlns:a16="http://schemas.microsoft.com/office/drawing/2014/main" id="{9123AF71-DAA3-4F4C-926F-B33D7EAAE30C}"/>
              </a:ext>
            </a:extLst>
          </p:cNvPr>
          <p:cNvSpPr>
            <a:spLocks xmlns:a="http://schemas.openxmlformats.org/drawingml/2006/main" noGrp="1"/>
          </p:cNvSpPr>
          <p:nvPr/>
        </p:nvSpPr>
        <p:spPr>
          <a:xfrm xmlns:a="http://schemas.openxmlformats.org/drawingml/2006/main">
            <a:off x="6737985" y="2011680"/>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58" name="">
            <a:extLst xmlns:a="http://schemas.openxmlformats.org/drawingml/2006/main">
              <a:ext uri="{FF2B5EF4-FFF2-40B4-BE49-F238E27FC236}">
                <a16:creationId xmlns:a16="http://schemas.microsoft.com/office/drawing/2014/main" id="{F3F223BF-469A-45B3-A767-81FF3A7AA30A}"/>
              </a:ext>
            </a:extLst>
          </p:cNvPr>
          <p:cNvSpPr>
            <a:spLocks xmlns:a="http://schemas.openxmlformats.org/drawingml/2006/main" noGrp="1"/>
          </p:cNvSpPr>
          <p:nvPr/>
        </p:nvSpPr>
        <p:spPr>
          <a:xfrm xmlns:a="http://schemas.openxmlformats.org/drawingml/2006/main">
            <a:off x="6737985" y="2174558"/>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59" name="">
            <a:extLst xmlns:a="http://schemas.openxmlformats.org/drawingml/2006/main">
              <a:ext uri="{FF2B5EF4-FFF2-40B4-BE49-F238E27FC236}">
                <a16:creationId xmlns:a16="http://schemas.microsoft.com/office/drawing/2014/main" id="{D3A0EDA1-14DB-4CBB-AB69-06EE669321FD}"/>
              </a:ext>
            </a:extLst>
          </p:cNvPr>
          <p:cNvSpPr>
            <a:spLocks xmlns:a="http://schemas.openxmlformats.org/drawingml/2006/main" noGrp="1"/>
          </p:cNvSpPr>
          <p:nvPr/>
        </p:nvSpPr>
        <p:spPr>
          <a:xfrm xmlns:a="http://schemas.openxmlformats.org/drawingml/2006/main">
            <a:off x="7168515" y="2174558"/>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60" name="">
            <a:extLst xmlns:a="http://schemas.openxmlformats.org/drawingml/2006/main">
              <a:ext uri="{FF2B5EF4-FFF2-40B4-BE49-F238E27FC236}">
                <a16:creationId xmlns:a16="http://schemas.microsoft.com/office/drawing/2014/main" id="{4277ECEF-C9B5-43E2-AEEA-42CF8FFA88EE}"/>
              </a:ext>
            </a:extLst>
          </p:cNvPr>
          <p:cNvSpPr>
            <a:spLocks xmlns:a="http://schemas.openxmlformats.org/drawingml/2006/main" noGrp="1"/>
          </p:cNvSpPr>
          <p:nvPr/>
        </p:nvSpPr>
        <p:spPr>
          <a:xfrm xmlns:a="http://schemas.openxmlformats.org/drawingml/2006/main">
            <a:off x="6307455" y="2337435"/>
            <a:ext cx="2152650" cy="814387"/>
          </a:xfrm>
          <a:custGeom xmlns:a="http://schemas.openxmlformats.org/drawingml/2006/main">
            <a:pathLst>
              <a:path w="2152650" h="814387">
                <a:moveTo>
                  <a:pt x="0" y="0"/>
                </a:moveTo>
                <a:lnTo>
                  <a:pt x="2152650" y="814387"/>
                </a:lnTo>
              </a:path>
            </a:pathLst>
          </a:custGeom>
          <a:noFill xmlns:a="http://schemas.openxmlformats.org/drawingml/2006/main"/>
          <a:ln xmlns:a="http://schemas.openxmlformats.org/drawingml/2006/main" w="3334">
            <a:solidFill>
              <a:srgbClr val="B6B6B6"/>
            </a:solidFill>
            <a:prstDash val="solid"/>
          </a:ln>
        </p:spPr>
      </p:sp>
      <p:sp>
        <p:nvSpPr>
          <p:cNvPr id="61" name="">
            <a:extLst xmlns:a="http://schemas.openxmlformats.org/drawingml/2006/main">
              <a:ext uri="{FF2B5EF4-FFF2-40B4-BE49-F238E27FC236}">
                <a16:creationId xmlns:a16="http://schemas.microsoft.com/office/drawing/2014/main" id="{1139E4CC-92B3-4A47-93CF-E023A8549E67}"/>
              </a:ext>
            </a:extLst>
          </p:cNvPr>
          <p:cNvSpPr>
            <a:spLocks xmlns:a="http://schemas.openxmlformats.org/drawingml/2006/main" noGrp="1"/>
          </p:cNvSpPr>
          <p:nvPr/>
        </p:nvSpPr>
        <p:spPr>
          <a:xfrm xmlns:a="http://schemas.openxmlformats.org/drawingml/2006/main">
            <a:off x="7599045" y="2337435"/>
            <a:ext cx="2152650" cy="814387"/>
          </a:xfrm>
          <a:custGeom xmlns:a="http://schemas.openxmlformats.org/drawingml/2006/main">
            <a:pathLst>
              <a:path w="2152650" h="814387">
                <a:moveTo>
                  <a:pt x="2152650" y="0"/>
                </a:moveTo>
                <a:lnTo>
                  <a:pt x="0" y="814387"/>
                </a:lnTo>
              </a:path>
            </a:pathLst>
          </a:custGeom>
          <a:noFill xmlns:a="http://schemas.openxmlformats.org/drawingml/2006/main"/>
          <a:ln xmlns:a="http://schemas.openxmlformats.org/drawingml/2006/main" w="3334">
            <a:solidFill>
              <a:srgbClr val="B6B6B6"/>
            </a:solidFill>
            <a:prstDash val="solid"/>
          </a:ln>
        </p:spPr>
      </p:sp>
      <p:sp>
        <p:nvSpPr>
          <p:cNvPr id="62" name="">
            <a:extLst xmlns:a="http://schemas.openxmlformats.org/drawingml/2006/main">
              <a:ext uri="{FF2B5EF4-FFF2-40B4-BE49-F238E27FC236}">
                <a16:creationId xmlns:a16="http://schemas.microsoft.com/office/drawing/2014/main" id="{682E8815-08AC-41CF-B4CE-2BEE869D7574}"/>
              </a:ext>
            </a:extLst>
          </p:cNvPr>
          <p:cNvSpPr>
            <a:spLocks xmlns:a="http://schemas.openxmlformats.org/drawingml/2006/main" noGrp="1"/>
          </p:cNvSpPr>
          <p:nvPr/>
        </p:nvSpPr>
        <p:spPr>
          <a:xfrm xmlns:a="http://schemas.openxmlformats.org/drawingml/2006/main">
            <a:off x="7835837" y="1966674"/>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3" name="">
            <a:extLst xmlns:a="http://schemas.openxmlformats.org/drawingml/2006/main">
              <a:ext uri="{FF2B5EF4-FFF2-40B4-BE49-F238E27FC236}">
                <a16:creationId xmlns:a16="http://schemas.microsoft.com/office/drawing/2014/main" id="{0B4E81D9-0ED2-400C-BBBF-10226505526B}"/>
              </a:ext>
            </a:extLst>
          </p:cNvPr>
          <p:cNvSpPr>
            <a:spLocks xmlns:a="http://schemas.openxmlformats.org/drawingml/2006/main" noGrp="1"/>
          </p:cNvSpPr>
          <p:nvPr/>
        </p:nvSpPr>
        <p:spPr>
          <a:xfrm xmlns:a="http://schemas.openxmlformats.org/drawingml/2006/main">
            <a:off x="7835837" y="2052399"/>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4" name="">
            <a:extLst xmlns:a="http://schemas.openxmlformats.org/drawingml/2006/main">
              <a:ext uri="{FF2B5EF4-FFF2-40B4-BE49-F238E27FC236}">
                <a16:creationId xmlns:a16="http://schemas.microsoft.com/office/drawing/2014/main" id="{8F8FDFF3-A66D-4FAE-835D-D54927BB8BAB}"/>
              </a:ext>
            </a:extLst>
          </p:cNvPr>
          <p:cNvSpPr>
            <a:spLocks xmlns:a="http://schemas.openxmlformats.org/drawingml/2006/main" noGrp="1"/>
          </p:cNvSpPr>
          <p:nvPr/>
        </p:nvSpPr>
        <p:spPr>
          <a:xfrm xmlns:a="http://schemas.openxmlformats.org/drawingml/2006/main">
            <a:off x="8007287" y="2052399"/>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5" name="">
            <a:extLst xmlns:a="http://schemas.openxmlformats.org/drawingml/2006/main">
              <a:ext uri="{FF2B5EF4-FFF2-40B4-BE49-F238E27FC236}">
                <a16:creationId xmlns:a16="http://schemas.microsoft.com/office/drawing/2014/main" id="{498D5189-2811-49F7-927C-868A37AA6362}"/>
              </a:ext>
            </a:extLst>
          </p:cNvPr>
          <p:cNvSpPr>
            <a:spLocks xmlns:a="http://schemas.openxmlformats.org/drawingml/2006/main" noGrp="1"/>
          </p:cNvSpPr>
          <p:nvPr/>
        </p:nvSpPr>
        <p:spPr>
          <a:xfrm xmlns:a="http://schemas.openxmlformats.org/drawingml/2006/main">
            <a:off x="8460105" y="2186559"/>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6" name="">
            <a:extLst xmlns:a="http://schemas.openxmlformats.org/drawingml/2006/main">
              <a:ext uri="{FF2B5EF4-FFF2-40B4-BE49-F238E27FC236}">
                <a16:creationId xmlns:a16="http://schemas.microsoft.com/office/drawing/2014/main" id="{045A48C6-18BE-47CD-BC70-217F7515CD2D}"/>
              </a:ext>
            </a:extLst>
          </p:cNvPr>
          <p:cNvSpPr>
            <a:spLocks xmlns:a="http://schemas.openxmlformats.org/drawingml/2006/main" noGrp="1"/>
          </p:cNvSpPr>
          <p:nvPr/>
        </p:nvSpPr>
        <p:spPr>
          <a:xfrm xmlns:a="http://schemas.openxmlformats.org/drawingml/2006/main">
            <a:off x="8460105" y="2272284"/>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7" name="">
            <a:extLst xmlns:a="http://schemas.openxmlformats.org/drawingml/2006/main">
              <a:ext uri="{FF2B5EF4-FFF2-40B4-BE49-F238E27FC236}">
                <a16:creationId xmlns:a16="http://schemas.microsoft.com/office/drawing/2014/main" id="{23DB9370-FC27-426F-A974-692C2E956384}"/>
              </a:ext>
            </a:extLst>
          </p:cNvPr>
          <p:cNvSpPr>
            <a:spLocks xmlns:a="http://schemas.openxmlformats.org/drawingml/2006/main" noGrp="1"/>
          </p:cNvSpPr>
          <p:nvPr/>
        </p:nvSpPr>
        <p:spPr>
          <a:xfrm xmlns:a="http://schemas.openxmlformats.org/drawingml/2006/main">
            <a:off x="8631555" y="2272284"/>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8" name="">
            <a:extLst xmlns:a="http://schemas.openxmlformats.org/drawingml/2006/main">
              <a:ext uri="{FF2B5EF4-FFF2-40B4-BE49-F238E27FC236}">
                <a16:creationId xmlns:a16="http://schemas.microsoft.com/office/drawing/2014/main" id="{DC29DB92-3E2A-454D-BA13-CAB6F827A53A}"/>
              </a:ext>
            </a:extLst>
          </p:cNvPr>
          <p:cNvSpPr>
            <a:spLocks xmlns:a="http://schemas.openxmlformats.org/drawingml/2006/main" noGrp="1"/>
          </p:cNvSpPr>
          <p:nvPr/>
        </p:nvSpPr>
        <p:spPr>
          <a:xfrm xmlns:a="http://schemas.openxmlformats.org/drawingml/2006/main">
            <a:off x="8266367" y="253674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9" name="">
            <a:extLst xmlns:a="http://schemas.openxmlformats.org/drawingml/2006/main">
              <a:ext uri="{FF2B5EF4-FFF2-40B4-BE49-F238E27FC236}">
                <a16:creationId xmlns:a16="http://schemas.microsoft.com/office/drawing/2014/main" id="{2EBF5378-C428-46CA-AE26-7FAC66385B95}"/>
              </a:ext>
            </a:extLst>
          </p:cNvPr>
          <p:cNvSpPr>
            <a:spLocks xmlns:a="http://schemas.openxmlformats.org/drawingml/2006/main" noGrp="1"/>
          </p:cNvSpPr>
          <p:nvPr/>
        </p:nvSpPr>
        <p:spPr>
          <a:xfrm xmlns:a="http://schemas.openxmlformats.org/drawingml/2006/main">
            <a:off x="8266367" y="262247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0" name="">
            <a:extLst xmlns:a="http://schemas.openxmlformats.org/drawingml/2006/main">
              <a:ext uri="{FF2B5EF4-FFF2-40B4-BE49-F238E27FC236}">
                <a16:creationId xmlns:a16="http://schemas.microsoft.com/office/drawing/2014/main" id="{2AE45A7A-D826-44FA-B2D2-8BFB3D85494C}"/>
              </a:ext>
            </a:extLst>
          </p:cNvPr>
          <p:cNvSpPr>
            <a:spLocks xmlns:a="http://schemas.openxmlformats.org/drawingml/2006/main" noGrp="1"/>
          </p:cNvSpPr>
          <p:nvPr/>
        </p:nvSpPr>
        <p:spPr>
          <a:xfrm xmlns:a="http://schemas.openxmlformats.org/drawingml/2006/main">
            <a:off x="8437817" y="262247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1" name="">
            <a:extLst xmlns:a="http://schemas.openxmlformats.org/drawingml/2006/main">
              <a:ext uri="{FF2B5EF4-FFF2-40B4-BE49-F238E27FC236}">
                <a16:creationId xmlns:a16="http://schemas.microsoft.com/office/drawing/2014/main" id="{D18EDD56-1EBE-400B-898E-39E5AC783D65}"/>
              </a:ext>
            </a:extLst>
          </p:cNvPr>
          <p:cNvSpPr>
            <a:spLocks xmlns:a="http://schemas.openxmlformats.org/drawingml/2006/main" noGrp="1"/>
          </p:cNvSpPr>
          <p:nvPr/>
        </p:nvSpPr>
        <p:spPr>
          <a:xfrm xmlns:a="http://schemas.openxmlformats.org/drawingml/2006/main">
            <a:off x="7319201" y="239015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2" name="">
            <a:extLst xmlns:a="http://schemas.openxmlformats.org/drawingml/2006/main">
              <a:ext uri="{FF2B5EF4-FFF2-40B4-BE49-F238E27FC236}">
                <a16:creationId xmlns:a16="http://schemas.microsoft.com/office/drawing/2014/main" id="{600AE314-C888-4EFF-BFE8-D515E293A307}"/>
              </a:ext>
            </a:extLst>
          </p:cNvPr>
          <p:cNvSpPr>
            <a:spLocks xmlns:a="http://schemas.openxmlformats.org/drawingml/2006/main" noGrp="1"/>
          </p:cNvSpPr>
          <p:nvPr/>
        </p:nvSpPr>
        <p:spPr>
          <a:xfrm xmlns:a="http://schemas.openxmlformats.org/drawingml/2006/main">
            <a:off x="7319201" y="247588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3" name="">
            <a:extLst xmlns:a="http://schemas.openxmlformats.org/drawingml/2006/main">
              <a:ext uri="{FF2B5EF4-FFF2-40B4-BE49-F238E27FC236}">
                <a16:creationId xmlns:a16="http://schemas.microsoft.com/office/drawing/2014/main" id="{A3A91F56-4F75-477C-BB32-32B68562089B}"/>
              </a:ext>
            </a:extLst>
          </p:cNvPr>
          <p:cNvSpPr>
            <a:spLocks xmlns:a="http://schemas.openxmlformats.org/drawingml/2006/main" noGrp="1"/>
          </p:cNvSpPr>
          <p:nvPr/>
        </p:nvSpPr>
        <p:spPr>
          <a:xfrm xmlns:a="http://schemas.openxmlformats.org/drawingml/2006/main">
            <a:off x="7490651" y="247588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4" name="">
            <a:extLst xmlns:a="http://schemas.openxmlformats.org/drawingml/2006/main">
              <a:ext uri="{FF2B5EF4-FFF2-40B4-BE49-F238E27FC236}">
                <a16:creationId xmlns:a16="http://schemas.microsoft.com/office/drawing/2014/main" id="{DC493332-183F-4D31-819B-CE6C3D16086E}"/>
              </a:ext>
            </a:extLst>
          </p:cNvPr>
          <p:cNvSpPr>
            <a:spLocks xmlns:a="http://schemas.openxmlformats.org/drawingml/2006/main" noGrp="1"/>
          </p:cNvSpPr>
          <p:nvPr/>
        </p:nvSpPr>
        <p:spPr>
          <a:xfrm xmlns:a="http://schemas.openxmlformats.org/drawingml/2006/main">
            <a:off x="10086975" y="2500313"/>
            <a:ext cx="219075" cy="95"/>
          </a:xfrm>
          <a:custGeom xmlns:a="http://schemas.openxmlformats.org/drawingml/2006/main">
            <a:pathLst>
              <a:path w="219075" h="95">
                <a:moveTo>
                  <a:pt x="0" y="0"/>
                </a:moveTo>
                <a:lnTo>
                  <a:pt x="219075" y="0"/>
                </a:lnTo>
              </a:path>
            </a:pathLst>
          </a:custGeom>
          <a:noFill xmlns:a="http://schemas.openxmlformats.org/drawingml/2006/main"/>
          <a:ln xmlns:a="http://schemas.openxmlformats.org/drawingml/2006/main" w="5715">
            <a:solidFill>
              <a:srgbClr val="B6B6B6"/>
            </a:solidFill>
            <a:prstDash val="solid"/>
          </a:ln>
        </p:spPr>
      </p:sp>
      <p:sp>
        <p:nvSpPr>
          <p:cNvPr id="75" name="">
            <a:extLst xmlns:a="http://schemas.openxmlformats.org/drawingml/2006/main">
              <a:ext uri="{FF2B5EF4-FFF2-40B4-BE49-F238E27FC236}">
                <a16:creationId xmlns:a16="http://schemas.microsoft.com/office/drawing/2014/main" id="{9B2D8017-AB23-46DE-8D3A-CC3B92983186}"/>
              </a:ext>
            </a:extLst>
          </p:cNvPr>
          <p:cNvSpPr>
            <a:spLocks xmlns:a="http://schemas.openxmlformats.org/drawingml/2006/main" noGrp="1"/>
          </p:cNvSpPr>
          <p:nvPr/>
        </p:nvSpPr>
        <p:spPr>
          <a:xfrm xmlns:a="http://schemas.openxmlformats.org/drawingml/2006/main" rot="0">
            <a:off x="10382250" y="2309813"/>
            <a:ext cx="15621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Recorded</a:t>
            </a:r>
          </a:p>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support</a:t>
            </a:r>
          </a:p>
        </p:txBody>
      </p:sp>
      <p:sp>
        <p:nvSpPr>
          <p:cNvPr id="76" name="">
            <a:extLst xmlns:a="http://schemas.openxmlformats.org/drawingml/2006/main">
              <a:ext uri="{FF2B5EF4-FFF2-40B4-BE49-F238E27FC236}">
                <a16:creationId xmlns:a16="http://schemas.microsoft.com/office/drawing/2014/main" id="{17AC509F-1107-484B-8C5E-47CAEF8A0DAE}"/>
              </a:ext>
            </a:extLst>
          </p:cNvPr>
          <p:cNvSpPr>
            <a:spLocks xmlns:a="http://schemas.openxmlformats.org/drawingml/2006/main" noGrp="1"/>
          </p:cNvSpPr>
          <p:nvPr/>
        </p:nvSpPr>
        <p:spPr>
          <a:xfrm xmlns:a="http://schemas.openxmlformats.org/drawingml/2006/main" rot="0">
            <a:off x="10382250" y="2767013"/>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Simulated</a:t>
            </a:r>
          </a:p>
        </p:txBody>
      </p:sp>
      <p:sp>
        <p:nvSpPr>
          <p:cNvPr id="77" name="">
            <a:extLst xmlns:a="http://schemas.openxmlformats.org/drawingml/2006/main">
              <a:ext uri="{FF2B5EF4-FFF2-40B4-BE49-F238E27FC236}">
                <a16:creationId xmlns:a16="http://schemas.microsoft.com/office/drawing/2014/main" id="{900C100B-0D05-4B2B-8C1E-02EF21849E93}"/>
              </a:ext>
            </a:extLst>
          </p:cNvPr>
          <p:cNvSpPr>
            <a:spLocks xmlns:a="http://schemas.openxmlformats.org/drawingml/2006/main" noGrp="1"/>
          </p:cNvSpPr>
          <p:nvPr/>
        </p:nvSpPr>
        <p:spPr>
          <a:xfrm xmlns:a="http://schemas.openxmlformats.org/drawingml/2006/main">
            <a:off x="5876925" y="466725"/>
            <a:ext cx="4305300" cy="1628775"/>
          </a:xfrm>
          <a:custGeom xmlns:a="http://schemas.openxmlformats.org/drawingml/2006/main">
            <a:pathLst>
              <a:path w="4305300" h="1628775">
                <a:moveTo>
                  <a:pt x="2152650" y="0"/>
                </a:moveTo>
                <a:lnTo>
                  <a:pt x="4305300" y="814388"/>
                </a:lnTo>
                <a:lnTo>
                  <a:pt x="2152650" y="1628775"/>
                </a:lnTo>
                <a:lnTo>
                  <a:pt x="0" y="814388"/>
                </a:lnTo>
                <a:close/>
              </a:path>
            </a:pathLst>
          </a:custGeom>
          <a:solidFill xmlns:a="http://schemas.openxmlformats.org/drawingml/2006/main">
            <a:srgbClr val="FAFAFA"/>
          </a:solidFill>
          <a:ln xmlns:a="http://schemas.openxmlformats.org/drawingml/2006/main" w="7144">
            <a:solidFill>
              <a:srgbClr val="B6B6B6"/>
            </a:solidFill>
            <a:prstDash val="solid"/>
          </a:ln>
        </p:spPr>
      </p:sp>
      <p:sp>
        <p:nvSpPr>
          <p:cNvPr id="78" name="">
            <a:extLst xmlns:a="http://schemas.openxmlformats.org/drawingml/2006/main">
              <a:ext uri="{FF2B5EF4-FFF2-40B4-BE49-F238E27FC236}">
                <a16:creationId xmlns:a16="http://schemas.microsoft.com/office/drawing/2014/main" id="{D83FD3C9-A5BE-4C72-9517-FAE991F31C44}"/>
              </a:ext>
            </a:extLst>
          </p:cNvPr>
          <p:cNvSpPr>
            <a:spLocks xmlns:a="http://schemas.openxmlformats.org/drawingml/2006/main" noGrp="1"/>
          </p:cNvSpPr>
          <p:nvPr/>
        </p:nvSpPr>
        <p:spPr>
          <a:xfrm xmlns:a="http://schemas.openxmlformats.org/drawingml/2006/main">
            <a:off x="7599045" y="629603"/>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79" name="">
            <a:extLst xmlns:a="http://schemas.openxmlformats.org/drawingml/2006/main">
              <a:ext uri="{FF2B5EF4-FFF2-40B4-BE49-F238E27FC236}">
                <a16:creationId xmlns:a16="http://schemas.microsoft.com/office/drawing/2014/main" id="{B26AC11E-B698-4535-A8C4-600FB1D441ED}"/>
              </a:ext>
            </a:extLst>
          </p:cNvPr>
          <p:cNvSpPr>
            <a:spLocks xmlns:a="http://schemas.openxmlformats.org/drawingml/2006/main" noGrp="1"/>
          </p:cNvSpPr>
          <p:nvPr/>
        </p:nvSpPr>
        <p:spPr>
          <a:xfrm xmlns:a="http://schemas.openxmlformats.org/drawingml/2006/main">
            <a:off x="6307455" y="629603"/>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80" name="">
            <a:extLst xmlns:a="http://schemas.openxmlformats.org/drawingml/2006/main">
              <a:ext uri="{FF2B5EF4-FFF2-40B4-BE49-F238E27FC236}">
                <a16:creationId xmlns:a16="http://schemas.microsoft.com/office/drawing/2014/main" id="{A30B2793-3182-41A8-A7C5-6DB87C161780}"/>
              </a:ext>
            </a:extLst>
          </p:cNvPr>
          <p:cNvSpPr>
            <a:spLocks xmlns:a="http://schemas.openxmlformats.org/drawingml/2006/main" noGrp="1"/>
          </p:cNvSpPr>
          <p:nvPr/>
        </p:nvSpPr>
        <p:spPr>
          <a:xfrm xmlns:a="http://schemas.openxmlformats.org/drawingml/2006/main">
            <a:off x="7168515" y="792480"/>
            <a:ext cx="2152650" cy="814387"/>
          </a:xfrm>
          <a:custGeom xmlns:a="http://schemas.openxmlformats.org/drawingml/2006/main">
            <a:pathLst>
              <a:path w="2152650" h="814387">
                <a:moveTo>
                  <a:pt x="0" y="0"/>
                </a:moveTo>
                <a:lnTo>
                  <a:pt x="2152650" y="814387"/>
                </a:lnTo>
              </a:path>
            </a:pathLst>
          </a:custGeom>
          <a:noFill xmlns:a="http://schemas.openxmlformats.org/drawingml/2006/main"/>
          <a:ln xmlns:a="http://schemas.openxmlformats.org/drawingml/2006/main" w="3334">
            <a:solidFill>
              <a:srgbClr val="B6B6B6"/>
            </a:solidFill>
            <a:prstDash val="solid"/>
          </a:ln>
        </p:spPr>
      </p:sp>
      <p:sp>
        <p:nvSpPr>
          <p:cNvPr id="81" name="">
            <a:extLst xmlns:a="http://schemas.openxmlformats.org/drawingml/2006/main">
              <a:ext uri="{FF2B5EF4-FFF2-40B4-BE49-F238E27FC236}">
                <a16:creationId xmlns:a16="http://schemas.microsoft.com/office/drawing/2014/main" id="{FD29D4C5-221F-4D32-B0BE-2E958AAACE06}"/>
              </a:ext>
            </a:extLst>
          </p:cNvPr>
          <p:cNvSpPr>
            <a:spLocks xmlns:a="http://schemas.openxmlformats.org/drawingml/2006/main" noGrp="1"/>
          </p:cNvSpPr>
          <p:nvPr/>
        </p:nvSpPr>
        <p:spPr>
          <a:xfrm xmlns:a="http://schemas.openxmlformats.org/drawingml/2006/main">
            <a:off x="6737985" y="792480"/>
            <a:ext cx="2152650" cy="814387"/>
          </a:xfrm>
          <a:custGeom xmlns:a="http://schemas.openxmlformats.org/drawingml/2006/main">
            <a:pathLst>
              <a:path w="2152650" h="814387">
                <a:moveTo>
                  <a:pt x="2152650" y="0"/>
                </a:moveTo>
                <a:lnTo>
                  <a:pt x="0" y="814387"/>
                </a:lnTo>
              </a:path>
            </a:pathLst>
          </a:custGeom>
          <a:noFill xmlns:a="http://schemas.openxmlformats.org/drawingml/2006/main"/>
          <a:ln xmlns:a="http://schemas.openxmlformats.org/drawingml/2006/main" w="3334">
            <a:solidFill>
              <a:srgbClr val="B6B6B6"/>
            </a:solidFill>
            <a:prstDash val="solid"/>
          </a:ln>
        </p:spPr>
      </p:sp>
      <p:sp>
        <p:nvSpPr>
          <p:cNvPr id="82" name="">
            <a:extLst xmlns:a="http://schemas.openxmlformats.org/drawingml/2006/main">
              <a:ext uri="{FF2B5EF4-FFF2-40B4-BE49-F238E27FC236}">
                <a16:creationId xmlns:a16="http://schemas.microsoft.com/office/drawing/2014/main" id="{CE586606-5492-478A-B1DB-42B75F33F558}"/>
              </a:ext>
            </a:extLst>
          </p:cNvPr>
          <p:cNvSpPr>
            <a:spLocks xmlns:a="http://schemas.openxmlformats.org/drawingml/2006/main" noGrp="1"/>
          </p:cNvSpPr>
          <p:nvPr/>
        </p:nvSpPr>
        <p:spPr>
          <a:xfrm xmlns:a="http://schemas.openxmlformats.org/drawingml/2006/main">
            <a:off x="6737985" y="955358"/>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83" name="">
            <a:extLst xmlns:a="http://schemas.openxmlformats.org/drawingml/2006/main">
              <a:ext uri="{FF2B5EF4-FFF2-40B4-BE49-F238E27FC236}">
                <a16:creationId xmlns:a16="http://schemas.microsoft.com/office/drawing/2014/main" id="{26A4FB2E-7F64-46BC-B297-6480B41F8E09}"/>
              </a:ext>
            </a:extLst>
          </p:cNvPr>
          <p:cNvSpPr>
            <a:spLocks xmlns:a="http://schemas.openxmlformats.org/drawingml/2006/main" noGrp="1"/>
          </p:cNvSpPr>
          <p:nvPr/>
        </p:nvSpPr>
        <p:spPr>
          <a:xfrm xmlns:a="http://schemas.openxmlformats.org/drawingml/2006/main">
            <a:off x="7168515" y="955358"/>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84" name="">
            <a:extLst xmlns:a="http://schemas.openxmlformats.org/drawingml/2006/main">
              <a:ext uri="{FF2B5EF4-FFF2-40B4-BE49-F238E27FC236}">
                <a16:creationId xmlns:a16="http://schemas.microsoft.com/office/drawing/2014/main" id="{439BE77C-3E7A-4443-B08D-51161ADD4BC7}"/>
              </a:ext>
            </a:extLst>
          </p:cNvPr>
          <p:cNvSpPr>
            <a:spLocks xmlns:a="http://schemas.openxmlformats.org/drawingml/2006/main" noGrp="1"/>
          </p:cNvSpPr>
          <p:nvPr/>
        </p:nvSpPr>
        <p:spPr>
          <a:xfrm xmlns:a="http://schemas.openxmlformats.org/drawingml/2006/main">
            <a:off x="6307455" y="1118235"/>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85" name="">
            <a:extLst xmlns:a="http://schemas.openxmlformats.org/drawingml/2006/main">
              <a:ext uri="{FF2B5EF4-FFF2-40B4-BE49-F238E27FC236}">
                <a16:creationId xmlns:a16="http://schemas.microsoft.com/office/drawing/2014/main" id="{6823189C-3AE8-49F5-BBFE-E4DB4C684C84}"/>
              </a:ext>
            </a:extLst>
          </p:cNvPr>
          <p:cNvSpPr>
            <a:spLocks xmlns:a="http://schemas.openxmlformats.org/drawingml/2006/main" noGrp="1"/>
          </p:cNvSpPr>
          <p:nvPr/>
        </p:nvSpPr>
        <p:spPr>
          <a:xfrm xmlns:a="http://schemas.openxmlformats.org/drawingml/2006/main">
            <a:off x="7599045" y="1118235"/>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86" name="">
            <a:extLst xmlns:a="http://schemas.openxmlformats.org/drawingml/2006/main">
              <a:ext uri="{FF2B5EF4-FFF2-40B4-BE49-F238E27FC236}">
                <a16:creationId xmlns:a16="http://schemas.microsoft.com/office/drawing/2014/main" id="{0E84BC58-8EE7-4103-B227-48F2B6A47630}"/>
              </a:ext>
            </a:extLst>
          </p:cNvPr>
          <p:cNvSpPr>
            <a:spLocks xmlns:a="http://schemas.openxmlformats.org/drawingml/2006/main" noGrp="1"/>
          </p:cNvSpPr>
          <p:nvPr/>
        </p:nvSpPr>
        <p:spPr>
          <a:xfrm xmlns:a="http://schemas.openxmlformats.org/drawingml/2006/main">
            <a:off x="7835837" y="747474"/>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87" name="">
            <a:extLst xmlns:a="http://schemas.openxmlformats.org/drawingml/2006/main">
              <a:ext uri="{FF2B5EF4-FFF2-40B4-BE49-F238E27FC236}">
                <a16:creationId xmlns:a16="http://schemas.microsoft.com/office/drawing/2014/main" id="{E630E7BF-A077-4307-978C-F3D1282B481B}"/>
              </a:ext>
            </a:extLst>
          </p:cNvPr>
          <p:cNvSpPr>
            <a:spLocks xmlns:a="http://schemas.openxmlformats.org/drawingml/2006/main" noGrp="1"/>
          </p:cNvSpPr>
          <p:nvPr/>
        </p:nvSpPr>
        <p:spPr>
          <a:xfrm xmlns:a="http://schemas.openxmlformats.org/drawingml/2006/main">
            <a:off x="7835837" y="833199"/>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88" name="">
            <a:extLst xmlns:a="http://schemas.openxmlformats.org/drawingml/2006/main">
              <a:ext uri="{FF2B5EF4-FFF2-40B4-BE49-F238E27FC236}">
                <a16:creationId xmlns:a16="http://schemas.microsoft.com/office/drawing/2014/main" id="{4A6446D1-5D7D-4D6A-9906-A76C691C5C98}"/>
              </a:ext>
            </a:extLst>
          </p:cNvPr>
          <p:cNvSpPr>
            <a:spLocks xmlns:a="http://schemas.openxmlformats.org/drawingml/2006/main" noGrp="1"/>
          </p:cNvSpPr>
          <p:nvPr/>
        </p:nvSpPr>
        <p:spPr>
          <a:xfrm xmlns:a="http://schemas.openxmlformats.org/drawingml/2006/main">
            <a:off x="8007287" y="833199"/>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89" name="">
            <a:extLst xmlns:a="http://schemas.openxmlformats.org/drawingml/2006/main">
              <a:ext uri="{FF2B5EF4-FFF2-40B4-BE49-F238E27FC236}">
                <a16:creationId xmlns:a16="http://schemas.microsoft.com/office/drawing/2014/main" id="{19484191-A8C8-4E41-86C2-2D32AB20F2AE}"/>
              </a:ext>
            </a:extLst>
          </p:cNvPr>
          <p:cNvSpPr>
            <a:spLocks xmlns:a="http://schemas.openxmlformats.org/drawingml/2006/main" noGrp="1"/>
          </p:cNvSpPr>
          <p:nvPr/>
        </p:nvSpPr>
        <p:spPr>
          <a:xfrm xmlns:a="http://schemas.openxmlformats.org/drawingml/2006/main">
            <a:off x="8460105" y="967359"/>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0" name="">
            <a:extLst xmlns:a="http://schemas.openxmlformats.org/drawingml/2006/main">
              <a:ext uri="{FF2B5EF4-FFF2-40B4-BE49-F238E27FC236}">
                <a16:creationId xmlns:a16="http://schemas.microsoft.com/office/drawing/2014/main" id="{23408710-0E6B-4652-B7AF-2CAC9C718334}"/>
              </a:ext>
            </a:extLst>
          </p:cNvPr>
          <p:cNvSpPr>
            <a:spLocks xmlns:a="http://schemas.openxmlformats.org/drawingml/2006/main" noGrp="1"/>
          </p:cNvSpPr>
          <p:nvPr/>
        </p:nvSpPr>
        <p:spPr>
          <a:xfrm xmlns:a="http://schemas.openxmlformats.org/drawingml/2006/main">
            <a:off x="8460105" y="1053084"/>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1" name="">
            <a:extLst xmlns:a="http://schemas.openxmlformats.org/drawingml/2006/main">
              <a:ext uri="{FF2B5EF4-FFF2-40B4-BE49-F238E27FC236}">
                <a16:creationId xmlns:a16="http://schemas.microsoft.com/office/drawing/2014/main" id="{6C450B8B-B521-4029-A952-3B1EAD577614}"/>
              </a:ext>
            </a:extLst>
          </p:cNvPr>
          <p:cNvSpPr>
            <a:spLocks xmlns:a="http://schemas.openxmlformats.org/drawingml/2006/main" noGrp="1"/>
          </p:cNvSpPr>
          <p:nvPr/>
        </p:nvSpPr>
        <p:spPr>
          <a:xfrm xmlns:a="http://schemas.openxmlformats.org/drawingml/2006/main">
            <a:off x="8631555" y="1053084"/>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2" name="">
            <a:extLst xmlns:a="http://schemas.openxmlformats.org/drawingml/2006/main">
              <a:ext uri="{FF2B5EF4-FFF2-40B4-BE49-F238E27FC236}">
                <a16:creationId xmlns:a16="http://schemas.microsoft.com/office/drawing/2014/main" id="{D28D869C-BA8D-4FEE-845E-AE055A6C8F40}"/>
              </a:ext>
            </a:extLst>
          </p:cNvPr>
          <p:cNvSpPr>
            <a:spLocks xmlns:a="http://schemas.openxmlformats.org/drawingml/2006/main" noGrp="1"/>
          </p:cNvSpPr>
          <p:nvPr/>
        </p:nvSpPr>
        <p:spPr>
          <a:xfrm xmlns:a="http://schemas.openxmlformats.org/drawingml/2006/main">
            <a:off x="8266367" y="131754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3" name="">
            <a:extLst xmlns:a="http://schemas.openxmlformats.org/drawingml/2006/main">
              <a:ext uri="{FF2B5EF4-FFF2-40B4-BE49-F238E27FC236}">
                <a16:creationId xmlns:a16="http://schemas.microsoft.com/office/drawing/2014/main" id="{16618119-61A0-4D5F-92E4-E0ECF8E455D4}"/>
              </a:ext>
            </a:extLst>
          </p:cNvPr>
          <p:cNvSpPr>
            <a:spLocks xmlns:a="http://schemas.openxmlformats.org/drawingml/2006/main" noGrp="1"/>
          </p:cNvSpPr>
          <p:nvPr/>
        </p:nvSpPr>
        <p:spPr>
          <a:xfrm xmlns:a="http://schemas.openxmlformats.org/drawingml/2006/main">
            <a:off x="8266367" y="140327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4" name="">
            <a:extLst xmlns:a="http://schemas.openxmlformats.org/drawingml/2006/main">
              <a:ext uri="{FF2B5EF4-FFF2-40B4-BE49-F238E27FC236}">
                <a16:creationId xmlns:a16="http://schemas.microsoft.com/office/drawing/2014/main" id="{70E6C186-7B02-4795-83BE-5EEDB6B692B7}"/>
              </a:ext>
            </a:extLst>
          </p:cNvPr>
          <p:cNvSpPr>
            <a:spLocks xmlns:a="http://schemas.openxmlformats.org/drawingml/2006/main" noGrp="1"/>
          </p:cNvSpPr>
          <p:nvPr/>
        </p:nvSpPr>
        <p:spPr>
          <a:xfrm xmlns:a="http://schemas.openxmlformats.org/drawingml/2006/main">
            <a:off x="8437817" y="140327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5" name="">
            <a:extLst xmlns:a="http://schemas.openxmlformats.org/drawingml/2006/main">
              <a:ext uri="{FF2B5EF4-FFF2-40B4-BE49-F238E27FC236}">
                <a16:creationId xmlns:a16="http://schemas.microsoft.com/office/drawing/2014/main" id="{BFB9F790-EDAF-4CEF-866B-7787A6D44263}"/>
              </a:ext>
            </a:extLst>
          </p:cNvPr>
          <p:cNvSpPr>
            <a:spLocks xmlns:a="http://schemas.openxmlformats.org/drawingml/2006/main" noGrp="1"/>
          </p:cNvSpPr>
          <p:nvPr/>
        </p:nvSpPr>
        <p:spPr>
          <a:xfrm xmlns:a="http://schemas.openxmlformats.org/drawingml/2006/main">
            <a:off x="7319201" y="117095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6" name="">
            <a:extLst xmlns:a="http://schemas.openxmlformats.org/drawingml/2006/main">
              <a:ext uri="{FF2B5EF4-FFF2-40B4-BE49-F238E27FC236}">
                <a16:creationId xmlns:a16="http://schemas.microsoft.com/office/drawing/2014/main" id="{210DCE57-19AD-4A65-81B6-968BA3E366BF}"/>
              </a:ext>
            </a:extLst>
          </p:cNvPr>
          <p:cNvSpPr>
            <a:spLocks xmlns:a="http://schemas.openxmlformats.org/drawingml/2006/main" noGrp="1"/>
          </p:cNvSpPr>
          <p:nvPr/>
        </p:nvSpPr>
        <p:spPr>
          <a:xfrm xmlns:a="http://schemas.openxmlformats.org/drawingml/2006/main">
            <a:off x="7319201" y="125668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7" name="">
            <a:extLst xmlns:a="http://schemas.openxmlformats.org/drawingml/2006/main">
              <a:ext uri="{FF2B5EF4-FFF2-40B4-BE49-F238E27FC236}">
                <a16:creationId xmlns:a16="http://schemas.microsoft.com/office/drawing/2014/main" id="{DBB7214D-79E7-4409-8D37-C728D2E13555}"/>
              </a:ext>
            </a:extLst>
          </p:cNvPr>
          <p:cNvSpPr>
            <a:spLocks xmlns:a="http://schemas.openxmlformats.org/drawingml/2006/main" noGrp="1"/>
          </p:cNvSpPr>
          <p:nvPr/>
        </p:nvSpPr>
        <p:spPr>
          <a:xfrm xmlns:a="http://schemas.openxmlformats.org/drawingml/2006/main">
            <a:off x="7490651" y="125668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8" name="">
            <a:extLst xmlns:a="http://schemas.openxmlformats.org/drawingml/2006/main">
              <a:ext uri="{FF2B5EF4-FFF2-40B4-BE49-F238E27FC236}">
                <a16:creationId xmlns:a16="http://schemas.microsoft.com/office/drawing/2014/main" id="{449DAA8D-E81E-4D73-A5E1-9E36AEC5456D}"/>
              </a:ext>
            </a:extLst>
          </p:cNvPr>
          <p:cNvSpPr>
            <a:spLocks xmlns:a="http://schemas.openxmlformats.org/drawingml/2006/main" noGrp="1"/>
          </p:cNvSpPr>
          <p:nvPr/>
        </p:nvSpPr>
        <p:spPr>
          <a:xfrm xmlns:a="http://schemas.openxmlformats.org/drawingml/2006/main">
            <a:off x="10086975" y="1281113"/>
            <a:ext cx="219075" cy="95"/>
          </a:xfrm>
          <a:custGeom xmlns:a="http://schemas.openxmlformats.org/drawingml/2006/main">
            <a:pathLst>
              <a:path w="219075" h="95">
                <a:moveTo>
                  <a:pt x="0" y="0"/>
                </a:moveTo>
                <a:lnTo>
                  <a:pt x="219075" y="0"/>
                </a:lnTo>
              </a:path>
            </a:pathLst>
          </a:custGeom>
          <a:noFill xmlns:a="http://schemas.openxmlformats.org/drawingml/2006/main"/>
          <a:ln xmlns:a="http://schemas.openxmlformats.org/drawingml/2006/main" w="5715">
            <a:solidFill>
              <a:srgbClr val="B6B6B6"/>
            </a:solidFill>
            <a:prstDash val="solid"/>
          </a:ln>
        </p:spPr>
      </p:sp>
      <p:sp>
        <p:nvSpPr>
          <p:cNvPr id="99" name="">
            <a:extLst xmlns:a="http://schemas.openxmlformats.org/drawingml/2006/main">
              <a:ext uri="{FF2B5EF4-FFF2-40B4-BE49-F238E27FC236}">
                <a16:creationId xmlns:a16="http://schemas.microsoft.com/office/drawing/2014/main" id="{06484475-7673-4C7E-8D9D-12D97A1F2FCB}"/>
              </a:ext>
            </a:extLst>
          </p:cNvPr>
          <p:cNvSpPr>
            <a:spLocks xmlns:a="http://schemas.openxmlformats.org/drawingml/2006/main" noGrp="1"/>
          </p:cNvSpPr>
          <p:nvPr/>
        </p:nvSpPr>
        <p:spPr>
          <a:xfrm xmlns:a="http://schemas.openxmlformats.org/drawingml/2006/main" rot="0">
            <a:off x="10382250" y="1090613"/>
            <a:ext cx="15621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Observed</a:t>
            </a:r>
          </a:p>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evidence</a:t>
            </a:r>
          </a:p>
        </p:txBody>
      </p:sp>
      <p:sp>
        <p:nvSpPr>
          <p:cNvPr id="100" name="">
            <a:extLst xmlns:a="http://schemas.openxmlformats.org/drawingml/2006/main">
              <a:ext uri="{FF2B5EF4-FFF2-40B4-BE49-F238E27FC236}">
                <a16:creationId xmlns:a16="http://schemas.microsoft.com/office/drawing/2014/main" id="{B17FB335-CAF2-41E6-B4C1-D7C524AB4937}"/>
              </a:ext>
            </a:extLst>
          </p:cNvPr>
          <p:cNvSpPr>
            <a:spLocks xmlns:a="http://schemas.openxmlformats.org/drawingml/2006/main" noGrp="1"/>
          </p:cNvSpPr>
          <p:nvPr/>
        </p:nvSpPr>
        <p:spPr>
          <a:xfrm xmlns:a="http://schemas.openxmlformats.org/drawingml/2006/main" rot="0">
            <a:off x="10382250" y="1547813"/>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Primary assays</a:t>
            </a:r>
          </a:p>
        </p:txBody>
      </p:sp>
      <p:pic>
        <p:nvPicPr>
          <p:cNvPr id="101" name="">
            <a:extLst xmlns:a="http://schemas.openxmlformats.org/drawingml/2006/main">
              <a:ext uri="{FF2B5EF4-FFF2-40B4-BE49-F238E27FC236}">
                <a16:creationId xmlns:a16="http://schemas.microsoft.com/office/drawing/2014/main" id="{AC532DCA-169F-451C-A5D5-38824D5CB5B1}"/>
              </a:ext>
            </a:extLst>
          </p:cNvPr>
          <p:cNvPicPr>
            <a:picLocks xmlns:a="http://schemas.openxmlformats.org/drawingml/2006/main" noChangeAspect="1"/>
          </p:cNvPicPr>
          <p:nvPr/>
        </p:nvPicPr>
        <p:blipFill>
          <a:blip xmlns:r="http://schemas.openxmlformats.org/officeDocument/2006/relationships" xmlns:a="http://schemas.openxmlformats.org/drawingml/2006/main" r:embed="R6665e8eb53384c7e"/>
          <a:srcRect xmlns:a="http://schemas.openxmlformats.org/drawingml/2006/main" l="3448" t="0" r="3448" b="0"/>
          <a:stretch xmlns:a="http://schemas.openxmlformats.org/drawingml/2006/main">
            <a:fillRect l="0" t="0" r="0" b="0"/>
          </a:stretch>
        </p:blipFill>
        <p:spPr>
          <a:xfrm xmlns:a="http://schemas.openxmlformats.org/drawingml/2006/main">
            <a:off x="9906000" y="5476875"/>
            <a:ext cx="2286000" cy="1381125"/>
          </a:xfrm>
          <a:prstGeom xmlns:a="http://schemas.openxmlformats.org/drawingml/2006/main" prst="roundRect">
            <a:avLst>
              <a:gd name="adj" fmla="val 16552"/>
            </a:avLst>
          </a:prstGeom>
        </p:spPr>
      </p:pic>
      <p:sp>
        <p:nvSpPr>
          <p:cNvPr id="102" name="">
            <a:extLst xmlns:a="http://schemas.openxmlformats.org/drawingml/2006/main">
              <a:ext uri="{FF2B5EF4-FFF2-40B4-BE49-F238E27FC236}">
                <a16:creationId xmlns:a16="http://schemas.microsoft.com/office/drawing/2014/main" id="{F47BF7EA-ACEC-4312-8A56-68605B3B5CA1}"/>
              </a:ext>
            </a:extLst>
          </p:cNvPr>
          <p:cNvSpPr>
            <a:spLocks xmlns:a="http://schemas.openxmlformats.org/drawingml/2006/main" noGrp="1"/>
          </p:cNvSpPr>
          <p:nvPr/>
        </p:nvSpPr>
        <p:spPr>
          <a:xfrm xmlns:a="http://schemas.openxmlformats.org/drawingml/2006/main">
            <a:off x="5857875" y="1285875"/>
            <a:ext cx="95" cy="2428875"/>
          </a:xfrm>
          <a:custGeom xmlns:a="http://schemas.openxmlformats.org/drawingml/2006/main">
            <a:pathLst>
              <a:path w="95" h="2428875">
                <a:moveTo>
                  <a:pt x="0" y="0"/>
                </a:moveTo>
                <a:lnTo>
                  <a:pt x="0" y="2428875"/>
                </a:lnTo>
              </a:path>
            </a:pathLst>
          </a:custGeom>
          <a:noFill xmlns:a="http://schemas.openxmlformats.org/drawingml/2006/main"/>
          <a:ln xmlns:a="http://schemas.openxmlformats.org/drawingml/2006/main" w="4763">
            <a:solidFill>
              <a:srgbClr val="B6B6B6"/>
            </a:solidFill>
            <a:prstDash val="dot"/>
          </a:ln>
        </p:spPr>
      </p:sp>
      <p:sp>
        <p:nvSpPr>
          <p:cNvPr id="103" name="">
            <a:extLst xmlns:a="http://schemas.openxmlformats.org/drawingml/2006/main">
              <a:ext uri="{FF2B5EF4-FFF2-40B4-BE49-F238E27FC236}">
                <a16:creationId xmlns:a16="http://schemas.microsoft.com/office/drawing/2014/main" id="{AF9B1CDC-6280-4AD2-B7BF-0AB4BDAE07E0}"/>
              </a:ext>
            </a:extLst>
          </p:cNvPr>
          <p:cNvSpPr>
            <a:spLocks xmlns:a="http://schemas.openxmlformats.org/drawingml/2006/main" noGrp="1"/>
          </p:cNvSpPr>
          <p:nvPr/>
        </p:nvSpPr>
        <p:spPr>
          <a:xfrm xmlns:a="http://schemas.openxmlformats.org/drawingml/2006/main">
            <a:off x="10201275" y="1285875"/>
            <a:ext cx="95" cy="2428875"/>
          </a:xfrm>
          <a:custGeom xmlns:a="http://schemas.openxmlformats.org/drawingml/2006/main">
            <a:pathLst>
              <a:path w="95" h="2428875">
                <a:moveTo>
                  <a:pt x="0" y="0"/>
                </a:moveTo>
                <a:lnTo>
                  <a:pt x="0" y="2428875"/>
                </a:lnTo>
              </a:path>
            </a:pathLst>
          </a:custGeom>
          <a:noFill xmlns:a="http://schemas.openxmlformats.org/drawingml/2006/main"/>
          <a:ln xmlns:a="http://schemas.openxmlformats.org/drawingml/2006/main" w="4763">
            <a:solidFill>
              <a:srgbClr val="B6B6B6"/>
            </a:solidFill>
            <a:prstDash val="dot"/>
          </a:ln>
        </p:spPr>
      </p:sp>
    </p:spTree>
    <p:extLst>
      <p:ext uri="{BB962C8B-B14F-4D97-AF65-F5344CB8AC3E}">
        <p14:creationId xmlns:p14="http://schemas.microsoft.com/office/powerpoint/2010/main" val="1549862215"/>
      </p:ext>
    </p:extLst>
  </p:cSld>
</p:sld>
</file>

<file path=ppt/slides/slide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355BB98-643E-4B84-BB66-8991F147A79D}"/>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CE082EBF-3D75-4B10-9B45-8F09871C8F54}"/>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03</a:t>
            </a:r>
          </a:p>
        </p:txBody>
      </p:sp>
      <p:sp>
        <p:nvSpPr>
          <p:cNvPr id="3" name="">
            <a:extLst xmlns:a="http://schemas.openxmlformats.org/drawingml/2006/main">
              <a:ext uri="{FF2B5EF4-FFF2-40B4-BE49-F238E27FC236}">
                <a16:creationId xmlns:a16="http://schemas.microsoft.com/office/drawing/2014/main" id="{3152AA8B-77E5-438C-B588-F0EDB38CDABD}"/>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F2214C80-BBC3-4206-8040-C6DCD14E914C}"/>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4470D8BF-A575-4D67-AC06-FDA2DCF92884}"/>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C6C1B18F-D8C7-4F09-8356-AEAEDD247953}"/>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Recorded scenario contrast</a:t>
            </a:r>
          </a:p>
        </p:txBody>
      </p:sp>
      <p:sp>
        <p:nvSpPr>
          <p:cNvPr id="7" name="">
            <a:extLst xmlns:a="http://schemas.openxmlformats.org/drawingml/2006/main">
              <a:ext uri="{FF2B5EF4-FFF2-40B4-BE49-F238E27FC236}">
                <a16:creationId xmlns:a16="http://schemas.microsoft.com/office/drawing/2014/main" id="{2F87B4C8-7FD4-4D86-B5C4-626EE66A59A9}"/>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0A0A0A"/>
                </a:solidFill>
                <a:latin typeface="DM Sans"/>
                <a:ea typeface="DM Sans"/>
                <a:cs typeface="DM Sans"/>
              </a:defRPr>
            </a:defPPr>
            <a:lvl1pPr algn="r">
              <a:defRPr sz="900" b="0">
                <a:solidFill>
                  <a:srgbClr val="0A0A0A"/>
                </a:solidFill>
                <a:latin typeface="DM Sans"/>
                <a:ea typeface="DM Sans"/>
                <a:cs typeface="DM Sans"/>
              </a:defRPr>
            </a:lvl1pPr>
            <a:lvl2pPr algn="r">
              <a:defRPr sz="900" b="0">
                <a:solidFill>
                  <a:srgbClr val="0A0A0A"/>
                </a:solidFill>
                <a:latin typeface="DM Sans"/>
                <a:ea typeface="DM Sans"/>
                <a:cs typeface="DM Sans"/>
              </a:defRPr>
            </a:lvl2pPr>
            <a:lvl3pPr algn="r">
              <a:defRPr sz="900" b="0">
                <a:solidFill>
                  <a:srgbClr val="0A0A0A"/>
                </a:solidFill>
                <a:latin typeface="DM Sans"/>
                <a:ea typeface="DM Sans"/>
                <a:cs typeface="DM Sans"/>
              </a:defRPr>
            </a:lvl3pPr>
            <a:lvl4pPr algn="r">
              <a:defRPr sz="900" b="0">
                <a:solidFill>
                  <a:srgbClr val="0A0A0A"/>
                </a:solidFill>
                <a:latin typeface="DM Sans"/>
                <a:ea typeface="DM Sans"/>
                <a:cs typeface="DM Sans"/>
              </a:defRPr>
            </a:lvl4pPr>
            <a:lvl5pPr algn="r">
              <a:defRPr sz="900" b="0">
                <a:solidFill>
                  <a:srgbClr val="0A0A0A"/>
                </a:solidFill>
                <a:latin typeface="DM Sans"/>
                <a:ea typeface="DM Sans"/>
                <a:cs typeface="DM Sans"/>
              </a:defRPr>
            </a:lvl5pPr>
            <a:lvl6pPr algn="r">
              <a:defRPr sz="900" b="0">
                <a:solidFill>
                  <a:srgbClr val="0A0A0A"/>
                </a:solidFill>
                <a:latin typeface="DM Sans"/>
                <a:ea typeface="DM Sans"/>
                <a:cs typeface="DM Sans"/>
              </a:defRPr>
            </a:lvl6pPr>
            <a:lvl7pPr algn="r">
              <a:defRPr sz="900" b="0">
                <a:solidFill>
                  <a:srgbClr val="0A0A0A"/>
                </a:solidFill>
                <a:latin typeface="DM Sans"/>
                <a:ea typeface="DM Sans"/>
                <a:cs typeface="DM Sans"/>
              </a:defRPr>
            </a:lvl7pPr>
            <a:lvl8pPr algn="r">
              <a:defRPr sz="900" b="0">
                <a:solidFill>
                  <a:srgbClr val="0A0A0A"/>
                </a:solidFill>
                <a:latin typeface="DM Sans"/>
                <a:ea typeface="DM Sans"/>
                <a:cs typeface="DM Sans"/>
              </a:defRPr>
            </a:lvl8pPr>
            <a:lvl9pPr algn="r">
              <a:defRPr sz="900" b="0">
                <a:solidFill>
                  <a:srgbClr val="0A0A0A"/>
                </a:solidFill>
                <a:latin typeface="DM Sans"/>
                <a:ea typeface="DM Sans"/>
                <a:cs typeface="DM Sans"/>
              </a:defRPr>
            </a:lvl9pPr>
          </a:lstStyle>
          <a:p xmlns:a="http://schemas.openxmlformats.org/drawingml/2006/main">
            <a:pPr algn="r">
              <a:defRPr sz="900" b="0">
                <a:solidFill>
                  <a:srgbClr val="0A0A0A"/>
                </a:solidFill>
                <a:latin typeface="DM Sans"/>
                <a:ea typeface="DM Sans"/>
                <a:cs typeface="DM Sans"/>
              </a:defRPr>
            </a:pPr>
            <a:r>
              <a:rPr sz="900" b="0">
                <a:solidFill>
                  <a:srgbClr val="0A0A0A"/>
                </a:solidFill>
                <a:latin typeface="DM Sans"/>
                <a:ea typeface="DM Sans"/>
                <a:cs typeface="DM Sans"/>
              </a:rPr>
              <a:t>Orecast</a:t>
            </a:r>
          </a:p>
        </p:txBody>
      </p:sp>
      <p:sp>
        <p:nvSpPr>
          <p:cNvPr id="8" name="">
            <a:extLst xmlns:a="http://schemas.openxmlformats.org/drawingml/2006/main">
              <a:ext uri="{FF2B5EF4-FFF2-40B4-BE49-F238E27FC236}">
                <a16:creationId xmlns:a16="http://schemas.microsoft.com/office/drawing/2014/main" id="{91069CD5-CB76-4F89-9801-9BDC30FA1446}"/>
              </a:ext>
            </a:extLst>
          </p:cNvPr>
          <p:cNvSpPr>
            <a:spLocks xmlns:a="http://schemas.openxmlformats.org/drawingml/2006/main" noGrp="1"/>
          </p:cNvSpPr>
          <p:nvPr/>
        </p:nvSpPr>
        <p:spPr>
          <a:xfrm xmlns:a="http://schemas.openxmlformats.org/drawingml/2006/main" rot="0">
            <a:off x="400050" y="895350"/>
            <a:ext cx="11287125"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Recorded support changes an assumed gold forecast.</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Both whole-lot scenarios still fail the cash test.</a:t>
            </a:r>
          </a:p>
        </p:txBody>
      </p:sp>
      <p:sp>
        <p:nvSpPr>
          <p:cNvPr id="9" name="">
            <a:extLst xmlns:a="http://schemas.openxmlformats.org/drawingml/2006/main">
              <a:ext uri="{FF2B5EF4-FFF2-40B4-BE49-F238E27FC236}">
                <a16:creationId xmlns:a16="http://schemas.microsoft.com/office/drawing/2014/main" id="{CE45002C-3642-4947-A0B9-EDBD6626A8A0}"/>
              </a:ext>
            </a:extLst>
          </p:cNvPr>
          <p:cNvSpPr>
            <a:spLocks xmlns:a="http://schemas.openxmlformats.org/drawingml/2006/main" noGrp="1"/>
          </p:cNvSpPr>
          <p:nvPr/>
        </p:nvSpPr>
        <p:spPr>
          <a:xfrm xmlns:a="http://schemas.openxmlformats.org/drawingml/2006/main" rot="0">
            <a:off x="400050" y="2009775"/>
            <a:ext cx="523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0A0A0A"/>
                </a:solidFill>
                <a:latin typeface="DM Sans"/>
                <a:ea typeface="DM Sans"/>
                <a:cs typeface="DM Sans"/>
              </a:defRPr>
            </a:defPPr>
            <a:lvl1pPr algn="l">
              <a:defRPr sz="1875" b="0">
                <a:solidFill>
                  <a:srgbClr val="0A0A0A"/>
                </a:solidFill>
                <a:latin typeface="DM Sans"/>
                <a:ea typeface="DM Sans"/>
                <a:cs typeface="DM Sans"/>
              </a:defRPr>
            </a:lvl1pPr>
            <a:lvl2pPr algn="l">
              <a:defRPr sz="1875" b="0">
                <a:solidFill>
                  <a:srgbClr val="0A0A0A"/>
                </a:solidFill>
                <a:latin typeface="DM Sans"/>
                <a:ea typeface="DM Sans"/>
                <a:cs typeface="DM Sans"/>
              </a:defRPr>
            </a:lvl2pPr>
            <a:lvl3pPr algn="l">
              <a:defRPr sz="1875" b="0">
                <a:solidFill>
                  <a:srgbClr val="0A0A0A"/>
                </a:solidFill>
                <a:latin typeface="DM Sans"/>
                <a:ea typeface="DM Sans"/>
                <a:cs typeface="DM Sans"/>
              </a:defRPr>
            </a:lvl3pPr>
            <a:lvl4pPr algn="l">
              <a:defRPr sz="1875" b="0">
                <a:solidFill>
                  <a:srgbClr val="0A0A0A"/>
                </a:solidFill>
                <a:latin typeface="DM Sans"/>
                <a:ea typeface="DM Sans"/>
                <a:cs typeface="DM Sans"/>
              </a:defRPr>
            </a:lvl4pPr>
            <a:lvl5pPr algn="l">
              <a:defRPr sz="1875" b="0">
                <a:solidFill>
                  <a:srgbClr val="0A0A0A"/>
                </a:solidFill>
                <a:latin typeface="DM Sans"/>
                <a:ea typeface="DM Sans"/>
                <a:cs typeface="DM Sans"/>
              </a:defRPr>
            </a:lvl5pPr>
            <a:lvl6pPr algn="l">
              <a:defRPr sz="1875" b="0">
                <a:solidFill>
                  <a:srgbClr val="0A0A0A"/>
                </a:solidFill>
                <a:latin typeface="DM Sans"/>
                <a:ea typeface="DM Sans"/>
                <a:cs typeface="DM Sans"/>
              </a:defRPr>
            </a:lvl6pPr>
            <a:lvl7pPr algn="l">
              <a:defRPr sz="1875" b="0">
                <a:solidFill>
                  <a:srgbClr val="0A0A0A"/>
                </a:solidFill>
                <a:latin typeface="DM Sans"/>
                <a:ea typeface="DM Sans"/>
                <a:cs typeface="DM Sans"/>
              </a:defRPr>
            </a:lvl7pPr>
            <a:lvl8pPr algn="l">
              <a:defRPr sz="1875" b="0">
                <a:solidFill>
                  <a:srgbClr val="0A0A0A"/>
                </a:solidFill>
                <a:latin typeface="DM Sans"/>
                <a:ea typeface="DM Sans"/>
                <a:cs typeface="DM Sans"/>
              </a:defRPr>
            </a:lvl8pPr>
            <a:lvl9pPr algn="l">
              <a:defRPr sz="1875" b="0">
                <a:solidFill>
                  <a:srgbClr val="0A0A0A"/>
                </a:solidFill>
                <a:latin typeface="DM Sans"/>
                <a:ea typeface="DM Sans"/>
                <a:cs typeface="DM Sans"/>
              </a:defRPr>
            </a:lvl9pPr>
          </a:lstStyle>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Mine approval · SKIP</a:t>
            </a:r>
          </a:p>
        </p:txBody>
      </p:sp>
      <p:sp>
        <p:nvSpPr>
          <p:cNvPr id="10" name="">
            <a:extLst xmlns:a="http://schemas.openxmlformats.org/drawingml/2006/main">
              <a:ext uri="{FF2B5EF4-FFF2-40B4-BE49-F238E27FC236}">
                <a16:creationId xmlns:a16="http://schemas.microsoft.com/office/drawing/2014/main" id="{822618EF-D0E6-45C5-A9C7-1D5D7FABCCB9}"/>
              </a:ext>
            </a:extLst>
          </p:cNvPr>
          <p:cNvSpPr>
            <a:spLocks xmlns:a="http://schemas.openxmlformats.org/drawingml/2006/main" noGrp="1"/>
          </p:cNvSpPr>
          <p:nvPr/>
        </p:nvSpPr>
        <p:spPr>
          <a:xfrm xmlns:a="http://schemas.openxmlformats.org/drawingml/2006/main" rot="0">
            <a:off x="400050" y="2400300"/>
            <a:ext cx="523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−0.0252 support · $1,996.47/oz gold</a:t>
            </a:r>
          </a:p>
        </p:txBody>
      </p:sp>
      <p:sp>
        <p:nvSpPr>
          <p:cNvPr id="11" name="">
            <a:extLst xmlns:a="http://schemas.openxmlformats.org/drawingml/2006/main">
              <a:ext uri="{FF2B5EF4-FFF2-40B4-BE49-F238E27FC236}">
                <a16:creationId xmlns:a16="http://schemas.microsoft.com/office/drawing/2014/main" id="{09175B52-34E4-4DC1-88DA-63C06F998C29}"/>
              </a:ext>
            </a:extLst>
          </p:cNvPr>
          <p:cNvSpPr>
            <a:spLocks xmlns:a="http://schemas.openxmlformats.org/drawingml/2006/main" noGrp="1"/>
          </p:cNvSpPr>
          <p:nvPr/>
        </p:nvSpPr>
        <p:spPr>
          <a:xfrm xmlns:a="http://schemas.openxmlformats.org/drawingml/2006/main" rot="0">
            <a:off x="400050" y="2686050"/>
            <a:ext cx="523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−$29,344.55 cash · −97.65% return</a:t>
            </a:r>
          </a:p>
        </p:txBody>
      </p:sp>
      <p:sp>
        <p:nvSpPr>
          <p:cNvPr id="12" name="">
            <a:extLst xmlns:a="http://schemas.openxmlformats.org/drawingml/2006/main">
              <a:ext uri="{FF2B5EF4-FFF2-40B4-BE49-F238E27FC236}">
                <a16:creationId xmlns:a16="http://schemas.microsoft.com/office/drawing/2014/main" id="{FE408FBE-896B-4531-932D-7A6175F77EE3}"/>
              </a:ext>
            </a:extLst>
          </p:cNvPr>
          <p:cNvSpPr>
            <a:spLocks xmlns:a="http://schemas.openxmlformats.org/drawingml/2006/main" noGrp="1"/>
          </p:cNvSpPr>
          <p:nvPr/>
        </p:nvSpPr>
        <p:spPr>
          <a:xfrm xmlns:a="http://schemas.openxmlformats.org/drawingml/2006/main" rot="0">
            <a:off x="6286500" y="2009775"/>
            <a:ext cx="5429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0A0A0A"/>
                </a:solidFill>
                <a:latin typeface="DM Sans"/>
                <a:ea typeface="DM Sans"/>
                <a:cs typeface="DM Sans"/>
              </a:defRPr>
            </a:defPPr>
            <a:lvl1pPr algn="l">
              <a:defRPr sz="1875" b="0">
                <a:solidFill>
                  <a:srgbClr val="0A0A0A"/>
                </a:solidFill>
                <a:latin typeface="DM Sans"/>
                <a:ea typeface="DM Sans"/>
                <a:cs typeface="DM Sans"/>
              </a:defRPr>
            </a:lvl1pPr>
            <a:lvl2pPr algn="l">
              <a:defRPr sz="1875" b="0">
                <a:solidFill>
                  <a:srgbClr val="0A0A0A"/>
                </a:solidFill>
                <a:latin typeface="DM Sans"/>
                <a:ea typeface="DM Sans"/>
                <a:cs typeface="DM Sans"/>
              </a:defRPr>
            </a:lvl2pPr>
            <a:lvl3pPr algn="l">
              <a:defRPr sz="1875" b="0">
                <a:solidFill>
                  <a:srgbClr val="0A0A0A"/>
                </a:solidFill>
                <a:latin typeface="DM Sans"/>
                <a:ea typeface="DM Sans"/>
                <a:cs typeface="DM Sans"/>
              </a:defRPr>
            </a:lvl3pPr>
            <a:lvl4pPr algn="l">
              <a:defRPr sz="1875" b="0">
                <a:solidFill>
                  <a:srgbClr val="0A0A0A"/>
                </a:solidFill>
                <a:latin typeface="DM Sans"/>
                <a:ea typeface="DM Sans"/>
                <a:cs typeface="DM Sans"/>
              </a:defRPr>
            </a:lvl4pPr>
            <a:lvl5pPr algn="l">
              <a:defRPr sz="1875" b="0">
                <a:solidFill>
                  <a:srgbClr val="0A0A0A"/>
                </a:solidFill>
                <a:latin typeface="DM Sans"/>
                <a:ea typeface="DM Sans"/>
                <a:cs typeface="DM Sans"/>
              </a:defRPr>
            </a:lvl5pPr>
            <a:lvl6pPr algn="l">
              <a:defRPr sz="1875" b="0">
                <a:solidFill>
                  <a:srgbClr val="0A0A0A"/>
                </a:solidFill>
                <a:latin typeface="DM Sans"/>
                <a:ea typeface="DM Sans"/>
                <a:cs typeface="DM Sans"/>
              </a:defRPr>
            </a:lvl6pPr>
            <a:lvl7pPr algn="l">
              <a:defRPr sz="1875" b="0">
                <a:solidFill>
                  <a:srgbClr val="0A0A0A"/>
                </a:solidFill>
                <a:latin typeface="DM Sans"/>
                <a:ea typeface="DM Sans"/>
                <a:cs typeface="DM Sans"/>
              </a:defRPr>
            </a:lvl7pPr>
            <a:lvl8pPr algn="l">
              <a:defRPr sz="1875" b="0">
                <a:solidFill>
                  <a:srgbClr val="0A0A0A"/>
                </a:solidFill>
                <a:latin typeface="DM Sans"/>
                <a:ea typeface="DM Sans"/>
                <a:cs typeface="DM Sans"/>
              </a:defRPr>
            </a:lvl8pPr>
            <a:lvl9pPr algn="l">
              <a:defRPr sz="1875" b="0">
                <a:solidFill>
                  <a:srgbClr val="0A0A0A"/>
                </a:solidFill>
                <a:latin typeface="DM Sans"/>
                <a:ea typeface="DM Sans"/>
                <a:cs typeface="DM Sans"/>
              </a:defRPr>
            </a:lvl9pPr>
          </a:lstStyle>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Court blockage · SKIP</a:t>
            </a:r>
          </a:p>
        </p:txBody>
      </p:sp>
      <p:sp>
        <p:nvSpPr>
          <p:cNvPr id="13" name="">
            <a:extLst xmlns:a="http://schemas.openxmlformats.org/drawingml/2006/main">
              <a:ext uri="{FF2B5EF4-FFF2-40B4-BE49-F238E27FC236}">
                <a16:creationId xmlns:a16="http://schemas.microsoft.com/office/drawing/2014/main" id="{C0AEF6E0-FA72-4C9C-8207-47F3BEB0C4A2}"/>
              </a:ext>
            </a:extLst>
          </p:cNvPr>
          <p:cNvSpPr>
            <a:spLocks xmlns:a="http://schemas.openxmlformats.org/drawingml/2006/main" noGrp="1"/>
          </p:cNvSpPr>
          <p:nvPr/>
        </p:nvSpPr>
        <p:spPr>
          <a:xfrm xmlns:a="http://schemas.openxmlformats.org/drawingml/2006/main" rot="0">
            <a:off x="6286500" y="2400300"/>
            <a:ext cx="542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+0.0307 support · $2,004.30/oz gold</a:t>
            </a:r>
          </a:p>
        </p:txBody>
      </p:sp>
      <p:sp>
        <p:nvSpPr>
          <p:cNvPr id="14" name="">
            <a:extLst xmlns:a="http://schemas.openxmlformats.org/drawingml/2006/main">
              <a:ext uri="{FF2B5EF4-FFF2-40B4-BE49-F238E27FC236}">
                <a16:creationId xmlns:a16="http://schemas.microsoft.com/office/drawing/2014/main" id="{F8D308F0-6536-4B62-8DDF-3CD9DB749D3C}"/>
              </a:ext>
            </a:extLst>
          </p:cNvPr>
          <p:cNvSpPr>
            <a:spLocks xmlns:a="http://schemas.openxmlformats.org/drawingml/2006/main" noGrp="1"/>
          </p:cNvSpPr>
          <p:nvPr/>
        </p:nvSpPr>
        <p:spPr>
          <a:xfrm xmlns:a="http://schemas.openxmlformats.org/drawingml/2006/main" rot="0">
            <a:off x="6286500" y="2686050"/>
            <a:ext cx="542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−$29,339.78 cash · −97.64% return</a:t>
            </a:r>
          </a:p>
        </p:txBody>
      </p:sp>
      <p:pic>
        <p:nvPicPr>
          <p:cNvPr id="15" name="">
            <a:extLst xmlns:a="http://schemas.openxmlformats.org/drawingml/2006/main">
              <a:ext uri="{FF2B5EF4-FFF2-40B4-BE49-F238E27FC236}">
                <a16:creationId xmlns:a16="http://schemas.microsoft.com/office/drawing/2014/main" id="{FC29972B-C333-488E-BD23-B20D2C665EC5}"/>
              </a:ext>
            </a:extLst>
          </p:cNvPr>
          <p:cNvPicPr>
            <a:picLocks xmlns:a="http://schemas.openxmlformats.org/drawingml/2006/main" noChangeAspect="1"/>
          </p:cNvPicPr>
          <p:nvPr/>
        </p:nvPicPr>
        <p:blipFill>
          <a:blip xmlns:r="http://schemas.openxmlformats.org/officeDocument/2006/relationships" xmlns:a="http://schemas.openxmlformats.org/drawingml/2006/main" r:embed="Rffffb2d9081b486f"/>
          <a:srcRect xmlns:a="http://schemas.openxmlformats.org/drawingml/2006/main" l="0" t="2537" r="0" b="2537"/>
          <a:stretch xmlns:a="http://schemas.openxmlformats.org/drawingml/2006/main">
            <a:fillRect l="0" t="0" r="0" b="0"/>
          </a:stretch>
        </p:blipFill>
        <p:spPr>
          <a:xfrm xmlns:a="http://schemas.openxmlformats.org/drawingml/2006/main">
            <a:off x="0" y="3648075"/>
            <a:ext cx="2314575" cy="1857375"/>
          </a:xfrm>
          <a:prstGeom xmlns:a="http://schemas.openxmlformats.org/drawingml/2006/main" prst="roundRect">
            <a:avLst>
              <a:gd name="adj" fmla="val 12308"/>
            </a:avLst>
          </a:prstGeom>
        </p:spPr>
      </p:pic>
      <p:pic>
        <p:nvPicPr>
          <p:cNvPr id="16" name="">
            <a:extLst xmlns:a="http://schemas.openxmlformats.org/drawingml/2006/main">
              <a:ext uri="{FF2B5EF4-FFF2-40B4-BE49-F238E27FC236}">
                <a16:creationId xmlns:a16="http://schemas.microsoft.com/office/drawing/2014/main" id="{CF104F87-37BF-476B-B209-D04E707E4126}"/>
              </a:ext>
            </a:extLst>
          </p:cNvPr>
          <p:cNvPicPr>
            <a:picLocks xmlns:a="http://schemas.openxmlformats.org/drawingml/2006/main" noChangeAspect="1"/>
          </p:cNvPicPr>
          <p:nvPr/>
        </p:nvPicPr>
        <p:blipFill>
          <a:blip xmlns:r="http://schemas.openxmlformats.org/officeDocument/2006/relationships" xmlns:a="http://schemas.openxmlformats.org/drawingml/2006/main" r:embed="R620e40dc808b467d"/>
          <a:srcRect xmlns:a="http://schemas.openxmlformats.org/drawingml/2006/main" l="18880" t="0" r="18880" b="0"/>
          <a:stretch xmlns:a="http://schemas.openxmlformats.org/drawingml/2006/main">
            <a:fillRect l="0" t="0" r="0" b="0"/>
          </a:stretch>
        </p:blipFill>
        <p:spPr>
          <a:xfrm xmlns:a="http://schemas.openxmlformats.org/drawingml/2006/main">
            <a:off x="2876550" y="4371975"/>
            <a:ext cx="2286000" cy="2295525"/>
          </a:xfrm>
          <a:prstGeom xmlns:a="http://schemas.openxmlformats.org/drawingml/2006/main" prst="roundRect">
            <a:avLst>
              <a:gd name="adj" fmla="val 10000"/>
            </a:avLst>
          </a:prstGeom>
        </p:spPr>
      </p:pic>
      <p:pic>
        <p:nvPicPr>
          <p:cNvPr id="17" name="">
            <a:extLst xmlns:a="http://schemas.openxmlformats.org/drawingml/2006/main">
              <a:ext uri="{FF2B5EF4-FFF2-40B4-BE49-F238E27FC236}">
                <a16:creationId xmlns:a16="http://schemas.microsoft.com/office/drawing/2014/main" id="{E6C5B1C1-6F8F-4163-94D4-338FEC4A0BE0}"/>
              </a:ext>
            </a:extLst>
          </p:cNvPr>
          <p:cNvPicPr>
            <a:picLocks xmlns:a="http://schemas.openxmlformats.org/drawingml/2006/main" noChangeAspect="1"/>
          </p:cNvPicPr>
          <p:nvPr/>
        </p:nvPicPr>
        <p:blipFill>
          <a:blip xmlns:r="http://schemas.openxmlformats.org/officeDocument/2006/relationships" xmlns:a="http://schemas.openxmlformats.org/drawingml/2006/main" r:embed="R95e9a937a7834c4d"/>
          <a:stretch xmlns:a="http://schemas.openxmlformats.org/drawingml/2006/main"/>
        </p:blipFill>
        <p:spPr>
          <a:xfrm xmlns:a="http://schemas.openxmlformats.org/drawingml/2006/main">
            <a:off x="5468408" y="2962275"/>
            <a:ext cx="6570133" cy="3695700"/>
          </a:xfrm>
          <a:prstGeom xmlns:a="http://schemas.openxmlformats.org/drawingml/2006/main" prst="roundRect">
            <a:avLst>
              <a:gd name="adj" fmla="val 6186"/>
            </a:avLst>
          </a:prstGeom>
        </p:spPr>
      </p:pic>
      <p:sp>
        <p:nvSpPr>
          <p:cNvPr id="18" name="">
            <a:extLst xmlns:a="http://schemas.openxmlformats.org/drawingml/2006/main">
              <a:ext uri="{FF2B5EF4-FFF2-40B4-BE49-F238E27FC236}">
                <a16:creationId xmlns:a16="http://schemas.microsoft.com/office/drawing/2014/main" id="{00AEE06F-EEF2-492F-9639-0A474428061A}"/>
              </a:ext>
            </a:extLst>
          </p:cNvPr>
          <p:cNvSpPr>
            <a:spLocks xmlns:a="http://schemas.openxmlformats.org/drawingml/2006/main" noGrp="1"/>
          </p:cNvSpPr>
          <p:nvPr/>
        </p:nvSpPr>
        <p:spPr>
          <a:xfrm xmlns:a="http://schemas.openxmlformats.org/drawingml/2006/main" rot="0">
            <a:off x="400050" y="5762625"/>
            <a:ext cx="2324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737373"/>
                </a:solidFill>
                <a:latin typeface="DM Sans"/>
                <a:ea typeface="DM Sans"/>
                <a:cs typeface="DM Sans"/>
              </a:defRPr>
            </a:defPPr>
            <a:lvl1pPr algn="l">
              <a:defRPr sz="900" b="0">
                <a:solidFill>
                  <a:srgbClr val="737373"/>
                </a:solidFill>
                <a:latin typeface="DM Sans"/>
                <a:ea typeface="DM Sans"/>
                <a:cs typeface="DM Sans"/>
              </a:defRPr>
            </a:lvl1pPr>
            <a:lvl2pPr algn="l">
              <a:defRPr sz="900" b="0">
                <a:solidFill>
                  <a:srgbClr val="737373"/>
                </a:solidFill>
                <a:latin typeface="DM Sans"/>
                <a:ea typeface="DM Sans"/>
                <a:cs typeface="DM Sans"/>
              </a:defRPr>
            </a:lvl2pPr>
            <a:lvl3pPr algn="l">
              <a:defRPr sz="900" b="0">
                <a:solidFill>
                  <a:srgbClr val="737373"/>
                </a:solidFill>
                <a:latin typeface="DM Sans"/>
                <a:ea typeface="DM Sans"/>
                <a:cs typeface="DM Sans"/>
              </a:defRPr>
            </a:lvl3pPr>
            <a:lvl4pPr algn="l">
              <a:defRPr sz="900" b="0">
                <a:solidFill>
                  <a:srgbClr val="737373"/>
                </a:solidFill>
                <a:latin typeface="DM Sans"/>
                <a:ea typeface="DM Sans"/>
                <a:cs typeface="DM Sans"/>
              </a:defRPr>
            </a:lvl4pPr>
            <a:lvl5pPr algn="l">
              <a:defRPr sz="900" b="0">
                <a:solidFill>
                  <a:srgbClr val="737373"/>
                </a:solidFill>
                <a:latin typeface="DM Sans"/>
                <a:ea typeface="DM Sans"/>
                <a:cs typeface="DM Sans"/>
              </a:defRPr>
            </a:lvl5pPr>
            <a:lvl6pPr algn="l">
              <a:defRPr sz="900" b="0">
                <a:solidFill>
                  <a:srgbClr val="737373"/>
                </a:solidFill>
                <a:latin typeface="DM Sans"/>
                <a:ea typeface="DM Sans"/>
                <a:cs typeface="DM Sans"/>
              </a:defRPr>
            </a:lvl6pPr>
            <a:lvl7pPr algn="l">
              <a:defRPr sz="900" b="0">
                <a:solidFill>
                  <a:srgbClr val="737373"/>
                </a:solidFill>
                <a:latin typeface="DM Sans"/>
                <a:ea typeface="DM Sans"/>
                <a:cs typeface="DM Sans"/>
              </a:defRPr>
            </a:lvl7pPr>
            <a:lvl8pPr algn="l">
              <a:defRPr sz="900" b="0">
                <a:solidFill>
                  <a:srgbClr val="737373"/>
                </a:solidFill>
                <a:latin typeface="DM Sans"/>
                <a:ea typeface="DM Sans"/>
                <a:cs typeface="DM Sans"/>
              </a:defRPr>
            </a:lvl8pPr>
            <a:lvl9pPr algn="l">
              <a:defRPr sz="900" b="0">
                <a:solidFill>
                  <a:srgbClr val="737373"/>
                </a:solidFill>
                <a:latin typeface="DM Sans"/>
                <a:ea typeface="DM Sans"/>
                <a:cs typeface="DM Sans"/>
              </a:defRPr>
            </a:lvl9pPr>
          </a:lstStyle>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Matching sports-placebo reference, days 3–5.</a:t>
            </a:r>
          </a:p>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Support scale −1 to +1. Area A, 90 days.</a:t>
            </a:r>
          </a:p>
        </p:txBody>
      </p:sp>
      <p:sp>
        <p:nvSpPr>
          <p:cNvPr id="19" name="">
            <a:extLst xmlns:a="http://schemas.openxmlformats.org/drawingml/2006/main">
              <a:ext uri="{FF2B5EF4-FFF2-40B4-BE49-F238E27FC236}">
                <a16:creationId xmlns:a16="http://schemas.microsoft.com/office/drawing/2014/main" id="{F432F2EC-89C8-4688-9877-0F289D0DD2FC}"/>
              </a:ext>
            </a:extLst>
          </p:cNvPr>
          <p:cNvSpPr>
            <a:spLocks xmlns:a="http://schemas.openxmlformats.org/drawingml/2006/main" noGrp="1"/>
          </p:cNvSpPr>
          <p:nvPr/>
        </p:nvSpPr>
        <p:spPr>
          <a:xfrm xmlns:a="http://schemas.openxmlformats.org/drawingml/2006/main" rot="0">
            <a:off x="2876550" y="3162300"/>
            <a:ext cx="2333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737373"/>
                </a:solidFill>
                <a:latin typeface="DM Sans"/>
                <a:ea typeface="DM Sans"/>
                <a:cs typeface="DM Sans"/>
              </a:defRPr>
            </a:defPPr>
            <a:lvl1pPr algn="l">
              <a:defRPr sz="900" b="0">
                <a:solidFill>
                  <a:srgbClr val="737373"/>
                </a:solidFill>
                <a:latin typeface="DM Sans"/>
                <a:ea typeface="DM Sans"/>
                <a:cs typeface="DM Sans"/>
              </a:defRPr>
            </a:lvl1pPr>
            <a:lvl2pPr algn="l">
              <a:defRPr sz="900" b="0">
                <a:solidFill>
                  <a:srgbClr val="737373"/>
                </a:solidFill>
                <a:latin typeface="DM Sans"/>
                <a:ea typeface="DM Sans"/>
                <a:cs typeface="DM Sans"/>
              </a:defRPr>
            </a:lvl2pPr>
            <a:lvl3pPr algn="l">
              <a:defRPr sz="900" b="0">
                <a:solidFill>
                  <a:srgbClr val="737373"/>
                </a:solidFill>
                <a:latin typeface="DM Sans"/>
                <a:ea typeface="DM Sans"/>
                <a:cs typeface="DM Sans"/>
              </a:defRPr>
            </a:lvl3pPr>
            <a:lvl4pPr algn="l">
              <a:defRPr sz="900" b="0">
                <a:solidFill>
                  <a:srgbClr val="737373"/>
                </a:solidFill>
                <a:latin typeface="DM Sans"/>
                <a:ea typeface="DM Sans"/>
                <a:cs typeface="DM Sans"/>
              </a:defRPr>
            </a:lvl4pPr>
            <a:lvl5pPr algn="l">
              <a:defRPr sz="900" b="0">
                <a:solidFill>
                  <a:srgbClr val="737373"/>
                </a:solidFill>
                <a:latin typeface="DM Sans"/>
                <a:ea typeface="DM Sans"/>
                <a:cs typeface="DM Sans"/>
              </a:defRPr>
            </a:lvl5pPr>
            <a:lvl6pPr algn="l">
              <a:defRPr sz="900" b="0">
                <a:solidFill>
                  <a:srgbClr val="737373"/>
                </a:solidFill>
                <a:latin typeface="DM Sans"/>
                <a:ea typeface="DM Sans"/>
                <a:cs typeface="DM Sans"/>
              </a:defRPr>
            </a:lvl6pPr>
            <a:lvl7pPr algn="l">
              <a:defRPr sz="900" b="0">
                <a:solidFill>
                  <a:srgbClr val="737373"/>
                </a:solidFill>
                <a:latin typeface="DM Sans"/>
                <a:ea typeface="DM Sans"/>
                <a:cs typeface="DM Sans"/>
              </a:defRPr>
            </a:lvl7pPr>
            <a:lvl8pPr algn="l">
              <a:defRPr sz="900" b="0">
                <a:solidFill>
                  <a:srgbClr val="737373"/>
                </a:solidFill>
                <a:latin typeface="DM Sans"/>
                <a:ea typeface="DM Sans"/>
                <a:cs typeface="DM Sans"/>
              </a:defRPr>
            </a:lvl8pPr>
            <a:lvl9pPr algn="l">
              <a:defRPr sz="900" b="0">
                <a:solidFill>
                  <a:srgbClr val="737373"/>
                </a:solidFill>
                <a:latin typeface="DM Sans"/>
                <a:ea typeface="DM Sans"/>
                <a:cs typeface="DM Sans"/>
              </a:defRPr>
            </a:lvl9pPr>
          </a:lstStyle>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7% assumed gold response cap.</a:t>
            </a:r>
          </a:p>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Financial outputs hypothetical. Research checks failed.</a:t>
            </a:r>
          </a:p>
        </p:txBody>
      </p:sp>
    </p:spTree>
    <p:extLst>
      <p:ext uri="{BB962C8B-B14F-4D97-AF65-F5344CB8AC3E}">
        <p14:creationId xmlns:p14="http://schemas.microsoft.com/office/powerpoint/2010/main" val="9174843"/>
      </p:ext>
    </p:extLst>
  </p:cSld>
</p:sld>
</file>

<file path=ppt/slides/slide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AC7E7B3-C719-42CD-935C-7FE400B26436}"/>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54850766-1434-4076-BE10-9646E4C87E16}"/>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04</a:t>
            </a:r>
          </a:p>
        </p:txBody>
      </p:sp>
      <p:sp>
        <p:nvSpPr>
          <p:cNvPr id="3" name="">
            <a:extLst xmlns:a="http://schemas.openxmlformats.org/drawingml/2006/main">
              <a:ext uri="{FF2B5EF4-FFF2-40B4-BE49-F238E27FC236}">
                <a16:creationId xmlns:a16="http://schemas.microsoft.com/office/drawing/2014/main" id="{327D03F7-0339-4C17-8451-BF39C3E7F3AA}"/>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765A628D-4AEB-46D1-B18B-E41CB506C831}"/>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53B5A8D3-E604-45E7-94B1-A741D00C4D94}"/>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ADBC1FE2-7DB4-4DBE-A9BF-3A31DDDD391D}"/>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Time and return</a:t>
            </a:r>
          </a:p>
        </p:txBody>
      </p:sp>
      <p:sp>
        <p:nvSpPr>
          <p:cNvPr id="7" name="">
            <a:extLst xmlns:a="http://schemas.openxmlformats.org/drawingml/2006/main">
              <a:ext uri="{FF2B5EF4-FFF2-40B4-BE49-F238E27FC236}">
                <a16:creationId xmlns:a16="http://schemas.microsoft.com/office/drawing/2014/main" id="{178D6825-C02F-4A37-8D79-F9B8F93A9AA6}"/>
              </a:ext>
            </a:extLst>
          </p:cNvPr>
          <p:cNvSpPr>
            <a:spLocks xmlns:a="http://schemas.openxmlformats.org/drawingml/2006/main" noGrp="1"/>
          </p:cNvSpPr>
          <p:nvPr/>
        </p:nvSpPr>
        <p:spPr>
          <a:xfrm xmlns:a="http://schemas.openxmlformats.org/drawingml/2006/main" rot="0">
            <a:off x="400050" y="1304925"/>
            <a:ext cx="5381625"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0">
                <a:solidFill>
                  <a:srgbClr val="0A0A0A"/>
                </a:solidFill>
                <a:latin typeface="DM Sans"/>
                <a:ea typeface="DM Sans"/>
                <a:cs typeface="DM Sans"/>
              </a:defRPr>
            </a:defPPr>
            <a:lvl1pPr algn="l">
              <a:defRPr sz="2625" b="0">
                <a:solidFill>
                  <a:srgbClr val="0A0A0A"/>
                </a:solidFill>
                <a:latin typeface="DM Sans"/>
                <a:ea typeface="DM Sans"/>
                <a:cs typeface="DM Sans"/>
              </a:defRPr>
            </a:lvl1pPr>
            <a:lvl2pPr algn="l">
              <a:defRPr sz="2625" b="0">
                <a:solidFill>
                  <a:srgbClr val="0A0A0A"/>
                </a:solidFill>
                <a:latin typeface="DM Sans"/>
                <a:ea typeface="DM Sans"/>
                <a:cs typeface="DM Sans"/>
              </a:defRPr>
            </a:lvl2pPr>
            <a:lvl3pPr algn="l">
              <a:defRPr sz="2625" b="0">
                <a:solidFill>
                  <a:srgbClr val="0A0A0A"/>
                </a:solidFill>
                <a:latin typeface="DM Sans"/>
                <a:ea typeface="DM Sans"/>
                <a:cs typeface="DM Sans"/>
              </a:defRPr>
            </a:lvl3pPr>
            <a:lvl4pPr algn="l">
              <a:defRPr sz="2625" b="0">
                <a:solidFill>
                  <a:srgbClr val="0A0A0A"/>
                </a:solidFill>
                <a:latin typeface="DM Sans"/>
                <a:ea typeface="DM Sans"/>
                <a:cs typeface="DM Sans"/>
              </a:defRPr>
            </a:lvl4pPr>
            <a:lvl5pPr algn="l">
              <a:defRPr sz="2625" b="0">
                <a:solidFill>
                  <a:srgbClr val="0A0A0A"/>
                </a:solidFill>
                <a:latin typeface="DM Sans"/>
                <a:ea typeface="DM Sans"/>
                <a:cs typeface="DM Sans"/>
              </a:defRPr>
            </a:lvl5pPr>
            <a:lvl6pPr algn="l">
              <a:defRPr sz="2625" b="0">
                <a:solidFill>
                  <a:srgbClr val="0A0A0A"/>
                </a:solidFill>
                <a:latin typeface="DM Sans"/>
                <a:ea typeface="DM Sans"/>
                <a:cs typeface="DM Sans"/>
              </a:defRPr>
            </a:lvl6pPr>
            <a:lvl7pPr algn="l">
              <a:defRPr sz="2625" b="0">
                <a:solidFill>
                  <a:srgbClr val="0A0A0A"/>
                </a:solidFill>
                <a:latin typeface="DM Sans"/>
                <a:ea typeface="DM Sans"/>
                <a:cs typeface="DM Sans"/>
              </a:defRPr>
            </a:lvl7pPr>
            <a:lvl8pPr algn="l">
              <a:defRPr sz="2625" b="0">
                <a:solidFill>
                  <a:srgbClr val="0A0A0A"/>
                </a:solidFill>
                <a:latin typeface="DM Sans"/>
                <a:ea typeface="DM Sans"/>
                <a:cs typeface="DM Sans"/>
              </a:defRPr>
            </a:lvl8pPr>
            <a:lvl9pPr algn="l">
              <a:defRPr sz="2625" b="0">
                <a:solidFill>
                  <a:srgbClr val="0A0A0A"/>
                </a:solidFill>
                <a:latin typeface="DM Sans"/>
                <a:ea typeface="DM Sans"/>
                <a:cs typeface="DM Sans"/>
              </a:defRPr>
            </a:lvl9pPr>
          </a:lstStyle>
          <a:p xmlns:a="http://schemas.openxmlformats.org/drawingml/2006/main">
            <a:pPr algn="l">
              <a:defRPr sz="2625" b="0">
                <a:solidFill>
                  <a:srgbClr val="0A0A0A"/>
                </a:solidFill>
                <a:latin typeface="DM Sans"/>
                <a:ea typeface="DM Sans"/>
                <a:cs typeface="DM Sans"/>
              </a:defRPr>
            </a:pPr>
            <a:r>
              <a:rPr sz="2625" b="0">
                <a:solidFill>
                  <a:srgbClr val="0A0A0A"/>
                </a:solidFill>
                <a:latin typeface="DM Sans"/>
                <a:ea typeface="DM Sans"/>
                <a:cs typeface="DM Sans"/>
              </a:rPr>
              <a:t>At $30,050 upfront,</a:t>
            </a:r>
          </a:p>
          <a:p xmlns:a="http://schemas.openxmlformats.org/drawingml/2006/main">
            <a:pPr algn="l">
              <a:defRPr sz="2625" b="0">
                <a:solidFill>
                  <a:srgbClr val="0A0A0A"/>
                </a:solidFill>
                <a:latin typeface="DM Sans"/>
                <a:ea typeface="DM Sans"/>
                <a:cs typeface="DM Sans"/>
              </a:defRPr>
            </a:pPr>
            <a:r>
              <a:rPr sz="2625" b="0">
                <a:solidFill>
                  <a:srgbClr val="0A0A0A"/>
                </a:solidFill>
                <a:latin typeface="DM Sans"/>
                <a:ea typeface="DM Sans"/>
                <a:cs typeface="DM Sans"/>
              </a:rPr>
              <a:t>the 90-day baseline has</a:t>
            </a:r>
          </a:p>
        </p:txBody>
      </p:sp>
      <p:sp>
        <p:nvSpPr>
          <p:cNvPr id="8" name="">
            <a:extLst xmlns:a="http://schemas.openxmlformats.org/drawingml/2006/main">
              <a:ext uri="{FF2B5EF4-FFF2-40B4-BE49-F238E27FC236}">
                <a16:creationId xmlns:a16="http://schemas.microsoft.com/office/drawing/2014/main" id="{1083FD7E-8C62-4545-9E9A-56BE20E94DEA}"/>
              </a:ext>
            </a:extLst>
          </p:cNvPr>
          <p:cNvSpPr>
            <a:spLocks xmlns:a="http://schemas.openxmlformats.org/drawingml/2006/main" noGrp="1"/>
          </p:cNvSpPr>
          <p:nvPr/>
        </p:nvSpPr>
        <p:spPr>
          <a:xfrm xmlns:a="http://schemas.openxmlformats.org/drawingml/2006/main" rot="0">
            <a:off x="400050" y="2171700"/>
            <a:ext cx="5524500" cy="1304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800" b="0">
                <a:solidFill>
                  <a:srgbClr val="0A0A0A"/>
                </a:solidFill>
                <a:latin typeface="DM Sans Light"/>
                <a:ea typeface="DM Sans Light"/>
                <a:cs typeface="DM Sans Light"/>
              </a:defRPr>
            </a:defPPr>
            <a:lvl1pPr algn="l">
              <a:defRPr sz="7800" b="0">
                <a:solidFill>
                  <a:srgbClr val="0A0A0A"/>
                </a:solidFill>
                <a:latin typeface="DM Sans Light"/>
                <a:ea typeface="DM Sans Light"/>
                <a:cs typeface="DM Sans Light"/>
              </a:defRPr>
            </a:lvl1pPr>
            <a:lvl2pPr algn="l">
              <a:defRPr sz="7800" b="0">
                <a:solidFill>
                  <a:srgbClr val="0A0A0A"/>
                </a:solidFill>
                <a:latin typeface="DM Sans Light"/>
                <a:ea typeface="DM Sans Light"/>
                <a:cs typeface="DM Sans Light"/>
              </a:defRPr>
            </a:lvl2pPr>
            <a:lvl3pPr algn="l">
              <a:defRPr sz="7800" b="0">
                <a:solidFill>
                  <a:srgbClr val="0A0A0A"/>
                </a:solidFill>
                <a:latin typeface="DM Sans Light"/>
                <a:ea typeface="DM Sans Light"/>
                <a:cs typeface="DM Sans Light"/>
              </a:defRPr>
            </a:lvl3pPr>
            <a:lvl4pPr algn="l">
              <a:defRPr sz="7800" b="0">
                <a:solidFill>
                  <a:srgbClr val="0A0A0A"/>
                </a:solidFill>
                <a:latin typeface="DM Sans Light"/>
                <a:ea typeface="DM Sans Light"/>
                <a:cs typeface="DM Sans Light"/>
              </a:defRPr>
            </a:lvl4pPr>
            <a:lvl5pPr algn="l">
              <a:defRPr sz="7800" b="0">
                <a:solidFill>
                  <a:srgbClr val="0A0A0A"/>
                </a:solidFill>
                <a:latin typeface="DM Sans Light"/>
                <a:ea typeface="DM Sans Light"/>
                <a:cs typeface="DM Sans Light"/>
              </a:defRPr>
            </a:lvl5pPr>
            <a:lvl6pPr algn="l">
              <a:defRPr sz="7800" b="0">
                <a:solidFill>
                  <a:srgbClr val="0A0A0A"/>
                </a:solidFill>
                <a:latin typeface="DM Sans Light"/>
                <a:ea typeface="DM Sans Light"/>
                <a:cs typeface="DM Sans Light"/>
              </a:defRPr>
            </a:lvl6pPr>
            <a:lvl7pPr algn="l">
              <a:defRPr sz="7800" b="0">
                <a:solidFill>
                  <a:srgbClr val="0A0A0A"/>
                </a:solidFill>
                <a:latin typeface="DM Sans Light"/>
                <a:ea typeface="DM Sans Light"/>
                <a:cs typeface="DM Sans Light"/>
              </a:defRPr>
            </a:lvl7pPr>
            <a:lvl8pPr algn="l">
              <a:defRPr sz="7800" b="0">
                <a:solidFill>
                  <a:srgbClr val="0A0A0A"/>
                </a:solidFill>
                <a:latin typeface="DM Sans Light"/>
                <a:ea typeface="DM Sans Light"/>
                <a:cs typeface="DM Sans Light"/>
              </a:defRPr>
            </a:lvl8pPr>
            <a:lvl9pPr algn="l">
              <a:defRPr sz="7800" b="0">
                <a:solidFill>
                  <a:srgbClr val="0A0A0A"/>
                </a:solidFill>
                <a:latin typeface="DM Sans Light"/>
                <a:ea typeface="DM Sans Light"/>
                <a:cs typeface="DM Sans Light"/>
              </a:defRPr>
            </a:lvl9pPr>
          </a:lstStyle>
          <a:p xmlns:a="http://schemas.openxmlformats.org/drawingml/2006/main">
            <a:pPr algn="l">
              <a:defRPr sz="7800" b="0">
                <a:solidFill>
                  <a:srgbClr val="0A0A0A"/>
                </a:solidFill>
                <a:latin typeface="DM Sans Light"/>
                <a:ea typeface="DM Sans Light"/>
                <a:cs typeface="DM Sans Light"/>
              </a:defRPr>
            </a:pPr>
            <a:r>
              <a:rPr sz="7800" b="0">
                <a:solidFill>
                  <a:srgbClr val="0A0A0A"/>
                </a:solidFill>
                <a:latin typeface="DM Sans Light"/>
                <a:ea typeface="DM Sans Light"/>
                <a:cs typeface="DM Sans Light"/>
              </a:rPr>
              <a:t>−97.65%</a:t>
            </a:r>
          </a:p>
        </p:txBody>
      </p:sp>
      <p:sp>
        <p:nvSpPr>
          <p:cNvPr id="9" name="">
            <a:extLst xmlns:a="http://schemas.openxmlformats.org/drawingml/2006/main">
              <a:ext uri="{FF2B5EF4-FFF2-40B4-BE49-F238E27FC236}">
                <a16:creationId xmlns:a16="http://schemas.microsoft.com/office/drawing/2014/main" id="{E84FD164-6B55-446D-90BC-06EB2D398BAC}"/>
              </a:ext>
            </a:extLst>
          </p:cNvPr>
          <p:cNvSpPr>
            <a:spLocks xmlns:a="http://schemas.openxmlformats.org/drawingml/2006/main" noGrp="1"/>
          </p:cNvSpPr>
          <p:nvPr/>
        </p:nvSpPr>
        <p:spPr>
          <a:xfrm xmlns:a="http://schemas.openxmlformats.org/drawingml/2006/main">
            <a:off x="447675" y="3419475"/>
            <a:ext cx="4667250" cy="95"/>
          </a:xfrm>
          <a:custGeom xmlns:a="http://schemas.openxmlformats.org/drawingml/2006/main">
            <a:pathLst>
              <a:path w="4667250" h="95">
                <a:moveTo>
                  <a:pt x="0" y="0"/>
                </a:moveTo>
                <a:lnTo>
                  <a:pt x="4667250" y="0"/>
                </a:lnTo>
              </a:path>
            </a:pathLst>
          </a:custGeom>
          <a:noFill xmlns:a="http://schemas.openxmlformats.org/drawingml/2006/main"/>
          <a:ln xmlns:a="http://schemas.openxmlformats.org/drawingml/2006/main" w="17145">
            <a:solidFill>
              <a:srgbClr val="0A0A0A"/>
            </a:solidFill>
            <a:prstDash val="solid"/>
          </a:ln>
        </p:spPr>
      </p:sp>
      <p:sp>
        <p:nvSpPr>
          <p:cNvPr id="10" name="">
            <a:extLst xmlns:a="http://schemas.openxmlformats.org/drawingml/2006/main">
              <a:ext uri="{FF2B5EF4-FFF2-40B4-BE49-F238E27FC236}">
                <a16:creationId xmlns:a16="http://schemas.microsoft.com/office/drawing/2014/main" id="{C6E97D54-D1C8-4A10-A5F5-3842E17B3779}"/>
              </a:ext>
            </a:extLst>
          </p:cNvPr>
          <p:cNvSpPr>
            <a:spLocks xmlns:a="http://schemas.openxmlformats.org/drawingml/2006/main" noGrp="1"/>
          </p:cNvSpPr>
          <p:nvPr/>
        </p:nvSpPr>
        <p:spPr>
          <a:xfrm xmlns:a="http://schemas.openxmlformats.org/drawingml/2006/main" rot="0">
            <a:off x="400050" y="3638550"/>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0">
                <a:solidFill>
                  <a:srgbClr val="0A0A0A"/>
                </a:solidFill>
                <a:latin typeface="DM Sans"/>
                <a:ea typeface="DM Sans"/>
                <a:cs typeface="DM Sans"/>
              </a:defRPr>
            </a:defPPr>
            <a:lvl1pPr algn="l">
              <a:defRPr sz="2475" b="0">
                <a:solidFill>
                  <a:srgbClr val="0A0A0A"/>
                </a:solidFill>
                <a:latin typeface="DM Sans"/>
                <a:ea typeface="DM Sans"/>
                <a:cs typeface="DM Sans"/>
              </a:defRPr>
            </a:lvl1pPr>
            <a:lvl2pPr algn="l">
              <a:defRPr sz="2475" b="0">
                <a:solidFill>
                  <a:srgbClr val="0A0A0A"/>
                </a:solidFill>
                <a:latin typeface="DM Sans"/>
                <a:ea typeface="DM Sans"/>
                <a:cs typeface="DM Sans"/>
              </a:defRPr>
            </a:lvl2pPr>
            <a:lvl3pPr algn="l">
              <a:defRPr sz="2475" b="0">
                <a:solidFill>
                  <a:srgbClr val="0A0A0A"/>
                </a:solidFill>
                <a:latin typeface="DM Sans"/>
                <a:ea typeface="DM Sans"/>
                <a:cs typeface="DM Sans"/>
              </a:defRPr>
            </a:lvl3pPr>
            <a:lvl4pPr algn="l">
              <a:defRPr sz="2475" b="0">
                <a:solidFill>
                  <a:srgbClr val="0A0A0A"/>
                </a:solidFill>
                <a:latin typeface="DM Sans"/>
                <a:ea typeface="DM Sans"/>
                <a:cs typeface="DM Sans"/>
              </a:defRPr>
            </a:lvl4pPr>
            <a:lvl5pPr algn="l">
              <a:defRPr sz="2475" b="0">
                <a:solidFill>
                  <a:srgbClr val="0A0A0A"/>
                </a:solidFill>
                <a:latin typeface="DM Sans"/>
                <a:ea typeface="DM Sans"/>
                <a:cs typeface="DM Sans"/>
              </a:defRPr>
            </a:lvl5pPr>
            <a:lvl6pPr algn="l">
              <a:defRPr sz="2475" b="0">
                <a:solidFill>
                  <a:srgbClr val="0A0A0A"/>
                </a:solidFill>
                <a:latin typeface="DM Sans"/>
                <a:ea typeface="DM Sans"/>
                <a:cs typeface="DM Sans"/>
              </a:defRPr>
            </a:lvl6pPr>
            <a:lvl7pPr algn="l">
              <a:defRPr sz="2475" b="0">
                <a:solidFill>
                  <a:srgbClr val="0A0A0A"/>
                </a:solidFill>
                <a:latin typeface="DM Sans"/>
                <a:ea typeface="DM Sans"/>
                <a:cs typeface="DM Sans"/>
              </a:defRPr>
            </a:lvl7pPr>
            <a:lvl8pPr algn="l">
              <a:defRPr sz="2475" b="0">
                <a:solidFill>
                  <a:srgbClr val="0A0A0A"/>
                </a:solidFill>
                <a:latin typeface="DM Sans"/>
                <a:ea typeface="DM Sans"/>
                <a:cs typeface="DM Sans"/>
              </a:defRPr>
            </a:lvl8pPr>
            <a:lvl9pPr algn="l">
              <a:defRPr sz="2475" b="0">
                <a:solidFill>
                  <a:srgbClr val="0A0A0A"/>
                </a:solidFill>
                <a:latin typeface="DM Sans"/>
                <a:ea typeface="DM Sans"/>
                <a:cs typeface="DM Sans"/>
              </a:defRPr>
            </a:lvl9pPr>
          </a:lstStyle>
          <a:p xmlns:a="http://schemas.openxmlformats.org/drawingml/2006/main">
            <a:pPr algn="l">
              <a:defRPr sz="2475" b="0">
                <a:solidFill>
                  <a:srgbClr val="0A0A0A"/>
                </a:solidFill>
                <a:latin typeface="DM Sans"/>
                <a:ea typeface="DM Sans"/>
                <a:cs typeface="DM Sans"/>
              </a:defRPr>
            </a:pPr>
            <a:r>
              <a:rPr sz="2475" b="0">
                <a:solidFill>
                  <a:srgbClr val="0A0A0A"/>
                </a:solidFill>
                <a:latin typeface="DM Sans"/>
                <a:ea typeface="DM Sans"/>
                <a:cs typeface="DM Sans"/>
              </a:rPr>
              <a:t>expected option return.</a:t>
            </a:r>
          </a:p>
        </p:txBody>
      </p:sp>
      <p:sp>
        <p:nvSpPr>
          <p:cNvPr id="11" name="">
            <a:extLst xmlns:a="http://schemas.openxmlformats.org/drawingml/2006/main">
              <a:ext uri="{FF2B5EF4-FFF2-40B4-BE49-F238E27FC236}">
                <a16:creationId xmlns:a16="http://schemas.microsoft.com/office/drawing/2014/main" id="{FA29ED38-9628-4266-ABD8-4A5DCFF6D495}"/>
              </a:ext>
            </a:extLst>
          </p:cNvPr>
          <p:cNvSpPr>
            <a:spLocks xmlns:a="http://schemas.openxmlformats.org/drawingml/2006/main" noGrp="1"/>
          </p:cNvSpPr>
          <p:nvPr/>
        </p:nvSpPr>
        <p:spPr>
          <a:xfrm xmlns:a="http://schemas.openxmlformats.org/drawingml/2006/main" rot="0">
            <a:off x="400050" y="4105275"/>
            <a:ext cx="5238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875" b="0">
                <a:solidFill>
                  <a:srgbClr val="0A0A0A"/>
                </a:solidFill>
                <a:latin typeface="DM Sans Light"/>
                <a:ea typeface="DM Sans Light"/>
                <a:cs typeface="DM Sans Light"/>
              </a:defRPr>
            </a:defPPr>
            <a:lvl1pPr algn="l">
              <a:defRPr sz="7875" b="0">
                <a:solidFill>
                  <a:srgbClr val="0A0A0A"/>
                </a:solidFill>
                <a:latin typeface="DM Sans Light"/>
                <a:ea typeface="DM Sans Light"/>
                <a:cs typeface="DM Sans Light"/>
              </a:defRPr>
            </a:lvl1pPr>
            <a:lvl2pPr algn="l">
              <a:defRPr sz="7875" b="0">
                <a:solidFill>
                  <a:srgbClr val="0A0A0A"/>
                </a:solidFill>
                <a:latin typeface="DM Sans Light"/>
                <a:ea typeface="DM Sans Light"/>
                <a:cs typeface="DM Sans Light"/>
              </a:defRPr>
            </a:lvl2pPr>
            <a:lvl3pPr algn="l">
              <a:defRPr sz="7875" b="0">
                <a:solidFill>
                  <a:srgbClr val="0A0A0A"/>
                </a:solidFill>
                <a:latin typeface="DM Sans Light"/>
                <a:ea typeface="DM Sans Light"/>
                <a:cs typeface="DM Sans Light"/>
              </a:defRPr>
            </a:lvl3pPr>
            <a:lvl4pPr algn="l">
              <a:defRPr sz="7875" b="0">
                <a:solidFill>
                  <a:srgbClr val="0A0A0A"/>
                </a:solidFill>
                <a:latin typeface="DM Sans Light"/>
                <a:ea typeface="DM Sans Light"/>
                <a:cs typeface="DM Sans Light"/>
              </a:defRPr>
            </a:lvl4pPr>
            <a:lvl5pPr algn="l">
              <a:defRPr sz="7875" b="0">
                <a:solidFill>
                  <a:srgbClr val="0A0A0A"/>
                </a:solidFill>
                <a:latin typeface="DM Sans Light"/>
                <a:ea typeface="DM Sans Light"/>
                <a:cs typeface="DM Sans Light"/>
              </a:defRPr>
            </a:lvl5pPr>
            <a:lvl6pPr algn="l">
              <a:defRPr sz="7875" b="0">
                <a:solidFill>
                  <a:srgbClr val="0A0A0A"/>
                </a:solidFill>
                <a:latin typeface="DM Sans Light"/>
                <a:ea typeface="DM Sans Light"/>
                <a:cs typeface="DM Sans Light"/>
              </a:defRPr>
            </a:lvl6pPr>
            <a:lvl7pPr algn="l">
              <a:defRPr sz="7875" b="0">
                <a:solidFill>
                  <a:srgbClr val="0A0A0A"/>
                </a:solidFill>
                <a:latin typeface="DM Sans Light"/>
                <a:ea typeface="DM Sans Light"/>
                <a:cs typeface="DM Sans Light"/>
              </a:defRPr>
            </a:lvl7pPr>
            <a:lvl8pPr algn="l">
              <a:defRPr sz="7875" b="0">
                <a:solidFill>
                  <a:srgbClr val="0A0A0A"/>
                </a:solidFill>
                <a:latin typeface="DM Sans Light"/>
                <a:ea typeface="DM Sans Light"/>
                <a:cs typeface="DM Sans Light"/>
              </a:defRPr>
            </a:lvl8pPr>
            <a:lvl9pPr algn="l">
              <a:defRPr sz="7875" b="0">
                <a:solidFill>
                  <a:srgbClr val="0A0A0A"/>
                </a:solidFill>
                <a:latin typeface="DM Sans Light"/>
                <a:ea typeface="DM Sans Light"/>
                <a:cs typeface="DM Sans Light"/>
              </a:defRPr>
            </a:lvl9pPr>
          </a:lstStyle>
          <a:p xmlns:a="http://schemas.openxmlformats.org/drawingml/2006/main">
            <a:pPr algn="l">
              <a:defRPr sz="7875" b="0">
                <a:solidFill>
                  <a:srgbClr val="0A0A0A"/>
                </a:solidFill>
                <a:latin typeface="DM Sans Light"/>
                <a:ea typeface="DM Sans Light"/>
                <a:cs typeface="DM Sans Light"/>
              </a:defRPr>
            </a:pPr>
            <a:r>
              <a:rPr sz="7875" b="0">
                <a:solidFill>
                  <a:srgbClr val="0A0A0A"/>
                </a:solidFill>
                <a:latin typeface="DM Sans Light"/>
                <a:ea typeface="DM Sans Light"/>
                <a:cs typeface="DM Sans Light"/>
              </a:rPr>
              <a:t>SKIP</a:t>
            </a:r>
          </a:p>
        </p:txBody>
      </p:sp>
      <p:sp>
        <p:nvSpPr>
          <p:cNvPr id="12" name="">
            <a:extLst xmlns:a="http://schemas.openxmlformats.org/drawingml/2006/main">
              <a:ext uri="{FF2B5EF4-FFF2-40B4-BE49-F238E27FC236}">
                <a16:creationId xmlns:a16="http://schemas.microsoft.com/office/drawing/2014/main" id="{02B57353-CC64-4D5F-9A53-AED1E8CB81A0}"/>
              </a:ext>
            </a:extLst>
          </p:cNvPr>
          <p:cNvSpPr>
            <a:spLocks xmlns:a="http://schemas.openxmlformats.org/drawingml/2006/main" noGrp="1"/>
          </p:cNvSpPr>
          <p:nvPr/>
        </p:nvSpPr>
        <p:spPr>
          <a:xfrm xmlns:a="http://schemas.openxmlformats.org/drawingml/2006/main">
            <a:off x="447675" y="5305425"/>
            <a:ext cx="2857500" cy="95"/>
          </a:xfrm>
          <a:custGeom xmlns:a="http://schemas.openxmlformats.org/drawingml/2006/main">
            <a:pathLst>
              <a:path w="2857500" h="95">
                <a:moveTo>
                  <a:pt x="0" y="0"/>
                </a:moveTo>
                <a:lnTo>
                  <a:pt x="2857500" y="0"/>
                </a:lnTo>
              </a:path>
            </a:pathLst>
          </a:custGeom>
          <a:noFill xmlns:a="http://schemas.openxmlformats.org/drawingml/2006/main"/>
          <a:ln xmlns:a="http://schemas.openxmlformats.org/drawingml/2006/main" w="17145">
            <a:solidFill>
              <a:srgbClr val="0A0A0A"/>
            </a:solidFill>
            <a:prstDash val="solid"/>
          </a:ln>
        </p:spPr>
      </p:sp>
      <p:sp>
        <p:nvSpPr>
          <p:cNvPr id="13" name="">
            <a:extLst xmlns:a="http://schemas.openxmlformats.org/drawingml/2006/main">
              <a:ext uri="{FF2B5EF4-FFF2-40B4-BE49-F238E27FC236}">
                <a16:creationId xmlns:a16="http://schemas.microsoft.com/office/drawing/2014/main" id="{B7DEE852-8980-458D-ABFC-DE54D52C2C39}"/>
              </a:ext>
            </a:extLst>
          </p:cNvPr>
          <p:cNvSpPr>
            <a:spLocks xmlns:a="http://schemas.openxmlformats.org/drawingml/2006/main" noGrp="1"/>
          </p:cNvSpPr>
          <p:nvPr/>
        </p:nvSpPr>
        <p:spPr>
          <a:xfrm xmlns:a="http://schemas.openxmlformats.org/drawingml/2006/main" rot="0">
            <a:off x="400050" y="5476875"/>
            <a:ext cx="5429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0A0A0A"/>
                </a:solidFill>
                <a:latin typeface="DM Sans"/>
                <a:ea typeface="DM Sans"/>
                <a:cs typeface="DM Sans"/>
              </a:defRPr>
            </a:defPPr>
            <a:lvl1pPr algn="l">
              <a:defRPr sz="2400" b="0">
                <a:solidFill>
                  <a:srgbClr val="0A0A0A"/>
                </a:solidFill>
                <a:latin typeface="DM Sans"/>
                <a:ea typeface="DM Sans"/>
                <a:cs typeface="DM Sans"/>
              </a:defRPr>
            </a:lvl1pPr>
            <a:lvl2pPr algn="l">
              <a:defRPr sz="2400" b="0">
                <a:solidFill>
                  <a:srgbClr val="0A0A0A"/>
                </a:solidFill>
                <a:latin typeface="DM Sans"/>
                <a:ea typeface="DM Sans"/>
                <a:cs typeface="DM Sans"/>
              </a:defRPr>
            </a:lvl2pPr>
            <a:lvl3pPr algn="l">
              <a:defRPr sz="2400" b="0">
                <a:solidFill>
                  <a:srgbClr val="0A0A0A"/>
                </a:solidFill>
                <a:latin typeface="DM Sans"/>
                <a:ea typeface="DM Sans"/>
                <a:cs typeface="DM Sans"/>
              </a:defRPr>
            </a:lvl3pPr>
            <a:lvl4pPr algn="l">
              <a:defRPr sz="2400" b="0">
                <a:solidFill>
                  <a:srgbClr val="0A0A0A"/>
                </a:solidFill>
                <a:latin typeface="DM Sans"/>
                <a:ea typeface="DM Sans"/>
                <a:cs typeface="DM Sans"/>
              </a:defRPr>
            </a:lvl4pPr>
            <a:lvl5pPr algn="l">
              <a:defRPr sz="2400" b="0">
                <a:solidFill>
                  <a:srgbClr val="0A0A0A"/>
                </a:solidFill>
                <a:latin typeface="DM Sans"/>
                <a:ea typeface="DM Sans"/>
                <a:cs typeface="DM Sans"/>
              </a:defRPr>
            </a:lvl5pPr>
            <a:lvl6pPr algn="l">
              <a:defRPr sz="2400" b="0">
                <a:solidFill>
                  <a:srgbClr val="0A0A0A"/>
                </a:solidFill>
                <a:latin typeface="DM Sans"/>
                <a:ea typeface="DM Sans"/>
                <a:cs typeface="DM Sans"/>
              </a:defRPr>
            </a:lvl6pPr>
            <a:lvl7pPr algn="l">
              <a:defRPr sz="2400" b="0">
                <a:solidFill>
                  <a:srgbClr val="0A0A0A"/>
                </a:solidFill>
                <a:latin typeface="DM Sans"/>
                <a:ea typeface="DM Sans"/>
                <a:cs typeface="DM Sans"/>
              </a:defRPr>
            </a:lvl7pPr>
            <a:lvl8pPr algn="l">
              <a:defRPr sz="2400" b="0">
                <a:solidFill>
                  <a:srgbClr val="0A0A0A"/>
                </a:solidFill>
                <a:latin typeface="DM Sans"/>
                <a:ea typeface="DM Sans"/>
                <a:cs typeface="DM Sans"/>
              </a:defRPr>
            </a:lvl8pPr>
            <a:lvl9pPr algn="l">
              <a:defRPr sz="2400" b="0">
                <a:solidFill>
                  <a:srgbClr val="0A0A0A"/>
                </a:solidFill>
                <a:latin typeface="DM Sans"/>
                <a:ea typeface="DM Sans"/>
                <a:cs typeface="DM Sans"/>
              </a:defRPr>
            </a:lvl9pPr>
          </a:lstStyle>
          <a:p xmlns:a="http://schemas.openxmlformats.org/drawingml/2006/main">
            <a:pPr algn="l">
              <a:defRPr sz="2400" b="0">
                <a:solidFill>
                  <a:srgbClr val="0A0A0A"/>
                </a:solidFill>
                <a:latin typeface="DM Sans"/>
                <a:ea typeface="DM Sans"/>
                <a:cs typeface="DM Sans"/>
              </a:defRPr>
            </a:pPr>
            <a:r>
              <a:rPr sz="2400" b="0">
                <a:solidFill>
                  <a:srgbClr val="0A0A0A"/>
                </a:solidFill>
                <a:latin typeface="DM Sans"/>
                <a:ea typeface="DM Sans"/>
                <a:cs typeface="DM Sans"/>
              </a:rPr>
              <a:t>The cash test rejects entry.</a:t>
            </a:r>
          </a:p>
        </p:txBody>
      </p:sp>
      <p:sp>
        <p:nvSpPr>
          <p:cNvPr id="14" name="">
            <a:extLst xmlns:a="http://schemas.openxmlformats.org/drawingml/2006/main">
              <a:ext uri="{FF2B5EF4-FFF2-40B4-BE49-F238E27FC236}">
                <a16:creationId xmlns:a16="http://schemas.microsoft.com/office/drawing/2014/main" id="{EE402BFA-41A2-40BE-93A7-ED4864B6855A}"/>
              </a:ext>
            </a:extLst>
          </p:cNvPr>
          <p:cNvSpPr>
            <a:spLocks xmlns:a="http://schemas.openxmlformats.org/drawingml/2006/main" noGrp="1"/>
          </p:cNvSpPr>
          <p:nvPr/>
        </p:nvSpPr>
        <p:spPr>
          <a:xfrm xmlns:a="http://schemas.openxmlformats.org/drawingml/2006/main" rot="0">
            <a:off x="400050" y="6124575"/>
            <a:ext cx="54387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63" b="0">
                <a:solidFill>
                  <a:srgbClr val="737373"/>
                </a:solidFill>
                <a:latin typeface="DM Sans"/>
                <a:ea typeface="DM Sans"/>
                <a:cs typeface="DM Sans"/>
              </a:defRPr>
            </a:defPPr>
            <a:lvl1pPr algn="l">
              <a:defRPr sz="863" b="0">
                <a:solidFill>
                  <a:srgbClr val="737373"/>
                </a:solidFill>
                <a:latin typeface="DM Sans"/>
                <a:ea typeface="DM Sans"/>
                <a:cs typeface="DM Sans"/>
              </a:defRPr>
            </a:lvl1pPr>
            <a:lvl2pPr algn="l">
              <a:defRPr sz="863" b="0">
                <a:solidFill>
                  <a:srgbClr val="737373"/>
                </a:solidFill>
                <a:latin typeface="DM Sans"/>
                <a:ea typeface="DM Sans"/>
                <a:cs typeface="DM Sans"/>
              </a:defRPr>
            </a:lvl2pPr>
            <a:lvl3pPr algn="l">
              <a:defRPr sz="863" b="0">
                <a:solidFill>
                  <a:srgbClr val="737373"/>
                </a:solidFill>
                <a:latin typeface="DM Sans"/>
                <a:ea typeface="DM Sans"/>
                <a:cs typeface="DM Sans"/>
              </a:defRPr>
            </a:lvl3pPr>
            <a:lvl4pPr algn="l">
              <a:defRPr sz="863" b="0">
                <a:solidFill>
                  <a:srgbClr val="737373"/>
                </a:solidFill>
                <a:latin typeface="DM Sans"/>
                <a:ea typeface="DM Sans"/>
                <a:cs typeface="DM Sans"/>
              </a:defRPr>
            </a:lvl4pPr>
            <a:lvl5pPr algn="l">
              <a:defRPr sz="863" b="0">
                <a:solidFill>
                  <a:srgbClr val="737373"/>
                </a:solidFill>
                <a:latin typeface="DM Sans"/>
                <a:ea typeface="DM Sans"/>
                <a:cs typeface="DM Sans"/>
              </a:defRPr>
            </a:lvl5pPr>
            <a:lvl6pPr algn="l">
              <a:defRPr sz="863" b="0">
                <a:solidFill>
                  <a:srgbClr val="737373"/>
                </a:solidFill>
                <a:latin typeface="DM Sans"/>
                <a:ea typeface="DM Sans"/>
                <a:cs typeface="DM Sans"/>
              </a:defRPr>
            </a:lvl6pPr>
            <a:lvl7pPr algn="l">
              <a:defRPr sz="863" b="0">
                <a:solidFill>
                  <a:srgbClr val="737373"/>
                </a:solidFill>
                <a:latin typeface="DM Sans"/>
                <a:ea typeface="DM Sans"/>
                <a:cs typeface="DM Sans"/>
              </a:defRPr>
            </a:lvl7pPr>
            <a:lvl8pPr algn="l">
              <a:defRPr sz="863" b="0">
                <a:solidFill>
                  <a:srgbClr val="737373"/>
                </a:solidFill>
                <a:latin typeface="DM Sans"/>
                <a:ea typeface="DM Sans"/>
                <a:cs typeface="DM Sans"/>
              </a:defRPr>
            </a:lvl8pPr>
            <a:lvl9pPr algn="l">
              <a:defRPr sz="863" b="0">
                <a:solidFill>
                  <a:srgbClr val="737373"/>
                </a:solidFill>
                <a:latin typeface="DM Sans"/>
                <a:ea typeface="DM Sans"/>
                <a:cs typeface="DM Sans"/>
              </a:defRPr>
            </a:lvl9pPr>
          </a:lstStyle>
          <a:p xmlns:a="http://schemas.openxmlformats.org/drawingml/2006/main">
            <a:pPr algn="l">
              <a:defRPr sz="863" b="0">
                <a:solidFill>
                  <a:srgbClr val="737373"/>
                </a:solidFill>
                <a:latin typeface="DM Sans"/>
                <a:ea typeface="DM Sans"/>
                <a:cs typeface="DM Sans"/>
              </a:defRPr>
            </a:pPr>
            <a:r>
              <a:rPr sz="863" b="0">
                <a:solidFill>
                  <a:srgbClr val="737373"/>
                </a:solidFill>
                <a:latin typeface="DM Sans"/>
                <a:ea typeface="DM Sans"/>
                <a:cs typeface="DM Sans"/>
              </a:rPr>
              <a:t>Model assignment: $1,500. No-sale cash: −$30,050.</a:t>
            </a:r>
          </a:p>
          <a:p xmlns:a="http://schemas.openxmlformats.org/drawingml/2006/main">
            <a:pPr algn="l">
              <a:defRPr sz="863" b="0">
                <a:solidFill>
                  <a:srgbClr val="737373"/>
                </a:solidFill>
                <a:latin typeface="DM Sans"/>
                <a:ea typeface="DM Sans"/>
                <a:cs typeface="DM Sans"/>
              </a:defRPr>
            </a:pPr>
            <a:r>
              <a:rPr sz="863" b="0">
                <a:solidFill>
                  <a:srgbClr val="737373"/>
                </a:solidFill>
                <a:latin typeface="DM Sans"/>
                <a:ea typeface="DM Sans"/>
                <a:cs typeface="DM Sans"/>
              </a:rPr>
              <a:t>25% return needs $77,022.34 resale. A hurdle, not a forecast.</a:t>
            </a:r>
          </a:p>
          <a:p xmlns:a="http://schemas.openxmlformats.org/drawingml/2006/main">
            <a:pPr algn="l">
              <a:defRPr sz="863" b="0">
                <a:solidFill>
                  <a:srgbClr val="737373"/>
                </a:solidFill>
                <a:latin typeface="DM Sans"/>
                <a:ea typeface="DM Sans"/>
                <a:cs typeface="DM Sans"/>
              </a:defRPr>
            </a:pPr>
            <a:r>
              <a:rPr sz="863" b="0">
                <a:solidFill>
                  <a:srgbClr val="737373"/>
                </a:solidFill>
                <a:latin typeface="DM Sans"/>
                <a:ea typeface="DM Sans"/>
                <a:cs typeface="DM Sans"/>
              </a:rPr>
              <a:t>20% assumed sale hazard per 30 days. Zero gold growth.</a:t>
            </a:r>
          </a:p>
        </p:txBody>
      </p:sp>
      <p:sp>
        <p:nvSpPr>
          <p:cNvPr id="15" name="">
            <a:extLst xmlns:a="http://schemas.openxmlformats.org/drawingml/2006/main">
              <a:ext uri="{FF2B5EF4-FFF2-40B4-BE49-F238E27FC236}">
                <a16:creationId xmlns:a16="http://schemas.microsoft.com/office/drawing/2014/main" id="{5867A0EF-3507-42E2-8A9D-318C18436947}"/>
              </a:ext>
            </a:extLst>
          </p:cNvPr>
          <p:cNvSpPr>
            <a:spLocks xmlns:a="http://schemas.openxmlformats.org/drawingml/2006/main" noGrp="1"/>
          </p:cNvSpPr>
          <p:nvPr/>
        </p:nvSpPr>
        <p:spPr>
          <a:xfrm xmlns:a="http://schemas.openxmlformats.org/drawingml/2006/main">
            <a:off x="6172200" y="152400"/>
            <a:ext cx="5867400" cy="6553200"/>
          </a:xfrm>
          <a:prstGeom xmlns:a="http://schemas.openxmlformats.org/drawingml/2006/main" prst="roundRect">
            <a:avLst>
              <a:gd name="adj" fmla="val 4058"/>
            </a:avLst>
          </a:prstGeom>
          <a:solidFill xmlns:a="http://schemas.openxmlformats.org/drawingml/2006/main">
            <a:srgbClr val="0A0A0A"/>
          </a:solidFill>
          <a:ln xmlns:a="http://schemas.openxmlformats.org/drawingml/2006/main" w="0">
            <a:noFill/>
            <a:prstDash val="solid"/>
          </a:ln>
        </p:spPr>
      </p:sp>
      <p:graphicFrame>
        <p:nvGraphicFramePr>
          <p:cNvPr id="16" name="Chart">
            <a:extLst xmlns:a="http://schemas.openxmlformats.org/drawingml/2006/main">
              <a:ext uri="{FF2B5EF4-FFF2-40B4-BE49-F238E27FC236}">
                <a16:creationId xmlns:a16="http://schemas.microsoft.com/office/drawing/2014/main" id="{B0007CC8-0879-44CE-8EB7-6E70BEC5AEDB}"/>
              </a:ext>
            </a:extLst>
          </p:cNvPr>
          <p:cNvGraphicFramePr/>
          <p:nvPr/>
        </p:nvGraphicFramePr>
        <p:xfrm>
          <a:off xmlns:a="http://schemas.openxmlformats.org/drawingml/2006/main" x="6334125" y="361950"/>
          <a:ext xmlns:a="http://schemas.openxmlformats.org/drawingml/2006/main" cx="5543550" cy="5743575"/>
        </p:xfrm>
        <a:graphic xmlns:a="http://schemas.openxmlformats.org/drawingml/2006/main">
          <a:graphicData uri="http://schemas.openxmlformats.org/drawingml/2006/chart">
            <c:chart xmlns:r="http://schemas.openxmlformats.org/officeDocument/2006/relationships" xmlns:c="http://schemas.openxmlformats.org/drawingml/2006/chart" r:id="Rd61fa6a28e0a428b"/>
          </a:graphicData>
        </a:graphic>
      </p:graphicFrame>
      <p:sp>
        <p:nvSpPr>
          <p:cNvPr id="17" name="">
            <a:extLst xmlns:a="http://schemas.openxmlformats.org/drawingml/2006/main">
              <a:ext uri="{FF2B5EF4-FFF2-40B4-BE49-F238E27FC236}">
                <a16:creationId xmlns:a16="http://schemas.microsoft.com/office/drawing/2014/main" id="{E4F9EB6E-18D1-4C49-9FCD-16A3B1EBA7F4}"/>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FAFAFA"/>
                </a:solidFill>
                <a:latin typeface="DM Sans"/>
                <a:ea typeface="DM Sans"/>
                <a:cs typeface="DM Sans"/>
              </a:defRPr>
            </a:defPPr>
            <a:lvl1pPr algn="r">
              <a:defRPr sz="900" b="0">
                <a:solidFill>
                  <a:srgbClr val="FAFAFA"/>
                </a:solidFill>
                <a:latin typeface="DM Sans"/>
                <a:ea typeface="DM Sans"/>
                <a:cs typeface="DM Sans"/>
              </a:defRPr>
            </a:lvl1pPr>
            <a:lvl2pPr algn="r">
              <a:defRPr sz="900" b="0">
                <a:solidFill>
                  <a:srgbClr val="FAFAFA"/>
                </a:solidFill>
                <a:latin typeface="DM Sans"/>
                <a:ea typeface="DM Sans"/>
                <a:cs typeface="DM Sans"/>
              </a:defRPr>
            </a:lvl2pPr>
            <a:lvl3pPr algn="r">
              <a:defRPr sz="900" b="0">
                <a:solidFill>
                  <a:srgbClr val="FAFAFA"/>
                </a:solidFill>
                <a:latin typeface="DM Sans"/>
                <a:ea typeface="DM Sans"/>
                <a:cs typeface="DM Sans"/>
              </a:defRPr>
            </a:lvl3pPr>
            <a:lvl4pPr algn="r">
              <a:defRPr sz="900" b="0">
                <a:solidFill>
                  <a:srgbClr val="FAFAFA"/>
                </a:solidFill>
                <a:latin typeface="DM Sans"/>
                <a:ea typeface="DM Sans"/>
                <a:cs typeface="DM Sans"/>
              </a:defRPr>
            </a:lvl4pPr>
            <a:lvl5pPr algn="r">
              <a:defRPr sz="900" b="0">
                <a:solidFill>
                  <a:srgbClr val="FAFAFA"/>
                </a:solidFill>
                <a:latin typeface="DM Sans"/>
                <a:ea typeface="DM Sans"/>
                <a:cs typeface="DM Sans"/>
              </a:defRPr>
            </a:lvl5pPr>
            <a:lvl6pPr algn="r">
              <a:defRPr sz="900" b="0">
                <a:solidFill>
                  <a:srgbClr val="FAFAFA"/>
                </a:solidFill>
                <a:latin typeface="DM Sans"/>
                <a:ea typeface="DM Sans"/>
                <a:cs typeface="DM Sans"/>
              </a:defRPr>
            </a:lvl6pPr>
            <a:lvl7pPr algn="r">
              <a:defRPr sz="900" b="0">
                <a:solidFill>
                  <a:srgbClr val="FAFAFA"/>
                </a:solidFill>
                <a:latin typeface="DM Sans"/>
                <a:ea typeface="DM Sans"/>
                <a:cs typeface="DM Sans"/>
              </a:defRPr>
            </a:lvl7pPr>
            <a:lvl8pPr algn="r">
              <a:defRPr sz="900" b="0">
                <a:solidFill>
                  <a:srgbClr val="FAFAFA"/>
                </a:solidFill>
                <a:latin typeface="DM Sans"/>
                <a:ea typeface="DM Sans"/>
                <a:cs typeface="DM Sans"/>
              </a:defRPr>
            </a:lvl8pPr>
            <a:lvl9pPr algn="r">
              <a:defRPr sz="900" b="0">
                <a:solidFill>
                  <a:srgbClr val="FAFAFA"/>
                </a:solidFill>
                <a:latin typeface="DM Sans"/>
                <a:ea typeface="DM Sans"/>
                <a:cs typeface="DM Sans"/>
              </a:defRPr>
            </a:lvl9pPr>
          </a:lstStyle>
          <a:p xmlns:a="http://schemas.openxmlformats.org/drawingml/2006/main">
            <a:pPr algn="r">
              <a:defRPr sz="900" b="0">
                <a:solidFill>
                  <a:srgbClr val="FAFAFA"/>
                </a:solidFill>
                <a:latin typeface="DM Sans"/>
                <a:ea typeface="DM Sans"/>
                <a:cs typeface="DM Sans"/>
              </a:defRPr>
            </a:pPr>
            <a:r>
              <a:rPr sz="900" b="0">
                <a:solidFill>
                  <a:srgbClr val="FAFAFA"/>
                </a:solidFill>
                <a:latin typeface="DM Sans"/>
                <a:ea typeface="DM Sans"/>
                <a:cs typeface="DM Sans"/>
              </a:rPr>
              <a:t>Orecast</a:t>
            </a:r>
          </a:p>
        </p:txBody>
      </p:sp>
      <p:sp>
        <p:nvSpPr>
          <p:cNvPr id="18" name="">
            <a:extLst xmlns:a="http://schemas.openxmlformats.org/drawingml/2006/main">
              <a:ext uri="{FF2B5EF4-FFF2-40B4-BE49-F238E27FC236}">
                <a16:creationId xmlns:a16="http://schemas.microsoft.com/office/drawing/2014/main" id="{805B9B83-39D2-40F5-BA09-B569DD55FC81}"/>
              </a:ext>
            </a:extLst>
          </p:cNvPr>
          <p:cNvSpPr>
            <a:spLocks xmlns:a="http://schemas.openxmlformats.org/drawingml/2006/main" noGrp="1"/>
          </p:cNvSpPr>
          <p:nvPr/>
        </p:nvSpPr>
        <p:spPr>
          <a:xfrm xmlns:a="http://schemas.openxmlformats.org/drawingml/2006/main" rot="0">
            <a:off x="6467475" y="6200775"/>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Sale chance</a:t>
            </a:r>
          </a:p>
        </p:txBody>
      </p:sp>
      <p:sp>
        <p:nvSpPr>
          <p:cNvPr id="19" name="">
            <a:extLst xmlns:a="http://schemas.openxmlformats.org/drawingml/2006/main">
              <a:ext uri="{FF2B5EF4-FFF2-40B4-BE49-F238E27FC236}">
                <a16:creationId xmlns:a16="http://schemas.microsoft.com/office/drawing/2014/main" id="{82F22C9E-A442-4226-9B82-3E6677B7F800}"/>
              </a:ext>
            </a:extLst>
          </p:cNvPr>
          <p:cNvSpPr>
            <a:spLocks xmlns:a="http://schemas.openxmlformats.org/drawingml/2006/main" noGrp="1"/>
          </p:cNvSpPr>
          <p:nvPr/>
        </p:nvSpPr>
        <p:spPr>
          <a:xfrm xmlns:a="http://schemas.openxmlformats.org/drawingml/2006/main" rot="0">
            <a:off x="7267575" y="6191250"/>
            <a:ext cx="1047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75" b="0">
                <a:solidFill>
                  <a:srgbClr val="FAFAFA"/>
                </a:solidFill>
                <a:latin typeface="DM Sans"/>
                <a:ea typeface="DM Sans"/>
                <a:cs typeface="DM Sans"/>
              </a:defRPr>
            </a:defPPr>
            <a:lvl1pPr algn="ctr">
              <a:defRPr sz="975" b="0">
                <a:solidFill>
                  <a:srgbClr val="FAFAFA"/>
                </a:solidFill>
                <a:latin typeface="DM Sans"/>
                <a:ea typeface="DM Sans"/>
                <a:cs typeface="DM Sans"/>
              </a:defRPr>
            </a:lvl1pPr>
            <a:lvl2pPr algn="ctr">
              <a:defRPr sz="975" b="0">
                <a:solidFill>
                  <a:srgbClr val="FAFAFA"/>
                </a:solidFill>
                <a:latin typeface="DM Sans"/>
                <a:ea typeface="DM Sans"/>
                <a:cs typeface="DM Sans"/>
              </a:defRPr>
            </a:lvl2pPr>
            <a:lvl3pPr algn="ctr">
              <a:defRPr sz="975" b="0">
                <a:solidFill>
                  <a:srgbClr val="FAFAFA"/>
                </a:solidFill>
                <a:latin typeface="DM Sans"/>
                <a:ea typeface="DM Sans"/>
                <a:cs typeface="DM Sans"/>
              </a:defRPr>
            </a:lvl3pPr>
            <a:lvl4pPr algn="ctr">
              <a:defRPr sz="975" b="0">
                <a:solidFill>
                  <a:srgbClr val="FAFAFA"/>
                </a:solidFill>
                <a:latin typeface="DM Sans"/>
                <a:ea typeface="DM Sans"/>
                <a:cs typeface="DM Sans"/>
              </a:defRPr>
            </a:lvl4pPr>
            <a:lvl5pPr algn="ctr">
              <a:defRPr sz="975" b="0">
                <a:solidFill>
                  <a:srgbClr val="FAFAFA"/>
                </a:solidFill>
                <a:latin typeface="DM Sans"/>
                <a:ea typeface="DM Sans"/>
                <a:cs typeface="DM Sans"/>
              </a:defRPr>
            </a:lvl5pPr>
            <a:lvl6pPr algn="ctr">
              <a:defRPr sz="975" b="0">
                <a:solidFill>
                  <a:srgbClr val="FAFAFA"/>
                </a:solidFill>
                <a:latin typeface="DM Sans"/>
                <a:ea typeface="DM Sans"/>
                <a:cs typeface="DM Sans"/>
              </a:defRPr>
            </a:lvl6pPr>
            <a:lvl7pPr algn="ctr">
              <a:defRPr sz="975" b="0">
                <a:solidFill>
                  <a:srgbClr val="FAFAFA"/>
                </a:solidFill>
                <a:latin typeface="DM Sans"/>
                <a:ea typeface="DM Sans"/>
                <a:cs typeface="DM Sans"/>
              </a:defRPr>
            </a:lvl7pPr>
            <a:lvl8pPr algn="ctr">
              <a:defRPr sz="975" b="0">
                <a:solidFill>
                  <a:srgbClr val="FAFAFA"/>
                </a:solidFill>
                <a:latin typeface="DM Sans"/>
                <a:ea typeface="DM Sans"/>
                <a:cs typeface="DM Sans"/>
              </a:defRPr>
            </a:lvl8pPr>
            <a:lvl9pPr algn="ctr">
              <a:defRPr sz="975" b="0">
                <a:solidFill>
                  <a:srgbClr val="FAFAFA"/>
                </a:solidFill>
                <a:latin typeface="DM Sans"/>
                <a:ea typeface="DM Sans"/>
                <a:cs typeface="DM Sans"/>
              </a:defRPr>
            </a:lvl9pPr>
          </a:lstStyle>
          <a:p xmlns:a="http://schemas.openxmlformats.org/drawingml/2006/main">
            <a:pPr algn="ctr">
              <a:defRPr sz="975" b="0">
                <a:solidFill>
                  <a:srgbClr val="FAFAFA"/>
                </a:solidFill>
                <a:latin typeface="DM Sans"/>
                <a:ea typeface="DM Sans"/>
                <a:cs typeface="DM Sans"/>
              </a:defRPr>
            </a:pPr>
            <a:r>
              <a:rPr sz="975" b="0">
                <a:solidFill>
                  <a:srgbClr val="FAFAFA"/>
                </a:solidFill>
                <a:latin typeface="DM Sans"/>
                <a:ea typeface="DM Sans"/>
                <a:cs typeface="DM Sans"/>
              </a:rPr>
              <a:t>20.0%</a:t>
            </a:r>
          </a:p>
        </p:txBody>
      </p:sp>
      <p:sp>
        <p:nvSpPr>
          <p:cNvPr id="20" name="">
            <a:extLst xmlns:a="http://schemas.openxmlformats.org/drawingml/2006/main">
              <a:ext uri="{FF2B5EF4-FFF2-40B4-BE49-F238E27FC236}">
                <a16:creationId xmlns:a16="http://schemas.microsoft.com/office/drawing/2014/main" id="{2FAA75BE-D5C0-415E-9F76-E72E621D5726}"/>
              </a:ext>
            </a:extLst>
          </p:cNvPr>
          <p:cNvSpPr>
            <a:spLocks xmlns:a="http://schemas.openxmlformats.org/drawingml/2006/main" noGrp="1"/>
          </p:cNvSpPr>
          <p:nvPr/>
        </p:nvSpPr>
        <p:spPr>
          <a:xfrm xmlns:a="http://schemas.openxmlformats.org/drawingml/2006/main" rot="0">
            <a:off x="8858250" y="6191250"/>
            <a:ext cx="1047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75" b="0">
                <a:solidFill>
                  <a:srgbClr val="FAFAFA"/>
                </a:solidFill>
                <a:latin typeface="DM Sans"/>
                <a:ea typeface="DM Sans"/>
                <a:cs typeface="DM Sans"/>
              </a:defRPr>
            </a:defPPr>
            <a:lvl1pPr algn="ctr">
              <a:defRPr sz="975" b="0">
                <a:solidFill>
                  <a:srgbClr val="FAFAFA"/>
                </a:solidFill>
                <a:latin typeface="DM Sans"/>
                <a:ea typeface="DM Sans"/>
                <a:cs typeface="DM Sans"/>
              </a:defRPr>
            </a:lvl1pPr>
            <a:lvl2pPr algn="ctr">
              <a:defRPr sz="975" b="0">
                <a:solidFill>
                  <a:srgbClr val="FAFAFA"/>
                </a:solidFill>
                <a:latin typeface="DM Sans"/>
                <a:ea typeface="DM Sans"/>
                <a:cs typeface="DM Sans"/>
              </a:defRPr>
            </a:lvl2pPr>
            <a:lvl3pPr algn="ctr">
              <a:defRPr sz="975" b="0">
                <a:solidFill>
                  <a:srgbClr val="FAFAFA"/>
                </a:solidFill>
                <a:latin typeface="DM Sans"/>
                <a:ea typeface="DM Sans"/>
                <a:cs typeface="DM Sans"/>
              </a:defRPr>
            </a:lvl3pPr>
            <a:lvl4pPr algn="ctr">
              <a:defRPr sz="975" b="0">
                <a:solidFill>
                  <a:srgbClr val="FAFAFA"/>
                </a:solidFill>
                <a:latin typeface="DM Sans"/>
                <a:ea typeface="DM Sans"/>
                <a:cs typeface="DM Sans"/>
              </a:defRPr>
            </a:lvl4pPr>
            <a:lvl5pPr algn="ctr">
              <a:defRPr sz="975" b="0">
                <a:solidFill>
                  <a:srgbClr val="FAFAFA"/>
                </a:solidFill>
                <a:latin typeface="DM Sans"/>
                <a:ea typeface="DM Sans"/>
                <a:cs typeface="DM Sans"/>
              </a:defRPr>
            </a:lvl5pPr>
            <a:lvl6pPr algn="ctr">
              <a:defRPr sz="975" b="0">
                <a:solidFill>
                  <a:srgbClr val="FAFAFA"/>
                </a:solidFill>
                <a:latin typeface="DM Sans"/>
                <a:ea typeface="DM Sans"/>
                <a:cs typeface="DM Sans"/>
              </a:defRPr>
            </a:lvl6pPr>
            <a:lvl7pPr algn="ctr">
              <a:defRPr sz="975" b="0">
                <a:solidFill>
                  <a:srgbClr val="FAFAFA"/>
                </a:solidFill>
                <a:latin typeface="DM Sans"/>
                <a:ea typeface="DM Sans"/>
                <a:cs typeface="DM Sans"/>
              </a:defRPr>
            </a:lvl7pPr>
            <a:lvl8pPr algn="ctr">
              <a:defRPr sz="975" b="0">
                <a:solidFill>
                  <a:srgbClr val="FAFAFA"/>
                </a:solidFill>
                <a:latin typeface="DM Sans"/>
                <a:ea typeface="DM Sans"/>
                <a:cs typeface="DM Sans"/>
              </a:defRPr>
            </a:lvl8pPr>
            <a:lvl9pPr algn="ctr">
              <a:defRPr sz="975" b="0">
                <a:solidFill>
                  <a:srgbClr val="FAFAFA"/>
                </a:solidFill>
                <a:latin typeface="DM Sans"/>
                <a:ea typeface="DM Sans"/>
                <a:cs typeface="DM Sans"/>
              </a:defRPr>
            </a:lvl9pPr>
          </a:lstStyle>
          <a:p xmlns:a="http://schemas.openxmlformats.org/drawingml/2006/main">
            <a:pPr algn="ctr">
              <a:defRPr sz="975" b="0">
                <a:solidFill>
                  <a:srgbClr val="FAFAFA"/>
                </a:solidFill>
                <a:latin typeface="DM Sans"/>
                <a:ea typeface="DM Sans"/>
                <a:cs typeface="DM Sans"/>
              </a:defRPr>
            </a:pPr>
            <a:r>
              <a:rPr sz="975" b="0">
                <a:solidFill>
                  <a:srgbClr val="FAFAFA"/>
                </a:solidFill>
                <a:latin typeface="DM Sans"/>
                <a:ea typeface="DM Sans"/>
                <a:cs typeface="DM Sans"/>
              </a:rPr>
              <a:t>48.8%</a:t>
            </a:r>
          </a:p>
        </p:txBody>
      </p:sp>
      <p:sp>
        <p:nvSpPr>
          <p:cNvPr id="21" name="">
            <a:extLst xmlns:a="http://schemas.openxmlformats.org/drawingml/2006/main">
              <a:ext uri="{FF2B5EF4-FFF2-40B4-BE49-F238E27FC236}">
                <a16:creationId xmlns:a16="http://schemas.microsoft.com/office/drawing/2014/main" id="{2048BC71-6E5C-4873-8016-BE676438AC88}"/>
              </a:ext>
            </a:extLst>
          </p:cNvPr>
          <p:cNvSpPr>
            <a:spLocks xmlns:a="http://schemas.openxmlformats.org/drawingml/2006/main" noGrp="1"/>
          </p:cNvSpPr>
          <p:nvPr/>
        </p:nvSpPr>
        <p:spPr>
          <a:xfrm xmlns:a="http://schemas.openxmlformats.org/drawingml/2006/main" rot="0">
            <a:off x="10448925" y="6191250"/>
            <a:ext cx="1047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75" b="0">
                <a:solidFill>
                  <a:srgbClr val="FAFAFA"/>
                </a:solidFill>
                <a:latin typeface="DM Sans"/>
                <a:ea typeface="DM Sans"/>
                <a:cs typeface="DM Sans"/>
              </a:defRPr>
            </a:defPPr>
            <a:lvl1pPr algn="ctr">
              <a:defRPr sz="975" b="0">
                <a:solidFill>
                  <a:srgbClr val="FAFAFA"/>
                </a:solidFill>
                <a:latin typeface="DM Sans"/>
                <a:ea typeface="DM Sans"/>
                <a:cs typeface="DM Sans"/>
              </a:defRPr>
            </a:lvl1pPr>
            <a:lvl2pPr algn="ctr">
              <a:defRPr sz="975" b="0">
                <a:solidFill>
                  <a:srgbClr val="FAFAFA"/>
                </a:solidFill>
                <a:latin typeface="DM Sans"/>
                <a:ea typeface="DM Sans"/>
                <a:cs typeface="DM Sans"/>
              </a:defRPr>
            </a:lvl2pPr>
            <a:lvl3pPr algn="ctr">
              <a:defRPr sz="975" b="0">
                <a:solidFill>
                  <a:srgbClr val="FAFAFA"/>
                </a:solidFill>
                <a:latin typeface="DM Sans"/>
                <a:ea typeface="DM Sans"/>
                <a:cs typeface="DM Sans"/>
              </a:defRPr>
            </a:lvl3pPr>
            <a:lvl4pPr algn="ctr">
              <a:defRPr sz="975" b="0">
                <a:solidFill>
                  <a:srgbClr val="FAFAFA"/>
                </a:solidFill>
                <a:latin typeface="DM Sans"/>
                <a:ea typeface="DM Sans"/>
                <a:cs typeface="DM Sans"/>
              </a:defRPr>
            </a:lvl4pPr>
            <a:lvl5pPr algn="ctr">
              <a:defRPr sz="975" b="0">
                <a:solidFill>
                  <a:srgbClr val="FAFAFA"/>
                </a:solidFill>
                <a:latin typeface="DM Sans"/>
                <a:ea typeface="DM Sans"/>
                <a:cs typeface="DM Sans"/>
              </a:defRPr>
            </a:lvl5pPr>
            <a:lvl6pPr algn="ctr">
              <a:defRPr sz="975" b="0">
                <a:solidFill>
                  <a:srgbClr val="FAFAFA"/>
                </a:solidFill>
                <a:latin typeface="DM Sans"/>
                <a:ea typeface="DM Sans"/>
                <a:cs typeface="DM Sans"/>
              </a:defRPr>
            </a:lvl6pPr>
            <a:lvl7pPr algn="ctr">
              <a:defRPr sz="975" b="0">
                <a:solidFill>
                  <a:srgbClr val="FAFAFA"/>
                </a:solidFill>
                <a:latin typeface="DM Sans"/>
                <a:ea typeface="DM Sans"/>
                <a:cs typeface="DM Sans"/>
              </a:defRPr>
            </a:lvl7pPr>
            <a:lvl8pPr algn="ctr">
              <a:defRPr sz="975" b="0">
                <a:solidFill>
                  <a:srgbClr val="FAFAFA"/>
                </a:solidFill>
                <a:latin typeface="DM Sans"/>
                <a:ea typeface="DM Sans"/>
                <a:cs typeface="DM Sans"/>
              </a:defRPr>
            </a:lvl8pPr>
            <a:lvl9pPr algn="ctr">
              <a:defRPr sz="975" b="0">
                <a:solidFill>
                  <a:srgbClr val="FAFAFA"/>
                </a:solidFill>
                <a:latin typeface="DM Sans"/>
                <a:ea typeface="DM Sans"/>
                <a:cs typeface="DM Sans"/>
              </a:defRPr>
            </a:lvl9pPr>
          </a:lstStyle>
          <a:p xmlns:a="http://schemas.openxmlformats.org/drawingml/2006/main">
            <a:pPr algn="ctr">
              <a:defRPr sz="975" b="0">
                <a:solidFill>
                  <a:srgbClr val="FAFAFA"/>
                </a:solidFill>
                <a:latin typeface="DM Sans"/>
                <a:ea typeface="DM Sans"/>
                <a:cs typeface="DM Sans"/>
              </a:defRPr>
            </a:pPr>
            <a:r>
              <a:rPr sz="975" b="0">
                <a:solidFill>
                  <a:srgbClr val="FAFAFA"/>
                </a:solidFill>
                <a:latin typeface="DM Sans"/>
                <a:ea typeface="DM Sans"/>
                <a:cs typeface="DM Sans"/>
              </a:rPr>
              <a:t>73.8%</a:t>
            </a:r>
          </a:p>
        </p:txBody>
      </p:sp>
      <p:sp>
        <p:nvSpPr>
          <p:cNvPr id="22" name="">
            <a:extLst xmlns:a="http://schemas.openxmlformats.org/drawingml/2006/main">
              <a:ext uri="{FF2B5EF4-FFF2-40B4-BE49-F238E27FC236}">
                <a16:creationId xmlns:a16="http://schemas.microsoft.com/office/drawing/2014/main" id="{B9B514B3-725C-495C-9E5E-FBABDDDFE0A1}"/>
              </a:ext>
            </a:extLst>
          </p:cNvPr>
          <p:cNvSpPr>
            <a:spLocks xmlns:a="http://schemas.openxmlformats.org/drawingml/2006/main" noGrp="1"/>
          </p:cNvSpPr>
          <p:nvPr/>
        </p:nvSpPr>
        <p:spPr>
          <a:xfrm xmlns:a="http://schemas.openxmlformats.org/drawingml/2006/main" rot="0">
            <a:off x="6467475" y="6505575"/>
            <a:ext cx="4953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A3A3A3"/>
                </a:solidFill>
                <a:latin typeface="DM Sans"/>
                <a:ea typeface="DM Sans"/>
                <a:cs typeface="DM Sans"/>
              </a:defRPr>
            </a:defPPr>
            <a:lvl1pPr algn="l">
              <a:defRPr sz="750" b="0">
                <a:solidFill>
                  <a:srgbClr val="A3A3A3"/>
                </a:solidFill>
                <a:latin typeface="DM Sans"/>
                <a:ea typeface="DM Sans"/>
                <a:cs typeface="DM Sans"/>
              </a:defRPr>
            </a:lvl1pPr>
            <a:lvl2pPr algn="l">
              <a:defRPr sz="750" b="0">
                <a:solidFill>
                  <a:srgbClr val="A3A3A3"/>
                </a:solidFill>
                <a:latin typeface="DM Sans"/>
                <a:ea typeface="DM Sans"/>
                <a:cs typeface="DM Sans"/>
              </a:defRPr>
            </a:lvl2pPr>
            <a:lvl3pPr algn="l">
              <a:defRPr sz="750" b="0">
                <a:solidFill>
                  <a:srgbClr val="A3A3A3"/>
                </a:solidFill>
                <a:latin typeface="DM Sans"/>
                <a:ea typeface="DM Sans"/>
                <a:cs typeface="DM Sans"/>
              </a:defRPr>
            </a:lvl3pPr>
            <a:lvl4pPr algn="l">
              <a:defRPr sz="750" b="0">
                <a:solidFill>
                  <a:srgbClr val="A3A3A3"/>
                </a:solidFill>
                <a:latin typeface="DM Sans"/>
                <a:ea typeface="DM Sans"/>
                <a:cs typeface="DM Sans"/>
              </a:defRPr>
            </a:lvl4pPr>
            <a:lvl5pPr algn="l">
              <a:defRPr sz="750" b="0">
                <a:solidFill>
                  <a:srgbClr val="A3A3A3"/>
                </a:solidFill>
                <a:latin typeface="DM Sans"/>
                <a:ea typeface="DM Sans"/>
                <a:cs typeface="DM Sans"/>
              </a:defRPr>
            </a:lvl5pPr>
            <a:lvl6pPr algn="l">
              <a:defRPr sz="750" b="0">
                <a:solidFill>
                  <a:srgbClr val="A3A3A3"/>
                </a:solidFill>
                <a:latin typeface="DM Sans"/>
                <a:ea typeface="DM Sans"/>
                <a:cs typeface="DM Sans"/>
              </a:defRPr>
            </a:lvl6pPr>
            <a:lvl7pPr algn="l">
              <a:defRPr sz="750" b="0">
                <a:solidFill>
                  <a:srgbClr val="A3A3A3"/>
                </a:solidFill>
                <a:latin typeface="DM Sans"/>
                <a:ea typeface="DM Sans"/>
                <a:cs typeface="DM Sans"/>
              </a:defRPr>
            </a:lvl7pPr>
            <a:lvl8pPr algn="l">
              <a:defRPr sz="750" b="0">
                <a:solidFill>
                  <a:srgbClr val="A3A3A3"/>
                </a:solidFill>
                <a:latin typeface="DM Sans"/>
                <a:ea typeface="DM Sans"/>
                <a:cs typeface="DM Sans"/>
              </a:defRPr>
            </a:lvl8pPr>
            <a:lvl9pPr algn="l">
              <a:defRPr sz="750" b="0">
                <a:solidFill>
                  <a:srgbClr val="A3A3A3"/>
                </a:solidFill>
                <a:latin typeface="DM Sans"/>
                <a:ea typeface="DM Sans"/>
                <a:cs typeface="DM Sans"/>
              </a:defRPr>
            </a:lvl9pPr>
          </a:lstStyle>
          <a:p xmlns:a="http://schemas.openxmlformats.org/drawingml/2006/main">
            <a:pPr algn="l">
              <a:defRPr sz="750" b="0">
                <a:solidFill>
                  <a:srgbClr val="A3A3A3"/>
                </a:solidFill>
                <a:latin typeface="DM Sans"/>
                <a:ea typeface="DM Sans"/>
                <a:cs typeface="DM Sans"/>
              </a:defRPr>
            </a:pPr>
            <a:r>
              <a:rPr sz="750" b="0">
                <a:solidFill>
                  <a:srgbClr val="A3A3A3"/>
                </a:solidFill>
                <a:latin typeface="DM Sans"/>
                <a:ea typeface="DM Sans"/>
                <a:cs typeface="DM Sans"/>
              </a:rPr>
              <a:t>Hypothetical baseline · all horizons SKIP</a:t>
            </a:r>
          </a:p>
        </p:txBody>
      </p:sp>
    </p:spTree>
    <p:extLst>
      <p:ext uri="{BB962C8B-B14F-4D97-AF65-F5344CB8AC3E}">
        <p14:creationId xmlns:p14="http://schemas.microsoft.com/office/powerpoint/2010/main" val="407746441"/>
      </p:ext>
    </p:extLst>
  </p:cSld>
</p:sld>
</file>

<file path=ppt/slides/slide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697252F9-98AC-4BAD-9F92-80832A5BCC7D}"/>
              </a:ext>
            </a:extLst>
          </p:cNvPr>
          <p:cNvPicPr>
            <a:picLocks xmlns:a="http://schemas.openxmlformats.org/drawingml/2006/main" noChangeAspect="1"/>
          </p:cNvPicPr>
          <p:nvPr/>
        </p:nvPicPr>
        <p:blipFill>
          <a:blip xmlns:r="http://schemas.openxmlformats.org/officeDocument/2006/relationships" xmlns:a="http://schemas.openxmlformats.org/drawingml/2006/main" r:embed="Rc8d950ea59c84525"/>
          <a:srcRect xmlns:a="http://schemas.openxmlformats.org/drawingml/2006/main" l="0" t="17394" r="0" b="17394"/>
          <a:stretch xmlns:a="http://schemas.openxmlformats.org/drawingml/2006/main">
            <a:fillRect l="0" t="0" r="0" b="0"/>
          </a:stretch>
        </p:blipFill>
        <p:spPr>
          <a:xfrm xmlns:a="http://schemas.openxmlformats.org/drawingml/2006/main">
            <a:off x="152400" y="152400"/>
            <a:ext cx="11887200" cy="6553200"/>
          </a:xfrm>
          <a:prstGeom xmlns:a="http://schemas.openxmlformats.org/drawingml/2006/main" prst="roundRect">
            <a:avLst>
              <a:gd name="adj" fmla="val 3634"/>
            </a:avLst>
          </a:prstGeom>
        </p:spPr>
      </p:pic>
      <p:sp>
        <p:nvSpPr>
          <p:cNvPr id="2" name="">
            <a:extLst xmlns:a="http://schemas.openxmlformats.org/drawingml/2006/main">
              <a:ext uri="{FF2B5EF4-FFF2-40B4-BE49-F238E27FC236}">
                <a16:creationId xmlns:a16="http://schemas.microsoft.com/office/drawing/2014/main" id="{24F01670-819C-49D5-90A6-8ACC0D4AC2AC}"/>
              </a:ext>
            </a:extLst>
          </p:cNvPr>
          <p:cNvSpPr>
            <a:spLocks xmlns:a="http://schemas.openxmlformats.org/drawingml/2006/main" noGrp="1"/>
          </p:cNvSpPr>
          <p:nvPr/>
        </p:nvSpPr>
        <p:spPr>
          <a:xfrm xmlns:a="http://schemas.openxmlformats.org/drawingml/2006/main">
            <a:off x="152400" y="152400"/>
            <a:ext cx="11887200" cy="6553200"/>
          </a:xfrm>
          <a:prstGeom xmlns:a="http://schemas.openxmlformats.org/drawingml/2006/main" prst="roundRect">
            <a:avLst>
              <a:gd name="adj" fmla="val 3634"/>
            </a:avLst>
          </a:prstGeom>
          <a:solidFill xmlns:a="http://schemas.openxmlformats.org/drawingml/2006/main">
            <a:srgbClr val="0A0A0A">
              <a:alpha val="5700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3DDF8C2-4DF7-4DFB-9DC3-7CB51EDA6BDC}"/>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FAFAFA"/>
            </a:solidFill>
            <a:prstDash val="solid"/>
          </a:ln>
        </p:spPr>
      </p:sp>
      <p:sp>
        <p:nvSpPr>
          <p:cNvPr id="4" name="">
            <a:extLst xmlns:a="http://schemas.openxmlformats.org/drawingml/2006/main">
              <a:ext uri="{FF2B5EF4-FFF2-40B4-BE49-F238E27FC236}">
                <a16:creationId xmlns:a16="http://schemas.microsoft.com/office/drawing/2014/main" id="{B21B7EC6-EF52-4053-86E2-FDCA2656E9F8}"/>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05</a:t>
            </a:r>
          </a:p>
        </p:txBody>
      </p:sp>
      <p:sp>
        <p:nvSpPr>
          <p:cNvPr id="5" name="">
            <a:extLst xmlns:a="http://schemas.openxmlformats.org/drawingml/2006/main">
              <a:ext uri="{FF2B5EF4-FFF2-40B4-BE49-F238E27FC236}">
                <a16:creationId xmlns:a16="http://schemas.microsoft.com/office/drawing/2014/main" id="{60A8B2B9-39AF-4121-968E-D0076E03C1D2}"/>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FAFAFA"/>
            </a:solidFill>
            <a:prstDash val="solid"/>
          </a:ln>
        </p:spPr>
      </p:sp>
      <p:sp>
        <p:nvSpPr>
          <p:cNvPr id="6" name="">
            <a:extLst xmlns:a="http://schemas.openxmlformats.org/drawingml/2006/main">
              <a:ext uri="{FF2B5EF4-FFF2-40B4-BE49-F238E27FC236}">
                <a16:creationId xmlns:a16="http://schemas.microsoft.com/office/drawing/2014/main" id="{7DBA9A14-BEE0-45FC-9D6B-757E8A761F65}"/>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FAFAFA"/>
            </a:solidFill>
            <a:prstDash val="solid"/>
          </a:ln>
        </p:spPr>
      </p:sp>
      <p:sp>
        <p:nvSpPr>
          <p:cNvPr id="7" name="">
            <a:extLst xmlns:a="http://schemas.openxmlformats.org/drawingml/2006/main">
              <a:ext uri="{FF2B5EF4-FFF2-40B4-BE49-F238E27FC236}">
                <a16:creationId xmlns:a16="http://schemas.microsoft.com/office/drawing/2014/main" id="{7BBD4160-A3B3-4D5B-8B43-3CD5A9C8CADF}"/>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FAFAFA"/>
            </a:solidFill>
            <a:prstDash val="solid"/>
          </a:ln>
        </p:spPr>
      </p:sp>
      <p:sp>
        <p:nvSpPr>
          <p:cNvPr id="8" name="">
            <a:extLst xmlns:a="http://schemas.openxmlformats.org/drawingml/2006/main">
              <a:ext uri="{FF2B5EF4-FFF2-40B4-BE49-F238E27FC236}">
                <a16:creationId xmlns:a16="http://schemas.microsoft.com/office/drawing/2014/main" id="{435718FF-FF21-49DE-B309-DA5AC90714A6}"/>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FAFAFA"/>
                </a:solidFill>
                <a:latin typeface="DM Sans"/>
                <a:ea typeface="DM Sans"/>
                <a:cs typeface="DM Sans"/>
              </a:defRPr>
            </a:defPPr>
            <a:lvl1pPr algn="l">
              <a:defRPr sz="900" b="0">
                <a:solidFill>
                  <a:srgbClr val="FAFAFA"/>
                </a:solidFill>
                <a:latin typeface="DM Sans"/>
                <a:ea typeface="DM Sans"/>
                <a:cs typeface="DM Sans"/>
              </a:defRPr>
            </a:lvl1pPr>
            <a:lvl2pPr algn="l">
              <a:defRPr sz="900" b="0">
                <a:solidFill>
                  <a:srgbClr val="FAFAFA"/>
                </a:solidFill>
                <a:latin typeface="DM Sans"/>
                <a:ea typeface="DM Sans"/>
                <a:cs typeface="DM Sans"/>
              </a:defRPr>
            </a:lvl2pPr>
            <a:lvl3pPr algn="l">
              <a:defRPr sz="900" b="0">
                <a:solidFill>
                  <a:srgbClr val="FAFAFA"/>
                </a:solidFill>
                <a:latin typeface="DM Sans"/>
                <a:ea typeface="DM Sans"/>
                <a:cs typeface="DM Sans"/>
              </a:defRPr>
            </a:lvl3pPr>
            <a:lvl4pPr algn="l">
              <a:defRPr sz="900" b="0">
                <a:solidFill>
                  <a:srgbClr val="FAFAFA"/>
                </a:solidFill>
                <a:latin typeface="DM Sans"/>
                <a:ea typeface="DM Sans"/>
                <a:cs typeface="DM Sans"/>
              </a:defRPr>
            </a:lvl4pPr>
            <a:lvl5pPr algn="l">
              <a:defRPr sz="900" b="0">
                <a:solidFill>
                  <a:srgbClr val="FAFAFA"/>
                </a:solidFill>
                <a:latin typeface="DM Sans"/>
                <a:ea typeface="DM Sans"/>
                <a:cs typeface="DM Sans"/>
              </a:defRPr>
            </a:lvl5pPr>
            <a:lvl6pPr algn="l">
              <a:defRPr sz="900" b="0">
                <a:solidFill>
                  <a:srgbClr val="FAFAFA"/>
                </a:solidFill>
                <a:latin typeface="DM Sans"/>
                <a:ea typeface="DM Sans"/>
                <a:cs typeface="DM Sans"/>
              </a:defRPr>
            </a:lvl6pPr>
            <a:lvl7pPr algn="l">
              <a:defRPr sz="900" b="0">
                <a:solidFill>
                  <a:srgbClr val="FAFAFA"/>
                </a:solidFill>
                <a:latin typeface="DM Sans"/>
                <a:ea typeface="DM Sans"/>
                <a:cs typeface="DM Sans"/>
              </a:defRPr>
            </a:lvl7pPr>
            <a:lvl8pPr algn="l">
              <a:defRPr sz="900" b="0">
                <a:solidFill>
                  <a:srgbClr val="FAFAFA"/>
                </a:solidFill>
                <a:latin typeface="DM Sans"/>
                <a:ea typeface="DM Sans"/>
                <a:cs typeface="DM Sans"/>
              </a:defRPr>
            </a:lvl8pPr>
            <a:lvl9pPr algn="l">
              <a:defRPr sz="900" b="0">
                <a:solidFill>
                  <a:srgbClr val="FAFAFA"/>
                </a:solidFill>
                <a:latin typeface="DM Sans"/>
                <a:ea typeface="DM Sans"/>
                <a:cs typeface="DM Sans"/>
              </a:defRPr>
            </a:lvl9pPr>
          </a:lstStyle>
          <a:p xmlns:a="http://schemas.openxmlformats.org/drawingml/2006/main">
            <a:pPr algn="l">
              <a:defRPr sz="900" b="0">
                <a:solidFill>
                  <a:srgbClr val="FAFAFA"/>
                </a:solidFill>
                <a:latin typeface="DM Sans"/>
                <a:ea typeface="DM Sans"/>
                <a:cs typeface="DM Sans"/>
              </a:defRPr>
            </a:pPr>
            <a:r>
              <a:rPr sz="900" b="0">
                <a:solidFill>
                  <a:srgbClr val="FAFAFA"/>
                </a:solidFill>
                <a:latin typeface="DM Sans"/>
                <a:ea typeface="DM Sans"/>
                <a:cs typeface="DM Sans"/>
              </a:rPr>
              <a:t>Live demonstration</a:t>
            </a:r>
          </a:p>
        </p:txBody>
      </p:sp>
      <p:sp>
        <p:nvSpPr>
          <p:cNvPr id="9" name="">
            <a:extLst xmlns:a="http://schemas.openxmlformats.org/drawingml/2006/main">
              <a:ext uri="{FF2B5EF4-FFF2-40B4-BE49-F238E27FC236}">
                <a16:creationId xmlns:a16="http://schemas.microsoft.com/office/drawing/2014/main" id="{F11FAE6B-625D-41DB-907B-EDAA1EECED9B}"/>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FAFAFA"/>
                </a:solidFill>
                <a:latin typeface="DM Sans"/>
                <a:ea typeface="DM Sans"/>
                <a:cs typeface="DM Sans"/>
              </a:defRPr>
            </a:defPPr>
            <a:lvl1pPr algn="r">
              <a:defRPr sz="900" b="0">
                <a:solidFill>
                  <a:srgbClr val="FAFAFA"/>
                </a:solidFill>
                <a:latin typeface="DM Sans"/>
                <a:ea typeface="DM Sans"/>
                <a:cs typeface="DM Sans"/>
              </a:defRPr>
            </a:lvl1pPr>
            <a:lvl2pPr algn="r">
              <a:defRPr sz="900" b="0">
                <a:solidFill>
                  <a:srgbClr val="FAFAFA"/>
                </a:solidFill>
                <a:latin typeface="DM Sans"/>
                <a:ea typeface="DM Sans"/>
                <a:cs typeface="DM Sans"/>
              </a:defRPr>
            </a:lvl2pPr>
            <a:lvl3pPr algn="r">
              <a:defRPr sz="900" b="0">
                <a:solidFill>
                  <a:srgbClr val="FAFAFA"/>
                </a:solidFill>
                <a:latin typeface="DM Sans"/>
                <a:ea typeface="DM Sans"/>
                <a:cs typeface="DM Sans"/>
              </a:defRPr>
            </a:lvl3pPr>
            <a:lvl4pPr algn="r">
              <a:defRPr sz="900" b="0">
                <a:solidFill>
                  <a:srgbClr val="FAFAFA"/>
                </a:solidFill>
                <a:latin typeface="DM Sans"/>
                <a:ea typeface="DM Sans"/>
                <a:cs typeface="DM Sans"/>
              </a:defRPr>
            </a:lvl4pPr>
            <a:lvl5pPr algn="r">
              <a:defRPr sz="900" b="0">
                <a:solidFill>
                  <a:srgbClr val="FAFAFA"/>
                </a:solidFill>
                <a:latin typeface="DM Sans"/>
                <a:ea typeface="DM Sans"/>
                <a:cs typeface="DM Sans"/>
              </a:defRPr>
            </a:lvl5pPr>
            <a:lvl6pPr algn="r">
              <a:defRPr sz="900" b="0">
                <a:solidFill>
                  <a:srgbClr val="FAFAFA"/>
                </a:solidFill>
                <a:latin typeface="DM Sans"/>
                <a:ea typeface="DM Sans"/>
                <a:cs typeface="DM Sans"/>
              </a:defRPr>
            </a:lvl6pPr>
            <a:lvl7pPr algn="r">
              <a:defRPr sz="900" b="0">
                <a:solidFill>
                  <a:srgbClr val="FAFAFA"/>
                </a:solidFill>
                <a:latin typeface="DM Sans"/>
                <a:ea typeface="DM Sans"/>
                <a:cs typeface="DM Sans"/>
              </a:defRPr>
            </a:lvl7pPr>
            <a:lvl8pPr algn="r">
              <a:defRPr sz="900" b="0">
                <a:solidFill>
                  <a:srgbClr val="FAFAFA"/>
                </a:solidFill>
                <a:latin typeface="DM Sans"/>
                <a:ea typeface="DM Sans"/>
                <a:cs typeface="DM Sans"/>
              </a:defRPr>
            </a:lvl8pPr>
            <a:lvl9pPr algn="r">
              <a:defRPr sz="900" b="0">
                <a:solidFill>
                  <a:srgbClr val="FAFAFA"/>
                </a:solidFill>
                <a:latin typeface="DM Sans"/>
                <a:ea typeface="DM Sans"/>
                <a:cs typeface="DM Sans"/>
              </a:defRPr>
            </a:lvl9pPr>
          </a:lstStyle>
          <a:p xmlns:a="http://schemas.openxmlformats.org/drawingml/2006/main">
            <a:pPr algn="r">
              <a:defRPr sz="900" b="0">
                <a:solidFill>
                  <a:srgbClr val="FAFAFA"/>
                </a:solidFill>
                <a:latin typeface="DM Sans"/>
                <a:ea typeface="DM Sans"/>
                <a:cs typeface="DM Sans"/>
              </a:defRPr>
            </a:pPr>
            <a:r>
              <a:rPr sz="900" b="0">
                <a:solidFill>
                  <a:srgbClr val="FAFAFA"/>
                </a:solidFill>
                <a:latin typeface="DM Sans"/>
                <a:ea typeface="DM Sans"/>
                <a:cs typeface="DM Sans"/>
              </a:rPr>
              <a:t>Orecast</a:t>
            </a:r>
          </a:p>
        </p:txBody>
      </p:sp>
      <p:sp>
        <p:nvSpPr>
          <p:cNvPr id="10" name="">
            <a:extLst xmlns:a="http://schemas.openxmlformats.org/drawingml/2006/main">
              <a:ext uri="{FF2B5EF4-FFF2-40B4-BE49-F238E27FC236}">
                <a16:creationId xmlns:a16="http://schemas.microsoft.com/office/drawing/2014/main" id="{6125E985-75D8-44E6-80B3-03197D60B8A0}"/>
              </a:ext>
            </a:extLst>
          </p:cNvPr>
          <p:cNvSpPr>
            <a:spLocks xmlns:a="http://schemas.openxmlformats.org/drawingml/2006/main" noGrp="1"/>
          </p:cNvSpPr>
          <p:nvPr/>
        </p:nvSpPr>
        <p:spPr>
          <a:xfrm xmlns:a="http://schemas.openxmlformats.org/drawingml/2006/main" rot="0">
            <a:off x="400050" y="1724025"/>
            <a:ext cx="6334125" cy="1800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850" b="0">
                <a:solidFill>
                  <a:srgbClr val="FAFAFA"/>
                </a:solidFill>
                <a:latin typeface="DM Sans"/>
                <a:ea typeface="DM Sans"/>
                <a:cs typeface="DM Sans"/>
              </a:defRPr>
            </a:defPPr>
            <a:lvl1pPr algn="l">
              <a:defRPr sz="2850" b="0">
                <a:solidFill>
                  <a:srgbClr val="FAFAFA"/>
                </a:solidFill>
                <a:latin typeface="DM Sans"/>
                <a:ea typeface="DM Sans"/>
                <a:cs typeface="DM Sans"/>
              </a:defRPr>
            </a:lvl1pPr>
            <a:lvl2pPr algn="l">
              <a:defRPr sz="2850" b="0">
                <a:solidFill>
                  <a:srgbClr val="FAFAFA"/>
                </a:solidFill>
                <a:latin typeface="DM Sans"/>
                <a:ea typeface="DM Sans"/>
                <a:cs typeface="DM Sans"/>
              </a:defRPr>
            </a:lvl2pPr>
            <a:lvl3pPr algn="l">
              <a:defRPr sz="2850" b="0">
                <a:solidFill>
                  <a:srgbClr val="FAFAFA"/>
                </a:solidFill>
                <a:latin typeface="DM Sans"/>
                <a:ea typeface="DM Sans"/>
                <a:cs typeface="DM Sans"/>
              </a:defRPr>
            </a:lvl3pPr>
            <a:lvl4pPr algn="l">
              <a:defRPr sz="2850" b="0">
                <a:solidFill>
                  <a:srgbClr val="FAFAFA"/>
                </a:solidFill>
                <a:latin typeface="DM Sans"/>
                <a:ea typeface="DM Sans"/>
                <a:cs typeface="DM Sans"/>
              </a:defRPr>
            </a:lvl4pPr>
            <a:lvl5pPr algn="l">
              <a:defRPr sz="2850" b="0">
                <a:solidFill>
                  <a:srgbClr val="FAFAFA"/>
                </a:solidFill>
                <a:latin typeface="DM Sans"/>
                <a:ea typeface="DM Sans"/>
                <a:cs typeface="DM Sans"/>
              </a:defRPr>
            </a:lvl5pPr>
            <a:lvl6pPr algn="l">
              <a:defRPr sz="2850" b="0">
                <a:solidFill>
                  <a:srgbClr val="FAFAFA"/>
                </a:solidFill>
                <a:latin typeface="DM Sans"/>
                <a:ea typeface="DM Sans"/>
                <a:cs typeface="DM Sans"/>
              </a:defRPr>
            </a:lvl6pPr>
            <a:lvl7pPr algn="l">
              <a:defRPr sz="2850" b="0">
                <a:solidFill>
                  <a:srgbClr val="FAFAFA"/>
                </a:solidFill>
                <a:latin typeface="DM Sans"/>
                <a:ea typeface="DM Sans"/>
                <a:cs typeface="DM Sans"/>
              </a:defRPr>
            </a:lvl7pPr>
            <a:lvl8pPr algn="l">
              <a:defRPr sz="2850" b="0">
                <a:solidFill>
                  <a:srgbClr val="FAFAFA"/>
                </a:solidFill>
                <a:latin typeface="DM Sans"/>
                <a:ea typeface="DM Sans"/>
                <a:cs typeface="DM Sans"/>
              </a:defRPr>
            </a:lvl8pPr>
            <a:lvl9pPr algn="l">
              <a:defRPr sz="2850" b="0">
                <a:solidFill>
                  <a:srgbClr val="FAFAFA"/>
                </a:solidFill>
                <a:latin typeface="DM Sans"/>
                <a:ea typeface="DM Sans"/>
                <a:cs typeface="DM Sans"/>
              </a:defRPr>
            </a:lvl9pPr>
          </a:lstStyle>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Trace the evidence,</a:t>
            </a:r>
          </a:p>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forecast and valuation.</a:t>
            </a:r>
          </a:p>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Then check the price</a:t>
            </a:r>
          </a:p>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paid for the lot.</a:t>
            </a:r>
          </a:p>
        </p:txBody>
      </p:sp>
      <p:sp>
        <p:nvSpPr>
          <p:cNvPr id="11" name="">
            <a:extLst xmlns:a="http://schemas.openxmlformats.org/drawingml/2006/main">
              <a:ext uri="{FF2B5EF4-FFF2-40B4-BE49-F238E27FC236}">
                <a16:creationId xmlns:a16="http://schemas.microsoft.com/office/drawing/2014/main" id="{E41BF282-264D-46B4-83CF-6FB8540E9C38}"/>
              </a:ext>
            </a:extLst>
          </p:cNvPr>
          <p:cNvSpPr>
            <a:spLocks xmlns:a="http://schemas.openxmlformats.org/drawingml/2006/main" noGrp="1"/>
          </p:cNvSpPr>
          <p:nvPr/>
        </p:nvSpPr>
        <p:spPr>
          <a:xfrm xmlns:a="http://schemas.openxmlformats.org/drawingml/2006/main" rot="0">
            <a:off x="400050" y="4086225"/>
            <a:ext cx="7524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AFAFA"/>
                </a:solidFill>
                <a:latin typeface="DM Sans"/>
                <a:ea typeface="DM Sans"/>
                <a:cs typeface="DM Sans"/>
              </a:defRPr>
            </a:defPPr>
            <a:lvl1pPr algn="l">
              <a:defRPr sz="1875" b="0">
                <a:solidFill>
                  <a:srgbClr val="FAFAFA"/>
                </a:solidFill>
                <a:latin typeface="DM Sans"/>
                <a:ea typeface="DM Sans"/>
                <a:cs typeface="DM Sans"/>
              </a:defRPr>
            </a:lvl1pPr>
            <a:lvl2pPr algn="l">
              <a:defRPr sz="1875" b="0">
                <a:solidFill>
                  <a:srgbClr val="FAFAFA"/>
                </a:solidFill>
                <a:latin typeface="DM Sans"/>
                <a:ea typeface="DM Sans"/>
                <a:cs typeface="DM Sans"/>
              </a:defRPr>
            </a:lvl2pPr>
            <a:lvl3pPr algn="l">
              <a:defRPr sz="1875" b="0">
                <a:solidFill>
                  <a:srgbClr val="FAFAFA"/>
                </a:solidFill>
                <a:latin typeface="DM Sans"/>
                <a:ea typeface="DM Sans"/>
                <a:cs typeface="DM Sans"/>
              </a:defRPr>
            </a:lvl3pPr>
            <a:lvl4pPr algn="l">
              <a:defRPr sz="1875" b="0">
                <a:solidFill>
                  <a:srgbClr val="FAFAFA"/>
                </a:solidFill>
                <a:latin typeface="DM Sans"/>
                <a:ea typeface="DM Sans"/>
                <a:cs typeface="DM Sans"/>
              </a:defRPr>
            </a:lvl4pPr>
            <a:lvl5pPr algn="l">
              <a:defRPr sz="1875" b="0">
                <a:solidFill>
                  <a:srgbClr val="FAFAFA"/>
                </a:solidFill>
                <a:latin typeface="DM Sans"/>
                <a:ea typeface="DM Sans"/>
                <a:cs typeface="DM Sans"/>
              </a:defRPr>
            </a:lvl5pPr>
            <a:lvl6pPr algn="l">
              <a:defRPr sz="1875" b="0">
                <a:solidFill>
                  <a:srgbClr val="FAFAFA"/>
                </a:solidFill>
                <a:latin typeface="DM Sans"/>
                <a:ea typeface="DM Sans"/>
                <a:cs typeface="DM Sans"/>
              </a:defRPr>
            </a:lvl6pPr>
            <a:lvl7pPr algn="l">
              <a:defRPr sz="1875" b="0">
                <a:solidFill>
                  <a:srgbClr val="FAFAFA"/>
                </a:solidFill>
                <a:latin typeface="DM Sans"/>
                <a:ea typeface="DM Sans"/>
                <a:cs typeface="DM Sans"/>
              </a:defRPr>
            </a:lvl7pPr>
            <a:lvl8pPr algn="l">
              <a:defRPr sz="1875" b="0">
                <a:solidFill>
                  <a:srgbClr val="FAFAFA"/>
                </a:solidFill>
                <a:latin typeface="DM Sans"/>
                <a:ea typeface="DM Sans"/>
                <a:cs typeface="DM Sans"/>
              </a:defRPr>
            </a:lvl8pPr>
            <a:lvl9pPr algn="l">
              <a:defRPr sz="1875" b="0">
                <a:solidFill>
                  <a:srgbClr val="FAFAFA"/>
                </a:solidFill>
                <a:latin typeface="DM Sans"/>
                <a:ea typeface="DM Sans"/>
                <a:cs typeface="DM Sans"/>
              </a:defRPr>
            </a:lvl9pPr>
          </a:lstStyle>
          <a:p xmlns:a="http://schemas.openxmlformats.org/drawingml/2006/main">
            <a:pPr algn="l">
              <a:defRPr sz="1875" b="0">
                <a:solidFill>
                  <a:srgbClr val="FAFAFA"/>
                </a:solidFill>
                <a:latin typeface="DM Sans"/>
                <a:ea typeface="DM Sans"/>
                <a:cs typeface="DM Sans"/>
              </a:defRPr>
            </a:pPr>
            <a:r>
              <a:rPr sz="1875" b="0">
                <a:solidFill>
                  <a:srgbClr val="FAFAFA"/>
                </a:solidFill>
                <a:latin typeface="DM Sans"/>
                <a:ea typeface="DM Sans"/>
                <a:cs typeface="DM Sans"/>
              </a:rPr>
              <a:t>Here, both scenarios remain a skip.</a:t>
            </a:r>
          </a:p>
          <a:p xmlns:a="http://schemas.openxmlformats.org/drawingml/2006/main">
            <a:pPr algn="l">
              <a:defRPr sz="1875" b="0">
                <a:solidFill>
                  <a:srgbClr val="FAFAFA"/>
                </a:solidFill>
                <a:latin typeface="DM Sans"/>
                <a:ea typeface="DM Sans"/>
                <a:cs typeface="DM Sans"/>
              </a:defRPr>
            </a:pPr>
            <a:r>
              <a:rPr sz="1875" b="0">
                <a:solidFill>
                  <a:srgbClr val="FAFAFA"/>
                </a:solidFill>
                <a:latin typeface="DM Sans"/>
                <a:ea typeface="DM Sans"/>
                <a:cs typeface="DM Sans"/>
              </a:rPr>
              <a:t>The underwriting hurdle is not a forecast.</a:t>
            </a:r>
          </a:p>
        </p:txBody>
      </p:sp>
      <p:sp>
        <p:nvSpPr>
          <p:cNvPr id="12" name="">
            <a:extLst xmlns:a="http://schemas.openxmlformats.org/drawingml/2006/main">
              <a:ext uri="{FF2B5EF4-FFF2-40B4-BE49-F238E27FC236}">
                <a16:creationId xmlns:a16="http://schemas.microsoft.com/office/drawing/2014/main" id="{0380791F-B7C6-47E9-97CF-DE0E22F8D613}"/>
              </a:ext>
            </a:extLst>
          </p:cNvPr>
          <p:cNvSpPr>
            <a:spLocks xmlns:a="http://schemas.openxmlformats.org/drawingml/2006/main" noGrp="1"/>
          </p:cNvSpPr>
          <p:nvPr/>
        </p:nvSpPr>
        <p:spPr>
          <a:xfrm xmlns:a="http://schemas.openxmlformats.org/drawingml/2006/main">
            <a:off x="400050" y="5276850"/>
            <a:ext cx="1438275" cy="257175"/>
          </a:xfrm>
          <a:prstGeom xmlns:a="http://schemas.openxmlformats.org/drawingml/2006/main" prst="roundRect">
            <a:avLst>
              <a:gd name="adj" fmla="val 50000"/>
            </a:avLst>
          </a:prstGeom>
          <a:noFill xmlns:a="http://schemas.openxmlformats.org/drawingml/2006/main"/>
          <a:ln xmlns:a="http://schemas.openxmlformats.org/drawingml/2006/main" w="6668">
            <a:solidFill>
              <a:srgbClr val="FAFAFA"/>
            </a:solidFill>
            <a:prstDash val="solid"/>
          </a:ln>
        </p:spPr>
      </p:sp>
      <p:sp>
        <p:nvSpPr>
          <p:cNvPr id="13" name="">
            <a:extLst xmlns:a="http://schemas.openxmlformats.org/drawingml/2006/main">
              <a:ext uri="{FF2B5EF4-FFF2-40B4-BE49-F238E27FC236}">
                <a16:creationId xmlns:a16="http://schemas.microsoft.com/office/drawing/2014/main" id="{D15EF742-2451-4DE6-BEE2-7BAC2AA6A5F3}"/>
              </a:ext>
            </a:extLst>
          </p:cNvPr>
          <p:cNvSpPr>
            <a:spLocks xmlns:a="http://schemas.openxmlformats.org/drawingml/2006/main" noGrp="1"/>
          </p:cNvSpPr>
          <p:nvPr/>
        </p:nvSpPr>
        <p:spPr>
          <a:xfrm xmlns:a="http://schemas.openxmlformats.org/drawingml/2006/main" rot="0">
            <a:off x="495300" y="5324475"/>
            <a:ext cx="12287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FAFAFA"/>
                </a:solidFill>
                <a:latin typeface="DM Sans"/>
                <a:ea typeface="DM Sans"/>
                <a:cs typeface="DM Sans"/>
              </a:defRPr>
            </a:defPPr>
            <a:lvl1pPr algn="l">
              <a:defRPr sz="900" b="0">
                <a:solidFill>
                  <a:srgbClr val="FAFAFA"/>
                </a:solidFill>
                <a:latin typeface="DM Sans"/>
                <a:ea typeface="DM Sans"/>
                <a:cs typeface="DM Sans"/>
              </a:defRPr>
            </a:lvl1pPr>
            <a:lvl2pPr algn="l">
              <a:defRPr sz="900" b="0">
                <a:solidFill>
                  <a:srgbClr val="FAFAFA"/>
                </a:solidFill>
                <a:latin typeface="DM Sans"/>
                <a:ea typeface="DM Sans"/>
                <a:cs typeface="DM Sans"/>
              </a:defRPr>
            </a:lvl2pPr>
            <a:lvl3pPr algn="l">
              <a:defRPr sz="900" b="0">
                <a:solidFill>
                  <a:srgbClr val="FAFAFA"/>
                </a:solidFill>
                <a:latin typeface="DM Sans"/>
                <a:ea typeface="DM Sans"/>
                <a:cs typeface="DM Sans"/>
              </a:defRPr>
            </a:lvl3pPr>
            <a:lvl4pPr algn="l">
              <a:defRPr sz="900" b="0">
                <a:solidFill>
                  <a:srgbClr val="FAFAFA"/>
                </a:solidFill>
                <a:latin typeface="DM Sans"/>
                <a:ea typeface="DM Sans"/>
                <a:cs typeface="DM Sans"/>
              </a:defRPr>
            </a:lvl4pPr>
            <a:lvl5pPr algn="l">
              <a:defRPr sz="900" b="0">
                <a:solidFill>
                  <a:srgbClr val="FAFAFA"/>
                </a:solidFill>
                <a:latin typeface="DM Sans"/>
                <a:ea typeface="DM Sans"/>
                <a:cs typeface="DM Sans"/>
              </a:defRPr>
            </a:lvl5pPr>
            <a:lvl6pPr algn="l">
              <a:defRPr sz="900" b="0">
                <a:solidFill>
                  <a:srgbClr val="FAFAFA"/>
                </a:solidFill>
                <a:latin typeface="DM Sans"/>
                <a:ea typeface="DM Sans"/>
                <a:cs typeface="DM Sans"/>
              </a:defRPr>
            </a:lvl6pPr>
            <a:lvl7pPr algn="l">
              <a:defRPr sz="900" b="0">
                <a:solidFill>
                  <a:srgbClr val="FAFAFA"/>
                </a:solidFill>
                <a:latin typeface="DM Sans"/>
                <a:ea typeface="DM Sans"/>
                <a:cs typeface="DM Sans"/>
              </a:defRPr>
            </a:lvl7pPr>
            <a:lvl8pPr algn="l">
              <a:defRPr sz="900" b="0">
                <a:solidFill>
                  <a:srgbClr val="FAFAFA"/>
                </a:solidFill>
                <a:latin typeface="DM Sans"/>
                <a:ea typeface="DM Sans"/>
                <a:cs typeface="DM Sans"/>
              </a:defRPr>
            </a:lvl8pPr>
            <a:lvl9pPr algn="l">
              <a:defRPr sz="900" b="0">
                <a:solidFill>
                  <a:srgbClr val="FAFAFA"/>
                </a:solidFill>
                <a:latin typeface="DM Sans"/>
                <a:ea typeface="DM Sans"/>
                <a:cs typeface="DM Sans"/>
              </a:defRPr>
            </a:lvl9pPr>
          </a:lstStyle>
          <a:p xmlns:a="http://schemas.openxmlformats.org/drawingml/2006/main">
            <a:pPr algn="l">
              <a:defRPr sz="900" b="0">
                <a:solidFill>
                  <a:srgbClr val="FAFAFA"/>
                </a:solidFill>
                <a:latin typeface="DM Sans"/>
                <a:ea typeface="DM Sans"/>
                <a:cs typeface="DM Sans"/>
              </a:defRPr>
            </a:pPr>
            <a:r>
              <a:rPr sz="900" b="0">
                <a:solidFill>
                  <a:srgbClr val="FAFAFA"/>
                </a:solidFill>
                <a:latin typeface="DM Sans"/>
                <a:ea typeface="DM Sans"/>
                <a:cs typeface="DM Sans"/>
              </a:rPr>
              <a:t>Live demonstration</a:t>
            </a:r>
          </a:p>
        </p:txBody>
      </p:sp>
      <p:sp>
        <p:nvSpPr>
          <p:cNvPr id="14" name="">
            <a:extLst xmlns:a="http://schemas.openxmlformats.org/drawingml/2006/main">
              <a:ext uri="{FF2B5EF4-FFF2-40B4-BE49-F238E27FC236}">
                <a16:creationId xmlns:a16="http://schemas.microsoft.com/office/drawing/2014/main" id="{258AE827-52C8-4719-8B06-7ADA46E29DC6}"/>
              </a:ext>
            </a:extLst>
          </p:cNvPr>
          <p:cNvSpPr>
            <a:spLocks xmlns:a="http://schemas.openxmlformats.org/drawingml/2006/main" noGrp="1"/>
          </p:cNvSpPr>
          <p:nvPr/>
        </p:nvSpPr>
        <p:spPr>
          <a:xfrm xmlns:a="http://schemas.openxmlformats.org/drawingml/2006/main" rot="0">
            <a:off x="400050" y="6019800"/>
            <a:ext cx="933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FAFAFA"/>
                </a:solidFill>
                <a:latin typeface="DM Sans"/>
                <a:ea typeface="DM Sans"/>
                <a:cs typeface="DM Sans"/>
              </a:defRPr>
            </a:defPPr>
            <a:lvl1pPr algn="l">
              <a:defRPr sz="1050" b="0">
                <a:solidFill>
                  <a:srgbClr val="FAFAFA"/>
                </a:solidFill>
                <a:latin typeface="DM Sans"/>
                <a:ea typeface="DM Sans"/>
                <a:cs typeface="DM Sans"/>
              </a:defRPr>
            </a:lvl1pPr>
            <a:lvl2pPr algn="l">
              <a:defRPr sz="1050" b="0">
                <a:solidFill>
                  <a:srgbClr val="FAFAFA"/>
                </a:solidFill>
                <a:latin typeface="DM Sans"/>
                <a:ea typeface="DM Sans"/>
                <a:cs typeface="DM Sans"/>
              </a:defRPr>
            </a:lvl2pPr>
            <a:lvl3pPr algn="l">
              <a:defRPr sz="1050" b="0">
                <a:solidFill>
                  <a:srgbClr val="FAFAFA"/>
                </a:solidFill>
                <a:latin typeface="DM Sans"/>
                <a:ea typeface="DM Sans"/>
                <a:cs typeface="DM Sans"/>
              </a:defRPr>
            </a:lvl3pPr>
            <a:lvl4pPr algn="l">
              <a:defRPr sz="1050" b="0">
                <a:solidFill>
                  <a:srgbClr val="FAFAFA"/>
                </a:solidFill>
                <a:latin typeface="DM Sans"/>
                <a:ea typeface="DM Sans"/>
                <a:cs typeface="DM Sans"/>
              </a:defRPr>
            </a:lvl4pPr>
            <a:lvl5pPr algn="l">
              <a:defRPr sz="1050" b="0">
                <a:solidFill>
                  <a:srgbClr val="FAFAFA"/>
                </a:solidFill>
                <a:latin typeface="DM Sans"/>
                <a:ea typeface="DM Sans"/>
                <a:cs typeface="DM Sans"/>
              </a:defRPr>
            </a:lvl5pPr>
            <a:lvl6pPr algn="l">
              <a:defRPr sz="1050" b="0">
                <a:solidFill>
                  <a:srgbClr val="FAFAFA"/>
                </a:solidFill>
                <a:latin typeface="DM Sans"/>
                <a:ea typeface="DM Sans"/>
                <a:cs typeface="DM Sans"/>
              </a:defRPr>
            </a:lvl6pPr>
            <a:lvl7pPr algn="l">
              <a:defRPr sz="1050" b="0">
                <a:solidFill>
                  <a:srgbClr val="FAFAFA"/>
                </a:solidFill>
                <a:latin typeface="DM Sans"/>
                <a:ea typeface="DM Sans"/>
                <a:cs typeface="DM Sans"/>
              </a:defRPr>
            </a:lvl7pPr>
            <a:lvl8pPr algn="l">
              <a:defRPr sz="1050" b="0">
                <a:solidFill>
                  <a:srgbClr val="FAFAFA"/>
                </a:solidFill>
                <a:latin typeface="DM Sans"/>
                <a:ea typeface="DM Sans"/>
                <a:cs typeface="DM Sans"/>
              </a:defRPr>
            </a:lvl8pPr>
            <a:lvl9pPr algn="l">
              <a:defRPr sz="1050" b="0">
                <a:solidFill>
                  <a:srgbClr val="FAFAFA"/>
                </a:solidFill>
                <a:latin typeface="DM Sans"/>
                <a:ea typeface="DM Sans"/>
                <a:cs typeface="DM Sans"/>
              </a:defRPr>
            </a:lvl9pPr>
          </a:lstStyle>
          <a:p xmlns:a="http://schemas.openxmlformats.org/drawingml/2006/main">
            <a:pPr algn="l">
              <a:defRPr sz="1050" b="0">
                <a:solidFill>
                  <a:srgbClr val="FAFAFA"/>
                </a:solidFill>
                <a:latin typeface="DM Sans"/>
                <a:ea typeface="DM Sans"/>
                <a:cs typeface="DM Sans"/>
              </a:defRPr>
            </a:pPr>
            <a:r>
              <a:rPr sz="1050" b="0">
                <a:solidFill>
                  <a:srgbClr val="FAFAFA"/>
                </a:solidFill>
                <a:latin typeface="DM Sans"/>
                <a:ea typeface="DM Sans"/>
                <a:cs typeface="DM Sans"/>
              </a:rPr>
              <a:t>Financial outputs are hypothetical.</a:t>
            </a:r>
          </a:p>
          <a:p xmlns:a="http://schemas.openxmlformats.org/drawingml/2006/main">
            <a:pPr algn="l">
              <a:defRPr sz="1050" b="0">
                <a:solidFill>
                  <a:srgbClr val="FAFAFA"/>
                </a:solidFill>
                <a:latin typeface="DM Sans"/>
                <a:ea typeface="DM Sans"/>
                <a:cs typeface="DM Sans"/>
              </a:defRPr>
            </a:pPr>
            <a:r>
              <a:rPr sz="1050" b="0">
                <a:solidFill>
                  <a:srgbClr val="FAFAFA"/>
                </a:solidFill>
                <a:latin typeface="DM Sans"/>
                <a:ea typeface="DM Sans"/>
                <a:cs typeface="DM Sans"/>
              </a:rPr>
              <a:t>The pilot event adjustment did not beat baseline.</a:t>
            </a:r>
          </a:p>
        </p:txBody>
      </p:sp>
      <p:sp>
        <p:nvSpPr>
          <p:cNvPr id="15" name="">
            <a:extLst xmlns:a="http://schemas.openxmlformats.org/drawingml/2006/main">
              <a:ext uri="{FF2B5EF4-FFF2-40B4-BE49-F238E27FC236}">
                <a16:creationId xmlns:a16="http://schemas.microsoft.com/office/drawing/2014/main" id="{4BDD74B6-AA67-4CCE-BDCE-4B1333952FF3}"/>
              </a:ext>
            </a:extLst>
          </p:cNvPr>
          <p:cNvSpPr>
            <a:spLocks xmlns:a="http://schemas.openxmlformats.org/drawingml/2006/main" noGrp="1"/>
          </p:cNvSpPr>
          <p:nvPr/>
        </p:nvSpPr>
        <p:spPr>
          <a:xfrm xmlns:a="http://schemas.openxmlformats.org/drawingml/2006/main" rot="0">
            <a:off x="400050" y="6486525"/>
            <a:ext cx="109537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Imagery: Esri, Maxar, Earthstar Geographics. Terrain: Mapzen.</a:t>
            </a:r>
          </a:p>
        </p:txBody>
      </p:sp>
    </p:spTree>
    <p:extLst>
      <p:ext uri="{BB962C8B-B14F-4D97-AF65-F5344CB8AC3E}">
        <p14:creationId xmlns:p14="http://schemas.microsoft.com/office/powerpoint/2010/main" val="499321097"/>
      </p:ext>
    </p:extLst>
  </p:cSld>
</p:sld>
</file>

<file path=ppt/slides/slide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1B037B7-D112-4B66-91DF-FD83DCFDEB0C}"/>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93A8D21B-307F-47E9-BC6B-30E9E363EA45}"/>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A</a:t>
            </a:r>
          </a:p>
        </p:txBody>
      </p:sp>
      <p:sp>
        <p:nvSpPr>
          <p:cNvPr id="3" name="">
            <a:extLst xmlns:a="http://schemas.openxmlformats.org/drawingml/2006/main">
              <a:ext uri="{FF2B5EF4-FFF2-40B4-BE49-F238E27FC236}">
                <a16:creationId xmlns:a16="http://schemas.microsoft.com/office/drawing/2014/main" id="{489A132E-6BFD-4B00-A159-8348ADB5B7DE}"/>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2C9E0DB5-5133-4698-9A38-E55376BC46E5}"/>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8DDE7CA1-CCD5-41FE-8BFF-516DAE9ED1C2}"/>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FBBAC5E4-3F50-4E0D-B30C-7DEE5D060852}"/>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Appendix</a:t>
            </a:r>
          </a:p>
        </p:txBody>
      </p:sp>
      <p:sp>
        <p:nvSpPr>
          <p:cNvPr id="7" name="">
            <a:extLst xmlns:a="http://schemas.openxmlformats.org/drawingml/2006/main">
              <a:ext uri="{FF2B5EF4-FFF2-40B4-BE49-F238E27FC236}">
                <a16:creationId xmlns:a16="http://schemas.microsoft.com/office/drawing/2014/main" id="{06AF4E00-A9A3-442A-9F37-0B268628E45F}"/>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0A0A0A"/>
                </a:solidFill>
                <a:latin typeface="DM Sans"/>
                <a:ea typeface="DM Sans"/>
                <a:cs typeface="DM Sans"/>
              </a:defRPr>
            </a:defPPr>
            <a:lvl1pPr algn="r">
              <a:defRPr sz="900" b="0">
                <a:solidFill>
                  <a:srgbClr val="0A0A0A"/>
                </a:solidFill>
                <a:latin typeface="DM Sans"/>
                <a:ea typeface="DM Sans"/>
                <a:cs typeface="DM Sans"/>
              </a:defRPr>
            </a:lvl1pPr>
            <a:lvl2pPr algn="r">
              <a:defRPr sz="900" b="0">
                <a:solidFill>
                  <a:srgbClr val="0A0A0A"/>
                </a:solidFill>
                <a:latin typeface="DM Sans"/>
                <a:ea typeface="DM Sans"/>
                <a:cs typeface="DM Sans"/>
              </a:defRPr>
            </a:lvl2pPr>
            <a:lvl3pPr algn="r">
              <a:defRPr sz="900" b="0">
                <a:solidFill>
                  <a:srgbClr val="0A0A0A"/>
                </a:solidFill>
                <a:latin typeface="DM Sans"/>
                <a:ea typeface="DM Sans"/>
                <a:cs typeface="DM Sans"/>
              </a:defRPr>
            </a:lvl3pPr>
            <a:lvl4pPr algn="r">
              <a:defRPr sz="900" b="0">
                <a:solidFill>
                  <a:srgbClr val="0A0A0A"/>
                </a:solidFill>
                <a:latin typeface="DM Sans"/>
                <a:ea typeface="DM Sans"/>
                <a:cs typeface="DM Sans"/>
              </a:defRPr>
            </a:lvl4pPr>
            <a:lvl5pPr algn="r">
              <a:defRPr sz="900" b="0">
                <a:solidFill>
                  <a:srgbClr val="0A0A0A"/>
                </a:solidFill>
                <a:latin typeface="DM Sans"/>
                <a:ea typeface="DM Sans"/>
                <a:cs typeface="DM Sans"/>
              </a:defRPr>
            </a:lvl5pPr>
            <a:lvl6pPr algn="r">
              <a:defRPr sz="900" b="0">
                <a:solidFill>
                  <a:srgbClr val="0A0A0A"/>
                </a:solidFill>
                <a:latin typeface="DM Sans"/>
                <a:ea typeface="DM Sans"/>
                <a:cs typeface="DM Sans"/>
              </a:defRPr>
            </a:lvl6pPr>
            <a:lvl7pPr algn="r">
              <a:defRPr sz="900" b="0">
                <a:solidFill>
                  <a:srgbClr val="0A0A0A"/>
                </a:solidFill>
                <a:latin typeface="DM Sans"/>
                <a:ea typeface="DM Sans"/>
                <a:cs typeface="DM Sans"/>
              </a:defRPr>
            </a:lvl7pPr>
            <a:lvl8pPr algn="r">
              <a:defRPr sz="900" b="0">
                <a:solidFill>
                  <a:srgbClr val="0A0A0A"/>
                </a:solidFill>
                <a:latin typeface="DM Sans"/>
                <a:ea typeface="DM Sans"/>
                <a:cs typeface="DM Sans"/>
              </a:defRPr>
            </a:lvl8pPr>
            <a:lvl9pPr algn="r">
              <a:defRPr sz="900" b="0">
                <a:solidFill>
                  <a:srgbClr val="0A0A0A"/>
                </a:solidFill>
                <a:latin typeface="DM Sans"/>
                <a:ea typeface="DM Sans"/>
                <a:cs typeface="DM Sans"/>
              </a:defRPr>
            </a:lvl9pPr>
          </a:lstStyle>
          <a:p xmlns:a="http://schemas.openxmlformats.org/drawingml/2006/main">
            <a:pPr algn="r">
              <a:defRPr sz="900" b="0">
                <a:solidFill>
                  <a:srgbClr val="0A0A0A"/>
                </a:solidFill>
                <a:latin typeface="DM Sans"/>
                <a:ea typeface="DM Sans"/>
                <a:cs typeface="DM Sans"/>
              </a:defRPr>
            </a:pPr>
            <a:r>
              <a:rPr sz="900" b="0">
                <a:solidFill>
                  <a:srgbClr val="0A0A0A"/>
                </a:solidFill>
                <a:latin typeface="DM Sans"/>
                <a:ea typeface="DM Sans"/>
                <a:cs typeface="DM Sans"/>
              </a:rPr>
              <a:t>Orecast</a:t>
            </a:r>
          </a:p>
        </p:txBody>
      </p:sp>
      <p:sp>
        <p:nvSpPr>
          <p:cNvPr id="8" name="">
            <a:extLst xmlns:a="http://schemas.openxmlformats.org/drawingml/2006/main">
              <a:ext uri="{FF2B5EF4-FFF2-40B4-BE49-F238E27FC236}">
                <a16:creationId xmlns:a16="http://schemas.microsoft.com/office/drawing/2014/main" id="{2B526A67-BAF4-4F59-B92D-B27C3763F099}"/>
              </a:ext>
            </a:extLst>
          </p:cNvPr>
          <p:cNvSpPr>
            <a:spLocks xmlns:a="http://schemas.openxmlformats.org/drawingml/2006/main" noGrp="1"/>
          </p:cNvSpPr>
          <p:nvPr/>
        </p:nvSpPr>
        <p:spPr>
          <a:xfrm xmlns:a="http://schemas.openxmlformats.org/drawingml/2006/main" rot="0">
            <a:off x="381000" y="790575"/>
            <a:ext cx="1133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Baseline cash and option return at 90 days</a:t>
            </a:r>
          </a:p>
        </p:txBody>
      </p:sp>
      <p:sp>
        <p:nvSpPr>
          <p:cNvPr id="9" name="">
            <a:extLst xmlns:a="http://schemas.openxmlformats.org/drawingml/2006/main">
              <a:ext uri="{FF2B5EF4-FFF2-40B4-BE49-F238E27FC236}">
                <a16:creationId xmlns:a16="http://schemas.microsoft.com/office/drawing/2014/main" id="{53A06635-65E5-45E4-996B-158BD77D12CD}"/>
              </a:ext>
            </a:extLst>
          </p:cNvPr>
          <p:cNvSpPr>
            <a:spLocks xmlns:a="http://schemas.openxmlformats.org/drawingml/2006/main" noGrp="1"/>
          </p:cNvSpPr>
          <p:nvPr/>
        </p:nvSpPr>
        <p:spPr>
          <a:xfrm xmlns:a="http://schemas.openxmlformats.org/drawingml/2006/main" rot="0">
            <a:off x="381000" y="1104900"/>
            <a:ext cx="1133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0A0A0A"/>
                </a:solidFill>
                <a:latin typeface="DM Sans"/>
                <a:ea typeface="DM Sans"/>
                <a:cs typeface="DM Sans"/>
              </a:defRPr>
            </a:defPPr>
            <a:lvl1pPr algn="l">
              <a:defRPr sz="1125" b="0">
                <a:solidFill>
                  <a:srgbClr val="0A0A0A"/>
                </a:solidFill>
                <a:latin typeface="DM Sans"/>
                <a:ea typeface="DM Sans"/>
                <a:cs typeface="DM Sans"/>
              </a:defRPr>
            </a:lvl1pPr>
            <a:lvl2pPr algn="l">
              <a:defRPr sz="1125" b="0">
                <a:solidFill>
                  <a:srgbClr val="0A0A0A"/>
                </a:solidFill>
                <a:latin typeface="DM Sans"/>
                <a:ea typeface="DM Sans"/>
                <a:cs typeface="DM Sans"/>
              </a:defRPr>
            </a:lvl2pPr>
            <a:lvl3pPr algn="l">
              <a:defRPr sz="1125" b="0">
                <a:solidFill>
                  <a:srgbClr val="0A0A0A"/>
                </a:solidFill>
                <a:latin typeface="DM Sans"/>
                <a:ea typeface="DM Sans"/>
                <a:cs typeface="DM Sans"/>
              </a:defRPr>
            </a:lvl3pPr>
            <a:lvl4pPr algn="l">
              <a:defRPr sz="1125" b="0">
                <a:solidFill>
                  <a:srgbClr val="0A0A0A"/>
                </a:solidFill>
                <a:latin typeface="DM Sans"/>
                <a:ea typeface="DM Sans"/>
                <a:cs typeface="DM Sans"/>
              </a:defRPr>
            </a:lvl4pPr>
            <a:lvl5pPr algn="l">
              <a:defRPr sz="1125" b="0">
                <a:solidFill>
                  <a:srgbClr val="0A0A0A"/>
                </a:solidFill>
                <a:latin typeface="DM Sans"/>
                <a:ea typeface="DM Sans"/>
                <a:cs typeface="DM Sans"/>
              </a:defRPr>
            </a:lvl5pPr>
            <a:lvl6pPr algn="l">
              <a:defRPr sz="1125" b="0">
                <a:solidFill>
                  <a:srgbClr val="0A0A0A"/>
                </a:solidFill>
                <a:latin typeface="DM Sans"/>
                <a:ea typeface="DM Sans"/>
                <a:cs typeface="DM Sans"/>
              </a:defRPr>
            </a:lvl6pPr>
            <a:lvl7pPr algn="l">
              <a:defRPr sz="1125" b="0">
                <a:solidFill>
                  <a:srgbClr val="0A0A0A"/>
                </a:solidFill>
                <a:latin typeface="DM Sans"/>
                <a:ea typeface="DM Sans"/>
                <a:cs typeface="DM Sans"/>
              </a:defRPr>
            </a:lvl7pPr>
            <a:lvl8pPr algn="l">
              <a:defRPr sz="1125" b="0">
                <a:solidFill>
                  <a:srgbClr val="0A0A0A"/>
                </a:solidFill>
                <a:latin typeface="DM Sans"/>
                <a:ea typeface="DM Sans"/>
                <a:cs typeface="DM Sans"/>
              </a:defRPr>
            </a:lvl8pPr>
            <a:lvl9pPr algn="l">
              <a:defRPr sz="1125" b="0">
                <a:solidFill>
                  <a:srgbClr val="0A0A0A"/>
                </a:solidFill>
                <a:latin typeface="DM Sans"/>
                <a:ea typeface="DM Sans"/>
                <a:cs typeface="DM Sans"/>
              </a:defRPr>
            </a:lvl9pPr>
          </a:lstStyle>
          <a:p xmlns:a="http://schemas.openxmlformats.org/drawingml/2006/main">
            <a:pPr algn="l">
              <a:defRPr sz="1125" b="0">
                <a:solidFill>
                  <a:srgbClr val="0A0A0A"/>
                </a:solidFill>
                <a:latin typeface="DM Sans"/>
                <a:ea typeface="DM Sans"/>
                <a:cs typeface="DM Sans"/>
              </a:defRPr>
            </a:pPr>
            <a:r>
              <a:rPr sz="1125" b="0">
                <a:solidFill>
                  <a:srgbClr val="0A0A0A"/>
                </a:solidFill>
                <a:latin typeface="DM Sans"/>
                <a:ea typeface="DM Sans"/>
                <a:cs typeface="DM Sans"/>
              </a:rPr>
              <a:t>Hypothetical cash branches after all entry and exit costs. All amounts USD.</a:t>
            </a:r>
          </a:p>
        </p:txBody>
      </p:sp>
      <p:graphicFrame>
        <p:nvGraphicFramePr>
          <p:cNvPr id="10" name="">
            <a:extLst xmlns:a="http://schemas.openxmlformats.org/drawingml/2006/main">
              <a:ext uri="{FF2B5EF4-FFF2-40B4-BE49-F238E27FC236}">
                <a16:creationId xmlns:a16="http://schemas.microsoft.com/office/drawing/2014/main" id="{1358A852-8C04-4FE5-9B93-F1656CF1C3B0}"/>
              </a:ext>
            </a:extLst>
          </p:cNvPr>
          <p:cNvGraphicFramePr/>
          <p:nvPr/>
        </p:nvGraphicFramePr>
        <p:xfrm>
          <a:off xmlns:a="http://schemas.openxmlformats.org/drawingml/2006/main" x="381000" y="1609725"/>
          <a:ext xmlns:a="http://schemas.openxmlformats.org/drawingml/2006/main" cx="11410950" cy="2286000"/>
        </p:xfrm>
        <a:graphic xmlns:a="http://schemas.openxmlformats.org/drawingml/2006/main">
          <a:graphicData uri="http://schemas.openxmlformats.org/drawingml/2006/table">
            <a:tbl>
              <a:tblPr firstRow="1" bandRow="0"/>
              <a:tblGrid>
                <a:gridCol w="5143500"/>
                <a:gridCol w="2000250"/>
                <a:gridCol w="2000250"/>
                <a:gridCol w="2266950"/>
              </a:tblGrid>
              <a:tr h="571500">
                <a:tc>
                  <a:txBody>
                    <a:bodyPr lIns="171450" tIns="95250" rIns="171450" bIns="95250">
                      <a:noAutofit/>
                    </a:bodyPr>
                    <a:lstStyle/>
                    <a:p>
                      <a:r>
                        <a:rPr sz="1050" b="0">
                          <a:solidFill>
                            <a:srgbClr val="FAFAFA"/>
                          </a:solidFill>
                          <a:latin typeface="DM Sans"/>
                          <a:ea typeface="DM Sans"/>
                          <a:cs typeface="DM Sans"/>
                        </a:rPr>
                        <a:t>Outcome by day 90</a:t>
                      </a:r>
                    </a:p>
                  </a:txBody>
                  <a:tcPr marL="91440" marR="91440" marT="45720" marB="45720" anchor="ctr">
                    <a:lnL w="0">
                      <a:noFill/>
                      <a:prstDash val="solid"/>
                    </a:lnL>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Probability</a:t>
                      </a:r>
                    </a:p>
                  </a:txBody>
                  <a:tcPr marL="91440" marR="91440" marT="45720" marB="45720" anchor="ctr">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Net cash</a:t>
                      </a:r>
                    </a:p>
                  </a:txBody>
                  <a:tcPr marL="91440" marR="91440" marT="45720" marB="45720" anchor="ctr">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Weighted cash</a:t>
                      </a:r>
                    </a:p>
                  </a:txBody>
                  <a:tcPr marL="91440" marR="91440" marT="45720" marB="45720" anchor="ctr">
                    <a:lnR w="0">
                      <a:noFill/>
                      <a:prstDash val="solid"/>
                    </a:lnR>
                    <a:lnT w="0">
                      <a:noFill/>
                      <a:prstDash val="solid"/>
                    </a:lnT>
                    <a:lnB w="0">
                      <a:noFill/>
                      <a:prstDash val="solid"/>
                    </a:lnB>
                    <a:solidFill>
                      <a:srgbClr val="0A0A0A"/>
                    </a:solidFill>
                  </a:tcPr>
                </a:tc>
              </a:tr>
              <a:tr h="571500">
                <a:tc>
                  <a:txBody>
                    <a:bodyPr lIns="171450" tIns="95250" rIns="171450" bIns="95250">
                      <a:noAutofit/>
                    </a:bodyPr>
                    <a:lstStyle/>
                    <a:p>
                      <a:r>
                        <a:rPr sz="1350" b="0">
                          <a:solidFill>
                            <a:srgbClr val="0A0A0A"/>
                          </a:solidFill>
                          <a:latin typeface="DM Sans"/>
                          <a:ea typeface="DM Sans"/>
                          <a:cs typeface="DM Sans"/>
                        </a:rPr>
                        <a:t>Sale</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48.8%</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−$28,600.00</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−$13,956.80</a:t>
                      </a:r>
                    </a:p>
                  </a:txBody>
                  <a:tcPr marL="91440" marR="91440" marT="45720" marB="45720" anchor="ctr">
                    <a:lnR w="0">
                      <a:noFill/>
                      <a:prstDash val="solid"/>
                    </a:lnR>
                    <a:lnB w="0">
                      <a:noFill/>
                      <a:prstDash val="solid"/>
                    </a:lnB>
                    <a:solidFill>
                      <a:srgbClr val="FAFAFA"/>
                    </a:solidFill>
                  </a:tcPr>
                </a:tc>
              </a:tr>
              <a:tr h="571500">
                <a:tc>
                  <a:txBody>
                    <a:bodyPr lIns="171450" tIns="95250" rIns="171450" bIns="95250">
                      <a:noAutofit/>
                    </a:bodyPr>
                    <a:lstStyle/>
                    <a:p>
                      <a:r>
                        <a:rPr sz="1350" b="0">
                          <a:solidFill>
                            <a:srgbClr val="0A0A0A"/>
                          </a:solidFill>
                          <a:latin typeface="DM Sans"/>
                          <a:ea typeface="DM Sans"/>
                          <a:cs typeface="DM Sans"/>
                        </a:rPr>
                        <a:t>No sale</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51.2%</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−$30,050.00</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−$15,385.60</a:t>
                      </a:r>
                    </a:p>
                  </a:txBody>
                  <a:tcPr marL="91440" marR="91440" marT="45720" marB="45720" anchor="ctr">
                    <a:lnR w="0">
                      <a:noFill/>
                      <a:prstDash val="solid"/>
                    </a:lnR>
                    <a:lnB w="0">
                      <a:noFill/>
                      <a:prstDash val="solid"/>
                    </a:lnB>
                    <a:solidFill>
                      <a:srgbClr val="FAFAFA"/>
                    </a:solidFill>
                  </a:tcPr>
                </a:tc>
              </a:tr>
              <a:tr h="571500">
                <a:tc>
                  <a:txBody>
                    <a:bodyPr lIns="171450" tIns="95250" rIns="171450" bIns="95250">
                      <a:noAutofit/>
                    </a:bodyPr>
                    <a:lstStyle/>
                    <a:p>
                      <a:r>
                        <a:rPr sz="1350" b="1">
                          <a:solidFill>
                            <a:srgbClr val="0A0A0A"/>
                          </a:solidFill>
                          <a:latin typeface="DM Sans"/>
                          <a:ea typeface="DM Sans"/>
                          <a:cs typeface="DM Sans"/>
                        </a:rPr>
                        <a:t>Expected net cash</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1">
                          <a:solidFill>
                            <a:srgbClr val="0A0A0A"/>
                          </a:solidFill>
                          <a:latin typeface="DM Sans"/>
                          <a:ea typeface="DM Sans"/>
                          <a:cs typeface="DM Sans"/>
                        </a:rPr>
                        <a:t>100.0%</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1">
                          <a:solidFill>
                            <a:srgbClr val="0A0A0A"/>
                          </a:solidFill>
                          <a:latin typeface="DM Sans"/>
                          <a:ea typeface="DM Sans"/>
                          <a:cs typeface="DM Sans"/>
                        </a:rPr>
                        <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1">
                          <a:solidFill>
                            <a:srgbClr val="0A0A0A"/>
                          </a:solidFill>
                          <a:latin typeface="DM Sans"/>
                          <a:ea typeface="DM Sans"/>
                          <a:cs typeface="DM Sans"/>
                        </a:rPr>
                        <a:t>−$29,342.40</a:t>
                      </a:r>
                    </a:p>
                  </a:txBody>
                  <a:tcPr marL="91440" marR="91440" marT="45720" marB="45720" anchor="ctr">
                    <a:lnR w="0">
                      <a:noFill/>
                      <a:prstDash val="solid"/>
                    </a:lnR>
                    <a:lnB w="0">
                      <a:noFill/>
                      <a:prstDash val="solid"/>
                    </a:lnB>
                    <a:solidFill>
                      <a:srgbClr val="FAFAFA"/>
                    </a:solidFill>
                  </a:tcPr>
                </a:tc>
              </a:tr>
            </a:tbl>
          </a:graphicData>
        </a:graphic>
      </p:graphicFrame>
      <p:sp>
        <p:nvSpPr>
          <p:cNvPr id="11" name="">
            <a:extLst xmlns:a="http://schemas.openxmlformats.org/drawingml/2006/main">
              <a:ext uri="{FF2B5EF4-FFF2-40B4-BE49-F238E27FC236}">
                <a16:creationId xmlns:a16="http://schemas.microsoft.com/office/drawing/2014/main" id="{5ADFCC6F-C4A9-4DD6-9015-19EEA9CB61F4}"/>
              </a:ext>
            </a:extLst>
          </p:cNvPr>
          <p:cNvSpPr>
            <a:spLocks xmlns:a="http://schemas.openxmlformats.org/drawingml/2006/main" noGrp="1"/>
          </p:cNvSpPr>
          <p:nvPr/>
        </p:nvSpPr>
        <p:spPr>
          <a:xfrm xmlns:a="http://schemas.openxmlformats.org/drawingml/2006/main">
            <a:off x="571500" y="3295650"/>
            <a:ext cx="11010900" cy="95"/>
          </a:xfrm>
          <a:custGeom xmlns:a="http://schemas.openxmlformats.org/drawingml/2006/main">
            <a:pathLst>
              <a:path w="11010900" h="95">
                <a:moveTo>
                  <a:pt x="0" y="0"/>
                </a:moveTo>
                <a:lnTo>
                  <a:pt x="11010900" y="0"/>
                </a:lnTo>
              </a:path>
            </a:pathLst>
          </a:custGeom>
          <a:noFill xmlns:a="http://schemas.openxmlformats.org/drawingml/2006/main"/>
          <a:ln xmlns:a="http://schemas.openxmlformats.org/drawingml/2006/main" w="7620">
            <a:solidFill>
              <a:srgbClr val="0A0A0A"/>
            </a:solidFill>
            <a:prstDash val="solid"/>
          </a:ln>
        </p:spPr>
      </p:sp>
      <p:sp>
        <p:nvSpPr>
          <p:cNvPr id="12" name="">
            <a:extLst xmlns:a="http://schemas.openxmlformats.org/drawingml/2006/main">
              <a:ext uri="{FF2B5EF4-FFF2-40B4-BE49-F238E27FC236}">
                <a16:creationId xmlns:a16="http://schemas.microsoft.com/office/drawing/2014/main" id="{FD5D7606-FE51-44CA-94D2-D135BCD62F63}"/>
              </a:ext>
            </a:extLst>
          </p:cNvPr>
          <p:cNvSpPr>
            <a:spLocks xmlns:a="http://schemas.openxmlformats.org/drawingml/2006/main" noGrp="1"/>
          </p:cNvSpPr>
          <p:nvPr/>
        </p:nvSpPr>
        <p:spPr>
          <a:xfrm xmlns:a="http://schemas.openxmlformats.org/drawingml/2006/main">
            <a:off x="381000" y="3895725"/>
            <a:ext cx="11410950" cy="95"/>
          </a:xfrm>
          <a:custGeom xmlns:a="http://schemas.openxmlformats.org/drawingml/2006/main">
            <a:pathLst>
              <a:path w="11410950" h="95">
                <a:moveTo>
                  <a:pt x="0" y="0"/>
                </a:moveTo>
                <a:lnTo>
                  <a:pt x="11410950" y="0"/>
                </a:lnTo>
              </a:path>
            </a:pathLst>
          </a:custGeom>
          <a:noFill xmlns:a="http://schemas.openxmlformats.org/drawingml/2006/main"/>
          <a:ln xmlns:a="http://schemas.openxmlformats.org/drawingml/2006/main" w="5715">
            <a:solidFill>
              <a:srgbClr val="0A0A0A"/>
            </a:solidFill>
            <a:prstDash val="solid"/>
          </a:ln>
        </p:spPr>
      </p:sp>
      <p:sp>
        <p:nvSpPr>
          <p:cNvPr id="13" name="">
            <a:extLst xmlns:a="http://schemas.openxmlformats.org/drawingml/2006/main">
              <a:ext uri="{FF2B5EF4-FFF2-40B4-BE49-F238E27FC236}">
                <a16:creationId xmlns:a16="http://schemas.microsoft.com/office/drawing/2014/main" id="{E6C5DD6B-A772-4933-A8B3-FEB4ED17A96F}"/>
              </a:ext>
            </a:extLst>
          </p:cNvPr>
          <p:cNvSpPr>
            <a:spLocks xmlns:a="http://schemas.openxmlformats.org/drawingml/2006/main" noGrp="1"/>
          </p:cNvSpPr>
          <p:nvPr/>
        </p:nvSpPr>
        <p:spPr>
          <a:xfrm xmlns:a="http://schemas.openxmlformats.org/drawingml/2006/main" rot="0">
            <a:off x="571500" y="42481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0A0A0A"/>
                </a:solidFill>
                <a:latin typeface="DM Sans"/>
                <a:ea typeface="DM Sans"/>
                <a:cs typeface="DM Sans"/>
              </a:defRPr>
            </a:defPPr>
            <a:lvl1pPr algn="l">
              <a:defRPr sz="1800" b="0">
                <a:solidFill>
                  <a:srgbClr val="0A0A0A"/>
                </a:solidFill>
                <a:latin typeface="DM Sans"/>
                <a:ea typeface="DM Sans"/>
                <a:cs typeface="DM Sans"/>
              </a:defRPr>
            </a:lvl1pPr>
            <a:lvl2pPr algn="l">
              <a:defRPr sz="1800" b="0">
                <a:solidFill>
                  <a:srgbClr val="0A0A0A"/>
                </a:solidFill>
                <a:latin typeface="DM Sans"/>
                <a:ea typeface="DM Sans"/>
                <a:cs typeface="DM Sans"/>
              </a:defRPr>
            </a:lvl2pPr>
            <a:lvl3pPr algn="l">
              <a:defRPr sz="1800" b="0">
                <a:solidFill>
                  <a:srgbClr val="0A0A0A"/>
                </a:solidFill>
                <a:latin typeface="DM Sans"/>
                <a:ea typeface="DM Sans"/>
                <a:cs typeface="DM Sans"/>
              </a:defRPr>
            </a:lvl3pPr>
            <a:lvl4pPr algn="l">
              <a:defRPr sz="1800" b="0">
                <a:solidFill>
                  <a:srgbClr val="0A0A0A"/>
                </a:solidFill>
                <a:latin typeface="DM Sans"/>
                <a:ea typeface="DM Sans"/>
                <a:cs typeface="DM Sans"/>
              </a:defRPr>
            </a:lvl4pPr>
            <a:lvl5pPr algn="l">
              <a:defRPr sz="1800" b="0">
                <a:solidFill>
                  <a:srgbClr val="0A0A0A"/>
                </a:solidFill>
                <a:latin typeface="DM Sans"/>
                <a:ea typeface="DM Sans"/>
                <a:cs typeface="DM Sans"/>
              </a:defRPr>
            </a:lvl5pPr>
            <a:lvl6pPr algn="l">
              <a:defRPr sz="1800" b="0">
                <a:solidFill>
                  <a:srgbClr val="0A0A0A"/>
                </a:solidFill>
                <a:latin typeface="DM Sans"/>
                <a:ea typeface="DM Sans"/>
                <a:cs typeface="DM Sans"/>
              </a:defRPr>
            </a:lvl6pPr>
            <a:lvl7pPr algn="l">
              <a:defRPr sz="1800" b="0">
                <a:solidFill>
                  <a:srgbClr val="0A0A0A"/>
                </a:solidFill>
                <a:latin typeface="DM Sans"/>
                <a:ea typeface="DM Sans"/>
                <a:cs typeface="DM Sans"/>
              </a:defRPr>
            </a:lvl7pPr>
            <a:lvl8pPr algn="l">
              <a:defRPr sz="1800" b="0">
                <a:solidFill>
                  <a:srgbClr val="0A0A0A"/>
                </a:solidFill>
                <a:latin typeface="DM Sans"/>
                <a:ea typeface="DM Sans"/>
                <a:cs typeface="DM Sans"/>
              </a:defRPr>
            </a:lvl8pPr>
            <a:lvl9pPr algn="l">
              <a:defRPr sz="1800" b="0">
                <a:solidFill>
                  <a:srgbClr val="0A0A0A"/>
                </a:solidFill>
                <a:latin typeface="DM Sans"/>
                <a:ea typeface="DM Sans"/>
                <a:cs typeface="DM Sans"/>
              </a:defRPr>
            </a:lvl9pPr>
          </a:lstStyle>
          <a:p xmlns:a="http://schemas.openxmlformats.org/drawingml/2006/main">
            <a:pPr algn="l">
              <a:defRPr sz="1800" b="0">
                <a:solidFill>
                  <a:srgbClr val="0A0A0A"/>
                </a:solidFill>
                <a:latin typeface="DM Sans"/>
                <a:ea typeface="DM Sans"/>
                <a:cs typeface="DM Sans"/>
              </a:defRPr>
            </a:pPr>
            <a:r>
              <a:rPr sz="1800" b="0">
                <a:solidFill>
                  <a:srgbClr val="0A0A0A"/>
                </a:solidFill>
                <a:latin typeface="DM Sans"/>
                <a:ea typeface="DM Sans"/>
                <a:cs typeface="DM Sans"/>
              </a:rPr>
              <a:t>0.488 × ($1,500 − $50) − $30,050 = −$29,342.40</a:t>
            </a:r>
          </a:p>
        </p:txBody>
      </p:sp>
      <p:sp>
        <p:nvSpPr>
          <p:cNvPr id="14" name="">
            <a:extLst xmlns:a="http://schemas.openxmlformats.org/drawingml/2006/main">
              <a:ext uri="{FF2B5EF4-FFF2-40B4-BE49-F238E27FC236}">
                <a16:creationId xmlns:a16="http://schemas.microsoft.com/office/drawing/2014/main" id="{249CC5A3-78CB-416E-A759-27315EF405CD}"/>
              </a:ext>
            </a:extLst>
          </p:cNvPr>
          <p:cNvSpPr>
            <a:spLocks xmlns:a="http://schemas.openxmlformats.org/drawingml/2006/main" noGrp="1"/>
          </p:cNvSpPr>
          <p:nvPr/>
        </p:nvSpPr>
        <p:spPr>
          <a:xfrm xmlns:a="http://schemas.openxmlformats.org/drawingml/2006/main" rot="0">
            <a:off x="571500" y="4752975"/>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0A0A0A"/>
                </a:solidFill>
                <a:latin typeface="DM Sans"/>
                <a:ea typeface="DM Sans"/>
                <a:cs typeface="DM Sans"/>
              </a:defRPr>
            </a:defPPr>
            <a:lvl1pPr algn="l">
              <a:defRPr sz="1500" b="0">
                <a:solidFill>
                  <a:srgbClr val="0A0A0A"/>
                </a:solidFill>
                <a:latin typeface="DM Sans"/>
                <a:ea typeface="DM Sans"/>
                <a:cs typeface="DM Sans"/>
              </a:defRPr>
            </a:lvl1pPr>
            <a:lvl2pPr algn="l">
              <a:defRPr sz="1500" b="0">
                <a:solidFill>
                  <a:srgbClr val="0A0A0A"/>
                </a:solidFill>
                <a:latin typeface="DM Sans"/>
                <a:ea typeface="DM Sans"/>
                <a:cs typeface="DM Sans"/>
              </a:defRPr>
            </a:lvl2pPr>
            <a:lvl3pPr algn="l">
              <a:defRPr sz="1500" b="0">
                <a:solidFill>
                  <a:srgbClr val="0A0A0A"/>
                </a:solidFill>
                <a:latin typeface="DM Sans"/>
                <a:ea typeface="DM Sans"/>
                <a:cs typeface="DM Sans"/>
              </a:defRPr>
            </a:lvl3pPr>
            <a:lvl4pPr algn="l">
              <a:defRPr sz="1500" b="0">
                <a:solidFill>
                  <a:srgbClr val="0A0A0A"/>
                </a:solidFill>
                <a:latin typeface="DM Sans"/>
                <a:ea typeface="DM Sans"/>
                <a:cs typeface="DM Sans"/>
              </a:defRPr>
            </a:lvl4pPr>
            <a:lvl5pPr algn="l">
              <a:defRPr sz="1500" b="0">
                <a:solidFill>
                  <a:srgbClr val="0A0A0A"/>
                </a:solidFill>
                <a:latin typeface="DM Sans"/>
                <a:ea typeface="DM Sans"/>
                <a:cs typeface="DM Sans"/>
              </a:defRPr>
            </a:lvl5pPr>
            <a:lvl6pPr algn="l">
              <a:defRPr sz="1500" b="0">
                <a:solidFill>
                  <a:srgbClr val="0A0A0A"/>
                </a:solidFill>
                <a:latin typeface="DM Sans"/>
                <a:ea typeface="DM Sans"/>
                <a:cs typeface="DM Sans"/>
              </a:defRPr>
            </a:lvl6pPr>
            <a:lvl7pPr algn="l">
              <a:defRPr sz="1500" b="0">
                <a:solidFill>
                  <a:srgbClr val="0A0A0A"/>
                </a:solidFill>
                <a:latin typeface="DM Sans"/>
                <a:ea typeface="DM Sans"/>
                <a:cs typeface="DM Sans"/>
              </a:defRPr>
            </a:lvl7pPr>
            <a:lvl8pPr algn="l">
              <a:defRPr sz="1500" b="0">
                <a:solidFill>
                  <a:srgbClr val="0A0A0A"/>
                </a:solidFill>
                <a:latin typeface="DM Sans"/>
                <a:ea typeface="DM Sans"/>
                <a:cs typeface="DM Sans"/>
              </a:defRPr>
            </a:lvl8pPr>
            <a:lvl9pPr algn="l">
              <a:defRPr sz="1500" b="0">
                <a:solidFill>
                  <a:srgbClr val="0A0A0A"/>
                </a:solidFill>
                <a:latin typeface="DM Sans"/>
                <a:ea typeface="DM Sans"/>
                <a:cs typeface="DM Sans"/>
              </a:defRPr>
            </a:lvl9pPr>
          </a:lstStyle>
          <a:p xmlns:a="http://schemas.openxmlformats.org/drawingml/2006/main">
            <a:pPr algn="l">
              <a:defRPr sz="1500" b="0">
                <a:solidFill>
                  <a:srgbClr val="0A0A0A"/>
                </a:solidFill>
                <a:latin typeface="DM Sans"/>
                <a:ea typeface="DM Sans"/>
                <a:cs typeface="DM Sans"/>
              </a:defRPr>
            </a:pPr>
            <a:r>
              <a:rPr sz="1500" b="0">
                <a:solidFill>
                  <a:srgbClr val="0A0A0A"/>
                </a:solidFill>
                <a:latin typeface="DM Sans"/>
                <a:ea typeface="DM Sans"/>
                <a:cs typeface="DM Sans"/>
              </a:rPr>
              <a:t>Expected option return: −97.65%, non-annualized. Decision: SKIP.</a:t>
            </a:r>
          </a:p>
        </p:txBody>
      </p:sp>
      <p:sp>
        <p:nvSpPr>
          <p:cNvPr id="15" name="">
            <a:extLst xmlns:a="http://schemas.openxmlformats.org/drawingml/2006/main">
              <a:ext uri="{FF2B5EF4-FFF2-40B4-BE49-F238E27FC236}">
                <a16:creationId xmlns:a16="http://schemas.microsoft.com/office/drawing/2014/main" id="{9ECF6780-F13C-4F9A-812E-0C79DEF67BA9}"/>
              </a:ext>
            </a:extLst>
          </p:cNvPr>
          <p:cNvSpPr>
            <a:spLocks xmlns:a="http://schemas.openxmlformats.org/drawingml/2006/main" noGrp="1"/>
          </p:cNvSpPr>
          <p:nvPr/>
        </p:nvSpPr>
        <p:spPr>
          <a:xfrm xmlns:a="http://schemas.openxmlformats.org/drawingml/2006/main" rot="0">
            <a:off x="571500" y="5286375"/>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0">
                <a:solidFill>
                  <a:srgbClr val="0A0A0A"/>
                </a:solidFill>
                <a:latin typeface="DM Sans"/>
                <a:ea typeface="DM Sans"/>
                <a:cs typeface="DM Sans"/>
              </a:defRPr>
            </a:defPPr>
            <a:lvl1pPr algn="l">
              <a:defRPr sz="1275" b="0">
                <a:solidFill>
                  <a:srgbClr val="0A0A0A"/>
                </a:solidFill>
                <a:latin typeface="DM Sans"/>
                <a:ea typeface="DM Sans"/>
                <a:cs typeface="DM Sans"/>
              </a:defRPr>
            </a:lvl1pPr>
            <a:lvl2pPr algn="l">
              <a:defRPr sz="1275" b="0">
                <a:solidFill>
                  <a:srgbClr val="0A0A0A"/>
                </a:solidFill>
                <a:latin typeface="DM Sans"/>
                <a:ea typeface="DM Sans"/>
                <a:cs typeface="DM Sans"/>
              </a:defRPr>
            </a:lvl2pPr>
            <a:lvl3pPr algn="l">
              <a:defRPr sz="1275" b="0">
                <a:solidFill>
                  <a:srgbClr val="0A0A0A"/>
                </a:solidFill>
                <a:latin typeface="DM Sans"/>
                <a:ea typeface="DM Sans"/>
                <a:cs typeface="DM Sans"/>
              </a:defRPr>
            </a:lvl3pPr>
            <a:lvl4pPr algn="l">
              <a:defRPr sz="1275" b="0">
                <a:solidFill>
                  <a:srgbClr val="0A0A0A"/>
                </a:solidFill>
                <a:latin typeface="DM Sans"/>
                <a:ea typeface="DM Sans"/>
                <a:cs typeface="DM Sans"/>
              </a:defRPr>
            </a:lvl4pPr>
            <a:lvl5pPr algn="l">
              <a:defRPr sz="1275" b="0">
                <a:solidFill>
                  <a:srgbClr val="0A0A0A"/>
                </a:solidFill>
                <a:latin typeface="DM Sans"/>
                <a:ea typeface="DM Sans"/>
                <a:cs typeface="DM Sans"/>
              </a:defRPr>
            </a:lvl5pPr>
            <a:lvl6pPr algn="l">
              <a:defRPr sz="1275" b="0">
                <a:solidFill>
                  <a:srgbClr val="0A0A0A"/>
                </a:solidFill>
                <a:latin typeface="DM Sans"/>
                <a:ea typeface="DM Sans"/>
                <a:cs typeface="DM Sans"/>
              </a:defRPr>
            </a:lvl6pPr>
            <a:lvl7pPr algn="l">
              <a:defRPr sz="1275" b="0">
                <a:solidFill>
                  <a:srgbClr val="0A0A0A"/>
                </a:solidFill>
                <a:latin typeface="DM Sans"/>
                <a:ea typeface="DM Sans"/>
                <a:cs typeface="DM Sans"/>
              </a:defRPr>
            </a:lvl7pPr>
            <a:lvl8pPr algn="l">
              <a:defRPr sz="1275" b="0">
                <a:solidFill>
                  <a:srgbClr val="0A0A0A"/>
                </a:solidFill>
                <a:latin typeface="DM Sans"/>
                <a:ea typeface="DM Sans"/>
                <a:cs typeface="DM Sans"/>
              </a:defRPr>
            </a:lvl8pPr>
            <a:lvl9pPr algn="l">
              <a:defRPr sz="1275" b="0">
                <a:solidFill>
                  <a:srgbClr val="0A0A0A"/>
                </a:solidFill>
                <a:latin typeface="DM Sans"/>
                <a:ea typeface="DM Sans"/>
                <a:cs typeface="DM Sans"/>
              </a:defRPr>
            </a:lvl9pPr>
          </a:lstStyle>
          <a:p xmlns:a="http://schemas.openxmlformats.org/drawingml/2006/main">
            <a:pPr algn="l">
              <a:defRPr sz="1275" b="0">
                <a:solidFill>
                  <a:srgbClr val="0A0A0A"/>
                </a:solidFill>
                <a:latin typeface="DM Sans"/>
                <a:ea typeface="DM Sans"/>
                <a:cs typeface="DM Sans"/>
              </a:defRPr>
            </a:pPr>
            <a:r>
              <a:rPr sz="1275" b="0">
                <a:solidFill>
                  <a:srgbClr val="0A0A0A"/>
                </a:solidFill>
                <a:latin typeface="DM Sans"/>
                <a:ea typeface="DM Sans"/>
                <a:cs typeface="DM Sans"/>
              </a:rPr>
              <a:t>For a 25% expected return, required conditional resale is $77,022.34.</a:t>
            </a:r>
          </a:p>
          <a:p xmlns:a="http://schemas.openxmlformats.org/drawingml/2006/main">
            <a:pPr algn="l">
              <a:defRPr sz="1275" b="0">
                <a:solidFill>
                  <a:srgbClr val="0A0A0A"/>
                </a:solidFill>
                <a:latin typeface="DM Sans"/>
                <a:ea typeface="DM Sans"/>
                <a:cs typeface="DM Sans"/>
              </a:defRPr>
            </a:pPr>
            <a:r>
              <a:rPr sz="1275" b="0">
                <a:solidFill>
                  <a:srgbClr val="0A0A0A"/>
                </a:solidFill>
                <a:latin typeface="DM Sans"/>
                <a:ea typeface="DM Sans"/>
                <a:cs typeface="DM Sans"/>
              </a:rPr>
              <a:t>This is an underwriting hurdle, not a forecast. Model assignment remains $1,500.</a:t>
            </a:r>
          </a:p>
        </p:txBody>
      </p:sp>
    </p:spTree>
    <p:extLst>
      <p:ext uri="{BB962C8B-B14F-4D97-AF65-F5344CB8AC3E}">
        <p14:creationId xmlns:p14="http://schemas.microsoft.com/office/powerpoint/2010/main" val="1998185444"/>
      </p:ext>
    </p:extLst>
  </p:cSld>
</p:sld>
</file>

<file path=ppt/slides/slide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F276C21-7162-42EE-A528-CB27CA61D91F}"/>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68CB3D62-BD6C-4985-BF96-162BBA9A3C28}"/>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A</a:t>
            </a:r>
          </a:p>
        </p:txBody>
      </p:sp>
      <p:sp>
        <p:nvSpPr>
          <p:cNvPr id="3" name="">
            <a:extLst xmlns:a="http://schemas.openxmlformats.org/drawingml/2006/main">
              <a:ext uri="{FF2B5EF4-FFF2-40B4-BE49-F238E27FC236}">
                <a16:creationId xmlns:a16="http://schemas.microsoft.com/office/drawing/2014/main" id="{B2A47889-1ACD-4910-9CBA-D48E9CB31287}"/>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7721B955-B513-49C4-A197-12834EC29374}"/>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ECE42459-614F-4F4F-B80D-5149533394ED}"/>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BACFB13C-8584-428B-9E6B-6E479C68EB32}"/>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Appendix</a:t>
            </a:r>
          </a:p>
        </p:txBody>
      </p:sp>
      <p:sp>
        <p:nvSpPr>
          <p:cNvPr id="7" name="">
            <a:extLst xmlns:a="http://schemas.openxmlformats.org/drawingml/2006/main">
              <a:ext uri="{FF2B5EF4-FFF2-40B4-BE49-F238E27FC236}">
                <a16:creationId xmlns:a16="http://schemas.microsoft.com/office/drawing/2014/main" id="{096924C5-BEA2-415A-A839-0B84836AAC5D}"/>
              </a:ext>
            </a:extLst>
          </p:cNvPr>
          <p:cNvSpPr>
            <a:spLocks xmlns:a="http://schemas.openxmlformats.org/drawingml/2006/main" noGrp="1"/>
          </p:cNvSpPr>
          <p:nvPr/>
        </p:nvSpPr>
        <p:spPr>
          <a:xfrm xmlns:a="http://schemas.openxmlformats.org/drawingml/2006/main" rot="0">
            <a:off x="11039475" y="41910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900" b="0">
                <a:solidFill>
                  <a:srgbClr val="0A0A0A"/>
                </a:solidFill>
                <a:latin typeface="DM Sans"/>
                <a:ea typeface="DM Sans"/>
                <a:cs typeface="DM Sans"/>
              </a:defRPr>
            </a:defPPr>
            <a:lvl1pPr algn="r">
              <a:defRPr sz="900" b="0">
                <a:solidFill>
                  <a:srgbClr val="0A0A0A"/>
                </a:solidFill>
                <a:latin typeface="DM Sans"/>
                <a:ea typeface="DM Sans"/>
                <a:cs typeface="DM Sans"/>
              </a:defRPr>
            </a:lvl1pPr>
            <a:lvl2pPr algn="r">
              <a:defRPr sz="900" b="0">
                <a:solidFill>
                  <a:srgbClr val="0A0A0A"/>
                </a:solidFill>
                <a:latin typeface="DM Sans"/>
                <a:ea typeface="DM Sans"/>
                <a:cs typeface="DM Sans"/>
              </a:defRPr>
            </a:lvl2pPr>
            <a:lvl3pPr algn="r">
              <a:defRPr sz="900" b="0">
                <a:solidFill>
                  <a:srgbClr val="0A0A0A"/>
                </a:solidFill>
                <a:latin typeface="DM Sans"/>
                <a:ea typeface="DM Sans"/>
                <a:cs typeface="DM Sans"/>
              </a:defRPr>
            </a:lvl3pPr>
            <a:lvl4pPr algn="r">
              <a:defRPr sz="900" b="0">
                <a:solidFill>
                  <a:srgbClr val="0A0A0A"/>
                </a:solidFill>
                <a:latin typeface="DM Sans"/>
                <a:ea typeface="DM Sans"/>
                <a:cs typeface="DM Sans"/>
              </a:defRPr>
            </a:lvl4pPr>
            <a:lvl5pPr algn="r">
              <a:defRPr sz="900" b="0">
                <a:solidFill>
                  <a:srgbClr val="0A0A0A"/>
                </a:solidFill>
                <a:latin typeface="DM Sans"/>
                <a:ea typeface="DM Sans"/>
                <a:cs typeface="DM Sans"/>
              </a:defRPr>
            </a:lvl5pPr>
            <a:lvl6pPr algn="r">
              <a:defRPr sz="900" b="0">
                <a:solidFill>
                  <a:srgbClr val="0A0A0A"/>
                </a:solidFill>
                <a:latin typeface="DM Sans"/>
                <a:ea typeface="DM Sans"/>
                <a:cs typeface="DM Sans"/>
              </a:defRPr>
            </a:lvl6pPr>
            <a:lvl7pPr algn="r">
              <a:defRPr sz="900" b="0">
                <a:solidFill>
                  <a:srgbClr val="0A0A0A"/>
                </a:solidFill>
                <a:latin typeface="DM Sans"/>
                <a:ea typeface="DM Sans"/>
                <a:cs typeface="DM Sans"/>
              </a:defRPr>
            </a:lvl7pPr>
            <a:lvl8pPr algn="r">
              <a:defRPr sz="900" b="0">
                <a:solidFill>
                  <a:srgbClr val="0A0A0A"/>
                </a:solidFill>
                <a:latin typeface="DM Sans"/>
                <a:ea typeface="DM Sans"/>
                <a:cs typeface="DM Sans"/>
              </a:defRPr>
            </a:lvl8pPr>
            <a:lvl9pPr algn="r">
              <a:defRPr sz="900" b="0">
                <a:solidFill>
                  <a:srgbClr val="0A0A0A"/>
                </a:solidFill>
                <a:latin typeface="DM Sans"/>
                <a:ea typeface="DM Sans"/>
                <a:cs typeface="DM Sans"/>
              </a:defRPr>
            </a:lvl9pPr>
          </a:lstStyle>
          <a:p xmlns:a="http://schemas.openxmlformats.org/drawingml/2006/main">
            <a:pPr algn="r">
              <a:defRPr sz="900" b="0">
                <a:solidFill>
                  <a:srgbClr val="0A0A0A"/>
                </a:solidFill>
                <a:latin typeface="DM Sans"/>
                <a:ea typeface="DM Sans"/>
                <a:cs typeface="DM Sans"/>
              </a:defRPr>
            </a:pPr>
            <a:r>
              <a:rPr sz="900" b="0">
                <a:solidFill>
                  <a:srgbClr val="0A0A0A"/>
                </a:solidFill>
                <a:latin typeface="DM Sans"/>
                <a:ea typeface="DM Sans"/>
                <a:cs typeface="DM Sans"/>
              </a:rPr>
              <a:t>Orecast</a:t>
            </a:r>
          </a:p>
        </p:txBody>
      </p:sp>
      <p:sp>
        <p:nvSpPr>
          <p:cNvPr id="8" name="">
            <a:extLst xmlns:a="http://schemas.openxmlformats.org/drawingml/2006/main">
              <a:ext uri="{FF2B5EF4-FFF2-40B4-BE49-F238E27FC236}">
                <a16:creationId xmlns:a16="http://schemas.microsoft.com/office/drawing/2014/main" id="{25C196CA-D914-48BA-AB88-67BBEE2E8F12}"/>
              </a:ext>
            </a:extLst>
          </p:cNvPr>
          <p:cNvSpPr>
            <a:spLocks xmlns:a="http://schemas.openxmlformats.org/drawingml/2006/main" noGrp="1"/>
          </p:cNvSpPr>
          <p:nvPr/>
        </p:nvSpPr>
        <p:spPr>
          <a:xfrm xmlns:a="http://schemas.openxmlformats.org/drawingml/2006/main" rot="0">
            <a:off x="381000" y="790575"/>
            <a:ext cx="1133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Historical pilot: the event adjustment did not beat baseline</a:t>
            </a:r>
          </a:p>
        </p:txBody>
      </p:sp>
      <p:sp>
        <p:nvSpPr>
          <p:cNvPr id="9" name="">
            <a:extLst xmlns:a="http://schemas.openxmlformats.org/drawingml/2006/main">
              <a:ext uri="{FF2B5EF4-FFF2-40B4-BE49-F238E27FC236}">
                <a16:creationId xmlns:a16="http://schemas.microsoft.com/office/drawing/2014/main" id="{413D4BAD-1157-4883-BE82-5D8F6ADCCF38}"/>
              </a:ext>
            </a:extLst>
          </p:cNvPr>
          <p:cNvSpPr>
            <a:spLocks xmlns:a="http://schemas.openxmlformats.org/drawingml/2006/main" noGrp="1"/>
          </p:cNvSpPr>
          <p:nvPr/>
        </p:nvSpPr>
        <p:spPr>
          <a:xfrm xmlns:a="http://schemas.openxmlformats.org/drawingml/2006/main" rot="0">
            <a:off x="381000" y="1104900"/>
            <a:ext cx="1133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0A0A0A"/>
                </a:solidFill>
                <a:latin typeface="DM Sans"/>
                <a:ea typeface="DM Sans"/>
                <a:cs typeface="DM Sans"/>
              </a:defRPr>
            </a:defPPr>
            <a:lvl1pPr algn="l">
              <a:defRPr sz="1125" b="0">
                <a:solidFill>
                  <a:srgbClr val="0A0A0A"/>
                </a:solidFill>
                <a:latin typeface="DM Sans"/>
                <a:ea typeface="DM Sans"/>
                <a:cs typeface="DM Sans"/>
              </a:defRPr>
            </a:lvl1pPr>
            <a:lvl2pPr algn="l">
              <a:defRPr sz="1125" b="0">
                <a:solidFill>
                  <a:srgbClr val="0A0A0A"/>
                </a:solidFill>
                <a:latin typeface="DM Sans"/>
                <a:ea typeface="DM Sans"/>
                <a:cs typeface="DM Sans"/>
              </a:defRPr>
            </a:lvl2pPr>
            <a:lvl3pPr algn="l">
              <a:defRPr sz="1125" b="0">
                <a:solidFill>
                  <a:srgbClr val="0A0A0A"/>
                </a:solidFill>
                <a:latin typeface="DM Sans"/>
                <a:ea typeface="DM Sans"/>
                <a:cs typeface="DM Sans"/>
              </a:defRPr>
            </a:lvl3pPr>
            <a:lvl4pPr algn="l">
              <a:defRPr sz="1125" b="0">
                <a:solidFill>
                  <a:srgbClr val="0A0A0A"/>
                </a:solidFill>
                <a:latin typeface="DM Sans"/>
                <a:ea typeface="DM Sans"/>
                <a:cs typeface="DM Sans"/>
              </a:defRPr>
            </a:lvl4pPr>
            <a:lvl5pPr algn="l">
              <a:defRPr sz="1125" b="0">
                <a:solidFill>
                  <a:srgbClr val="0A0A0A"/>
                </a:solidFill>
                <a:latin typeface="DM Sans"/>
                <a:ea typeface="DM Sans"/>
                <a:cs typeface="DM Sans"/>
              </a:defRPr>
            </a:lvl5pPr>
            <a:lvl6pPr algn="l">
              <a:defRPr sz="1125" b="0">
                <a:solidFill>
                  <a:srgbClr val="0A0A0A"/>
                </a:solidFill>
                <a:latin typeface="DM Sans"/>
                <a:ea typeface="DM Sans"/>
                <a:cs typeface="DM Sans"/>
              </a:defRPr>
            </a:lvl6pPr>
            <a:lvl7pPr algn="l">
              <a:defRPr sz="1125" b="0">
                <a:solidFill>
                  <a:srgbClr val="0A0A0A"/>
                </a:solidFill>
                <a:latin typeface="DM Sans"/>
                <a:ea typeface="DM Sans"/>
                <a:cs typeface="DM Sans"/>
              </a:defRPr>
            </a:lvl7pPr>
            <a:lvl8pPr algn="l">
              <a:defRPr sz="1125" b="0">
                <a:solidFill>
                  <a:srgbClr val="0A0A0A"/>
                </a:solidFill>
                <a:latin typeface="DM Sans"/>
                <a:ea typeface="DM Sans"/>
                <a:cs typeface="DM Sans"/>
              </a:defRPr>
            </a:lvl8pPr>
            <a:lvl9pPr algn="l">
              <a:defRPr sz="1125" b="0">
                <a:solidFill>
                  <a:srgbClr val="0A0A0A"/>
                </a:solidFill>
                <a:latin typeface="DM Sans"/>
                <a:ea typeface="DM Sans"/>
                <a:cs typeface="DM Sans"/>
              </a:defRPr>
            </a:lvl9pPr>
          </a:lstStyle>
          <a:p xmlns:a="http://schemas.openxmlformats.org/drawingml/2006/main">
            <a:pPr algn="l">
              <a:defRPr sz="1125" b="0">
                <a:solidFill>
                  <a:srgbClr val="0A0A0A"/>
                </a:solidFill>
                <a:latin typeface="DM Sans"/>
                <a:ea typeface="DM Sans"/>
                <a:cs typeface="DM Sans"/>
              </a:defRPr>
            </a:pPr>
            <a:r>
              <a:rPr sz="1125" b="0">
                <a:solidFill>
                  <a:srgbClr val="0A0A0A"/>
                </a:solidFill>
                <a:latin typeface="DM Sans"/>
                <a:ea typeface="DM Sans"/>
                <a:cs typeface="DM Sans"/>
              </a:rPr>
              <a:t>12 selected equity events. Five held-out observations per horizon, in distinct cohorts. Lower MAE is better.</a:t>
            </a:r>
          </a:p>
        </p:txBody>
      </p:sp>
      <p:graphicFrame>
        <p:nvGraphicFramePr>
          <p:cNvPr id="10" name="">
            <a:extLst xmlns:a="http://schemas.openxmlformats.org/drawingml/2006/main">
              <a:ext uri="{FF2B5EF4-FFF2-40B4-BE49-F238E27FC236}">
                <a16:creationId xmlns:a16="http://schemas.microsoft.com/office/drawing/2014/main" id="{166C0FFA-FE9A-4C77-8CB0-0390C30F72B6}"/>
              </a:ext>
            </a:extLst>
          </p:cNvPr>
          <p:cNvGraphicFramePr/>
          <p:nvPr/>
        </p:nvGraphicFramePr>
        <p:xfrm>
          <a:off xmlns:a="http://schemas.openxmlformats.org/drawingml/2006/main" x="381000" y="1609725"/>
          <a:ext xmlns:a="http://schemas.openxmlformats.org/drawingml/2006/main" cx="11410950" cy="2305050"/>
        </p:xfrm>
        <a:graphic xmlns:a="http://schemas.openxmlformats.org/drawingml/2006/main">
          <a:graphicData uri="http://schemas.openxmlformats.org/drawingml/2006/table">
            <a:tbl>
              <a:tblPr firstRow="1" bandRow="0"/>
              <a:tblGrid>
                <a:gridCol w="5143500"/>
                <a:gridCol w="3133725"/>
                <a:gridCol w="3133725"/>
              </a:tblGrid>
              <a:tr h="576263">
                <a:tc>
                  <a:txBody>
                    <a:bodyPr lIns="171450" tIns="95250" rIns="171450" bIns="95250">
                      <a:noAutofit/>
                    </a:bodyPr>
                    <a:lstStyle/>
                    <a:p>
                      <a:r>
                        <a:rPr sz="1050" b="0">
                          <a:solidFill>
                            <a:srgbClr val="FAFAFA"/>
                          </a:solidFill>
                          <a:latin typeface="DM Sans"/>
                          <a:ea typeface="DM Sans"/>
                          <a:cs typeface="DM Sans"/>
                        </a:rPr>
                        <a:t>Model</a:t>
                      </a:r>
                    </a:p>
                  </a:txBody>
                  <a:tcPr marL="91440" marR="91440" marT="45720" marB="45720" anchor="ctr">
                    <a:lnL w="0">
                      <a:noFill/>
                      <a:prstDash val="solid"/>
                    </a:lnL>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5-session MAE (pp)</a:t>
                      </a:r>
                    </a:p>
                  </a:txBody>
                  <a:tcPr marL="91440" marR="91440" marT="45720" marB="45720" anchor="ctr">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20-session MAE (pp)</a:t>
                      </a:r>
                    </a:p>
                  </a:txBody>
                  <a:tcPr marL="91440" marR="91440" marT="45720" marB="45720" anchor="ctr">
                    <a:lnR w="0">
                      <a:noFill/>
                      <a:prstDash val="solid"/>
                    </a:lnR>
                    <a:lnT w="0">
                      <a:noFill/>
                      <a:prstDash val="solid"/>
                    </a:lnT>
                    <a:lnB w="0">
                      <a:noFill/>
                      <a:prstDash val="solid"/>
                    </a:lnB>
                    <a:solidFill>
                      <a:srgbClr val="0A0A0A"/>
                    </a:solidFill>
                  </a:tcPr>
                </a:tc>
              </a:tr>
              <a:tr h="576263">
                <a:tc>
                  <a:txBody>
                    <a:bodyPr lIns="171450" tIns="95250" rIns="171450" bIns="95250">
                      <a:noAutofit/>
                    </a:bodyPr>
                    <a:lstStyle/>
                    <a:p>
                      <a:r>
                        <a:rPr sz="1350" b="0">
                          <a:solidFill>
                            <a:srgbClr val="0A0A0A"/>
                          </a:solidFill>
                          <a:latin typeface="DM Sans"/>
                          <a:ea typeface="DM Sans"/>
                          <a:cs typeface="DM Sans"/>
                        </a:rPr>
                        <a:t>No change</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2.5562</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5.9474</a:t>
                      </a:r>
                    </a:p>
                  </a:txBody>
                  <a:tcPr marL="91440" marR="91440" marT="45720" marB="45720" anchor="ctr">
                    <a:lnR w="0">
                      <a:noFill/>
                      <a:prstDash val="solid"/>
                    </a:lnR>
                    <a:lnB w="0">
                      <a:noFill/>
                      <a:prstDash val="solid"/>
                    </a:lnB>
                    <a:solidFill>
                      <a:srgbClr val="FAFAFA"/>
                    </a:solidFill>
                  </a:tcPr>
                </a:tc>
              </a:tr>
              <a:tr h="576263">
                <a:tc>
                  <a:txBody>
                    <a:bodyPr lIns="171450" tIns="95250" rIns="171450" bIns="95250">
                      <a:noAutofit/>
                    </a:bodyPr>
                    <a:lstStyle/>
                    <a:p>
                      <a:r>
                        <a:rPr sz="1350" b="0">
                          <a:solidFill>
                            <a:srgbClr val="0A0A0A"/>
                          </a:solidFill>
                          <a:latin typeface="DM Sans"/>
                          <a:ea typeface="DM Sans"/>
                          <a:cs typeface="DM Sans"/>
                        </a:rPr>
                        <a:t>Gold-only</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3.1291</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7.5670</a:t>
                      </a:r>
                    </a:p>
                  </a:txBody>
                  <a:tcPr marL="91440" marR="91440" marT="45720" marB="45720" anchor="ctr">
                    <a:lnR w="0">
                      <a:noFill/>
                      <a:prstDash val="solid"/>
                    </a:lnR>
                    <a:lnB w="0">
                      <a:noFill/>
                      <a:prstDash val="solid"/>
                    </a:lnB>
                    <a:solidFill>
                      <a:srgbClr val="FAFAFA"/>
                    </a:solidFill>
                  </a:tcPr>
                </a:tc>
              </a:tr>
              <a:tr h="576263">
                <a:tc>
                  <a:txBody>
                    <a:bodyPr lIns="171450" tIns="95250" rIns="171450" bIns="95250">
                      <a:noAutofit/>
                    </a:bodyPr>
                    <a:lstStyle/>
                    <a:p>
                      <a:r>
                        <a:rPr sz="1350" b="0">
                          <a:solidFill>
                            <a:srgbClr val="0A0A0A"/>
                          </a:solidFill>
                          <a:latin typeface="DM Sans"/>
                          <a:ea typeface="DM Sans"/>
                          <a:cs typeface="DM Sans"/>
                        </a:rPr>
                        <a:t>Gold + event</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8.0596</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14.3108</a:t>
                      </a:r>
                    </a:p>
                  </a:txBody>
                  <a:tcPr marL="91440" marR="91440" marT="45720" marB="45720" anchor="ctr">
                    <a:lnR w="0">
                      <a:noFill/>
                      <a:prstDash val="solid"/>
                    </a:lnR>
                    <a:lnB w="0">
                      <a:noFill/>
                      <a:prstDash val="solid"/>
                    </a:lnB>
                    <a:solidFill>
                      <a:srgbClr val="FAFAFA"/>
                    </a:solidFill>
                  </a:tcPr>
                </a:tc>
              </a:tr>
            </a:tbl>
          </a:graphicData>
        </a:graphic>
      </p:graphicFrame>
      <p:sp>
        <p:nvSpPr>
          <p:cNvPr id="11" name="">
            <a:extLst xmlns:a="http://schemas.openxmlformats.org/drawingml/2006/main">
              <a:ext uri="{FF2B5EF4-FFF2-40B4-BE49-F238E27FC236}">
                <a16:creationId xmlns:a16="http://schemas.microsoft.com/office/drawing/2014/main" id="{B6946E80-3466-4968-A73B-17D96E4064C2}"/>
              </a:ext>
            </a:extLst>
          </p:cNvPr>
          <p:cNvSpPr>
            <a:spLocks xmlns:a="http://schemas.openxmlformats.org/drawingml/2006/main" noGrp="1"/>
          </p:cNvSpPr>
          <p:nvPr/>
        </p:nvSpPr>
        <p:spPr>
          <a:xfrm xmlns:a="http://schemas.openxmlformats.org/drawingml/2006/main">
            <a:off x="381000" y="3914775"/>
            <a:ext cx="11410950" cy="95"/>
          </a:xfrm>
          <a:custGeom xmlns:a="http://schemas.openxmlformats.org/drawingml/2006/main">
            <a:pathLst>
              <a:path w="11410950" h="95">
                <a:moveTo>
                  <a:pt x="0" y="0"/>
                </a:moveTo>
                <a:lnTo>
                  <a:pt x="11410950" y="0"/>
                </a:lnTo>
              </a:path>
            </a:pathLst>
          </a:custGeom>
          <a:noFill xmlns:a="http://schemas.openxmlformats.org/drawingml/2006/main"/>
          <a:ln xmlns:a="http://schemas.openxmlformats.org/drawingml/2006/main" w="5715">
            <a:solidFill>
              <a:srgbClr val="0A0A0A"/>
            </a:solidFill>
            <a:prstDash val="solid"/>
          </a:ln>
        </p:spPr>
      </p:sp>
      <p:sp>
        <p:nvSpPr>
          <p:cNvPr id="12" name="">
            <a:extLst xmlns:a="http://schemas.openxmlformats.org/drawingml/2006/main">
              <a:ext uri="{FF2B5EF4-FFF2-40B4-BE49-F238E27FC236}">
                <a16:creationId xmlns:a16="http://schemas.microsoft.com/office/drawing/2014/main" id="{D0661549-1299-4C15-BAEC-B5A7580E3991}"/>
              </a:ext>
            </a:extLst>
          </p:cNvPr>
          <p:cNvSpPr>
            <a:spLocks xmlns:a="http://schemas.openxmlformats.org/drawingml/2006/main" noGrp="1"/>
          </p:cNvSpPr>
          <p:nvPr/>
        </p:nvSpPr>
        <p:spPr>
          <a:xfrm xmlns:a="http://schemas.openxmlformats.org/drawingml/2006/main" rot="0">
            <a:off x="571500" y="42672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Retrospective equity component test, not Tok option returns.</a:t>
            </a:r>
          </a:p>
        </p:txBody>
      </p:sp>
      <p:sp>
        <p:nvSpPr>
          <p:cNvPr id="13" name="">
            <a:extLst xmlns:a="http://schemas.openxmlformats.org/drawingml/2006/main">
              <a:ext uri="{FF2B5EF4-FFF2-40B4-BE49-F238E27FC236}">
                <a16:creationId xmlns:a16="http://schemas.microsoft.com/office/drawing/2014/main" id="{B48EAE58-F519-444E-980E-F1591F7AB320}"/>
              </a:ext>
            </a:extLst>
          </p:cNvPr>
          <p:cNvSpPr>
            <a:spLocks xmlns:a="http://schemas.openxmlformats.org/drawingml/2006/main" noGrp="1"/>
          </p:cNvSpPr>
          <p:nvPr/>
        </p:nvSpPr>
        <p:spPr>
          <a:xfrm xmlns:a="http://schemas.openxmlformats.org/drawingml/2006/main" rot="0">
            <a:off x="571500" y="4772025"/>
            <a:ext cx="1057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Event adjustment did not beat baseline.</a:t>
            </a:r>
          </a:p>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No paired historical swarm outcomes.</a:t>
            </a:r>
          </a:p>
        </p:txBody>
      </p:sp>
      <p:sp>
        <p:nvSpPr>
          <p:cNvPr id="14" name="">
            <a:extLst xmlns:a="http://schemas.openxmlformats.org/drawingml/2006/main">
              <a:ext uri="{FF2B5EF4-FFF2-40B4-BE49-F238E27FC236}">
                <a16:creationId xmlns:a16="http://schemas.microsoft.com/office/drawing/2014/main" id="{967D2C55-7BCA-47A4-BE9E-7CDDC614E1A9}"/>
              </a:ext>
            </a:extLst>
          </p:cNvPr>
          <p:cNvSpPr>
            <a:spLocks xmlns:a="http://schemas.openxmlformats.org/drawingml/2006/main" noGrp="1"/>
          </p:cNvSpPr>
          <p:nvPr/>
        </p:nvSpPr>
        <p:spPr>
          <a:xfrm xmlns:a="http://schemas.openxmlformats.org/drawingml/2006/main" rot="0">
            <a:off x="571500" y="5648325"/>
            <a:ext cx="1057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737373"/>
                </a:solidFill>
                <a:latin typeface="DM Sans"/>
                <a:ea typeface="DM Sans"/>
                <a:cs typeface="DM Sans"/>
              </a:defRPr>
            </a:defPPr>
            <a:lvl1pPr algn="l">
              <a:defRPr sz="1125" b="0">
                <a:solidFill>
                  <a:srgbClr val="737373"/>
                </a:solidFill>
                <a:latin typeface="DM Sans"/>
                <a:ea typeface="DM Sans"/>
                <a:cs typeface="DM Sans"/>
              </a:defRPr>
            </a:lvl1pPr>
            <a:lvl2pPr algn="l">
              <a:defRPr sz="1125" b="0">
                <a:solidFill>
                  <a:srgbClr val="737373"/>
                </a:solidFill>
                <a:latin typeface="DM Sans"/>
                <a:ea typeface="DM Sans"/>
                <a:cs typeface="DM Sans"/>
              </a:defRPr>
            </a:lvl2pPr>
            <a:lvl3pPr algn="l">
              <a:defRPr sz="1125" b="0">
                <a:solidFill>
                  <a:srgbClr val="737373"/>
                </a:solidFill>
                <a:latin typeface="DM Sans"/>
                <a:ea typeface="DM Sans"/>
                <a:cs typeface="DM Sans"/>
              </a:defRPr>
            </a:lvl3pPr>
            <a:lvl4pPr algn="l">
              <a:defRPr sz="1125" b="0">
                <a:solidFill>
                  <a:srgbClr val="737373"/>
                </a:solidFill>
                <a:latin typeface="DM Sans"/>
                <a:ea typeface="DM Sans"/>
                <a:cs typeface="DM Sans"/>
              </a:defRPr>
            </a:lvl4pPr>
            <a:lvl5pPr algn="l">
              <a:defRPr sz="1125" b="0">
                <a:solidFill>
                  <a:srgbClr val="737373"/>
                </a:solidFill>
                <a:latin typeface="DM Sans"/>
                <a:ea typeface="DM Sans"/>
                <a:cs typeface="DM Sans"/>
              </a:defRPr>
            </a:lvl5pPr>
            <a:lvl6pPr algn="l">
              <a:defRPr sz="1125" b="0">
                <a:solidFill>
                  <a:srgbClr val="737373"/>
                </a:solidFill>
                <a:latin typeface="DM Sans"/>
                <a:ea typeface="DM Sans"/>
                <a:cs typeface="DM Sans"/>
              </a:defRPr>
            </a:lvl6pPr>
            <a:lvl7pPr algn="l">
              <a:defRPr sz="1125" b="0">
                <a:solidFill>
                  <a:srgbClr val="737373"/>
                </a:solidFill>
                <a:latin typeface="DM Sans"/>
                <a:ea typeface="DM Sans"/>
                <a:cs typeface="DM Sans"/>
              </a:defRPr>
            </a:lvl7pPr>
            <a:lvl8pPr algn="l">
              <a:defRPr sz="1125" b="0">
                <a:solidFill>
                  <a:srgbClr val="737373"/>
                </a:solidFill>
                <a:latin typeface="DM Sans"/>
                <a:ea typeface="DM Sans"/>
                <a:cs typeface="DM Sans"/>
              </a:defRPr>
            </a:lvl8pPr>
            <a:lvl9pPr algn="l">
              <a:defRPr sz="1125" b="0">
                <a:solidFill>
                  <a:srgbClr val="737373"/>
                </a:solidFill>
                <a:latin typeface="DM Sans"/>
                <a:ea typeface="DM Sans"/>
                <a:cs typeface="DM Sans"/>
              </a:defRPr>
            </a:lvl9pPr>
          </a:lstStyle>
          <a:p xmlns:a="http://schemas.openxmlformats.org/drawingml/2006/main">
            <a:pPr algn="l">
              <a:defRPr sz="1125" b="0">
                <a:solidFill>
                  <a:srgbClr val="737373"/>
                </a:solidFill>
                <a:latin typeface="DM Sans"/>
                <a:ea typeface="DM Sans"/>
                <a:cs typeface="DM Sans"/>
              </a:defRPr>
            </a:pPr>
            <a:r>
              <a:rPr sz="1125" b="0">
                <a:solidFill>
                  <a:srgbClr val="737373"/>
                </a:solidFill>
                <a:latin typeface="DM Sans"/>
                <a:ea typeface="DM Sans"/>
                <a:cs typeface="DM Sans"/>
              </a:rPr>
              <a:t>Next: paired prospective outcomes and calibrated assignment liquidity.</a:t>
            </a:r>
          </a:p>
        </p:txBody>
      </p:sp>
    </p:spTree>
    <p:extLst>
      <p:ext uri="{BB962C8B-B14F-4D97-AF65-F5344CB8AC3E}">
        <p14:creationId xmlns:p14="http://schemas.microsoft.com/office/powerpoint/2010/main" val="14672093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DM Sans"/>
        <a:ea typeface=""/>
        <a:cs typeface=""/>
      </a:majorFont>
      <a:minorFont>
        <a:latin typeface="DM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2026-10-25T10:22:34.9950000Z</dcterms:created>
  <dcterms:modified xsi:type="dcterms:W3CDTF">2026-10-25T10:22:34.9950000Z</dcterms:modified>
</coreProperties>
</file>