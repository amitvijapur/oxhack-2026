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4e4443b6ba742e1" /><Relationship Type="http://schemas.openxmlformats.org/officeDocument/2006/relationships/extended-properties" Target="/docProps/app.xml" Id="Rf3d5b06e7ddf41ad" /><Relationship Type="http://schemas.openxmlformats.org/officeDocument/2006/relationships/officeDocument" Target="/ppt/presentation.xml" Id="Ra3de5680b78e45e9" /></Relationships>
</file>

<file path=ppt/presentation.xml><?xml version="1.0" encoding="utf-8"?>
<p:presentation xmlns:p="http://schemas.openxmlformats.org/presentationml/2006/main">
  <p:sldMasterIdLst>
    <p:sldMasterId xmlns:r="http://schemas.openxmlformats.org/officeDocument/2006/relationships" id="2147483648" r:id="Rbb6f7406c4b7472f"/>
  </p:sldMasterIdLst>
  <p:notesMasterIdLst>
    <p:notesMasterId xmlns:r="http://schemas.openxmlformats.org/officeDocument/2006/relationships" r:id="Ra031f35f959a4983"/>
  </p:notesMasterIdLst>
  <p:sldIdLst>
    <p:sldId xmlns:r="http://schemas.openxmlformats.org/officeDocument/2006/relationships" id="256" r:id="Rf9669ae473e749d1"/>
    <p:sldId xmlns:r="http://schemas.openxmlformats.org/officeDocument/2006/relationships" id="257" r:id="R60cf1e17533242c9"/>
    <p:sldId xmlns:r="http://schemas.openxmlformats.org/officeDocument/2006/relationships" id="258" r:id="R297580e28bf5402c"/>
    <p:sldId xmlns:r="http://schemas.openxmlformats.org/officeDocument/2006/relationships" id="259" r:id="R8a0369a2c6e34b57"/>
    <p:sldId xmlns:r="http://schemas.openxmlformats.org/officeDocument/2006/relationships" id="260" r:id="Re7dc7d0901a94ba9"/>
    <p:sldId xmlns:r="http://schemas.openxmlformats.org/officeDocument/2006/relationships" id="261" r:id="Rd8318c7b0265472c"/>
    <p:sldId xmlns:r="http://schemas.openxmlformats.org/officeDocument/2006/relationships" id="262" r:id="R22ce03111dcf4315"/>
    <p:sldId xmlns:r="http://schemas.openxmlformats.org/officeDocument/2006/relationships" id="263" r:id="R5bfc495a937a436e"/>
    <p:sldId xmlns:r="http://schemas.openxmlformats.org/officeDocument/2006/relationships" id="264" r:id="R627ddc469b564e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76f4c1e5734b41" /><Relationship Type="http://schemas.openxmlformats.org/officeDocument/2006/relationships/slideMaster" Target="/ppt/slideMasters/slideMaster1.xml" Id="Rbb6f7406c4b7472f" /><Relationship Type="http://schemas.openxmlformats.org/officeDocument/2006/relationships/notesMaster" Target="/ppt/notesMasters/notesMaster1.xml" Id="Ra031f35f959a4983" /><Relationship Type="http://schemas.openxmlformats.org/officeDocument/2006/relationships/presProps" Target="/ppt/presProps.xml" Id="R3c06cdf839e742c8" /><Relationship Type="http://schemas.openxmlformats.org/officeDocument/2006/relationships/tableStyles" Target="/ppt/tableStyles.xml" Id="R7c1813dcfd484f09" /><Relationship Type="http://schemas.openxmlformats.org/officeDocument/2006/relationships/slide" Target="/ppt/slides/slide1.xml" Id="Rf9669ae473e749d1" /><Relationship Type="http://schemas.openxmlformats.org/officeDocument/2006/relationships/slide" Target="/ppt/slides/slide2.xml" Id="R60cf1e17533242c9" /><Relationship Type="http://schemas.openxmlformats.org/officeDocument/2006/relationships/slide" Target="/ppt/slides/slide3.xml" Id="R297580e28bf5402c" /><Relationship Type="http://schemas.openxmlformats.org/officeDocument/2006/relationships/slide" Target="/ppt/slides/slide4.xml" Id="R8a0369a2c6e34b57" /><Relationship Type="http://schemas.openxmlformats.org/officeDocument/2006/relationships/slide" Target="/ppt/slides/slide5.xml" Id="Re7dc7d0901a94ba9" /><Relationship Type="http://schemas.openxmlformats.org/officeDocument/2006/relationships/slide" Target="/ppt/slides/slide6.xml" Id="Rd8318c7b0265472c" /><Relationship Type="http://schemas.openxmlformats.org/officeDocument/2006/relationships/slide" Target="/ppt/slides/slide7.xml" Id="R22ce03111dcf4315" /><Relationship Type="http://schemas.openxmlformats.org/officeDocument/2006/relationships/slide" Target="/ppt/slides/slide8.xml" Id="R5bfc495a937a436e" /><Relationship Type="http://schemas.openxmlformats.org/officeDocument/2006/relationships/slide" Target="/ppt/slides/slide9.xml" Id="R627ddc469b564e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1d1da4958b42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e076a7d4dd4719" /><Relationship Type="http://schemas.openxmlformats.org/officeDocument/2006/relationships/notesMaster" Target="/ppt/notesMasters/notesMaster1.xml" Id="R2f1510b0dc174e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9b2b2f7b054e6b" /><Relationship Type="http://schemas.openxmlformats.org/officeDocument/2006/relationships/notesMaster" Target="/ppt/notesMasters/notesMaster1.xml" Id="Re90546f0c0b14d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b0c089ddd4118" /><Relationship Type="http://schemas.openxmlformats.org/officeDocument/2006/relationships/notesMaster" Target="/ppt/notesMasters/notesMaster1.xml" Id="Raadc894b002745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0649c921384a93" /><Relationship Type="http://schemas.openxmlformats.org/officeDocument/2006/relationships/notesMaster" Target="/ppt/notesMasters/notesMaster1.xml" Id="Rf2c0ab9be14546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8cacc003394db8" /><Relationship Type="http://schemas.openxmlformats.org/officeDocument/2006/relationships/notesMaster" Target="/ppt/notesMasters/notesMaster1.xml" Id="R323a2534292448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d3dfc4c11c48fa" /><Relationship Type="http://schemas.openxmlformats.org/officeDocument/2006/relationships/notesMaster" Target="/ppt/notesMasters/notesMaster1.xml" Id="Rc559cb227b9041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35599e38214a63" /><Relationship Type="http://schemas.openxmlformats.org/officeDocument/2006/relationships/notesMaster" Target="/ppt/notesMasters/notesMaster1.xml" Id="Rf4b691ada1c646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50edb6c0944133" /><Relationship Type="http://schemas.openxmlformats.org/officeDocument/2006/relationships/notesMaster" Target="/ppt/notesMasters/notesMaster1.xml" Id="Rbc3e2f07df2546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22ba3efd52405f" /><Relationship Type="http://schemas.openxmlformats.org/officeDocument/2006/relationships/notesMaster" Target="/ppt/notesMasters/notesMaster1.xml" Id="R66c278f97b2546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Orecast</a:t>
            </a:r>
          </a:p>
          <a:p xmlns:a="http://schemas.openxmlformats.org/drawingml/2006/main">
            <a:r>
              <a:t/>
            </a:r>
          </a:p>
          <a:p xmlns:a="http://schemas.openxmlformats.org/drawingml/2006/main">
            <a:r>
              <a:t>Timing: 20 seconds.</a:t>
            </a:r>
          </a:p>
          <a:p xmlns:a="http://schemas.openxmlformats.org/drawingml/2006/main">
            <a:r>
              <a:t/>
            </a:r>
          </a:p>
          <a:p xmlns:a="http://schemas.openxmlformats.org/drawingml/2006/main">
            <a:r>
              <a:t>We are investigating Tok River, Alaska. Orecast brings geological evidence, recorded simulated reactions and the time available to exit an assumed mineral option into one decision that we can inspect. Financial outputs remain hypothetical.</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https://github.com/amitvijapur/oxhack-2026/blob/fee2e0d4a3bf28c7825b2f0e8818d33c541a7ad7/model/tok-option/README.md#gold-forecast-and-valuation-model-v2</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Time and evidence</a:t>
            </a:r>
          </a:p>
          <a:p xmlns:a="http://schemas.openxmlformats.org/drawingml/2006/main">
            <a:r>
              <a:t/>
            </a:r>
          </a:p>
          <a:p xmlns:a="http://schemas.openxmlformats.org/drawingml/2006/main">
            <a:r>
              <a:t>Timing: 30 seconds.</a:t>
            </a:r>
          </a:p>
          <a:p xmlns:a="http://schemas.openxmlformats.org/drawingml/2006/main">
            <a:r>
              <a:t/>
            </a:r>
          </a:p>
          <a:p xmlns:a="http://schemas.openxmlformats.org/drawingml/2006/main">
            <a:r>
              <a:t>These are three distinct clocks. The observed samples were collected in June and July 2016 and published in November 2016. The recorded stakeholder simulations cover five simulated days, with scenario news on day three. Assignment is a separate assumed holding horizon of 30, 90 or 180 days. An assignable option is a temporary contractual interest that a holder could transfer to a buyer under assumed permission and terms. The holding horizon plus the required 15-day closing buffer must fit inside the 365-day maturity.</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https://doi.org/10.14509/29688</a:t>
            </a:r>
          </a:p>
          <a:p xmlns:a="http://schemas.openxmlformats.org/drawingml/2006/main">
            <a:r>
              <a:t/>
            </a:r>
          </a:p>
          <a:p xmlns:a="http://schemas.openxmlformats.org/drawingml/2006/main">
            <a:r>
              <a:t>https://github.com/amitvijapur/oxhack-2026/blob/fee2e0d4a3bf28c7825b2f0e8818d33c541a7ad7/model/tok-option/workbench.mjs</a:t>
            </a:r>
          </a:p>
          <a:p xmlns:a="http://schemas.openxmlformats.org/drawingml/2006/main">
            <a:r>
              <a:t/>
            </a:r>
          </a:p>
          <a:p xmlns:a="http://schemas.openxmlformats.org/drawingml/2006/main">
            <a:r>
              <a:t>https://github.com/amitvijapur/oxhack-2026/blob/fee2e0d4a3bf28c7825b2f0e8818d33c541a7ad7/model/tok-option/liquidity.mjs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Observed evidence</a:t>
            </a:r>
          </a:p>
          <a:p xmlns:a="http://schemas.openxmlformats.org/drawingml/2006/main">
            <a:r>
              <a:t/>
            </a:r>
          </a:p>
          <a:p xmlns:a="http://schemas.openxmlformats.org/drawingml/2006/main">
            <a:r>
              <a:t>Timing: 30 seconds.</a:t>
            </a:r>
          </a:p>
          <a:p xmlns:a="http://schemas.openxmlformats.org/drawingml/2006/main">
            <a:r>
              <a:t/>
            </a:r>
          </a:p>
          <a:p xmlns:a="http://schemas.openxmlformats.org/drawingml/2006/main">
            <a:r>
              <a:t>We begin with 67 measured sediment samples from Tok River, Alaska: 33 in Area A and 34 in B. Source provenance stays attached to each observation. Under the proposed gold-assay screen, A passes and B fails. The samples provide observed evidence, not recoverable ounces or geological success probabilities. Those remain separate assumptions. Map claims and illustrative squares provide context; they do not establish available mineral rights or an investment.</a:t>
            </a:r>
          </a:p>
          <a:p xmlns:a="http://schemas.openxmlformats.org/drawingml/2006/main">
            <a:r>
              <a:t/>
            </a:r>
          </a:p>
          <a:p xmlns:a="http://schemas.openxmlformats.org/drawingml/2006/main">
            <a:r>
              <a:t>Preparation / Q&amp;A: Technical Q&amp;A: at the proposed 0.01 ppm primary Au screen, A has 25 of 33 passing and B has 16 of 34. The rule requires at least ten classified observations and a qualifying lower bound of 50%. Preserve primary assay qualifiers and retests separately.</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https://doi.org/10.14509/29688</a:t>
            </a:r>
          </a:p>
          <a:p xmlns:a="http://schemas.openxmlformats.org/drawingml/2006/main">
            <a:r>
              <a:t/>
            </a:r>
          </a:p>
          <a:p xmlns:a="http://schemas.openxmlformats.org/drawingml/2006/main">
            <a:r>
              <a:t>https://github.com/amitvijapur/oxhack-2026/blob/fee2e0d4a3bf28c7825b2f0e8818d33c541a7ad7/model/tok-option/evidence.mjs</a:t>
            </a:r>
          </a:p>
          <a:p xmlns:a="http://schemas.openxmlformats.org/drawingml/2006/main">
            <a:r>
              <a:t/>
            </a:r>
          </a:p>
          <a:p xmlns:a="http://schemas.openxmlformats.org/drawingml/2006/main">
            <a:r>
              <a:t>https://github.com/amitvijapur/oxhack-2026/tree/34eaf1d6e87fedd54c46b04dec093b0cc2b18581/research/tok-land</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Gold forecast and assignment</a:t>
            </a:r>
          </a:p>
          <a:p xmlns:a="http://schemas.openxmlformats.org/drawingml/2006/main">
            <a:r>
              <a:t/>
            </a:r>
          </a:p>
          <a:p xmlns:a="http://schemas.openxmlformats.org/drawingml/2006/main">
            <a:r>
              <a:t>Timing: 60 seconds.</a:t>
            </a:r>
          </a:p>
          <a:p xmlns:a="http://schemas.openxmlformats.org/drawingml/2006/main">
            <a:r>
              <a:t/>
            </a:r>
          </a:p>
          <a:p xmlns:a="http://schemas.openxmlformats.org/drawingml/2006/main">
            <a:r>
              <a:t>Read the layers from top to bottom. Observed assays screen eligibility. Recorded simulated support is compared with the matching Claude sports-placebo reference. Orecast changes the assumed gold price first, then recomputes gross material value, success-state interest value, option assignment proceeds, and dated sale/no-sale cash and return. Recoverable ounces, ownership, conversion, geological success, buyer consideration, fees and sale hazard are separate assumptions. At each possible sale date the assignment payoff is geological success times the positive part of success-state interest value less buyer consideration. The 7% coefficient is an uncalibrated gold response cap. It is neither a direct assignment markup nor an investment-loss limit. The response is retained across sale dates without monthly compounding. Strict research readiness remains failed; the financial path is explicitly hypothetical. No trade execution occurs.</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https://github.com/amitvijapur/oxhack-2026/blob/fee2e0d4a3bf28c7825b2f0e8818d33c541a7ad7/model/tok-option/README.md#gold-forecast-and-valuation-model-v2</a:t>
            </a:r>
          </a:p>
          <a:p xmlns:a="http://schemas.openxmlformats.org/drawingml/2006/main">
            <a:r>
              <a:t/>
            </a:r>
          </a:p>
          <a:p xmlns:a="http://schemas.openxmlformats.org/drawingml/2006/main">
            <a:r>
              <a:t>https://github.com/amitvijapur/oxhack-2026/blob/fee2e0d4a3bf28c7825b2f0e8818d33c541a7ad7/model/tok-option/gold.mjs</a:t>
            </a:r>
          </a:p>
          <a:p xmlns:a="http://schemas.openxmlformats.org/drawingml/2006/main">
            <a:r>
              <a:t/>
            </a:r>
          </a:p>
          <a:p xmlns:a="http://schemas.openxmlformats.org/drawingml/2006/main">
            <a:r>
              <a:t>https://github.com/amitvijapur/oxhack-2026/blob/fee2e0d4a3bf28c7825b2f0e8818d33c541a7ad7/model/tok-option/valuation.mjs</a:t>
            </a:r>
          </a:p>
          <a:p xmlns:a="http://schemas.openxmlformats.org/drawingml/2006/main">
            <a:r>
              <a:t/>
            </a:r>
          </a:p>
          <a:p xmlns:a="http://schemas.openxmlformats.org/drawingml/2006/main">
            <a:r>
              <a:t>https://github.com/amitvijapur/oxhack-2026/blob/fee2e0d4a3bf28c7825b2f0e8818d33c541a7ad7/model/tok-option/liquidity.mjs</a:t>
            </a:r>
          </a:p>
          <a:p xmlns:a="http://schemas.openxmlformats.org/drawingml/2006/main">
            <a:r>
              <a:t/>
            </a:r>
          </a:p>
          <a:p xmlns:a="http://schemas.openxmlformats.org/drawingml/2006/main">
            <a:r>
              <a:t>https://github.com/amitvijapur/oxhack-2026/blob/fee2e0d4a3bf28c7825b2f0e8818d33c541a7ad7/model/tok-option/illustrative.mjs</a:t>
            </a:r>
          </a:p>
          <a:p xmlns:a="http://schemas.openxmlformats.org/drawingml/2006/main">
            <a:r>
              <a:t/>
            </a:r>
          </a:p>
          <a:p xmlns:a="http://schemas.openxmlformats.org/drawingml/2006/main">
            <a:r>
              <a:t>https://github.com/amitvijapur/oxhack-2026/blob/fee2e0d4a3bf28c7825b2f0e8818d33c541a7ad7/model/tok-option/index.mjs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Recorded scenario contrast</a:t>
            </a:r>
          </a:p>
          <a:p xmlns:a="http://schemas.openxmlformats.org/drawingml/2006/main">
            <a:r>
              <a:t/>
            </a:r>
          </a:p>
          <a:p xmlns:a="http://schemas.openxmlformats.org/drawingml/2006/main">
            <a:r>
              <a:t>Timing: 55 seconds.</a:t>
            </a:r>
          </a:p>
          <a:p xmlns:a="http://schemas.openxmlformats.org/drawingml/2006/main">
            <a:r>
              <a:t/>
            </a:r>
          </a:p>
          <a:p xmlns:a="http://schemas.openxmlformats.org/drawingml/2006/main">
            <a:r>
              <a:t>This comparison uses one identical assumed contract in Area A at 90 days. The mining-support contrast compares recorded posts over days three through five with the matching Claude sports-placebo reference. Mine approval has support minus 0.0251792588, assumed gold 1996.4749038 dollars per ounce, expected cash 5.4496913 dollars and expected option return 0.7785273%. Court blockage has support plus 0.0307343316, assumed gold 2004.3028064 dollars per ounce, cash 10.2247119 dollars and return 1.4606731%. The 7% gold cap, full exposure and full retention are held fixed. Returns divide expected cash by 700 dollars upfront and are not annualized. The recorded signs oppose a simple favourable-headline story; we preserve them. The placebo is not an untreated control. Configuration, interview, placebo, grounding and mirror checks fail. Mining support is not a gold return or buyer quote, and the financial mapping is uncalibrated.</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https://github.com/amitvijapur/oxhack-2026/blob/fee2e0d4a3bf28c7825b2f0e8818d33c541a7ad7/model/tok-option/README.md#gold-forecast-and-valuation-model-v2</a:t>
            </a:r>
          </a:p>
          <a:p xmlns:a="http://schemas.openxmlformats.org/drawingml/2006/main">
            <a:r>
              <a:t/>
            </a:r>
          </a:p>
          <a:p xmlns:a="http://schemas.openxmlformats.org/drawingml/2006/main">
            <a:r>
              <a:t>https://github.com/amitvijapur/oxhack-2026/blob/fee2e0d4a3bf28c7825b2f0e8818d33c541a7ad7/model/tok-option/gold.mjs</a:t>
            </a:r>
          </a:p>
          <a:p xmlns:a="http://schemas.openxmlformats.org/drawingml/2006/main">
            <a:r>
              <a:t/>
            </a:r>
          </a:p>
          <a:p xmlns:a="http://schemas.openxmlformats.org/drawingml/2006/main">
            <a:r>
              <a:t>https://github.com/amitvijapur/oxhack-2026/blob/fee2e0d4a3bf28c7825b2f0e8818d33c541a7ad7/model/tok-option/valuation.mjs</a:t>
            </a:r>
          </a:p>
          <a:p xmlns:a="http://schemas.openxmlformats.org/drawingml/2006/main">
            <a:r>
              <a:t/>
            </a:r>
          </a:p>
          <a:p xmlns:a="http://schemas.openxmlformats.org/drawingml/2006/main">
            <a:r>
              <a:t>https://github.com/amitvijapur/oxhack-2026/blob/fee2e0d4a3bf28c7825b2f0e8818d33c541a7ad7/model/tok-option/liquidity.mjs</a:t>
            </a:r>
          </a:p>
          <a:p xmlns:a="http://schemas.openxmlformats.org/drawingml/2006/main">
            <a:r>
              <a:t/>
            </a:r>
          </a:p>
          <a:p xmlns:a="http://schemas.openxmlformats.org/drawingml/2006/main">
            <a:r>
              <a:t>https://github.com/amitvijapur/oxhack-2026/blob/fee2e0d4a3bf28c7825b2f0e8818d33c541a7ad7/model/tok-option/illustrative.mjs</a:t>
            </a:r>
          </a:p>
          <a:p xmlns:a="http://schemas.openxmlformats.org/drawingml/2006/main">
            <a:r>
              <a:t/>
            </a:r>
          </a:p>
          <a:p xmlns:a="http://schemas.openxmlformats.org/drawingml/2006/main">
            <a:r>
              <a:t>https://github.com/amitvijapur/oxhack-2026/blob/fee2e0d4a3bf28c7825b2f0e8818d33c541a7ad7/frontend/src/components/swarm/SwarmWorkflow.tsx</a:t>
            </a:r>
          </a:p>
          <a:p xmlns:a="http://schemas.openxmlformats.org/drawingml/2006/main">
            <a:r>
              <a:t/>
            </a:r>
          </a:p>
          <a:p xmlns:a="http://schemas.openxmlformats.org/drawingml/2006/main">
            <a:r>
              <a:t>https://github.com/amitvijapur/oxhack-2026/tree/f2fe2971d9f041a819f7b7ff4a78e10f840884f5/swarm</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Time and return</a:t>
            </a:r>
          </a:p>
          <a:p xmlns:a="http://schemas.openxmlformats.org/drawingml/2006/main">
            <a:r>
              <a:t/>
            </a:r>
          </a:p>
          <a:p xmlns:a="http://schemas.openxmlformats.org/drawingml/2006/main">
            <a:r>
              <a:t>Timing: 60 seconds.</a:t>
            </a:r>
          </a:p>
          <a:p xmlns:a="http://schemas.openxmlformats.org/drawingml/2006/main">
            <a:r>
              <a:t/>
            </a:r>
          </a:p>
          <a:p xmlns:a="http://schemas.openxmlformats.org/drawingml/2006/main">
            <a:r>
              <a:t>Here the gold assumption stays fixed at 2000 dollars per ounce and annual growth is zero. Assignment proceeds stay 1500 dollars. The baseline 90-day expected option return is 1.0857143%, equal to 7.60 dollars expected cash divided by 700 dollars upfront capital. It is not annualized and is distinct from gold-price change. At 30 days sale probability is 20% and cash is minus 410 dollars; at 90 days it is 48.8% and plus 7.60; at 180 days it is 73.7856% and plus 369.8912. More time accumulates opportunities to sell under an assumed 20% conditional hazard per 30 days. Even with positive expected cash, 51.2% of 90-day paths have no sale and the median cash outcome is minus 700 dollars. An unsold option can remain held, so cash shortfall at the horizon need not be a final realized economic loss. The 180-day horizon plus the 15-day closing buffer fits inside the assumed 365-day maturity.</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https://github.com/amitvijapur/oxhack-2026/blob/fee2e0d4a3bf28c7825b2f0e8818d33c541a7ad7/model/tok-option/README.md#gold-forecast-and-valuation-model-v2</a:t>
            </a:r>
          </a:p>
          <a:p xmlns:a="http://schemas.openxmlformats.org/drawingml/2006/main">
            <a:r>
              <a:t/>
            </a:r>
          </a:p>
          <a:p xmlns:a="http://schemas.openxmlformats.org/drawingml/2006/main">
            <a:r>
              <a:t>https://github.com/amitvijapur/oxhack-2026/blob/fee2e0d4a3bf28c7825b2f0e8818d33c541a7ad7/model/tok-option/gold.mjs</a:t>
            </a:r>
          </a:p>
          <a:p xmlns:a="http://schemas.openxmlformats.org/drawingml/2006/main">
            <a:r>
              <a:t/>
            </a:r>
          </a:p>
          <a:p xmlns:a="http://schemas.openxmlformats.org/drawingml/2006/main">
            <a:r>
              <a:t>https://github.com/amitvijapur/oxhack-2026/blob/fee2e0d4a3bf28c7825b2f0e8818d33c541a7ad7/model/tok-option/valuation.mjs</a:t>
            </a:r>
          </a:p>
          <a:p xmlns:a="http://schemas.openxmlformats.org/drawingml/2006/main">
            <a:r>
              <a:t/>
            </a:r>
          </a:p>
          <a:p xmlns:a="http://schemas.openxmlformats.org/drawingml/2006/main">
            <a:r>
              <a:t>https://github.com/amitvijapur/oxhack-2026/blob/fee2e0d4a3bf28c7825b2f0e8818d33c541a7ad7/model/tok-option/liquidity.mjs</a:t>
            </a:r>
          </a:p>
          <a:p xmlns:a="http://schemas.openxmlformats.org/drawingml/2006/main">
            <a:r>
              <a:t/>
            </a:r>
          </a:p>
          <a:p xmlns:a="http://schemas.openxmlformats.org/drawingml/2006/main">
            <a:r>
              <a:t>https://github.com/amitvijapur/oxhack-2026/blob/fee2e0d4a3bf28c7825b2f0e8818d33c541a7ad7/model/tok-option/diagnostics.mjs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Demonstration</a:t>
            </a:r>
          </a:p>
          <a:p xmlns:a="http://schemas.openxmlformats.org/drawingml/2006/main">
            <a:r>
              <a:t/>
            </a:r>
          </a:p>
          <a:p xmlns:a="http://schemas.openxmlformats.org/drawingml/2006/main">
            <a:r>
              <a:t>Timing: 45 seconds.</a:t>
            </a:r>
          </a:p>
          <a:p xmlns:a="http://schemas.openxmlformats.org/drawingml/2006/main">
            <a:r>
              <a:t/>
            </a:r>
          </a:p>
          <a:p xmlns:a="http://schemas.openxmlformats.org/drawingml/2006/main">
            <a:r>
              <a:t>On /swarm, compare mine approval with court blockage for Area A at 90 days. Expected option return moves from 0.78% to 1.46%, and expected cash from $5.45 to $10.22. These outputs are hypothetical. Our historical event adjustment did not beat baseline, and paired historical swarm outcomes are unavailable. Next, validate prospective outcomes and real assignment liquidity.</a:t>
            </a:r>
          </a:p>
          <a:p xmlns:a="http://schemas.openxmlformats.org/drawingml/2006/main">
            <a:r>
              <a:t/>
            </a:r>
          </a:p>
          <a:p xmlns:a="http://schemas.openxmlformats.org/drawingml/2006/main">
            <a:r>
              <a:t>Preparation / Q&amp;A: Allow up to twenty seconds for the live comparison within this 45-second slide. Use the recorded /swarm path, Area A, 90 days, simulated day 5. The separate Decision workbench startup/reset uses a different synthetic preset, so do not switch to it for this recorded comparison. If switching is slow, point to the saved capture and continue.</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https://github.com/amitvijapur/oxhack-2026/blob/fee2e0d4a3bf28c7825b2f0e8818d33c541a7ad7/frontend/src/components/swarm/SwarmWorkflow.tsx</a:t>
            </a:r>
          </a:p>
          <a:p xmlns:a="http://schemas.openxmlformats.org/drawingml/2006/main">
            <a:r>
              <a:t/>
            </a:r>
          </a:p>
          <a:p xmlns:a="http://schemas.openxmlformats.org/drawingml/2006/main">
            <a:r>
              <a:t>https://github.com/amitvijapur/oxhack-2026/blob/fee2e0d4a3bf28c7825b2f0e8818d33c541a7ad7/frontend/src/model-presentation.mjs</a:t>
            </a:r>
          </a:p>
          <a:p xmlns:a="http://schemas.openxmlformats.org/drawingml/2006/main">
            <a:r>
              <a:t/>
            </a:r>
          </a:p>
          <a:p xmlns:a="http://schemas.openxmlformats.org/drawingml/2006/main">
            <a:r>
              <a:t>https://github.com/amitvijapur/oxhack-2026/blob/fee2e0d4a3bf28c7825b2f0e8818d33c541a7ad7/research/event-study/RESULTS.md</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Baseline cash calculation</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The 90-day sale branch has 1500 dollars assignment proceeds less 50 dollars exit fee and 700 dollars upfront commitment, for plus 750 dollars net cash. No sale has minus 700 dollars cash. The weighted branches are plus 366 and minus 358.40 dollars, summing to plus 7.60. Expected option return is 7.60 divided by 700, or 1.0857143%, over 90 days and not annualized. Break-even premium is 657.60 dollars; equality does not pass the strictly positive-cash gate. A 660 dollar premium produces minus 2.40 dollars and a skip. The baseline uses 500 assumed recoverable troy ounces at 2000 dollars, 50% ownership, 2% conversion, 25% geological success and 4000 dollars remaining buyer consideration: 0.25 times max(0.5 times 0.02 times 500 times 2000 minus 4000, 0) equals 1500 dollars assignment proceeds. Scenario gold is recomputed before this formula, never applied as a direct assignment percentage markup.</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https://github.com/amitvijapur/oxhack-2026/blob/fee2e0d4a3bf28c7825b2f0e8818d33c541a7ad7/model/tok-option/README.md#gold-forecast-and-valuation-model-v2</a:t>
            </a:r>
          </a:p>
          <a:p xmlns:a="http://schemas.openxmlformats.org/drawingml/2006/main">
            <a:r>
              <a:t/>
            </a:r>
          </a:p>
          <a:p xmlns:a="http://schemas.openxmlformats.org/drawingml/2006/main">
            <a:r>
              <a:t>https://github.com/amitvijapur/oxhack-2026/blob/fee2e0d4a3bf28c7825b2f0e8818d33c541a7ad7/model/tok-option/gold.mjs</a:t>
            </a:r>
          </a:p>
          <a:p xmlns:a="http://schemas.openxmlformats.org/drawingml/2006/main">
            <a:r>
              <a:t/>
            </a:r>
          </a:p>
          <a:p xmlns:a="http://schemas.openxmlformats.org/drawingml/2006/main">
            <a:r>
              <a:t>https://github.com/amitvijapur/oxhack-2026/blob/fee2e0d4a3bf28c7825b2f0e8818d33c541a7ad7/model/tok-option/valuation.mjs</a:t>
            </a:r>
          </a:p>
          <a:p xmlns:a="http://schemas.openxmlformats.org/drawingml/2006/main">
            <a:r>
              <a:t/>
            </a:r>
          </a:p>
          <a:p xmlns:a="http://schemas.openxmlformats.org/drawingml/2006/main">
            <a:r>
              <a:t>https://github.com/amitvijapur/oxhack-2026/blob/fee2e0d4a3bf28c7825b2f0e8818d33c541a7ad7/model/tok-option/liquidity.mjs</a:t>
            </a:r>
          </a:p>
          <a:p xmlns:a="http://schemas.openxmlformats.org/drawingml/2006/main">
            <a:r>
              <a:t/>
            </a:r>
          </a:p>
          <a:p xmlns:a="http://schemas.openxmlformats.org/drawingml/2006/main">
            <a:r>
              <a:t>https://github.com/amitvijapur/oxhack-2026/blob/fee2e0d4a3bf28c7825b2f0e8818d33c541a7ad7/model/tok-option/diagnostics.mjs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Historical pilot</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This is a small retrospective equity component test, separate from the Tok option calculation. It uses twelve source-selected 2020–2025 permitting or court events, nine Pebble/Northern Dynasty and three Donlin/NOVAGOLD. Five observations are held out for each horizon, but the five- and twenty-session cohorts differ. Mean absolute error is measured in percentage points; lower is better. No change gives 2.5562 and 5.9474; gold-only gives 3.1291 and 7.5670; gold plus event gives 8.0596 and 14.3108. The event adjustment did not beat the gold baseline, and no change performs best in both selected cohorts. There are no paired historical swarm outcomes. Limitations include repeated issuers, a source-selected incomplete sample, date-only awareness uncertainty, current-vintage adjusted prices, correlated or anticipated events and vendor precision. GLD is an ETF proxy, not spot gold. This pilot does not validate Tok option returns, the assumed support-to-gold response or incremental swarm value. Next validate paired prospective outcomes and assignment liquidity.</a:t>
            </a:r>
          </a:p>
          <a:p xmlns:a="http://schemas.openxmlformats.org/drawingml/2006/main">
            <a:r>
              <a:t/>
            </a:r>
          </a:p>
          <a:p xmlns:a="http://schemas.openxmlformats.org/drawingml/2006/main">
            <a:r>
              <a:t>Source revision: fee2e0d4a3bf28c7825b2f0e8818d33c541a7ad7.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https://github.com/amitvijapur/oxhack-2026/blob/fee2e0d4a3bf28c7825b2f0e8818d33c541a7ad7/research/event-study/RESULTS.md</a:t>
            </a:r>
          </a:p>
          <a:p xmlns:a="http://schemas.openxmlformats.org/drawingml/2006/main">
            <a:r>
              <a:t/>
            </a:r>
          </a:p>
          <a:p xmlns:a="http://schemas.openxmlformats.org/drawingml/2006/main">
            <a:r>
              <a:t>https://github.com/amitvijapur/oxhack-2026/blob/fee2e0d4a3bf28c7825b2f0e8818d33c541a7ad7/research/event-study/protocol.md</a:t>
            </a:r>
          </a:p>
          <a:p xmlns:a="http://schemas.openxmlformats.org/drawingml/2006/main">
            <a:r>
              <a:t/>
            </a:r>
          </a:p>
          <a:p xmlns:a="http://schemas.openxmlformats.org/drawingml/2006/main">
            <a:r>
              <a:t>https://github.com/amitvijapur/oxhack-2026/blob/fee2e0d4a3bf28c7825b2f0e8818d33c541a7ad7/research/event-study/schema.md</a:t>
            </a:r>
          </a:p>
          <a:p xmlns:a="http://schemas.openxmlformats.org/drawingml/2006/main">
            <a:r>
              <a:t/>
            </a:r>
          </a:p>
          <a:p xmlns:a="http://schemas.openxmlformats.org/drawingml/2006/main">
            <a:r>
              <a:t>https://github.com/amitvijapur/oxhack-2026/blob/fee2e0d4a3bf28c7825b2f0e8818d33c541a7ad7/research/edge-feasibility.md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efccc7764240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add6dd48e841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391cf2b3f949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f58ccb0bdf47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d98e23fc7248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c7dc72136e4a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A4E3EB-AD86-416D-A10E-C8095FBF9C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7ACEC2-42A8-4363-9FC5-E7B2F029CF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7BDEA9-7DA4-426D-ADB0-ED244460E7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1EC857-2A14-4B71-ABC1-3ABF33B9DE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4B774B-C6E2-420C-87BA-42FB9D3A5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31F558-A6AB-4488-858F-F766BA5483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A69E03-7862-4843-A8AA-85A2A45F52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54FEB2-BACA-47E1-9B02-522C7B1FE0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EC6B3A-E3E6-4376-8BBA-2F2186DC4A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F68BD2-FAC6-4A59-99A9-9C4B3AE7EF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cf261ae4c744c3" /><Relationship Type="http://schemas.openxmlformats.org/officeDocument/2006/relationships/slideLayout" Target="/ppt/slideLayouts/slideLayout1.xml" Id="R89ce5907104b40b0" /><Relationship Type="http://schemas.openxmlformats.org/officeDocument/2006/relationships/slideLayout" Target="/ppt/slideLayouts/slideLayout2.xml" Id="Re2e02cb0c6e545c0" /><Relationship Type="http://schemas.openxmlformats.org/officeDocument/2006/relationships/slideLayout" Target="/ppt/slideLayouts/slideLayout3.xml" Id="Rdaf8c4405c3f4188" /><Relationship Type="http://schemas.openxmlformats.org/officeDocument/2006/relationships/slideLayout" Target="/ppt/slideLayouts/slideLayout4.xml" Id="Rd7d5f87154374885" /><Relationship Type="http://schemas.openxmlformats.org/officeDocument/2006/relationships/slideLayout" Target="/ppt/slideLayouts/slideLayout5.xml" Id="R2f5dca3cb61c4ec5" /><Relationship Type="http://schemas.openxmlformats.org/officeDocument/2006/relationships/slideLayout" Target="/ppt/slideLayouts/slideLayout6.xml" Id="R8900cf8e557b4c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ce5907104b40b0"/>
    <p:sldLayoutId xmlns:r="http://schemas.openxmlformats.org/officeDocument/2006/relationships" id="2147483650" r:id="Re2e02cb0c6e545c0"/>
    <p:sldLayoutId xmlns:r="http://schemas.openxmlformats.org/officeDocument/2006/relationships" id="2147483651" r:id="Rdaf8c4405c3f4188"/>
    <p:sldLayoutId xmlns:r="http://schemas.openxmlformats.org/officeDocument/2006/relationships" id="2147483652" r:id="Rd7d5f87154374885"/>
    <p:sldLayoutId xmlns:r="http://schemas.openxmlformats.org/officeDocument/2006/relationships" id="2147483653" r:id="R2f5dca3cb61c4ec5"/>
    <p:sldLayoutId xmlns:r="http://schemas.openxmlformats.org/officeDocument/2006/relationships" id="2147483654" r:id="R8900cf8e557b4c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faf23f9b6e43d0" /><Relationship Type="http://schemas.openxmlformats.org/officeDocument/2006/relationships/notesSlide" Target="/ppt/notesSlides/notesSlide1.xml" Id="R78ebee1317df4e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a38020e14449b3" /><Relationship Type="http://schemas.openxmlformats.org/officeDocument/2006/relationships/notesSlide" Target="/ppt/notesSlides/notesSlide2.xml" Id="R6464ef0f7aad40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6fd917c6074ea0" /><Relationship Type="http://schemas.openxmlformats.org/officeDocument/2006/relationships/image" Target="/ppt/media/image.png" Id="Rc77aafd307e146a4" /><Relationship Type="http://schemas.openxmlformats.org/officeDocument/2006/relationships/notesSlide" Target="/ppt/notesSlides/notesSlide3.xml" Id="R45de0f05f12047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d68cea71574aff" /><Relationship Type="http://schemas.openxmlformats.org/officeDocument/2006/relationships/image" Target="/ppt/media/image2.png" Id="R5fe8c984a21d4713" /><Relationship Type="http://schemas.openxmlformats.org/officeDocument/2006/relationships/image" Target="/ppt/media/image.jpeg" Id="R1a8b62504dd04e12" /><Relationship Type="http://schemas.openxmlformats.org/officeDocument/2006/relationships/notesSlide" Target="/ppt/notesSlides/notesSlide4.xml" Id="Re8c22bcf76da46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79824f0c984bb7" /><Relationship Type="http://schemas.openxmlformats.org/officeDocument/2006/relationships/image" Target="/ppt/media/image3.png" Id="R2a57a97d044a4225" /><Relationship Type="http://schemas.openxmlformats.org/officeDocument/2006/relationships/image" Target="/ppt/media/image4.png" Id="Raafa7ea498a144ef" /><Relationship Type="http://schemas.openxmlformats.org/officeDocument/2006/relationships/image" Target="/ppt/media/image2.jpeg" Id="R449f84dd0e0b4330" /><Relationship Type="http://schemas.openxmlformats.org/officeDocument/2006/relationships/notesSlide" Target="/ppt/notesSlides/notesSlide5.xml" Id="R02725d4a799048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b62dd8331343dd" /><Relationship Type="http://schemas.openxmlformats.org/officeDocument/2006/relationships/chart" Target="/ppt/slides/charts/chart1.xml" Id="Rb0771b59d5b14d0a" /><Relationship Type="http://schemas.openxmlformats.org/officeDocument/2006/relationships/notesSlide" Target="/ppt/notesSlides/notesSlide6.xml" Id="Ra02bffe7d97e43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877acd0e974524" /><Relationship Type="http://schemas.openxmlformats.org/officeDocument/2006/relationships/image" Target="/ppt/media/image5.png" Id="R686edc33bee74233" /><Relationship Type="http://schemas.openxmlformats.org/officeDocument/2006/relationships/notesSlide" Target="/ppt/notesSlides/notesSlide7.xml" Id="Rfac828f1899e4c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a6fae7740b4fe3" /><Relationship Type="http://schemas.openxmlformats.org/officeDocument/2006/relationships/notesSlide" Target="/ppt/notesSlides/notesSlide8.xml" Id="Ra90b5b18b2ca40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1e9424d6bc4bf1" /><Relationship Type="http://schemas.openxmlformats.org/officeDocument/2006/relationships/notesSlide" Target="/ppt/notesSlides/notesSlide9.xml" Id="Rce8e70abde024d7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FAFAFA"/>
                </a:solidFill>
                <a:latin typeface="DM Sans"/>
                <a:ea typeface="DM Sans"/>
                <a:cs typeface="DM Sans"/>
              </a:rPr>
              <a:t>Expected net cash</a:t>
            </a:r>
          </a:p>
        </c:rich>
      </c:tx>
      <c:overlay val="0"/>
      <c:txPr>
        <a:bodyPr xmlns:a="http://schemas.openxmlformats.org/drawingml/2006/main" anchorCtr="1"/>
        <a:lstStyle xmlns:a="http://schemas.openxmlformats.org/drawingml/2006/main"/>
        <a:p xmlns:a="http://schemas.openxmlformats.org/drawingml/2006/main">
          <a:pPr>
            <a:defRPr sz="2100">
              <a:solidFill>
                <a:srgbClr val="FAFAFA"/>
              </a:solidFill>
              <a:latin typeface="DM Sans"/>
              <a:ea typeface="DM Sans"/>
              <a:cs typeface="DM Sans"/>
            </a:defRPr>
          </a:pPr>
        </a:p>
      </c:txPr>
    </c:title>
    <c:plotArea>
      <c:barChart>
        <c:barDir val="col"/>
        <c:grouping val="clustered"/>
        <c:varyColors val="0"/>
        <c:ser>
          <c:idx val="0"/>
          <c:order val="0"/>
          <c:tx>
            <c:v>Hypothetical cash</c:v>
          </c:tx>
          <c:spPr>
            <a:solidFill xmlns:a="http://schemas.openxmlformats.org/drawingml/2006/main">
              <a:srgbClr val="0A0A0A"/>
            </a:solidFill>
            <a:ln xmlns:a="http://schemas.openxmlformats.org/drawingml/2006/main" w="11430">
              <a:solidFill>
                <a:srgbClr val="FAFAFA"/>
              </a:solidFill>
              <a:prstDash val="solid"/>
            </a:ln>
          </c:spPr>
          <c:invertIfNegative val="0"/>
          <c:dPt>
            <c:idx val="0"/>
            <c:invertIfNegative val="0"/>
            <c:spPr>
              <a:solidFill xmlns:a="http://schemas.openxmlformats.org/drawingml/2006/main">
                <a:srgbClr val="0A0A0A"/>
              </a:solidFill>
              <a:ln xmlns:a="http://schemas.openxmlformats.org/drawingml/2006/main" w="11430">
                <a:solidFill>
                  <a:srgbClr val="FAFAFA"/>
                </a:solidFill>
                <a:prstDash val="solid"/>
              </a:ln>
            </c:spPr>
          </c:dPt>
          <c:dPt>
            <c:idx val="1"/>
            <c:invertIfNegative val="0"/>
            <c:spPr>
              <a:solidFill xmlns:a="http://schemas.openxmlformats.org/drawingml/2006/main">
                <a:srgbClr val="22C55E"/>
              </a:solidFill>
              <a:ln xmlns:a="http://schemas.openxmlformats.org/drawingml/2006/main" w="11430">
                <a:solidFill>
                  <a:srgbClr val="22C55E"/>
                </a:solidFill>
                <a:prstDash val="solid"/>
              </a:ln>
            </c:spPr>
          </c:dPt>
          <c:dPt>
            <c:idx val="2"/>
            <c:invertIfNegative val="0"/>
            <c:spPr>
              <a:solidFill xmlns:a="http://schemas.openxmlformats.org/drawingml/2006/main">
                <a:srgbClr val="0A0A0A"/>
              </a:solidFill>
              <a:ln xmlns:a="http://schemas.openxmlformats.org/drawingml/2006/main" w="11430">
                <a:solidFill>
                  <a:srgbClr val="FAFAFA"/>
                </a:solidFill>
                <a:prstDash val="solid"/>
              </a:ln>
            </c:spPr>
          </c:dPt>
          <c:dLbls>
            <c:dLbl>
              <c:idx val="0"/>
              <c:tx>
                <c:rich>
                  <a:bodyPr xmlns:a="http://schemas.openxmlformats.org/drawingml/2006/main"/>
                  <a:lstStyle xmlns:a="http://schemas.openxmlformats.org/drawingml/2006/main"/>
                  <a:p xmlns:a="http://schemas.openxmlformats.org/drawingml/2006/main">
                    <a:r>
                      <a:rPr sz="1275" b="0">
                        <a:solidFill>
                          <a:srgbClr val="FAFAFA"/>
                        </a:solidFill>
                      </a:rPr>
                      <a:t>−$410.00</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inEnd"/>
              <c:showVal val="0"/>
            </c:dLbl>
            <c:dLbl>
              <c:idx val="1"/>
              <c:tx>
                <c:rich>
                  <a:bodyPr xmlns:a="http://schemas.openxmlformats.org/drawingml/2006/main"/>
                  <a:lstStyle xmlns:a="http://schemas.openxmlformats.org/drawingml/2006/main"/>
                  <a:p xmlns:a="http://schemas.openxmlformats.org/drawingml/2006/main">
                    <a:r>
                      <a:rPr sz="1275" b="0">
                        <a:solidFill>
                          <a:srgbClr val="FAFAFA"/>
                        </a:solidFill>
                      </a:rPr>
                      <a:t>$7.60</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b="0">
                        <a:solidFill>
                          <a:srgbClr val="FAFAFA"/>
                        </a:solidFill>
                      </a:rPr>
                      <a:t>$369.89</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outEnd"/>
              <c:showVal val="0"/>
            </c:dLbl>
          </c:dLbls>
          <c:cat>
            <c:strRef>
              <c:f>'Chart Data'!$A$2:$A$4</c:f>
              <c:strCache>
                <c:ptCount val="3"/>
                <c:pt idx="0">
                  <c:v>30 days</c:v>
                </c:pt>
                <c:pt idx="1">
                  <c:v>90 days</c:v>
                </c:pt>
                <c:pt idx="2">
                  <c:v>180 days</c:v>
                </c:pt>
              </c:strCache>
            </c:strRef>
          </c:cat>
          <c:val>
            <c:numRef>
              <c:f>'Chart Data'!$B$2:$B$4</c:f>
              <c:numCache>
                <c:formatCode>$#,##0;-$#,##0</c:formatCode>
                <c:ptCount val="3"/>
                <c:pt idx="0">
                  <c:v>-410</c:v>
                </c:pt>
                <c:pt idx="1">
                  <c:v>7.6</c:v>
                </c:pt>
                <c:pt idx="2">
                  <c:v>369.8912</c:v>
                </c:pt>
              </c:numCache>
            </c:numRef>
          </c:val>
        </c:ser>
        <c:dLbls>
          <c:txPr>
            <a:bodyPr xmlns:a="http://schemas.openxmlformats.org/drawingml/2006/main" anchorCtr="1"/>
            <a:lstStyle xmlns:a="http://schemas.openxmlformats.org/drawingml/2006/main"/>
            <a:p xmlns:a="http://schemas.openxmlformats.org/drawingml/2006/main">
              <a:pPr>
                <a:defRPr sz="1275" b="0">
                  <a:solidFill>
                    <a:srgbClr val="FAFAFA"/>
                  </a:solidFill>
                  <a:latin typeface="DM Sans"/>
                  <a:ea typeface="DM Sans"/>
                  <a:cs typeface="DM Sans"/>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6191">
            <a:solidFill>
              <a:srgbClr val="FAFAFA"/>
            </a:solidFill>
            <a:prstDash val="solid"/>
          </a:ln>
        </c:spPr>
        <c:txPr>
          <a:bodyPr xmlns:a="http://schemas.openxmlformats.org/drawingml/2006/main" anchorCtr="1"/>
          <a:lstStyle xmlns:a="http://schemas.openxmlformats.org/drawingml/2006/main"/>
          <a:p xmlns:a="http://schemas.openxmlformats.org/drawingml/2006/main">
            <a:pPr>
              <a:defRPr sz="1200">
                <a:solidFill>
                  <a:srgbClr val="FAFAFA"/>
                </a:solidFill>
                <a:latin typeface="DM Sans"/>
                <a:ea typeface="DM Sans"/>
                <a:cs typeface="DM Sans"/>
              </a:defRPr>
            </a:pPr>
          </a:p>
        </c:txPr>
        <c:crossAx val="48672768"/>
      </c:catAx>
      <c:valAx>
        <c:axId val="48672768"/>
        <c:scaling>
          <c:orientation val="minMax"/>
          <c:max val="500"/>
          <c:min val="-500"/>
        </c:scaling>
        <c:delete val="0"/>
        <c:axPos val="l"/>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FAFAFA"/>
                </a:solidFill>
                <a:latin typeface="DM Sans"/>
                <a:ea typeface="DM Sans"/>
                <a:cs typeface="DM Sans"/>
              </a:defRPr>
            </a:pPr>
          </a:p>
        </c:txPr>
        <c:crossAx val="48650112"/>
        <c:crossBetween val="between"/>
        <c:majorUnit val="250"/>
      </c:valAx>
      <c:spPr>
        <a:solidFill xmlns:a="http://schemas.openxmlformats.org/drawingml/2006/main">
          <a:srgbClr val="0A0A0A"/>
        </a:solidFill>
        <a:ln xmlns:a="http://schemas.openxmlformats.org/drawingml/2006/main" w="0">
          <a:noFill/>
          <a:prstDash val="solid"/>
        </a:ln>
      </c:spPr>
    </c:plotArea>
    <c:plotVisOnly val="1"/>
  </c:chart>
  <c:spPr>
    <a:solidFill xmlns:a="http://schemas.openxmlformats.org/drawingml/2006/main">
      <a:srgbClr val="0A0A0A"/>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C0F014-19DC-496E-A67C-EEED0653AA91}"/>
              </a:ext>
            </a:extLst>
          </p:cNvPr>
          <p:cNvSpPr>
            <a:spLocks xmlns:a="http://schemas.openxmlformats.org/drawingml/2006/main" noGrp="1"/>
          </p:cNvSpPr>
          <p:nvPr/>
        </p:nvSpPr>
        <p:spPr>
          <a:xfrm xmlns:a="http://schemas.openxmlformats.org/drawingml/2006/main" rot="0">
            <a:off x="400050" y="323850"/>
            <a:ext cx="695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AFAFA"/>
                </a:solidFill>
                <a:latin typeface="DM Sans"/>
                <a:ea typeface="DM Sans"/>
                <a:cs typeface="DM Sans"/>
              </a:defRPr>
            </a:defPPr>
            <a:lvl1pPr algn="l">
              <a:defRPr sz="3300" b="0">
                <a:solidFill>
                  <a:srgbClr val="FAFAFA"/>
                </a:solidFill>
                <a:latin typeface="DM Sans"/>
                <a:ea typeface="DM Sans"/>
                <a:cs typeface="DM Sans"/>
              </a:defRPr>
            </a:lvl1pPr>
            <a:lvl2pPr algn="l">
              <a:defRPr sz="3300" b="0">
                <a:solidFill>
                  <a:srgbClr val="FAFAFA"/>
                </a:solidFill>
                <a:latin typeface="DM Sans"/>
                <a:ea typeface="DM Sans"/>
                <a:cs typeface="DM Sans"/>
              </a:defRPr>
            </a:lvl2pPr>
            <a:lvl3pPr algn="l">
              <a:defRPr sz="3300" b="0">
                <a:solidFill>
                  <a:srgbClr val="FAFAFA"/>
                </a:solidFill>
                <a:latin typeface="DM Sans"/>
                <a:ea typeface="DM Sans"/>
                <a:cs typeface="DM Sans"/>
              </a:defRPr>
            </a:lvl3pPr>
            <a:lvl4pPr algn="l">
              <a:defRPr sz="3300" b="0">
                <a:solidFill>
                  <a:srgbClr val="FAFAFA"/>
                </a:solidFill>
                <a:latin typeface="DM Sans"/>
                <a:ea typeface="DM Sans"/>
                <a:cs typeface="DM Sans"/>
              </a:defRPr>
            </a:lvl4pPr>
            <a:lvl5pPr algn="l">
              <a:defRPr sz="3300" b="0">
                <a:solidFill>
                  <a:srgbClr val="FAFAFA"/>
                </a:solidFill>
                <a:latin typeface="DM Sans"/>
                <a:ea typeface="DM Sans"/>
                <a:cs typeface="DM Sans"/>
              </a:defRPr>
            </a:lvl5pPr>
            <a:lvl6pPr algn="l">
              <a:defRPr sz="3300" b="0">
                <a:solidFill>
                  <a:srgbClr val="FAFAFA"/>
                </a:solidFill>
                <a:latin typeface="DM Sans"/>
                <a:ea typeface="DM Sans"/>
                <a:cs typeface="DM Sans"/>
              </a:defRPr>
            </a:lvl6pPr>
            <a:lvl7pPr algn="l">
              <a:defRPr sz="3300" b="0">
                <a:solidFill>
                  <a:srgbClr val="FAFAFA"/>
                </a:solidFill>
                <a:latin typeface="DM Sans"/>
                <a:ea typeface="DM Sans"/>
                <a:cs typeface="DM Sans"/>
              </a:defRPr>
            </a:lvl7pPr>
            <a:lvl8pPr algn="l">
              <a:defRPr sz="3300" b="0">
                <a:solidFill>
                  <a:srgbClr val="FAFAFA"/>
                </a:solidFill>
                <a:latin typeface="DM Sans"/>
                <a:ea typeface="DM Sans"/>
                <a:cs typeface="DM Sans"/>
              </a:defRPr>
            </a:lvl8pPr>
            <a:lvl9pPr algn="l">
              <a:defRPr sz="3300" b="0">
                <a:solidFill>
                  <a:srgbClr val="FAFAFA"/>
                </a:solidFill>
                <a:latin typeface="DM Sans"/>
                <a:ea typeface="DM Sans"/>
                <a:cs typeface="DM Sans"/>
              </a:defRPr>
            </a:lvl9pPr>
          </a:lstStyle>
          <a:p xmlns:a="http://schemas.openxmlformats.org/drawingml/2006/main">
            <a:pPr algn="l">
              <a:defRPr sz="3300" b="0">
                <a:solidFill>
                  <a:srgbClr val="FAFAFA"/>
                </a:solidFill>
                <a:latin typeface="DM Sans"/>
                <a:ea typeface="DM Sans"/>
                <a:cs typeface="DM Sans"/>
              </a:defRPr>
            </a:pPr>
            <a:r>
              <a:rPr sz="3300" b="0">
                <a:solidFill>
                  <a:srgbClr val="FAFAFA"/>
                </a:solidFill>
                <a:latin typeface="DM Sans"/>
                <a:ea typeface="DM Sans"/>
                <a:cs typeface="DM Sans"/>
              </a:rPr>
              <a:t>Orecast</a:t>
            </a:r>
          </a:p>
        </p:txBody>
      </p:sp>
      <p:sp>
        <p:nvSpPr>
          <p:cNvPr id="2" name="">
            <a:extLst xmlns:a="http://schemas.openxmlformats.org/drawingml/2006/main">
              <a:ext uri="{FF2B5EF4-FFF2-40B4-BE49-F238E27FC236}">
                <a16:creationId xmlns:a16="http://schemas.microsoft.com/office/drawing/2014/main" id="{9A8D689C-EDFF-4BDF-8EC4-8B24CE7D9DD7}"/>
              </a:ext>
            </a:extLst>
          </p:cNvPr>
          <p:cNvSpPr>
            <a:spLocks xmlns:a="http://schemas.openxmlformats.org/drawingml/2006/main" noGrp="1"/>
          </p:cNvSpPr>
          <p:nvPr/>
        </p:nvSpPr>
        <p:spPr>
          <a:xfrm xmlns:a="http://schemas.openxmlformats.org/drawingml/2006/main" rot="0">
            <a:off x="400050" y="990600"/>
            <a:ext cx="7620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Mineral intelligence over time</a:t>
            </a:r>
          </a:p>
        </p:txBody>
      </p:sp>
      <p:sp>
        <p:nvSpPr>
          <p:cNvPr id="3" name="">
            <a:extLst xmlns:a="http://schemas.openxmlformats.org/drawingml/2006/main">
              <a:ext uri="{FF2B5EF4-FFF2-40B4-BE49-F238E27FC236}">
                <a16:creationId xmlns:a16="http://schemas.microsoft.com/office/drawing/2014/main" id="{9E9A645E-D8A7-49F5-9F96-4D22D8365A77}"/>
              </a:ext>
            </a:extLst>
          </p:cNvPr>
          <p:cNvSpPr>
            <a:spLocks xmlns:a="http://schemas.openxmlformats.org/drawingml/2006/main" noGrp="1"/>
          </p:cNvSpPr>
          <p:nvPr/>
        </p:nvSpPr>
        <p:spPr>
          <a:xfrm xmlns:a="http://schemas.openxmlformats.org/drawingml/2006/main">
            <a:off x="14973" y="3429000"/>
            <a:ext cx="2118627" cy="1371600"/>
          </a:xfrm>
          <a:custGeom xmlns:a="http://schemas.openxmlformats.org/drawingml/2006/main">
            <a:pathLst>
              <a:path w="2118627" h="1371600">
                <a:moveTo>
                  <a:pt x="2118627" y="0"/>
                </a:moveTo>
                <a:lnTo>
                  <a:pt x="2118418" y="23938"/>
                </a:lnTo>
                <a:lnTo>
                  <a:pt x="2117791" y="47868"/>
                </a:lnTo>
                <a:lnTo>
                  <a:pt x="2116747" y="71784"/>
                </a:lnTo>
                <a:lnTo>
                  <a:pt x="2115286" y="95678"/>
                </a:lnTo>
                <a:lnTo>
                  <a:pt x="2113408" y="119543"/>
                </a:lnTo>
                <a:lnTo>
                  <a:pt x="2111113" y="143371"/>
                </a:lnTo>
                <a:lnTo>
                  <a:pt x="2108403" y="167156"/>
                </a:lnTo>
                <a:lnTo>
                  <a:pt x="2105279" y="190890"/>
                </a:lnTo>
                <a:lnTo>
                  <a:pt x="2101740" y="214566"/>
                </a:lnTo>
                <a:lnTo>
                  <a:pt x="2097789" y="238176"/>
                </a:lnTo>
                <a:lnTo>
                  <a:pt x="2093427" y="261714"/>
                </a:lnTo>
                <a:lnTo>
                  <a:pt x="2088654" y="285172"/>
                </a:lnTo>
                <a:lnTo>
                  <a:pt x="2083473" y="308543"/>
                </a:lnTo>
                <a:lnTo>
                  <a:pt x="2077885" y="331820"/>
                </a:lnTo>
                <a:lnTo>
                  <a:pt x="2071891" y="354996"/>
                </a:lnTo>
                <a:lnTo>
                  <a:pt x="2065493" y="378064"/>
                </a:lnTo>
                <a:lnTo>
                  <a:pt x="2058695" y="401017"/>
                </a:lnTo>
                <a:lnTo>
                  <a:pt x="2051496" y="423848"/>
                </a:lnTo>
                <a:lnTo>
                  <a:pt x="2043900" y="446549"/>
                </a:lnTo>
                <a:lnTo>
                  <a:pt x="2035909" y="469115"/>
                </a:lnTo>
                <a:lnTo>
                  <a:pt x="2027526" y="491537"/>
                </a:lnTo>
                <a:lnTo>
                  <a:pt x="2018752" y="513810"/>
                </a:lnTo>
                <a:lnTo>
                  <a:pt x="2009591" y="535927"/>
                </a:lnTo>
                <a:lnTo>
                  <a:pt x="2000046" y="557880"/>
                </a:lnTo>
                <a:lnTo>
                  <a:pt x="1990119" y="579663"/>
                </a:lnTo>
                <a:lnTo>
                  <a:pt x="1979813" y="601270"/>
                </a:lnTo>
                <a:lnTo>
                  <a:pt x="1969131" y="622693"/>
                </a:lnTo>
                <a:lnTo>
                  <a:pt x="1958078" y="643927"/>
                </a:lnTo>
                <a:lnTo>
                  <a:pt x="1946655" y="664965"/>
                </a:lnTo>
                <a:lnTo>
                  <a:pt x="1934867" y="685800"/>
                </a:lnTo>
                <a:lnTo>
                  <a:pt x="1922718" y="706426"/>
                </a:lnTo>
                <a:lnTo>
                  <a:pt x="1910210" y="726837"/>
                </a:lnTo>
                <a:lnTo>
                  <a:pt x="1897347" y="747027"/>
                </a:lnTo>
                <a:lnTo>
                  <a:pt x="1884135" y="766989"/>
                </a:lnTo>
                <a:lnTo>
                  <a:pt x="1870576" y="786717"/>
                </a:lnTo>
                <a:lnTo>
                  <a:pt x="1856675" y="806206"/>
                </a:lnTo>
                <a:lnTo>
                  <a:pt x="1842435" y="825449"/>
                </a:lnTo>
                <a:lnTo>
                  <a:pt x="1827862" y="844441"/>
                </a:lnTo>
                <a:lnTo>
                  <a:pt x="1812960" y="863176"/>
                </a:lnTo>
                <a:lnTo>
                  <a:pt x="1797733" y="881647"/>
                </a:lnTo>
                <a:lnTo>
                  <a:pt x="1782187" y="899851"/>
                </a:lnTo>
                <a:lnTo>
                  <a:pt x="1766324" y="917780"/>
                </a:lnTo>
                <a:lnTo>
                  <a:pt x="1750152" y="935429"/>
                </a:lnTo>
                <a:lnTo>
                  <a:pt x="1733673" y="952793"/>
                </a:lnTo>
                <a:lnTo>
                  <a:pt x="1716895" y="969868"/>
                </a:lnTo>
                <a:lnTo>
                  <a:pt x="1699820" y="986646"/>
                </a:lnTo>
                <a:lnTo>
                  <a:pt x="1682456" y="1003125"/>
                </a:lnTo>
                <a:lnTo>
                  <a:pt x="1664806" y="1019297"/>
                </a:lnTo>
                <a:lnTo>
                  <a:pt x="1646877" y="1035160"/>
                </a:lnTo>
                <a:lnTo>
                  <a:pt x="1628674" y="1050707"/>
                </a:lnTo>
                <a:lnTo>
                  <a:pt x="1610203" y="1065933"/>
                </a:lnTo>
                <a:lnTo>
                  <a:pt x="1591468" y="1080836"/>
                </a:lnTo>
                <a:lnTo>
                  <a:pt x="1572476" y="1095408"/>
                </a:lnTo>
                <a:lnTo>
                  <a:pt x="1553233" y="1109648"/>
                </a:lnTo>
                <a:lnTo>
                  <a:pt x="1533744" y="1123549"/>
                </a:lnTo>
                <a:lnTo>
                  <a:pt x="1514016" y="1137108"/>
                </a:lnTo>
                <a:lnTo>
                  <a:pt x="1494054" y="1150321"/>
                </a:lnTo>
                <a:lnTo>
                  <a:pt x="1473864" y="1163183"/>
                </a:lnTo>
                <a:lnTo>
                  <a:pt x="1453453" y="1175691"/>
                </a:lnTo>
                <a:lnTo>
                  <a:pt x="1432827" y="1187840"/>
                </a:lnTo>
                <a:lnTo>
                  <a:pt x="1411992" y="1199628"/>
                </a:lnTo>
                <a:lnTo>
                  <a:pt x="1390954" y="1211051"/>
                </a:lnTo>
                <a:lnTo>
                  <a:pt x="1369720" y="1222105"/>
                </a:lnTo>
                <a:lnTo>
                  <a:pt x="1348297" y="1232786"/>
                </a:lnTo>
                <a:lnTo>
                  <a:pt x="1326690" y="1243092"/>
                </a:lnTo>
                <a:lnTo>
                  <a:pt x="1304907" y="1253019"/>
                </a:lnTo>
                <a:lnTo>
                  <a:pt x="1282954" y="1262564"/>
                </a:lnTo>
                <a:lnTo>
                  <a:pt x="1260837" y="1271725"/>
                </a:lnTo>
                <a:lnTo>
                  <a:pt x="1238564" y="1280499"/>
                </a:lnTo>
                <a:lnTo>
                  <a:pt x="1216142" y="1288882"/>
                </a:lnTo>
                <a:lnTo>
                  <a:pt x="1193576" y="1296873"/>
                </a:lnTo>
                <a:lnTo>
                  <a:pt x="1170875" y="1304469"/>
                </a:lnTo>
                <a:lnTo>
                  <a:pt x="1148044" y="1311668"/>
                </a:lnTo>
                <a:lnTo>
                  <a:pt x="1125091" y="1318467"/>
                </a:lnTo>
                <a:lnTo>
                  <a:pt x="1102023" y="1324864"/>
                </a:lnTo>
                <a:lnTo>
                  <a:pt x="1078847" y="1330858"/>
                </a:lnTo>
                <a:lnTo>
                  <a:pt x="1055570" y="1336446"/>
                </a:lnTo>
                <a:lnTo>
                  <a:pt x="1032199" y="1341627"/>
                </a:lnTo>
                <a:lnTo>
                  <a:pt x="1008741" y="1346400"/>
                </a:lnTo>
                <a:lnTo>
                  <a:pt x="985203" y="1350762"/>
                </a:lnTo>
                <a:lnTo>
                  <a:pt x="961592" y="1354713"/>
                </a:lnTo>
                <a:lnTo>
                  <a:pt x="937917" y="1358252"/>
                </a:lnTo>
                <a:lnTo>
                  <a:pt x="914183" y="1361376"/>
                </a:lnTo>
                <a:lnTo>
                  <a:pt x="890398" y="1364086"/>
                </a:lnTo>
                <a:lnTo>
                  <a:pt x="866570" y="1366381"/>
                </a:lnTo>
                <a:lnTo>
                  <a:pt x="842705" y="1368259"/>
                </a:lnTo>
                <a:lnTo>
                  <a:pt x="818811" y="1369720"/>
                </a:lnTo>
                <a:lnTo>
                  <a:pt x="794895" y="1370764"/>
                </a:lnTo>
                <a:lnTo>
                  <a:pt x="770965" y="1371391"/>
                </a:lnTo>
                <a:lnTo>
                  <a:pt x="747027" y="1371600"/>
                </a:lnTo>
                <a:lnTo>
                  <a:pt x="723089" y="1371391"/>
                </a:lnTo>
                <a:lnTo>
                  <a:pt x="699159" y="1370764"/>
                </a:lnTo>
                <a:lnTo>
                  <a:pt x="675243" y="1369720"/>
                </a:lnTo>
                <a:lnTo>
                  <a:pt x="651349" y="1368259"/>
                </a:lnTo>
                <a:lnTo>
                  <a:pt x="627484" y="1366381"/>
                </a:lnTo>
                <a:lnTo>
                  <a:pt x="603656" y="1364086"/>
                </a:lnTo>
                <a:lnTo>
                  <a:pt x="579871" y="1361376"/>
                </a:lnTo>
                <a:lnTo>
                  <a:pt x="556137" y="1358252"/>
                </a:lnTo>
                <a:lnTo>
                  <a:pt x="532461" y="1354713"/>
                </a:lnTo>
                <a:lnTo>
                  <a:pt x="508851" y="1350762"/>
                </a:lnTo>
                <a:lnTo>
                  <a:pt x="485313" y="1346400"/>
                </a:lnTo>
                <a:lnTo>
                  <a:pt x="461855" y="1341627"/>
                </a:lnTo>
                <a:lnTo>
                  <a:pt x="438484" y="1336446"/>
                </a:lnTo>
                <a:lnTo>
                  <a:pt x="415207" y="1330858"/>
                </a:lnTo>
                <a:lnTo>
                  <a:pt x="392031" y="1324864"/>
                </a:lnTo>
                <a:lnTo>
                  <a:pt x="368963" y="1318467"/>
                </a:lnTo>
                <a:lnTo>
                  <a:pt x="346010" y="1311668"/>
                </a:lnTo>
                <a:lnTo>
                  <a:pt x="323179" y="1304469"/>
                </a:lnTo>
                <a:lnTo>
                  <a:pt x="300478" y="1296873"/>
                </a:lnTo>
                <a:lnTo>
                  <a:pt x="277912" y="1288882"/>
                </a:lnTo>
                <a:lnTo>
                  <a:pt x="255489" y="1280499"/>
                </a:lnTo>
                <a:lnTo>
                  <a:pt x="233216" y="1271725"/>
                </a:lnTo>
                <a:lnTo>
                  <a:pt x="211100" y="1262564"/>
                </a:lnTo>
                <a:lnTo>
                  <a:pt x="189147" y="1253019"/>
                </a:lnTo>
                <a:lnTo>
                  <a:pt x="167364" y="1243092"/>
                </a:lnTo>
                <a:lnTo>
                  <a:pt x="145757" y="1232786"/>
                </a:lnTo>
                <a:lnTo>
                  <a:pt x="124334" y="1222105"/>
                </a:lnTo>
                <a:lnTo>
                  <a:pt x="103100" y="1211051"/>
                </a:lnTo>
                <a:lnTo>
                  <a:pt x="82062" y="1199628"/>
                </a:lnTo>
                <a:lnTo>
                  <a:pt x="61227" y="1187840"/>
                </a:lnTo>
                <a:lnTo>
                  <a:pt x="40601" y="1175691"/>
                </a:lnTo>
                <a:lnTo>
                  <a:pt x="20190" y="1163183"/>
                </a:lnTo>
                <a:lnTo>
                  <a:pt x="0" y="1150321"/>
                </a:lnTo>
              </a:path>
            </a:pathLst>
          </a:custGeom>
          <a:noFill xmlns:a="http://schemas.openxmlformats.org/drawingml/2006/main"/>
          <a:ln xmlns:a="http://schemas.openxmlformats.org/drawingml/2006/main" w="9525">
            <a:solidFill>
              <a:srgbClr val="FAFAFA">
                <a:alpha val="40000"/>
              </a:srgbClr>
            </a:solidFill>
            <a:prstDash val="solid"/>
          </a:ln>
        </p:spPr>
      </p:sp>
      <p:sp>
        <p:nvSpPr>
          <p:cNvPr id="4" name="">
            <a:extLst xmlns:a="http://schemas.openxmlformats.org/drawingml/2006/main">
              <a:ext uri="{FF2B5EF4-FFF2-40B4-BE49-F238E27FC236}">
                <a16:creationId xmlns:a16="http://schemas.microsoft.com/office/drawing/2014/main" id="{DC112975-9035-4EAA-93D9-E66E4AD2E4E8}"/>
              </a:ext>
            </a:extLst>
          </p:cNvPr>
          <p:cNvSpPr>
            <a:spLocks xmlns:a="http://schemas.openxmlformats.org/drawingml/2006/main" noGrp="1"/>
          </p:cNvSpPr>
          <p:nvPr/>
        </p:nvSpPr>
        <p:spPr>
          <a:xfrm xmlns:a="http://schemas.openxmlformats.org/drawingml/2006/main">
            <a:off x="14973" y="2057400"/>
            <a:ext cx="2118627" cy="1371600"/>
          </a:xfrm>
          <a:custGeom xmlns:a="http://schemas.openxmlformats.org/drawingml/2006/main">
            <a:pathLst>
              <a:path w="2118627" h="1371600">
                <a:moveTo>
                  <a:pt x="0" y="221279"/>
                </a:moveTo>
                <a:lnTo>
                  <a:pt x="20190" y="208417"/>
                </a:lnTo>
                <a:lnTo>
                  <a:pt x="40601" y="195909"/>
                </a:lnTo>
                <a:lnTo>
                  <a:pt x="61227" y="183760"/>
                </a:lnTo>
                <a:lnTo>
                  <a:pt x="82062" y="171972"/>
                </a:lnTo>
                <a:lnTo>
                  <a:pt x="103100" y="160549"/>
                </a:lnTo>
                <a:lnTo>
                  <a:pt x="124334" y="149495"/>
                </a:lnTo>
                <a:lnTo>
                  <a:pt x="145757" y="138814"/>
                </a:lnTo>
                <a:lnTo>
                  <a:pt x="167364" y="128508"/>
                </a:lnTo>
                <a:lnTo>
                  <a:pt x="189147" y="118581"/>
                </a:lnTo>
                <a:lnTo>
                  <a:pt x="211100" y="109036"/>
                </a:lnTo>
                <a:lnTo>
                  <a:pt x="233216" y="99875"/>
                </a:lnTo>
                <a:lnTo>
                  <a:pt x="255489" y="91101"/>
                </a:lnTo>
                <a:lnTo>
                  <a:pt x="277912" y="82718"/>
                </a:lnTo>
                <a:lnTo>
                  <a:pt x="300478" y="74727"/>
                </a:lnTo>
                <a:lnTo>
                  <a:pt x="323179" y="67131"/>
                </a:lnTo>
                <a:lnTo>
                  <a:pt x="346010" y="59932"/>
                </a:lnTo>
                <a:lnTo>
                  <a:pt x="368963" y="53133"/>
                </a:lnTo>
                <a:lnTo>
                  <a:pt x="392031" y="46736"/>
                </a:lnTo>
                <a:lnTo>
                  <a:pt x="415207" y="40742"/>
                </a:lnTo>
                <a:lnTo>
                  <a:pt x="438484" y="35154"/>
                </a:lnTo>
                <a:lnTo>
                  <a:pt x="461855" y="29973"/>
                </a:lnTo>
                <a:lnTo>
                  <a:pt x="485313" y="25200"/>
                </a:lnTo>
                <a:lnTo>
                  <a:pt x="508851" y="20838"/>
                </a:lnTo>
                <a:lnTo>
                  <a:pt x="532461" y="16887"/>
                </a:lnTo>
                <a:lnTo>
                  <a:pt x="556137" y="13348"/>
                </a:lnTo>
                <a:lnTo>
                  <a:pt x="579871" y="10224"/>
                </a:lnTo>
                <a:lnTo>
                  <a:pt x="603656" y="7514"/>
                </a:lnTo>
                <a:lnTo>
                  <a:pt x="627484" y="5219"/>
                </a:lnTo>
                <a:lnTo>
                  <a:pt x="651349" y="3341"/>
                </a:lnTo>
                <a:lnTo>
                  <a:pt x="675243" y="1880"/>
                </a:lnTo>
                <a:lnTo>
                  <a:pt x="699159" y="836"/>
                </a:lnTo>
                <a:lnTo>
                  <a:pt x="723089" y="209"/>
                </a:lnTo>
                <a:lnTo>
                  <a:pt x="747027" y="0"/>
                </a:lnTo>
                <a:lnTo>
                  <a:pt x="770965" y="209"/>
                </a:lnTo>
                <a:lnTo>
                  <a:pt x="794895" y="836"/>
                </a:lnTo>
                <a:lnTo>
                  <a:pt x="818811" y="1880"/>
                </a:lnTo>
                <a:lnTo>
                  <a:pt x="842705" y="3341"/>
                </a:lnTo>
                <a:lnTo>
                  <a:pt x="866570" y="5219"/>
                </a:lnTo>
                <a:lnTo>
                  <a:pt x="890398" y="7514"/>
                </a:lnTo>
                <a:lnTo>
                  <a:pt x="914183" y="10224"/>
                </a:lnTo>
                <a:lnTo>
                  <a:pt x="937917" y="13348"/>
                </a:lnTo>
                <a:lnTo>
                  <a:pt x="961592" y="16887"/>
                </a:lnTo>
                <a:lnTo>
                  <a:pt x="985203" y="20838"/>
                </a:lnTo>
                <a:lnTo>
                  <a:pt x="1008741" y="25200"/>
                </a:lnTo>
                <a:lnTo>
                  <a:pt x="1032199" y="29973"/>
                </a:lnTo>
                <a:lnTo>
                  <a:pt x="1055570" y="35154"/>
                </a:lnTo>
                <a:lnTo>
                  <a:pt x="1078847" y="40742"/>
                </a:lnTo>
                <a:lnTo>
                  <a:pt x="1102023" y="46736"/>
                </a:lnTo>
                <a:lnTo>
                  <a:pt x="1125091" y="53133"/>
                </a:lnTo>
                <a:lnTo>
                  <a:pt x="1148044" y="59932"/>
                </a:lnTo>
                <a:lnTo>
                  <a:pt x="1170875" y="67131"/>
                </a:lnTo>
                <a:lnTo>
                  <a:pt x="1193576" y="74727"/>
                </a:lnTo>
                <a:lnTo>
                  <a:pt x="1216142" y="82718"/>
                </a:lnTo>
                <a:lnTo>
                  <a:pt x="1238564" y="91101"/>
                </a:lnTo>
                <a:lnTo>
                  <a:pt x="1260837" y="99875"/>
                </a:lnTo>
                <a:lnTo>
                  <a:pt x="1282954" y="109036"/>
                </a:lnTo>
                <a:lnTo>
                  <a:pt x="1304907" y="118581"/>
                </a:lnTo>
                <a:lnTo>
                  <a:pt x="1326690" y="128508"/>
                </a:lnTo>
                <a:lnTo>
                  <a:pt x="1348297" y="138814"/>
                </a:lnTo>
                <a:lnTo>
                  <a:pt x="1369720" y="149495"/>
                </a:lnTo>
                <a:lnTo>
                  <a:pt x="1390954" y="160549"/>
                </a:lnTo>
                <a:lnTo>
                  <a:pt x="1411992" y="171972"/>
                </a:lnTo>
                <a:lnTo>
                  <a:pt x="1432827" y="183760"/>
                </a:lnTo>
                <a:lnTo>
                  <a:pt x="1453453" y="195909"/>
                </a:lnTo>
                <a:lnTo>
                  <a:pt x="1473864" y="208417"/>
                </a:lnTo>
                <a:lnTo>
                  <a:pt x="1494054" y="221279"/>
                </a:lnTo>
                <a:lnTo>
                  <a:pt x="1514016" y="234492"/>
                </a:lnTo>
                <a:lnTo>
                  <a:pt x="1533744" y="248051"/>
                </a:lnTo>
                <a:lnTo>
                  <a:pt x="1553233" y="261952"/>
                </a:lnTo>
                <a:lnTo>
                  <a:pt x="1572476" y="276192"/>
                </a:lnTo>
                <a:lnTo>
                  <a:pt x="1591468" y="290764"/>
                </a:lnTo>
                <a:lnTo>
                  <a:pt x="1610203" y="305667"/>
                </a:lnTo>
                <a:lnTo>
                  <a:pt x="1628674" y="320893"/>
                </a:lnTo>
                <a:lnTo>
                  <a:pt x="1646877" y="336440"/>
                </a:lnTo>
                <a:lnTo>
                  <a:pt x="1664806" y="352303"/>
                </a:lnTo>
                <a:lnTo>
                  <a:pt x="1682456" y="368475"/>
                </a:lnTo>
                <a:lnTo>
                  <a:pt x="1699820" y="384954"/>
                </a:lnTo>
                <a:lnTo>
                  <a:pt x="1716895" y="401732"/>
                </a:lnTo>
                <a:lnTo>
                  <a:pt x="1733673" y="418807"/>
                </a:lnTo>
                <a:lnTo>
                  <a:pt x="1750152" y="436171"/>
                </a:lnTo>
                <a:lnTo>
                  <a:pt x="1766324" y="453820"/>
                </a:lnTo>
                <a:lnTo>
                  <a:pt x="1782187" y="471749"/>
                </a:lnTo>
                <a:lnTo>
                  <a:pt x="1797733" y="489953"/>
                </a:lnTo>
                <a:lnTo>
                  <a:pt x="1812960" y="508424"/>
                </a:lnTo>
                <a:lnTo>
                  <a:pt x="1827862" y="527159"/>
                </a:lnTo>
                <a:lnTo>
                  <a:pt x="1842435" y="546151"/>
                </a:lnTo>
                <a:lnTo>
                  <a:pt x="1856675" y="565394"/>
                </a:lnTo>
                <a:lnTo>
                  <a:pt x="1870576" y="584883"/>
                </a:lnTo>
                <a:lnTo>
                  <a:pt x="1884135" y="604611"/>
                </a:lnTo>
                <a:lnTo>
                  <a:pt x="1897347" y="624573"/>
                </a:lnTo>
                <a:lnTo>
                  <a:pt x="1910210" y="644763"/>
                </a:lnTo>
                <a:lnTo>
                  <a:pt x="1922718" y="665174"/>
                </a:lnTo>
                <a:lnTo>
                  <a:pt x="1934867" y="685800"/>
                </a:lnTo>
                <a:lnTo>
                  <a:pt x="1946655" y="706635"/>
                </a:lnTo>
                <a:lnTo>
                  <a:pt x="1958078" y="727673"/>
                </a:lnTo>
                <a:lnTo>
                  <a:pt x="1969131" y="748907"/>
                </a:lnTo>
                <a:lnTo>
                  <a:pt x="1979813" y="770330"/>
                </a:lnTo>
                <a:lnTo>
                  <a:pt x="1990119" y="791937"/>
                </a:lnTo>
                <a:lnTo>
                  <a:pt x="2000046" y="813720"/>
                </a:lnTo>
                <a:lnTo>
                  <a:pt x="2009591" y="835673"/>
                </a:lnTo>
                <a:lnTo>
                  <a:pt x="2018752" y="857790"/>
                </a:lnTo>
                <a:lnTo>
                  <a:pt x="2027526" y="880063"/>
                </a:lnTo>
                <a:lnTo>
                  <a:pt x="2035909" y="902485"/>
                </a:lnTo>
                <a:lnTo>
                  <a:pt x="2043900" y="925051"/>
                </a:lnTo>
                <a:lnTo>
                  <a:pt x="2051496" y="947752"/>
                </a:lnTo>
                <a:lnTo>
                  <a:pt x="2058695" y="970583"/>
                </a:lnTo>
                <a:lnTo>
                  <a:pt x="2065493" y="993536"/>
                </a:lnTo>
                <a:lnTo>
                  <a:pt x="2071891" y="1016604"/>
                </a:lnTo>
                <a:lnTo>
                  <a:pt x="2077885" y="1039780"/>
                </a:lnTo>
                <a:lnTo>
                  <a:pt x="2083473" y="1063057"/>
                </a:lnTo>
                <a:lnTo>
                  <a:pt x="2088654" y="1086428"/>
                </a:lnTo>
                <a:lnTo>
                  <a:pt x="2093427" y="1109886"/>
                </a:lnTo>
                <a:lnTo>
                  <a:pt x="2097789" y="1133424"/>
                </a:lnTo>
                <a:lnTo>
                  <a:pt x="2101740" y="1157034"/>
                </a:lnTo>
                <a:lnTo>
                  <a:pt x="2105279" y="1180710"/>
                </a:lnTo>
                <a:lnTo>
                  <a:pt x="2108403" y="1204444"/>
                </a:lnTo>
                <a:lnTo>
                  <a:pt x="2111113" y="1228229"/>
                </a:lnTo>
                <a:lnTo>
                  <a:pt x="2113408" y="1252057"/>
                </a:lnTo>
                <a:lnTo>
                  <a:pt x="2115286" y="1275922"/>
                </a:lnTo>
                <a:lnTo>
                  <a:pt x="2116747" y="1299816"/>
                </a:lnTo>
                <a:lnTo>
                  <a:pt x="2117791" y="1323732"/>
                </a:lnTo>
                <a:lnTo>
                  <a:pt x="2118418" y="1347662"/>
                </a:lnTo>
                <a:lnTo>
                  <a:pt x="2118627" y="1371600"/>
                </a:lnTo>
              </a:path>
            </a:pathLst>
          </a:custGeom>
          <a:noFill xmlns:a="http://schemas.openxmlformats.org/drawingml/2006/main"/>
          <a:ln xmlns:a="http://schemas.openxmlformats.org/drawingml/2006/main" w="9525">
            <a:solidFill>
              <a:srgbClr val="FAFAFA">
                <a:alpha val="40000"/>
              </a:srgbClr>
            </a:solidFill>
            <a:prstDash val="solid"/>
          </a:ln>
        </p:spPr>
      </p:sp>
      <p:sp>
        <p:nvSpPr>
          <p:cNvPr id="5" name="">
            <a:extLst xmlns:a="http://schemas.openxmlformats.org/drawingml/2006/main">
              <a:ext uri="{FF2B5EF4-FFF2-40B4-BE49-F238E27FC236}">
                <a16:creationId xmlns:a16="http://schemas.microsoft.com/office/drawing/2014/main" id="{51F1210F-7D74-421E-8252-771295DC2D79}"/>
              </a:ext>
            </a:extLst>
          </p:cNvPr>
          <p:cNvSpPr>
            <a:spLocks xmlns:a="http://schemas.openxmlformats.org/drawingml/2006/main" noGrp="1"/>
          </p:cNvSpPr>
          <p:nvPr/>
        </p:nvSpPr>
        <p:spPr>
          <a:xfrm xmlns:a="http://schemas.openxmlformats.org/drawingml/2006/main">
            <a:off x="2838450" y="2057400"/>
            <a:ext cx="2743200" cy="2743200"/>
          </a:xfrm>
          <a:custGeom xmlns:a="http://schemas.openxmlformats.org/drawingml/2006/main">
            <a:pathLst>
              <a:path w="2743200" h="2743200">
                <a:moveTo>
                  <a:pt x="2743200" y="1371600"/>
                </a:moveTo>
                <a:lnTo>
                  <a:pt x="2742991" y="1395538"/>
                </a:lnTo>
                <a:lnTo>
                  <a:pt x="2742364" y="1419468"/>
                </a:lnTo>
                <a:lnTo>
                  <a:pt x="2741320" y="1443384"/>
                </a:lnTo>
                <a:lnTo>
                  <a:pt x="2739859" y="1467278"/>
                </a:lnTo>
                <a:lnTo>
                  <a:pt x="2737981" y="1491143"/>
                </a:lnTo>
                <a:lnTo>
                  <a:pt x="2735686" y="1514971"/>
                </a:lnTo>
                <a:lnTo>
                  <a:pt x="2732976" y="1538756"/>
                </a:lnTo>
                <a:lnTo>
                  <a:pt x="2729852" y="1562490"/>
                </a:lnTo>
                <a:lnTo>
                  <a:pt x="2726313" y="1586166"/>
                </a:lnTo>
                <a:lnTo>
                  <a:pt x="2722362" y="1609776"/>
                </a:lnTo>
                <a:lnTo>
                  <a:pt x="2718000" y="1633314"/>
                </a:lnTo>
                <a:lnTo>
                  <a:pt x="2713227" y="1656772"/>
                </a:lnTo>
                <a:lnTo>
                  <a:pt x="2708046" y="1680143"/>
                </a:lnTo>
                <a:lnTo>
                  <a:pt x="2702458" y="1703420"/>
                </a:lnTo>
                <a:lnTo>
                  <a:pt x="2696464" y="1726596"/>
                </a:lnTo>
                <a:lnTo>
                  <a:pt x="2690067" y="1749664"/>
                </a:lnTo>
                <a:lnTo>
                  <a:pt x="2683268" y="1772617"/>
                </a:lnTo>
                <a:lnTo>
                  <a:pt x="2676069" y="1795448"/>
                </a:lnTo>
                <a:lnTo>
                  <a:pt x="2668473" y="1818149"/>
                </a:lnTo>
                <a:lnTo>
                  <a:pt x="2660482" y="1840715"/>
                </a:lnTo>
                <a:lnTo>
                  <a:pt x="2652099" y="1863137"/>
                </a:lnTo>
                <a:lnTo>
                  <a:pt x="2643325" y="1885410"/>
                </a:lnTo>
                <a:lnTo>
                  <a:pt x="2634164" y="1907527"/>
                </a:lnTo>
                <a:lnTo>
                  <a:pt x="2624619" y="1929480"/>
                </a:lnTo>
                <a:lnTo>
                  <a:pt x="2614692" y="1951263"/>
                </a:lnTo>
                <a:lnTo>
                  <a:pt x="2604386" y="1972870"/>
                </a:lnTo>
                <a:lnTo>
                  <a:pt x="2593705" y="1994293"/>
                </a:lnTo>
                <a:lnTo>
                  <a:pt x="2582651" y="2015527"/>
                </a:lnTo>
                <a:lnTo>
                  <a:pt x="2571228" y="2036565"/>
                </a:lnTo>
                <a:lnTo>
                  <a:pt x="2559440" y="2057400"/>
                </a:lnTo>
                <a:lnTo>
                  <a:pt x="2547291" y="2078026"/>
                </a:lnTo>
                <a:lnTo>
                  <a:pt x="2534783" y="2098437"/>
                </a:lnTo>
                <a:lnTo>
                  <a:pt x="2521921" y="2118627"/>
                </a:lnTo>
                <a:lnTo>
                  <a:pt x="2508708" y="2138589"/>
                </a:lnTo>
                <a:lnTo>
                  <a:pt x="2495149" y="2158317"/>
                </a:lnTo>
                <a:lnTo>
                  <a:pt x="2481248" y="2177806"/>
                </a:lnTo>
                <a:lnTo>
                  <a:pt x="2467008" y="2197049"/>
                </a:lnTo>
                <a:lnTo>
                  <a:pt x="2452436" y="2216041"/>
                </a:lnTo>
                <a:lnTo>
                  <a:pt x="2437533" y="2234776"/>
                </a:ln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lnTo>
                  <a:pt x="2452436" y="527159"/>
                </a:lnTo>
                <a:lnTo>
                  <a:pt x="2467008" y="546151"/>
                </a:lnTo>
                <a:lnTo>
                  <a:pt x="2481248" y="565394"/>
                </a:lnTo>
                <a:lnTo>
                  <a:pt x="2495149" y="584883"/>
                </a:lnTo>
                <a:lnTo>
                  <a:pt x="2508708" y="604611"/>
                </a:lnTo>
                <a:lnTo>
                  <a:pt x="2521921" y="624573"/>
                </a:lnTo>
                <a:lnTo>
                  <a:pt x="2534783" y="644763"/>
                </a:lnTo>
                <a:lnTo>
                  <a:pt x="2547291" y="665174"/>
                </a:lnTo>
                <a:lnTo>
                  <a:pt x="2559440" y="685800"/>
                </a:lnTo>
                <a:lnTo>
                  <a:pt x="2571228" y="706635"/>
                </a:lnTo>
                <a:lnTo>
                  <a:pt x="2582651" y="727673"/>
                </a:lnTo>
                <a:lnTo>
                  <a:pt x="2593705" y="748907"/>
                </a:lnTo>
                <a:lnTo>
                  <a:pt x="2604386" y="770330"/>
                </a:lnTo>
                <a:lnTo>
                  <a:pt x="2614692" y="791937"/>
                </a:lnTo>
                <a:lnTo>
                  <a:pt x="2624619" y="813720"/>
                </a:lnTo>
                <a:lnTo>
                  <a:pt x="2634164" y="835673"/>
                </a:lnTo>
                <a:lnTo>
                  <a:pt x="2643325" y="857790"/>
                </a:lnTo>
                <a:lnTo>
                  <a:pt x="2652099" y="880063"/>
                </a:lnTo>
                <a:lnTo>
                  <a:pt x="2660482" y="902485"/>
                </a:lnTo>
                <a:lnTo>
                  <a:pt x="2668473" y="925051"/>
                </a:lnTo>
                <a:lnTo>
                  <a:pt x="2676069" y="947752"/>
                </a:lnTo>
                <a:lnTo>
                  <a:pt x="2683268" y="970583"/>
                </a:lnTo>
                <a:lnTo>
                  <a:pt x="2690067" y="993536"/>
                </a:lnTo>
                <a:lnTo>
                  <a:pt x="2696464" y="1016604"/>
                </a:lnTo>
                <a:lnTo>
                  <a:pt x="2702458" y="1039780"/>
                </a:lnTo>
                <a:lnTo>
                  <a:pt x="2708046" y="1063057"/>
                </a:lnTo>
                <a:lnTo>
                  <a:pt x="2713227" y="1086428"/>
                </a:lnTo>
                <a:lnTo>
                  <a:pt x="2718000" y="1109886"/>
                </a:lnTo>
                <a:lnTo>
                  <a:pt x="2722362" y="1133424"/>
                </a:lnTo>
                <a:lnTo>
                  <a:pt x="2726313" y="1157034"/>
                </a:lnTo>
                <a:lnTo>
                  <a:pt x="2729852" y="1180710"/>
                </a:lnTo>
                <a:lnTo>
                  <a:pt x="2732976" y="1204444"/>
                </a:lnTo>
                <a:lnTo>
                  <a:pt x="2735686" y="1228229"/>
                </a:lnTo>
                <a:lnTo>
                  <a:pt x="2737981" y="1252057"/>
                </a:lnTo>
                <a:lnTo>
                  <a:pt x="2739859" y="1275922"/>
                </a:lnTo>
                <a:lnTo>
                  <a:pt x="2741320" y="1299816"/>
                </a:lnTo>
                <a:lnTo>
                  <a:pt x="2742364" y="1323732"/>
                </a:lnTo>
                <a:lnTo>
                  <a:pt x="2742991" y="1347662"/>
                </a:lnTo>
                <a:lnTo>
                  <a:pt x="2743200" y="1371600"/>
                </a:lnTo>
              </a:path>
            </a:pathLst>
          </a:custGeom>
          <a:noFill xmlns:a="http://schemas.openxmlformats.org/drawingml/2006/main"/>
          <a:ln xmlns:a="http://schemas.openxmlformats.org/drawingml/2006/main" w="11430">
            <a:solidFill>
              <a:srgbClr val="FAFAFA"/>
            </a:solidFill>
            <a:prstDash val="solid"/>
          </a:ln>
        </p:spPr>
      </p:sp>
      <p:sp>
        <p:nvSpPr>
          <p:cNvPr id="6" name="">
            <a:extLst xmlns:a="http://schemas.openxmlformats.org/drawingml/2006/main">
              <a:ext uri="{FF2B5EF4-FFF2-40B4-BE49-F238E27FC236}">
                <a16:creationId xmlns:a16="http://schemas.microsoft.com/office/drawing/2014/main" id="{CB130CBC-5D72-4C8F-B4F4-DFB81DF5EB32}"/>
              </a:ext>
            </a:extLst>
          </p:cNvPr>
          <p:cNvSpPr>
            <a:spLocks xmlns:a="http://schemas.openxmlformats.org/drawingml/2006/main" noGrp="1"/>
          </p:cNvSpPr>
          <p:nvPr/>
        </p:nvSpPr>
        <p:spPr>
          <a:xfrm xmlns:a="http://schemas.openxmlformats.org/drawingml/2006/main">
            <a:off x="6286500" y="2057400"/>
            <a:ext cx="2743200" cy="2743200"/>
          </a:xfrm>
          <a:custGeom xmlns:a="http://schemas.openxmlformats.org/drawingml/2006/main">
            <a:pathLst>
              <a:path w="2743200" h="2743200">
                <a:moveTo>
                  <a:pt x="2743200" y="1371600"/>
                </a:moveTo>
                <a:lnTo>
                  <a:pt x="2742991" y="1395538"/>
                </a:lnTo>
                <a:lnTo>
                  <a:pt x="2742364" y="1419468"/>
                </a:lnTo>
                <a:lnTo>
                  <a:pt x="2741320" y="1443384"/>
                </a:lnTo>
                <a:lnTo>
                  <a:pt x="2739859" y="1467278"/>
                </a:lnTo>
                <a:lnTo>
                  <a:pt x="2737981" y="1491143"/>
                </a:lnTo>
                <a:lnTo>
                  <a:pt x="2735686" y="1514971"/>
                </a:lnTo>
                <a:lnTo>
                  <a:pt x="2732976" y="1538756"/>
                </a:lnTo>
                <a:lnTo>
                  <a:pt x="2729852" y="1562490"/>
                </a:lnTo>
                <a:lnTo>
                  <a:pt x="2726313" y="1586166"/>
                </a:lnTo>
                <a:lnTo>
                  <a:pt x="2722362" y="1609776"/>
                </a:lnTo>
                <a:lnTo>
                  <a:pt x="2718000" y="1633314"/>
                </a:lnTo>
                <a:lnTo>
                  <a:pt x="2713227" y="1656772"/>
                </a:lnTo>
                <a:lnTo>
                  <a:pt x="2708046" y="1680143"/>
                </a:lnTo>
                <a:lnTo>
                  <a:pt x="2702458" y="1703420"/>
                </a:lnTo>
                <a:lnTo>
                  <a:pt x="2696464" y="1726596"/>
                </a:lnTo>
                <a:lnTo>
                  <a:pt x="2690067" y="1749664"/>
                </a:lnTo>
                <a:lnTo>
                  <a:pt x="2683268" y="1772617"/>
                </a:lnTo>
                <a:lnTo>
                  <a:pt x="2676069" y="1795448"/>
                </a:lnTo>
                <a:lnTo>
                  <a:pt x="2668473" y="1818149"/>
                </a:lnTo>
                <a:lnTo>
                  <a:pt x="2660482" y="1840715"/>
                </a:lnTo>
                <a:lnTo>
                  <a:pt x="2652099" y="1863137"/>
                </a:lnTo>
                <a:lnTo>
                  <a:pt x="2643325" y="1885410"/>
                </a:lnTo>
                <a:lnTo>
                  <a:pt x="2634164" y="1907527"/>
                </a:lnTo>
                <a:lnTo>
                  <a:pt x="2624619" y="1929480"/>
                </a:lnTo>
                <a:lnTo>
                  <a:pt x="2614692" y="1951263"/>
                </a:lnTo>
                <a:lnTo>
                  <a:pt x="2604386" y="1972870"/>
                </a:lnTo>
                <a:lnTo>
                  <a:pt x="2593705" y="1994293"/>
                </a:lnTo>
                <a:lnTo>
                  <a:pt x="2582651" y="2015527"/>
                </a:lnTo>
                <a:lnTo>
                  <a:pt x="2571228" y="2036565"/>
                </a:lnTo>
                <a:lnTo>
                  <a:pt x="2559440" y="2057400"/>
                </a:lnTo>
                <a:lnTo>
                  <a:pt x="2547291" y="2078026"/>
                </a:lnTo>
                <a:lnTo>
                  <a:pt x="2534783" y="2098437"/>
                </a:lnTo>
                <a:lnTo>
                  <a:pt x="2521921" y="2118627"/>
                </a:lnTo>
                <a:lnTo>
                  <a:pt x="2508708" y="2138589"/>
                </a:lnTo>
                <a:lnTo>
                  <a:pt x="2495149" y="2158317"/>
                </a:lnTo>
                <a:lnTo>
                  <a:pt x="2481248" y="2177806"/>
                </a:lnTo>
                <a:lnTo>
                  <a:pt x="2467008" y="2197049"/>
                </a:lnTo>
                <a:lnTo>
                  <a:pt x="2452436" y="2216041"/>
                </a:lnTo>
                <a:lnTo>
                  <a:pt x="2437533" y="2234776"/>
                </a:ln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lnTo>
                  <a:pt x="2452436" y="527159"/>
                </a:lnTo>
                <a:lnTo>
                  <a:pt x="2467008" y="546151"/>
                </a:lnTo>
                <a:lnTo>
                  <a:pt x="2481248" y="565394"/>
                </a:lnTo>
                <a:lnTo>
                  <a:pt x="2495149" y="584883"/>
                </a:lnTo>
                <a:lnTo>
                  <a:pt x="2508708" y="604611"/>
                </a:lnTo>
                <a:lnTo>
                  <a:pt x="2521921" y="624573"/>
                </a:lnTo>
                <a:lnTo>
                  <a:pt x="2534783" y="644763"/>
                </a:lnTo>
                <a:lnTo>
                  <a:pt x="2547291" y="665174"/>
                </a:lnTo>
                <a:lnTo>
                  <a:pt x="2559440" y="685800"/>
                </a:lnTo>
                <a:lnTo>
                  <a:pt x="2571228" y="706635"/>
                </a:lnTo>
                <a:lnTo>
                  <a:pt x="2582651" y="727673"/>
                </a:lnTo>
                <a:lnTo>
                  <a:pt x="2593705" y="748907"/>
                </a:lnTo>
                <a:lnTo>
                  <a:pt x="2604386" y="770330"/>
                </a:lnTo>
                <a:lnTo>
                  <a:pt x="2614692" y="791937"/>
                </a:lnTo>
                <a:lnTo>
                  <a:pt x="2624619" y="813720"/>
                </a:lnTo>
                <a:lnTo>
                  <a:pt x="2634164" y="835673"/>
                </a:lnTo>
                <a:lnTo>
                  <a:pt x="2643325" y="857790"/>
                </a:lnTo>
                <a:lnTo>
                  <a:pt x="2652099" y="880063"/>
                </a:lnTo>
                <a:lnTo>
                  <a:pt x="2660482" y="902485"/>
                </a:lnTo>
                <a:lnTo>
                  <a:pt x="2668473" y="925051"/>
                </a:lnTo>
                <a:lnTo>
                  <a:pt x="2676069" y="947752"/>
                </a:lnTo>
                <a:lnTo>
                  <a:pt x="2683268" y="970583"/>
                </a:lnTo>
                <a:lnTo>
                  <a:pt x="2690067" y="993536"/>
                </a:lnTo>
                <a:lnTo>
                  <a:pt x="2696464" y="1016604"/>
                </a:lnTo>
                <a:lnTo>
                  <a:pt x="2702458" y="1039780"/>
                </a:lnTo>
                <a:lnTo>
                  <a:pt x="2708046" y="1063057"/>
                </a:lnTo>
                <a:lnTo>
                  <a:pt x="2713227" y="1086428"/>
                </a:lnTo>
                <a:lnTo>
                  <a:pt x="2718000" y="1109886"/>
                </a:lnTo>
                <a:lnTo>
                  <a:pt x="2722362" y="1133424"/>
                </a:lnTo>
                <a:lnTo>
                  <a:pt x="2726313" y="1157034"/>
                </a:lnTo>
                <a:lnTo>
                  <a:pt x="2729852" y="1180710"/>
                </a:lnTo>
                <a:lnTo>
                  <a:pt x="2732976" y="1204444"/>
                </a:lnTo>
                <a:lnTo>
                  <a:pt x="2735686" y="1228229"/>
                </a:lnTo>
                <a:lnTo>
                  <a:pt x="2737981" y="1252057"/>
                </a:lnTo>
                <a:lnTo>
                  <a:pt x="2739859" y="1275922"/>
                </a:lnTo>
                <a:lnTo>
                  <a:pt x="2741320" y="1299816"/>
                </a:lnTo>
                <a:lnTo>
                  <a:pt x="2742364" y="1323732"/>
                </a:lnTo>
                <a:lnTo>
                  <a:pt x="2742991" y="1347662"/>
                </a:lnTo>
                <a:lnTo>
                  <a:pt x="2743200" y="1371600"/>
                </a:lnTo>
              </a:path>
            </a:pathLst>
          </a:custGeom>
          <a:noFill xmlns:a="http://schemas.openxmlformats.org/drawingml/2006/main"/>
          <a:ln xmlns:a="http://schemas.openxmlformats.org/drawingml/2006/main" w="9525">
            <a:solidFill>
              <a:srgbClr val="FAFAFA">
                <a:alpha val="48000"/>
              </a:srgbClr>
            </a:solidFill>
            <a:prstDash val="solid"/>
          </a:ln>
        </p:spPr>
      </p:sp>
      <p:sp>
        <p:nvSpPr>
          <p:cNvPr id="7" name="">
            <a:extLst xmlns:a="http://schemas.openxmlformats.org/drawingml/2006/main">
              <a:ext uri="{FF2B5EF4-FFF2-40B4-BE49-F238E27FC236}">
                <a16:creationId xmlns:a16="http://schemas.microsoft.com/office/drawing/2014/main" id="{F867654F-CC00-4508-A8AB-939DD219AEB0}"/>
              </a:ext>
            </a:extLst>
          </p:cNvPr>
          <p:cNvSpPr>
            <a:spLocks xmlns:a="http://schemas.openxmlformats.org/drawingml/2006/main" noGrp="1"/>
          </p:cNvSpPr>
          <p:nvPr/>
        </p:nvSpPr>
        <p:spPr>
          <a:xfrm xmlns:a="http://schemas.openxmlformats.org/drawingml/2006/main">
            <a:off x="9734550" y="2057400"/>
            <a:ext cx="2437533" cy="2743200"/>
          </a:xfrm>
          <a:custGeom xmlns:a="http://schemas.openxmlformats.org/drawingml/2006/main">
            <a:pathLst>
              <a:path w="2437533" h="2743200">
                <a:moveTo>
                  <a:pt x="2437533" y="2234776"/>
                </a:move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path>
            </a:pathLst>
          </a:custGeom>
          <a:noFill xmlns:a="http://schemas.openxmlformats.org/drawingml/2006/main"/>
          <a:ln xmlns:a="http://schemas.openxmlformats.org/drawingml/2006/main" w="9525">
            <a:solidFill>
              <a:srgbClr val="FAFAFA">
                <a:alpha val="35000"/>
              </a:srgbClr>
            </a:solidFill>
            <a:prstDash val="solid"/>
          </a:ln>
        </p:spPr>
      </p:sp>
      <p:sp>
        <p:nvSpPr>
          <p:cNvPr id="8" name="">
            <a:extLst xmlns:a="http://schemas.openxmlformats.org/drawingml/2006/main">
              <a:ext uri="{FF2B5EF4-FFF2-40B4-BE49-F238E27FC236}">
                <a16:creationId xmlns:a16="http://schemas.microsoft.com/office/drawing/2014/main" id="{505DB4F2-CB8B-45E9-9955-DF507CCD6889}"/>
              </a:ext>
            </a:extLst>
          </p:cNvPr>
          <p:cNvSpPr>
            <a:spLocks xmlns:a="http://schemas.openxmlformats.org/drawingml/2006/main" noGrp="1"/>
          </p:cNvSpPr>
          <p:nvPr/>
        </p:nvSpPr>
        <p:spPr>
          <a:xfrm xmlns:a="http://schemas.openxmlformats.org/drawingml/2006/main">
            <a:off x="4977039" y="2291892"/>
            <a:ext cx="537480" cy="713260"/>
          </a:xfrm>
          <a:custGeom xmlns:a="http://schemas.openxmlformats.org/drawingml/2006/main">
            <a:pathLst>
              <a:path w="537480" h="713260">
                <a:moveTo>
                  <a:pt x="0" y="0"/>
                </a:moveTo>
                <a:lnTo>
                  <a:pt x="19728" y="13559"/>
                </a:lnTo>
                <a:lnTo>
                  <a:pt x="39217" y="27460"/>
                </a:lnTo>
                <a:lnTo>
                  <a:pt x="58460" y="41699"/>
                </a:lnTo>
                <a:lnTo>
                  <a:pt x="77452" y="56272"/>
                </a:lnTo>
                <a:lnTo>
                  <a:pt x="96187" y="71175"/>
                </a:lnTo>
                <a:lnTo>
                  <a:pt x="114658" y="86401"/>
                </a:lnTo>
                <a:lnTo>
                  <a:pt x="132862" y="101948"/>
                </a:lnTo>
                <a:lnTo>
                  <a:pt x="150791" y="117810"/>
                </a:lnTo>
                <a:lnTo>
                  <a:pt x="168440" y="133983"/>
                </a:lnTo>
                <a:lnTo>
                  <a:pt x="185804" y="150461"/>
                </a:lnTo>
                <a:lnTo>
                  <a:pt x="202879" y="167240"/>
                </a:lnTo>
                <a:lnTo>
                  <a:pt x="219657" y="184315"/>
                </a:lnTo>
                <a:lnTo>
                  <a:pt x="236136" y="201679"/>
                </a:lnTo>
                <a:lnTo>
                  <a:pt x="252308" y="219328"/>
                </a:lnTo>
                <a:lnTo>
                  <a:pt x="268171" y="237257"/>
                </a:lnTo>
                <a:lnTo>
                  <a:pt x="283718" y="255460"/>
                </a:lnTo>
                <a:lnTo>
                  <a:pt x="298944" y="273932"/>
                </a:lnTo>
                <a:lnTo>
                  <a:pt x="313847" y="292667"/>
                </a:lnTo>
                <a:lnTo>
                  <a:pt x="328419" y="311658"/>
                </a:lnTo>
                <a:lnTo>
                  <a:pt x="342659" y="330902"/>
                </a:lnTo>
                <a:lnTo>
                  <a:pt x="356560" y="350390"/>
                </a:lnTo>
                <a:lnTo>
                  <a:pt x="370119" y="370119"/>
                </a:lnTo>
                <a:lnTo>
                  <a:pt x="383332" y="390081"/>
                </a:lnTo>
                <a:lnTo>
                  <a:pt x="396194" y="410271"/>
                </a:lnTo>
                <a:lnTo>
                  <a:pt x="408702" y="430682"/>
                </a:lnTo>
                <a:lnTo>
                  <a:pt x="420851" y="451308"/>
                </a:lnTo>
                <a:lnTo>
                  <a:pt x="432639" y="472143"/>
                </a:lnTo>
                <a:lnTo>
                  <a:pt x="444062" y="493181"/>
                </a:lnTo>
                <a:lnTo>
                  <a:pt x="455116" y="514415"/>
                </a:lnTo>
                <a:lnTo>
                  <a:pt x="465797" y="535838"/>
                </a:lnTo>
                <a:lnTo>
                  <a:pt x="476103" y="557445"/>
                </a:lnTo>
                <a:lnTo>
                  <a:pt x="486030" y="579228"/>
                </a:lnTo>
                <a:lnTo>
                  <a:pt x="495575" y="601181"/>
                </a:lnTo>
                <a:lnTo>
                  <a:pt x="504736" y="623298"/>
                </a:lnTo>
                <a:lnTo>
                  <a:pt x="513510" y="645570"/>
                </a:lnTo>
                <a:lnTo>
                  <a:pt x="521893" y="667993"/>
                </a:lnTo>
                <a:lnTo>
                  <a:pt x="529884" y="690559"/>
                </a:lnTo>
                <a:lnTo>
                  <a:pt x="537480" y="713260"/>
                </a:lnTo>
              </a:path>
            </a:pathLst>
          </a:custGeom>
          <a:noFill xmlns:a="http://schemas.openxmlformats.org/drawingml/2006/main"/>
          <a:ln xmlns:a="http://schemas.openxmlformats.org/drawingml/2006/main" w="20955">
            <a:solidFill>
              <a:srgbClr val="22C55E"/>
            </a:solidFill>
            <a:prstDash val="solid"/>
          </a:ln>
        </p:spPr>
      </p:sp>
      <p:sp>
        <p:nvSpPr>
          <p:cNvPr id="9" name="">
            <a:extLst xmlns:a="http://schemas.openxmlformats.org/drawingml/2006/main">
              <a:ext uri="{FF2B5EF4-FFF2-40B4-BE49-F238E27FC236}">
                <a16:creationId xmlns:a16="http://schemas.microsoft.com/office/drawing/2014/main" id="{4FB8CDDC-69B8-4A49-9311-F63C0D935255}"/>
              </a:ext>
            </a:extLst>
          </p:cNvPr>
          <p:cNvSpPr>
            <a:spLocks xmlns:a="http://schemas.openxmlformats.org/drawingml/2006/main" noGrp="1"/>
          </p:cNvSpPr>
          <p:nvPr/>
        </p:nvSpPr>
        <p:spPr>
          <a:xfrm xmlns:a="http://schemas.openxmlformats.org/drawingml/2006/main" rot="0">
            <a:off x="3162300" y="3209925"/>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0">
                <a:solidFill>
                  <a:srgbClr val="FAFAFA"/>
                </a:solidFill>
                <a:latin typeface="DM Sans"/>
                <a:ea typeface="DM Sans"/>
                <a:cs typeface="DM Sans"/>
              </a:defRPr>
            </a:defPPr>
            <a:lvl1pPr algn="ctr">
              <a:defRPr sz="2700" b="0">
                <a:solidFill>
                  <a:srgbClr val="FAFAFA"/>
                </a:solidFill>
                <a:latin typeface="DM Sans"/>
                <a:ea typeface="DM Sans"/>
                <a:cs typeface="DM Sans"/>
              </a:defRPr>
            </a:lvl1pPr>
            <a:lvl2pPr algn="ctr">
              <a:defRPr sz="2700" b="0">
                <a:solidFill>
                  <a:srgbClr val="FAFAFA"/>
                </a:solidFill>
                <a:latin typeface="DM Sans"/>
                <a:ea typeface="DM Sans"/>
                <a:cs typeface="DM Sans"/>
              </a:defRPr>
            </a:lvl2pPr>
            <a:lvl3pPr algn="ctr">
              <a:defRPr sz="2700" b="0">
                <a:solidFill>
                  <a:srgbClr val="FAFAFA"/>
                </a:solidFill>
                <a:latin typeface="DM Sans"/>
                <a:ea typeface="DM Sans"/>
                <a:cs typeface="DM Sans"/>
              </a:defRPr>
            </a:lvl3pPr>
            <a:lvl4pPr algn="ctr">
              <a:defRPr sz="2700" b="0">
                <a:solidFill>
                  <a:srgbClr val="FAFAFA"/>
                </a:solidFill>
                <a:latin typeface="DM Sans"/>
                <a:ea typeface="DM Sans"/>
                <a:cs typeface="DM Sans"/>
              </a:defRPr>
            </a:lvl4pPr>
            <a:lvl5pPr algn="ctr">
              <a:defRPr sz="2700" b="0">
                <a:solidFill>
                  <a:srgbClr val="FAFAFA"/>
                </a:solidFill>
                <a:latin typeface="DM Sans"/>
                <a:ea typeface="DM Sans"/>
                <a:cs typeface="DM Sans"/>
              </a:defRPr>
            </a:lvl5pPr>
            <a:lvl6pPr algn="ctr">
              <a:defRPr sz="2700" b="0">
                <a:solidFill>
                  <a:srgbClr val="FAFAFA"/>
                </a:solidFill>
                <a:latin typeface="DM Sans"/>
                <a:ea typeface="DM Sans"/>
                <a:cs typeface="DM Sans"/>
              </a:defRPr>
            </a:lvl6pPr>
            <a:lvl7pPr algn="ctr">
              <a:defRPr sz="2700" b="0">
                <a:solidFill>
                  <a:srgbClr val="FAFAFA"/>
                </a:solidFill>
                <a:latin typeface="DM Sans"/>
                <a:ea typeface="DM Sans"/>
                <a:cs typeface="DM Sans"/>
              </a:defRPr>
            </a:lvl7pPr>
            <a:lvl8pPr algn="ctr">
              <a:defRPr sz="2700" b="0">
                <a:solidFill>
                  <a:srgbClr val="FAFAFA"/>
                </a:solidFill>
                <a:latin typeface="DM Sans"/>
                <a:ea typeface="DM Sans"/>
                <a:cs typeface="DM Sans"/>
              </a:defRPr>
            </a:lvl8pPr>
            <a:lvl9pPr algn="ctr">
              <a:defRPr sz="2700" b="0">
                <a:solidFill>
                  <a:srgbClr val="FAFAFA"/>
                </a:solidFill>
                <a:latin typeface="DM Sans"/>
                <a:ea typeface="DM Sans"/>
                <a:cs typeface="DM Sans"/>
              </a:defRPr>
            </a:lvl9pPr>
          </a:lstStyle>
          <a:p xmlns:a="http://schemas.openxmlformats.org/drawingml/2006/main">
            <a:pPr algn="ctr">
              <a:defRPr sz="2700" b="0">
                <a:solidFill>
                  <a:srgbClr val="FAFAFA"/>
                </a:solidFill>
                <a:latin typeface="DM Sans"/>
                <a:ea typeface="DM Sans"/>
                <a:cs typeface="DM Sans"/>
              </a:defRPr>
            </a:pPr>
            <a:r>
              <a:rPr sz="2700" b="0">
                <a:solidFill>
                  <a:srgbClr val="FAFAFA"/>
                </a:solidFill>
                <a:latin typeface="DM Sans"/>
                <a:ea typeface="DM Sans"/>
                <a:cs typeface="DM Sans"/>
              </a:rPr>
              <a:t>Orecast</a:t>
            </a:r>
          </a:p>
        </p:txBody>
      </p:sp>
      <p:sp>
        <p:nvSpPr>
          <p:cNvPr id="10" name="">
            <a:extLst xmlns:a="http://schemas.openxmlformats.org/drawingml/2006/main">
              <a:ext uri="{FF2B5EF4-FFF2-40B4-BE49-F238E27FC236}">
                <a16:creationId xmlns:a16="http://schemas.microsoft.com/office/drawing/2014/main" id="{B12B8485-435A-4631-A2E2-6DDD39F2E162}"/>
              </a:ext>
            </a:extLst>
          </p:cNvPr>
          <p:cNvSpPr>
            <a:spLocks xmlns:a="http://schemas.openxmlformats.org/drawingml/2006/main" noGrp="1"/>
          </p:cNvSpPr>
          <p:nvPr/>
        </p:nvSpPr>
        <p:spPr>
          <a:xfrm xmlns:a="http://schemas.openxmlformats.org/drawingml/2006/main" rot="0">
            <a:off x="8705850" y="62769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OXHack 2026</a:t>
            </a:r>
          </a:p>
        </p:txBody>
      </p:sp>
      <p:sp>
        <p:nvSpPr>
          <p:cNvPr id="11" name="">
            <a:extLst xmlns:a="http://schemas.openxmlformats.org/drawingml/2006/main">
              <a:ext uri="{FF2B5EF4-FFF2-40B4-BE49-F238E27FC236}">
                <a16:creationId xmlns:a16="http://schemas.microsoft.com/office/drawing/2014/main" id="{3FCD1105-E695-4A36-9DB2-B36825CC1132}"/>
              </a:ext>
            </a:extLst>
          </p:cNvPr>
          <p:cNvSpPr>
            <a:spLocks xmlns:a="http://schemas.openxmlformats.org/drawingml/2006/main" noGrp="1"/>
          </p:cNvSpPr>
          <p:nvPr/>
        </p:nvSpPr>
        <p:spPr>
          <a:xfrm xmlns:a="http://schemas.openxmlformats.org/drawingml/2006/main">
            <a:off x="10668000" y="6334125"/>
            <a:ext cx="285750" cy="95"/>
          </a:xfrm>
          <a:custGeom xmlns:a="http://schemas.openxmlformats.org/drawingml/2006/main">
            <a:pathLst>
              <a:path w="285750" h="95">
                <a:moveTo>
                  <a:pt x="0" y="0"/>
                </a:moveTo>
                <a:lnTo>
                  <a:pt x="285750" y="0"/>
                </a:lnTo>
              </a:path>
            </a:pathLst>
          </a:custGeom>
          <a:noFill xmlns:a="http://schemas.openxmlformats.org/drawingml/2006/main"/>
          <a:ln xmlns:a="http://schemas.openxmlformats.org/drawingml/2006/main" w="7144">
            <a:solidFill>
              <a:srgbClr val="FAFAFA"/>
            </a:solidFill>
            <a:prstDash val="solid"/>
          </a:ln>
        </p:spPr>
      </p:sp>
      <p:sp>
        <p:nvSpPr>
          <p:cNvPr id="12" name="">
            <a:extLst xmlns:a="http://schemas.openxmlformats.org/drawingml/2006/main">
              <a:ext uri="{FF2B5EF4-FFF2-40B4-BE49-F238E27FC236}">
                <a16:creationId xmlns:a16="http://schemas.microsoft.com/office/drawing/2014/main" id="{1FEF0C4F-CD1C-4BC2-8374-2EFD58331DD2}"/>
              </a:ext>
            </a:extLst>
          </p:cNvPr>
          <p:cNvSpPr>
            <a:spLocks xmlns:a="http://schemas.openxmlformats.org/drawingml/2006/main" noGrp="1"/>
          </p:cNvSpPr>
          <p:nvPr/>
        </p:nvSpPr>
        <p:spPr>
          <a:xfrm xmlns:a="http://schemas.openxmlformats.org/drawingml/2006/main">
            <a:off x="10915650" y="6305550"/>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13" name="">
            <a:extLst xmlns:a="http://schemas.openxmlformats.org/drawingml/2006/main">
              <a:ext uri="{FF2B5EF4-FFF2-40B4-BE49-F238E27FC236}">
                <a16:creationId xmlns:a16="http://schemas.microsoft.com/office/drawing/2014/main" id="{582664D5-6966-4947-B8B1-F3A82750094C}"/>
              </a:ext>
            </a:extLst>
          </p:cNvPr>
          <p:cNvSpPr>
            <a:spLocks xmlns:a="http://schemas.openxmlformats.org/drawingml/2006/main" noGrp="1"/>
          </p:cNvSpPr>
          <p:nvPr/>
        </p:nvSpPr>
        <p:spPr>
          <a:xfrm xmlns:a="http://schemas.openxmlformats.org/drawingml/2006/main">
            <a:off x="10915650" y="6334125"/>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14" name="">
            <a:extLst xmlns:a="http://schemas.openxmlformats.org/drawingml/2006/main">
              <a:ext uri="{FF2B5EF4-FFF2-40B4-BE49-F238E27FC236}">
                <a16:creationId xmlns:a16="http://schemas.microsoft.com/office/drawing/2014/main" id="{2C0CC03F-49F5-4AD2-9CC7-3775DFEE5E11}"/>
              </a:ext>
            </a:extLst>
          </p:cNvPr>
          <p:cNvSpPr>
            <a:spLocks xmlns:a="http://schemas.openxmlformats.org/drawingml/2006/main" noGrp="1"/>
          </p:cNvSpPr>
          <p:nvPr/>
        </p:nvSpPr>
        <p:spPr>
          <a:xfrm xmlns:a="http://schemas.openxmlformats.org/drawingml/2006/main" rot="0">
            <a:off x="11163300" y="627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FAFAFA"/>
                </a:solidFill>
                <a:latin typeface="DM Sans"/>
                <a:ea typeface="DM Sans"/>
                <a:cs typeface="DM Sans"/>
              </a:defRPr>
            </a:defPPr>
            <a:lvl1pPr algn="l">
              <a:defRPr sz="675" b="0">
                <a:solidFill>
                  <a:srgbClr val="FAFAFA"/>
                </a:solidFill>
                <a:latin typeface="DM Sans"/>
                <a:ea typeface="DM Sans"/>
                <a:cs typeface="DM Sans"/>
              </a:defRPr>
            </a:lvl1pPr>
            <a:lvl2pPr algn="l">
              <a:defRPr sz="675" b="0">
                <a:solidFill>
                  <a:srgbClr val="FAFAFA"/>
                </a:solidFill>
                <a:latin typeface="DM Sans"/>
                <a:ea typeface="DM Sans"/>
                <a:cs typeface="DM Sans"/>
              </a:defRPr>
            </a:lvl2pPr>
            <a:lvl3pPr algn="l">
              <a:defRPr sz="675" b="0">
                <a:solidFill>
                  <a:srgbClr val="FAFAFA"/>
                </a:solidFill>
                <a:latin typeface="DM Sans"/>
                <a:ea typeface="DM Sans"/>
                <a:cs typeface="DM Sans"/>
              </a:defRPr>
            </a:lvl3pPr>
            <a:lvl4pPr algn="l">
              <a:defRPr sz="675" b="0">
                <a:solidFill>
                  <a:srgbClr val="FAFAFA"/>
                </a:solidFill>
                <a:latin typeface="DM Sans"/>
                <a:ea typeface="DM Sans"/>
                <a:cs typeface="DM Sans"/>
              </a:defRPr>
            </a:lvl4pPr>
            <a:lvl5pPr algn="l">
              <a:defRPr sz="675" b="0">
                <a:solidFill>
                  <a:srgbClr val="FAFAFA"/>
                </a:solidFill>
                <a:latin typeface="DM Sans"/>
                <a:ea typeface="DM Sans"/>
                <a:cs typeface="DM Sans"/>
              </a:defRPr>
            </a:lvl5pPr>
            <a:lvl6pPr algn="l">
              <a:defRPr sz="675" b="0">
                <a:solidFill>
                  <a:srgbClr val="FAFAFA"/>
                </a:solidFill>
                <a:latin typeface="DM Sans"/>
                <a:ea typeface="DM Sans"/>
                <a:cs typeface="DM Sans"/>
              </a:defRPr>
            </a:lvl6pPr>
            <a:lvl7pPr algn="l">
              <a:defRPr sz="675" b="0">
                <a:solidFill>
                  <a:srgbClr val="FAFAFA"/>
                </a:solidFill>
                <a:latin typeface="DM Sans"/>
                <a:ea typeface="DM Sans"/>
                <a:cs typeface="DM Sans"/>
              </a:defRPr>
            </a:lvl7pPr>
            <a:lvl8pPr algn="l">
              <a:defRPr sz="675" b="0">
                <a:solidFill>
                  <a:srgbClr val="FAFAFA"/>
                </a:solidFill>
                <a:latin typeface="DM Sans"/>
                <a:ea typeface="DM Sans"/>
                <a:cs typeface="DM Sans"/>
              </a:defRPr>
            </a:lvl8pPr>
            <a:lvl9pPr algn="l">
              <a:defRPr sz="675" b="0">
                <a:solidFill>
                  <a:srgbClr val="FAFAFA"/>
                </a:solidFill>
                <a:latin typeface="DM Sans"/>
                <a:ea typeface="DM Sans"/>
                <a:cs typeface="DM Sans"/>
              </a:defRPr>
            </a:lvl9pPr>
          </a:lstStyle>
          <a:p xmlns:a="http://schemas.openxmlformats.org/drawingml/2006/main">
            <a:pPr algn="l">
              <a:defRPr sz="675" b="0">
                <a:solidFill>
                  <a:srgbClr val="FAFAFA"/>
                </a:solidFill>
                <a:latin typeface="DM Sans"/>
                <a:ea typeface="DM Sans"/>
                <a:cs typeface="DM Sans"/>
              </a:defRPr>
            </a:pPr>
            <a:r>
              <a:rPr sz="675" b="0">
                <a:solidFill>
                  <a:srgbClr val="FAFAFA"/>
                </a:solidFill>
                <a:latin typeface="DM Sans"/>
                <a:ea typeface="DM Sans"/>
                <a:cs typeface="DM Sans"/>
              </a:rPr>
              <a:t>25 October 2026</a:t>
            </a:r>
          </a:p>
        </p:txBody>
      </p:sp>
    </p:spTree>
    <p:extLst>
      <p:ext uri="{BB962C8B-B14F-4D97-AF65-F5344CB8AC3E}">
        <p14:creationId xmlns:p14="http://schemas.microsoft.com/office/powerpoint/2010/main" val="1242930272"/>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13C19BB-C68B-46F0-98B5-4E2423160C19}"/>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B81D58EF-3ECB-47D9-A3FD-8D961D358F54}"/>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C055959C-E856-44D3-BFED-D75EEA6EE6CC}"/>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ADDA9BB6-5ABE-46F4-8984-6B61057D32F7}"/>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E7D753EF-495B-4921-9A8B-112DAE0E392F}"/>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8E4FCEC7-A9B0-4D13-A27D-1CC88042C6EF}"/>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Time and evidence</a:t>
            </a:r>
          </a:p>
        </p:txBody>
      </p:sp>
      <p:sp>
        <p:nvSpPr>
          <p:cNvPr id="7" name="">
            <a:extLst xmlns:a="http://schemas.openxmlformats.org/drawingml/2006/main">
              <a:ext uri="{FF2B5EF4-FFF2-40B4-BE49-F238E27FC236}">
                <a16:creationId xmlns:a16="http://schemas.microsoft.com/office/drawing/2014/main" id="{70EA25FC-5409-4C3D-B3C4-CD39A3E27D57}"/>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2D26A7E1-B261-49CD-915F-BB26BEA45E99}"/>
              </a:ext>
            </a:extLst>
          </p:cNvPr>
          <p:cNvSpPr>
            <a:spLocks xmlns:a="http://schemas.openxmlformats.org/drawingml/2006/main" noGrp="1"/>
          </p:cNvSpPr>
          <p:nvPr/>
        </p:nvSpPr>
        <p:spPr>
          <a:xfrm xmlns:a="http://schemas.openxmlformats.org/drawingml/2006/main" rot="0">
            <a:off x="400050" y="895350"/>
            <a:ext cx="113823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0A0A0A"/>
                </a:solidFill>
                <a:latin typeface="DM Sans"/>
                <a:ea typeface="DM Sans"/>
                <a:cs typeface="DM Sans"/>
              </a:defRPr>
            </a:defPPr>
            <a:lvl1pPr algn="l">
              <a:defRPr sz="2850" b="0">
                <a:solidFill>
                  <a:srgbClr val="0A0A0A"/>
                </a:solidFill>
                <a:latin typeface="DM Sans"/>
                <a:ea typeface="DM Sans"/>
                <a:cs typeface="DM Sans"/>
              </a:defRPr>
            </a:lvl1pPr>
            <a:lvl2pPr algn="l">
              <a:defRPr sz="2850" b="0">
                <a:solidFill>
                  <a:srgbClr val="0A0A0A"/>
                </a:solidFill>
                <a:latin typeface="DM Sans"/>
                <a:ea typeface="DM Sans"/>
                <a:cs typeface="DM Sans"/>
              </a:defRPr>
            </a:lvl2pPr>
            <a:lvl3pPr algn="l">
              <a:defRPr sz="2850" b="0">
                <a:solidFill>
                  <a:srgbClr val="0A0A0A"/>
                </a:solidFill>
                <a:latin typeface="DM Sans"/>
                <a:ea typeface="DM Sans"/>
                <a:cs typeface="DM Sans"/>
              </a:defRPr>
            </a:lvl3pPr>
            <a:lvl4pPr algn="l">
              <a:defRPr sz="2850" b="0">
                <a:solidFill>
                  <a:srgbClr val="0A0A0A"/>
                </a:solidFill>
                <a:latin typeface="DM Sans"/>
                <a:ea typeface="DM Sans"/>
                <a:cs typeface="DM Sans"/>
              </a:defRPr>
            </a:lvl4pPr>
            <a:lvl5pPr algn="l">
              <a:defRPr sz="2850" b="0">
                <a:solidFill>
                  <a:srgbClr val="0A0A0A"/>
                </a:solidFill>
                <a:latin typeface="DM Sans"/>
                <a:ea typeface="DM Sans"/>
                <a:cs typeface="DM Sans"/>
              </a:defRPr>
            </a:lvl5pPr>
            <a:lvl6pPr algn="l">
              <a:defRPr sz="2850" b="0">
                <a:solidFill>
                  <a:srgbClr val="0A0A0A"/>
                </a:solidFill>
                <a:latin typeface="DM Sans"/>
                <a:ea typeface="DM Sans"/>
                <a:cs typeface="DM Sans"/>
              </a:defRPr>
            </a:lvl6pPr>
            <a:lvl7pPr algn="l">
              <a:defRPr sz="2850" b="0">
                <a:solidFill>
                  <a:srgbClr val="0A0A0A"/>
                </a:solidFill>
                <a:latin typeface="DM Sans"/>
                <a:ea typeface="DM Sans"/>
                <a:cs typeface="DM Sans"/>
              </a:defRPr>
            </a:lvl7pPr>
            <a:lvl8pPr algn="l">
              <a:defRPr sz="2850" b="0">
                <a:solidFill>
                  <a:srgbClr val="0A0A0A"/>
                </a:solidFill>
                <a:latin typeface="DM Sans"/>
                <a:ea typeface="DM Sans"/>
                <a:cs typeface="DM Sans"/>
              </a:defRPr>
            </a:lvl8pPr>
            <a:lvl9pPr algn="l">
              <a:defRPr sz="2850" b="0">
                <a:solidFill>
                  <a:srgbClr val="0A0A0A"/>
                </a:solidFill>
                <a:latin typeface="DM Sans"/>
                <a:ea typeface="DM Sans"/>
                <a:cs typeface="DM Sans"/>
              </a:defRPr>
            </a:lvl9pPr>
          </a:lstStyle>
          <a:p xmlns:a="http://schemas.openxmlformats.org/drawingml/2006/main">
            <a:pPr algn="l">
              <a:defRPr sz="2850" b="0">
                <a:solidFill>
                  <a:srgbClr val="0A0A0A"/>
                </a:solidFill>
                <a:latin typeface="DM Sans"/>
                <a:ea typeface="DM Sans"/>
                <a:cs typeface="DM Sans"/>
              </a:defRPr>
            </a:pPr>
            <a:r>
              <a:rPr sz="2850" b="0">
                <a:solidFill>
                  <a:srgbClr val="0A0A0A"/>
                </a:solidFill>
                <a:latin typeface="DM Sans"/>
                <a:ea typeface="DM Sans"/>
                <a:cs typeface="DM Sans"/>
              </a:rPr>
              <a:t>Mineral evidence, changing conditions and time</a:t>
            </a:r>
          </a:p>
          <a:p xmlns:a="http://schemas.openxmlformats.org/drawingml/2006/main">
            <a:pPr algn="l">
              <a:defRPr sz="2850" b="0">
                <a:solidFill>
                  <a:srgbClr val="0A0A0A"/>
                </a:solidFill>
                <a:latin typeface="DM Sans"/>
                <a:ea typeface="DM Sans"/>
                <a:cs typeface="DM Sans"/>
              </a:defRPr>
            </a:pPr>
            <a:r>
              <a:rPr sz="2850" b="0">
                <a:solidFill>
                  <a:srgbClr val="0A0A0A"/>
                </a:solidFill>
                <a:latin typeface="DM Sans"/>
                <a:ea typeface="DM Sans"/>
                <a:cs typeface="DM Sans"/>
              </a:rPr>
              <a:t>to exit belong in the same decision.</a:t>
            </a:r>
          </a:p>
        </p:txBody>
      </p:sp>
      <p:sp>
        <p:nvSpPr>
          <p:cNvPr id="9" name="">
            <a:extLst xmlns:a="http://schemas.openxmlformats.org/drawingml/2006/main">
              <a:ext uri="{FF2B5EF4-FFF2-40B4-BE49-F238E27FC236}">
                <a16:creationId xmlns:a16="http://schemas.microsoft.com/office/drawing/2014/main" id="{F2B743AC-88B7-4CA9-B232-BDE3B39EDAFA}"/>
              </a:ext>
            </a:extLst>
          </p:cNvPr>
          <p:cNvSpPr>
            <a:spLocks xmlns:a="http://schemas.openxmlformats.org/drawingml/2006/main" noGrp="1"/>
          </p:cNvSpPr>
          <p:nvPr/>
        </p:nvSpPr>
        <p:spPr>
          <a:xfrm xmlns:a="http://schemas.openxmlformats.org/drawingml/2006/main" rot="0">
            <a:off x="400050" y="2190750"/>
            <a:ext cx="10858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Our prototype investigates an assumed mineral option</a:t>
            </a:r>
          </a:p>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and tests whether it can produce cash within the time available.</a:t>
            </a:r>
          </a:p>
        </p:txBody>
      </p:sp>
      <p:sp>
        <p:nvSpPr>
          <p:cNvPr id="10" name="">
            <a:extLst xmlns:a="http://schemas.openxmlformats.org/drawingml/2006/main">
              <a:ext uri="{FF2B5EF4-FFF2-40B4-BE49-F238E27FC236}">
                <a16:creationId xmlns:a16="http://schemas.microsoft.com/office/drawing/2014/main" id="{C3F6F592-EF40-4EAB-B71B-BBDFB012FC6A}"/>
              </a:ext>
            </a:extLst>
          </p:cNvPr>
          <p:cNvSpPr>
            <a:spLocks xmlns:a="http://schemas.openxmlformats.org/drawingml/2006/main" noGrp="1"/>
          </p:cNvSpPr>
          <p:nvPr/>
        </p:nvSpPr>
        <p:spPr>
          <a:xfrm xmlns:a="http://schemas.openxmlformats.org/drawingml/2006/main">
            <a:off x="152400" y="3771900"/>
            <a:ext cx="11887200" cy="2933700"/>
          </a:xfrm>
          <a:prstGeom xmlns:a="http://schemas.openxmlformats.org/drawingml/2006/main" prst="roundRect">
            <a:avLst>
              <a:gd name="adj" fmla="val 8766"/>
            </a:avLst>
          </a:prstGeom>
          <a:solidFill xmlns:a="http://schemas.openxmlformats.org/drawingml/2006/main">
            <a:srgbClr val="0A0A0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DBF00AF-B1F2-4AE6-8DA6-9E4F230CC029}"/>
              </a:ext>
            </a:extLst>
          </p:cNvPr>
          <p:cNvSpPr>
            <a:spLocks xmlns:a="http://schemas.openxmlformats.org/drawingml/2006/main" noGrp="1"/>
          </p:cNvSpPr>
          <p:nvPr/>
        </p:nvSpPr>
        <p:spPr>
          <a:xfrm xmlns:a="http://schemas.openxmlformats.org/drawingml/2006/main" rot="0">
            <a:off x="400050" y="4019550"/>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Evidence</a:t>
            </a:r>
          </a:p>
        </p:txBody>
      </p:sp>
      <p:sp>
        <p:nvSpPr>
          <p:cNvPr id="12" name="">
            <a:extLst xmlns:a="http://schemas.openxmlformats.org/drawingml/2006/main">
              <a:ext uri="{FF2B5EF4-FFF2-40B4-BE49-F238E27FC236}">
                <a16:creationId xmlns:a16="http://schemas.microsoft.com/office/drawing/2014/main" id="{2AA6450E-6EC0-44FB-A791-CFA812F7AA80}"/>
              </a:ext>
            </a:extLst>
          </p:cNvPr>
          <p:cNvSpPr>
            <a:spLocks xmlns:a="http://schemas.openxmlformats.org/drawingml/2006/main" noGrp="1"/>
          </p:cNvSpPr>
          <p:nvPr/>
        </p:nvSpPr>
        <p:spPr>
          <a:xfrm xmlns:a="http://schemas.openxmlformats.org/drawingml/2006/main" rot="0">
            <a:off x="2114550" y="39147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COLLECTED</a:t>
            </a:r>
          </a:p>
        </p:txBody>
      </p:sp>
      <p:sp>
        <p:nvSpPr>
          <p:cNvPr id="13" name="">
            <a:extLst xmlns:a="http://schemas.openxmlformats.org/drawingml/2006/main">
              <a:ext uri="{FF2B5EF4-FFF2-40B4-BE49-F238E27FC236}">
                <a16:creationId xmlns:a16="http://schemas.microsoft.com/office/drawing/2014/main" id="{A20BA51F-DA97-4228-86CA-758A213ECD7C}"/>
              </a:ext>
            </a:extLst>
          </p:cNvPr>
          <p:cNvSpPr>
            <a:spLocks xmlns:a="http://schemas.openxmlformats.org/drawingml/2006/main" noGrp="1"/>
          </p:cNvSpPr>
          <p:nvPr/>
        </p:nvSpPr>
        <p:spPr>
          <a:xfrm xmlns:a="http://schemas.openxmlformats.org/drawingml/2006/main" rot="0">
            <a:off x="2114550" y="411480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June–July 2016</a:t>
            </a:r>
          </a:p>
        </p:txBody>
      </p:sp>
      <p:sp>
        <p:nvSpPr>
          <p:cNvPr id="14" name="">
            <a:extLst xmlns:a="http://schemas.openxmlformats.org/drawingml/2006/main">
              <a:ext uri="{FF2B5EF4-FFF2-40B4-BE49-F238E27FC236}">
                <a16:creationId xmlns:a16="http://schemas.microsoft.com/office/drawing/2014/main" id="{84476A3A-1D85-4C46-86D7-220421DD347D}"/>
              </a:ext>
            </a:extLst>
          </p:cNvPr>
          <p:cNvSpPr>
            <a:spLocks xmlns:a="http://schemas.openxmlformats.org/drawingml/2006/main" noGrp="1"/>
          </p:cNvSpPr>
          <p:nvPr/>
        </p:nvSpPr>
        <p:spPr>
          <a:xfrm xmlns:a="http://schemas.openxmlformats.org/drawingml/2006/main" rot="0">
            <a:off x="6343650" y="39147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PUBLISHED</a:t>
            </a:r>
          </a:p>
        </p:txBody>
      </p:sp>
      <p:sp>
        <p:nvSpPr>
          <p:cNvPr id="15" name="">
            <a:extLst xmlns:a="http://schemas.openxmlformats.org/drawingml/2006/main">
              <a:ext uri="{FF2B5EF4-FFF2-40B4-BE49-F238E27FC236}">
                <a16:creationId xmlns:a16="http://schemas.microsoft.com/office/drawing/2014/main" id="{52432832-7D58-44F1-9E4D-721AC689B4AE}"/>
              </a:ext>
            </a:extLst>
          </p:cNvPr>
          <p:cNvSpPr>
            <a:spLocks xmlns:a="http://schemas.openxmlformats.org/drawingml/2006/main" noGrp="1"/>
          </p:cNvSpPr>
          <p:nvPr/>
        </p:nvSpPr>
        <p:spPr>
          <a:xfrm xmlns:a="http://schemas.openxmlformats.org/drawingml/2006/main" rot="0">
            <a:off x="6343650" y="4114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November 2016</a:t>
            </a:r>
          </a:p>
        </p:txBody>
      </p:sp>
      <p:sp>
        <p:nvSpPr>
          <p:cNvPr id="16" name="">
            <a:extLst xmlns:a="http://schemas.openxmlformats.org/drawingml/2006/main">
              <a:ext uri="{FF2B5EF4-FFF2-40B4-BE49-F238E27FC236}">
                <a16:creationId xmlns:a16="http://schemas.microsoft.com/office/drawing/2014/main" id="{9E2B9BE9-E7A0-4D22-9170-DC4901E9FB77}"/>
              </a:ext>
            </a:extLst>
          </p:cNvPr>
          <p:cNvSpPr>
            <a:spLocks xmlns:a="http://schemas.openxmlformats.org/drawingml/2006/main" noGrp="1"/>
          </p:cNvSpPr>
          <p:nvPr/>
        </p:nvSpPr>
        <p:spPr>
          <a:xfrm xmlns:a="http://schemas.openxmlformats.org/drawingml/2006/main">
            <a:off x="2124075" y="4448175"/>
            <a:ext cx="9477375" cy="95"/>
          </a:xfrm>
          <a:custGeom xmlns:a="http://schemas.openxmlformats.org/drawingml/2006/main">
            <a:pathLst>
              <a:path w="9477375" h="95">
                <a:moveTo>
                  <a:pt x="0" y="0"/>
                </a:moveTo>
                <a:lnTo>
                  <a:pt x="9477375" y="0"/>
                </a:lnTo>
              </a:path>
            </a:pathLst>
          </a:custGeom>
          <a:noFill xmlns:a="http://schemas.openxmlformats.org/drawingml/2006/main"/>
          <a:ln xmlns:a="http://schemas.openxmlformats.org/drawingml/2006/main" w="7620">
            <a:solidFill>
              <a:srgbClr val="FAFAFA">
                <a:alpha val="70000"/>
              </a:srgbClr>
            </a:solidFill>
            <a:prstDash val="solid"/>
          </a:ln>
        </p:spPr>
      </p:sp>
      <p:sp>
        <p:nvSpPr>
          <p:cNvPr id="17" name="">
            <a:extLst xmlns:a="http://schemas.openxmlformats.org/drawingml/2006/main">
              <a:ext uri="{FF2B5EF4-FFF2-40B4-BE49-F238E27FC236}">
                <a16:creationId xmlns:a16="http://schemas.microsoft.com/office/drawing/2014/main" id="{5B31682E-86B7-4F7E-8AA2-A1474C171E59}"/>
              </a:ext>
            </a:extLst>
          </p:cNvPr>
          <p:cNvSpPr>
            <a:spLocks xmlns:a="http://schemas.openxmlformats.org/drawingml/2006/main" noGrp="1"/>
          </p:cNvSpPr>
          <p:nvPr/>
        </p:nvSpPr>
        <p:spPr>
          <a:xfrm xmlns:a="http://schemas.openxmlformats.org/drawingml/2006/main">
            <a:off x="2095500" y="4419600"/>
            <a:ext cx="57150" cy="57150"/>
          </a:xfrm>
          <a:prstGeom xmlns:a="http://schemas.openxmlformats.org/drawingml/2006/main" prst="ellipse">
            <a:avLst/>
          </a:prstGeom>
          <a:solidFill xmlns:a="http://schemas.openxmlformats.org/drawingml/2006/main">
            <a:srgbClr val="FAFAFA"/>
          </a:solidFill>
          <a:ln xmlns:a="http://schemas.openxmlformats.org/drawingml/2006/main" w="0">
            <a:solidFill>
              <a:srgbClr val="FAFAFA"/>
            </a:solidFill>
            <a:prstDash val="solid"/>
          </a:ln>
        </p:spPr>
      </p:sp>
      <p:sp>
        <p:nvSpPr>
          <p:cNvPr id="18" name="">
            <a:extLst xmlns:a="http://schemas.openxmlformats.org/drawingml/2006/main">
              <a:ext uri="{FF2B5EF4-FFF2-40B4-BE49-F238E27FC236}">
                <a16:creationId xmlns:a16="http://schemas.microsoft.com/office/drawing/2014/main" id="{074F396D-CB12-4820-864B-0A6DF2174B7D}"/>
              </a:ext>
            </a:extLst>
          </p:cNvPr>
          <p:cNvSpPr>
            <a:spLocks xmlns:a="http://schemas.openxmlformats.org/drawingml/2006/main" noGrp="1"/>
          </p:cNvSpPr>
          <p:nvPr/>
        </p:nvSpPr>
        <p:spPr>
          <a:xfrm xmlns:a="http://schemas.openxmlformats.org/drawingml/2006/main">
            <a:off x="6315075" y="4419600"/>
            <a:ext cx="57150" cy="57150"/>
          </a:xfrm>
          <a:prstGeom xmlns:a="http://schemas.openxmlformats.org/drawingml/2006/main" prst="ellipse">
            <a:avLst/>
          </a:prstGeom>
          <a:solidFill xmlns:a="http://schemas.openxmlformats.org/drawingml/2006/main">
            <a:srgbClr val="FAFAFA"/>
          </a:solidFill>
          <a:ln xmlns:a="http://schemas.openxmlformats.org/drawingml/2006/main" w="0">
            <a:solidFill>
              <a:srgbClr val="FAFAFA"/>
            </a:solidFill>
            <a:prstDash val="solid"/>
          </a:ln>
        </p:spPr>
      </p:sp>
      <p:sp>
        <p:nvSpPr>
          <p:cNvPr id="19" name="">
            <a:extLst xmlns:a="http://schemas.openxmlformats.org/drawingml/2006/main">
              <a:ext uri="{FF2B5EF4-FFF2-40B4-BE49-F238E27FC236}">
                <a16:creationId xmlns:a16="http://schemas.microsoft.com/office/drawing/2014/main" id="{E6068CBD-4D16-4893-A4B8-12624BFAEE2D}"/>
              </a:ext>
            </a:extLst>
          </p:cNvPr>
          <p:cNvSpPr>
            <a:spLocks xmlns:a="http://schemas.openxmlformats.org/drawingml/2006/main" noGrp="1"/>
          </p:cNvSpPr>
          <p:nvPr/>
        </p:nvSpPr>
        <p:spPr>
          <a:xfrm xmlns:a="http://schemas.openxmlformats.org/drawingml/2006/main">
            <a:off x="11315700" y="4448175"/>
            <a:ext cx="485775" cy="95"/>
          </a:xfrm>
          <a:custGeom xmlns:a="http://schemas.openxmlformats.org/drawingml/2006/main">
            <a:pathLst>
              <a:path w="485775" h="95">
                <a:moveTo>
                  <a:pt x="0" y="0"/>
                </a:moveTo>
                <a:lnTo>
                  <a:pt x="485775" y="0"/>
                </a:lnTo>
              </a:path>
            </a:pathLst>
          </a:custGeom>
          <a:noFill xmlns:a="http://schemas.openxmlformats.org/drawingml/2006/main"/>
          <a:ln xmlns:a="http://schemas.openxmlformats.org/drawingml/2006/main" w="7144">
            <a:solidFill>
              <a:srgbClr val="FAFAFA"/>
            </a:solidFill>
            <a:prstDash val="solid"/>
          </a:ln>
        </p:spPr>
      </p:sp>
      <p:sp>
        <p:nvSpPr>
          <p:cNvPr id="20" name="">
            <a:extLst xmlns:a="http://schemas.openxmlformats.org/drawingml/2006/main">
              <a:ext uri="{FF2B5EF4-FFF2-40B4-BE49-F238E27FC236}">
                <a16:creationId xmlns:a16="http://schemas.microsoft.com/office/drawing/2014/main" id="{393C04AB-FD58-480C-BA25-467436342773}"/>
              </a:ext>
            </a:extLst>
          </p:cNvPr>
          <p:cNvSpPr>
            <a:spLocks xmlns:a="http://schemas.openxmlformats.org/drawingml/2006/main" noGrp="1"/>
          </p:cNvSpPr>
          <p:nvPr/>
        </p:nvSpPr>
        <p:spPr>
          <a:xfrm xmlns:a="http://schemas.openxmlformats.org/drawingml/2006/main">
            <a:off x="11763375" y="4419600"/>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21" name="">
            <a:extLst xmlns:a="http://schemas.openxmlformats.org/drawingml/2006/main">
              <a:ext uri="{FF2B5EF4-FFF2-40B4-BE49-F238E27FC236}">
                <a16:creationId xmlns:a16="http://schemas.microsoft.com/office/drawing/2014/main" id="{1FB249FD-97BD-466B-B9B3-32899B0CA131}"/>
              </a:ext>
            </a:extLst>
          </p:cNvPr>
          <p:cNvSpPr>
            <a:spLocks xmlns:a="http://schemas.openxmlformats.org/drawingml/2006/main" noGrp="1"/>
          </p:cNvSpPr>
          <p:nvPr/>
        </p:nvSpPr>
        <p:spPr>
          <a:xfrm xmlns:a="http://schemas.openxmlformats.org/drawingml/2006/main">
            <a:off x="11763375" y="4448175"/>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22" name="">
            <a:extLst xmlns:a="http://schemas.openxmlformats.org/drawingml/2006/main">
              <a:ext uri="{FF2B5EF4-FFF2-40B4-BE49-F238E27FC236}">
                <a16:creationId xmlns:a16="http://schemas.microsoft.com/office/drawing/2014/main" id="{5839D842-F950-4730-ABEA-4504C85D3D6A}"/>
              </a:ext>
            </a:extLst>
          </p:cNvPr>
          <p:cNvSpPr>
            <a:spLocks xmlns:a="http://schemas.openxmlformats.org/drawingml/2006/main" noGrp="1"/>
          </p:cNvSpPr>
          <p:nvPr/>
        </p:nvSpPr>
        <p:spPr>
          <a:xfrm xmlns:a="http://schemas.openxmlformats.org/drawingml/2006/main" rot="0">
            <a:off x="400050" y="47720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Simulation</a:t>
            </a:r>
          </a:p>
        </p:txBody>
      </p:sp>
      <p:sp>
        <p:nvSpPr>
          <p:cNvPr id="23" name="">
            <a:extLst xmlns:a="http://schemas.openxmlformats.org/drawingml/2006/main">
              <a:ext uri="{FF2B5EF4-FFF2-40B4-BE49-F238E27FC236}">
                <a16:creationId xmlns:a16="http://schemas.microsoft.com/office/drawing/2014/main" id="{C80725CA-B7DA-4C2F-B1AB-7763B49587E1}"/>
              </a:ext>
            </a:extLst>
          </p:cNvPr>
          <p:cNvSpPr>
            <a:spLocks xmlns:a="http://schemas.openxmlformats.org/drawingml/2006/main" noGrp="1"/>
          </p:cNvSpPr>
          <p:nvPr/>
        </p:nvSpPr>
        <p:spPr>
          <a:xfrm xmlns:a="http://schemas.openxmlformats.org/drawingml/2006/main" rot="0">
            <a:off x="2124075" y="4657725"/>
            <a:ext cx="390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Five simulated days</a:t>
            </a:r>
          </a:p>
        </p:txBody>
      </p:sp>
      <p:sp>
        <p:nvSpPr>
          <p:cNvPr id="24" name="">
            <a:extLst xmlns:a="http://schemas.openxmlformats.org/drawingml/2006/main">
              <a:ext uri="{FF2B5EF4-FFF2-40B4-BE49-F238E27FC236}">
                <a16:creationId xmlns:a16="http://schemas.microsoft.com/office/drawing/2014/main" id="{CACC0C61-B0BB-4D4B-BACA-1E1BD26164D9}"/>
              </a:ext>
            </a:extLst>
          </p:cNvPr>
          <p:cNvSpPr>
            <a:spLocks xmlns:a="http://schemas.openxmlformats.org/drawingml/2006/main" noGrp="1"/>
          </p:cNvSpPr>
          <p:nvPr/>
        </p:nvSpPr>
        <p:spPr>
          <a:xfrm xmlns:a="http://schemas.openxmlformats.org/drawingml/2006/main" rot="0">
            <a:off x="8477250" y="46577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AFAFA"/>
                </a:solidFill>
                <a:latin typeface="DM Sans"/>
                <a:ea typeface="DM Sans"/>
                <a:cs typeface="DM Sans"/>
              </a:defRPr>
            </a:defPPr>
            <a:lvl1pPr algn="l">
              <a:defRPr sz="1050" b="0">
                <a:solidFill>
                  <a:srgbClr val="FAFAFA"/>
                </a:solidFill>
                <a:latin typeface="DM Sans"/>
                <a:ea typeface="DM Sans"/>
                <a:cs typeface="DM Sans"/>
              </a:defRPr>
            </a:lvl1pPr>
            <a:lvl2pPr algn="l">
              <a:defRPr sz="1050" b="0">
                <a:solidFill>
                  <a:srgbClr val="FAFAFA"/>
                </a:solidFill>
                <a:latin typeface="DM Sans"/>
                <a:ea typeface="DM Sans"/>
                <a:cs typeface="DM Sans"/>
              </a:defRPr>
            </a:lvl2pPr>
            <a:lvl3pPr algn="l">
              <a:defRPr sz="1050" b="0">
                <a:solidFill>
                  <a:srgbClr val="FAFAFA"/>
                </a:solidFill>
                <a:latin typeface="DM Sans"/>
                <a:ea typeface="DM Sans"/>
                <a:cs typeface="DM Sans"/>
              </a:defRPr>
            </a:lvl3pPr>
            <a:lvl4pPr algn="l">
              <a:defRPr sz="1050" b="0">
                <a:solidFill>
                  <a:srgbClr val="FAFAFA"/>
                </a:solidFill>
                <a:latin typeface="DM Sans"/>
                <a:ea typeface="DM Sans"/>
                <a:cs typeface="DM Sans"/>
              </a:defRPr>
            </a:lvl4pPr>
            <a:lvl5pPr algn="l">
              <a:defRPr sz="1050" b="0">
                <a:solidFill>
                  <a:srgbClr val="FAFAFA"/>
                </a:solidFill>
                <a:latin typeface="DM Sans"/>
                <a:ea typeface="DM Sans"/>
                <a:cs typeface="DM Sans"/>
              </a:defRPr>
            </a:lvl5pPr>
            <a:lvl6pPr algn="l">
              <a:defRPr sz="1050" b="0">
                <a:solidFill>
                  <a:srgbClr val="FAFAFA"/>
                </a:solidFill>
                <a:latin typeface="DM Sans"/>
                <a:ea typeface="DM Sans"/>
                <a:cs typeface="DM Sans"/>
              </a:defRPr>
            </a:lvl6pPr>
            <a:lvl7pPr algn="l">
              <a:defRPr sz="1050" b="0">
                <a:solidFill>
                  <a:srgbClr val="FAFAFA"/>
                </a:solidFill>
                <a:latin typeface="DM Sans"/>
                <a:ea typeface="DM Sans"/>
                <a:cs typeface="DM Sans"/>
              </a:defRPr>
            </a:lvl7pPr>
            <a:lvl8pPr algn="l">
              <a:defRPr sz="1050" b="0">
                <a:solidFill>
                  <a:srgbClr val="FAFAFA"/>
                </a:solidFill>
                <a:latin typeface="DM Sans"/>
                <a:ea typeface="DM Sans"/>
                <a:cs typeface="DM Sans"/>
              </a:defRPr>
            </a:lvl8pPr>
            <a:lvl9pPr algn="l">
              <a:defRPr sz="1050" b="0">
                <a:solidFill>
                  <a:srgbClr val="FAFAFA"/>
                </a:solidFill>
                <a:latin typeface="DM Sans"/>
                <a:ea typeface="DM Sans"/>
                <a:cs typeface="DM Sans"/>
              </a:defRPr>
            </a:lvl9pPr>
          </a:lstStyle>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News at day 3</a:t>
            </a:r>
          </a:p>
        </p:txBody>
      </p:sp>
      <p:sp>
        <p:nvSpPr>
          <p:cNvPr id="25" name="">
            <a:extLst xmlns:a="http://schemas.openxmlformats.org/drawingml/2006/main">
              <a:ext uri="{FF2B5EF4-FFF2-40B4-BE49-F238E27FC236}">
                <a16:creationId xmlns:a16="http://schemas.microsoft.com/office/drawing/2014/main" id="{800A4B49-9287-46E7-9BEF-B9BFE03F5BA4}"/>
              </a:ext>
            </a:extLst>
          </p:cNvPr>
          <p:cNvSpPr>
            <a:spLocks xmlns:a="http://schemas.openxmlformats.org/drawingml/2006/main" noGrp="1"/>
          </p:cNvSpPr>
          <p:nvPr/>
        </p:nvSpPr>
        <p:spPr>
          <a:xfrm xmlns:a="http://schemas.openxmlformats.org/drawingml/2006/main">
            <a:off x="2124075" y="5105400"/>
            <a:ext cx="9677400" cy="95"/>
          </a:xfrm>
          <a:custGeom xmlns:a="http://schemas.openxmlformats.org/drawingml/2006/main">
            <a:pathLst>
              <a:path w="9677400" h="95">
                <a:moveTo>
                  <a:pt x="0" y="0"/>
                </a:moveTo>
                <a:lnTo>
                  <a:pt x="9677400" y="0"/>
                </a:lnTo>
              </a:path>
            </a:pathLst>
          </a:custGeom>
          <a:noFill xmlns:a="http://schemas.openxmlformats.org/drawingml/2006/main"/>
          <a:ln xmlns:a="http://schemas.openxmlformats.org/drawingml/2006/main" w="7620">
            <a:solidFill>
              <a:srgbClr val="FAFAFA">
                <a:alpha val="75000"/>
              </a:srgbClr>
            </a:solidFill>
            <a:prstDash val="solid"/>
          </a:ln>
        </p:spPr>
      </p:sp>
      <p:sp>
        <p:nvSpPr>
          <p:cNvPr id="26" name="">
            <a:extLst xmlns:a="http://schemas.openxmlformats.org/drawingml/2006/main">
              <a:ext uri="{FF2B5EF4-FFF2-40B4-BE49-F238E27FC236}">
                <a16:creationId xmlns:a16="http://schemas.microsoft.com/office/drawing/2014/main" id="{84E7CABF-1A01-4B68-AF90-C70E3F14003B}"/>
              </a:ext>
            </a:extLst>
          </p:cNvPr>
          <p:cNvSpPr>
            <a:spLocks xmlns:a="http://schemas.openxmlformats.org/drawingml/2006/main" noGrp="1"/>
          </p:cNvSpPr>
          <p:nvPr/>
        </p:nvSpPr>
        <p:spPr>
          <a:xfrm xmlns:a="http://schemas.openxmlformats.org/drawingml/2006/main">
            <a:off x="22574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27" name="">
            <a:extLst xmlns:a="http://schemas.openxmlformats.org/drawingml/2006/main">
              <a:ext uri="{FF2B5EF4-FFF2-40B4-BE49-F238E27FC236}">
                <a16:creationId xmlns:a16="http://schemas.microsoft.com/office/drawing/2014/main" id="{305552C9-DD14-4C71-89E1-394909D256D3}"/>
              </a:ext>
            </a:extLst>
          </p:cNvPr>
          <p:cNvSpPr>
            <a:spLocks xmlns:a="http://schemas.openxmlformats.org/drawingml/2006/main" noGrp="1"/>
          </p:cNvSpPr>
          <p:nvPr/>
        </p:nvSpPr>
        <p:spPr>
          <a:xfrm xmlns:a="http://schemas.openxmlformats.org/drawingml/2006/main" rot="0">
            <a:off x="19431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1</a:t>
            </a:r>
          </a:p>
        </p:txBody>
      </p:sp>
      <p:sp>
        <p:nvSpPr>
          <p:cNvPr id="28" name="">
            <a:extLst xmlns:a="http://schemas.openxmlformats.org/drawingml/2006/main">
              <a:ext uri="{FF2B5EF4-FFF2-40B4-BE49-F238E27FC236}">
                <a16:creationId xmlns:a16="http://schemas.microsoft.com/office/drawing/2014/main" id="{F1B58D8A-E95D-4EE1-BBF6-610BEA0159E1}"/>
              </a:ext>
            </a:extLst>
          </p:cNvPr>
          <p:cNvSpPr>
            <a:spLocks xmlns:a="http://schemas.openxmlformats.org/drawingml/2006/main" noGrp="1"/>
          </p:cNvSpPr>
          <p:nvPr/>
        </p:nvSpPr>
        <p:spPr>
          <a:xfrm xmlns:a="http://schemas.openxmlformats.org/drawingml/2006/main">
            <a:off x="456247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29" name="">
            <a:extLst xmlns:a="http://schemas.openxmlformats.org/drawingml/2006/main">
              <a:ext uri="{FF2B5EF4-FFF2-40B4-BE49-F238E27FC236}">
                <a16:creationId xmlns:a16="http://schemas.microsoft.com/office/drawing/2014/main" id="{59B8F814-DCFE-47A3-AAC8-1CC915AF1391}"/>
              </a:ext>
            </a:extLst>
          </p:cNvPr>
          <p:cNvSpPr>
            <a:spLocks xmlns:a="http://schemas.openxmlformats.org/drawingml/2006/main" noGrp="1"/>
          </p:cNvSpPr>
          <p:nvPr/>
        </p:nvSpPr>
        <p:spPr>
          <a:xfrm xmlns:a="http://schemas.openxmlformats.org/drawingml/2006/main" rot="0">
            <a:off x="424815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2</a:t>
            </a:r>
          </a:p>
        </p:txBody>
      </p:sp>
      <p:sp>
        <p:nvSpPr>
          <p:cNvPr id="30" name="">
            <a:extLst xmlns:a="http://schemas.openxmlformats.org/drawingml/2006/main">
              <a:ext uri="{FF2B5EF4-FFF2-40B4-BE49-F238E27FC236}">
                <a16:creationId xmlns:a16="http://schemas.microsoft.com/office/drawing/2014/main" id="{0FAF5B08-471D-49F6-99C8-3BFE9FC8586E}"/>
              </a:ext>
            </a:extLst>
          </p:cNvPr>
          <p:cNvSpPr>
            <a:spLocks xmlns:a="http://schemas.openxmlformats.org/drawingml/2006/main" noGrp="1"/>
          </p:cNvSpPr>
          <p:nvPr/>
        </p:nvSpPr>
        <p:spPr>
          <a:xfrm xmlns:a="http://schemas.openxmlformats.org/drawingml/2006/main">
            <a:off x="68675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1" name="">
            <a:extLst xmlns:a="http://schemas.openxmlformats.org/drawingml/2006/main">
              <a:ext uri="{FF2B5EF4-FFF2-40B4-BE49-F238E27FC236}">
                <a16:creationId xmlns:a16="http://schemas.microsoft.com/office/drawing/2014/main" id="{8981A578-1D32-4430-8189-9D14FF38E80C}"/>
              </a:ext>
            </a:extLst>
          </p:cNvPr>
          <p:cNvSpPr>
            <a:spLocks xmlns:a="http://schemas.openxmlformats.org/drawingml/2006/main" noGrp="1"/>
          </p:cNvSpPr>
          <p:nvPr/>
        </p:nvSpPr>
        <p:spPr>
          <a:xfrm xmlns:a="http://schemas.openxmlformats.org/drawingml/2006/main" rot="0">
            <a:off x="65532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22C55E"/>
                </a:solidFill>
                <a:latin typeface="DM Sans"/>
                <a:ea typeface="DM Sans"/>
                <a:cs typeface="DM Sans"/>
              </a:defRPr>
            </a:defPPr>
            <a:lvl1pPr algn="ctr">
              <a:defRPr sz="750" b="0">
                <a:solidFill>
                  <a:srgbClr val="22C55E"/>
                </a:solidFill>
                <a:latin typeface="DM Sans"/>
                <a:ea typeface="DM Sans"/>
                <a:cs typeface="DM Sans"/>
              </a:defRPr>
            </a:lvl1pPr>
            <a:lvl2pPr algn="ctr">
              <a:defRPr sz="750" b="0">
                <a:solidFill>
                  <a:srgbClr val="22C55E"/>
                </a:solidFill>
                <a:latin typeface="DM Sans"/>
                <a:ea typeface="DM Sans"/>
                <a:cs typeface="DM Sans"/>
              </a:defRPr>
            </a:lvl2pPr>
            <a:lvl3pPr algn="ctr">
              <a:defRPr sz="750" b="0">
                <a:solidFill>
                  <a:srgbClr val="22C55E"/>
                </a:solidFill>
                <a:latin typeface="DM Sans"/>
                <a:ea typeface="DM Sans"/>
                <a:cs typeface="DM Sans"/>
              </a:defRPr>
            </a:lvl3pPr>
            <a:lvl4pPr algn="ctr">
              <a:defRPr sz="750" b="0">
                <a:solidFill>
                  <a:srgbClr val="22C55E"/>
                </a:solidFill>
                <a:latin typeface="DM Sans"/>
                <a:ea typeface="DM Sans"/>
                <a:cs typeface="DM Sans"/>
              </a:defRPr>
            </a:lvl4pPr>
            <a:lvl5pPr algn="ctr">
              <a:defRPr sz="750" b="0">
                <a:solidFill>
                  <a:srgbClr val="22C55E"/>
                </a:solidFill>
                <a:latin typeface="DM Sans"/>
                <a:ea typeface="DM Sans"/>
                <a:cs typeface="DM Sans"/>
              </a:defRPr>
            </a:lvl5pPr>
            <a:lvl6pPr algn="ctr">
              <a:defRPr sz="750" b="0">
                <a:solidFill>
                  <a:srgbClr val="22C55E"/>
                </a:solidFill>
                <a:latin typeface="DM Sans"/>
                <a:ea typeface="DM Sans"/>
                <a:cs typeface="DM Sans"/>
              </a:defRPr>
            </a:lvl6pPr>
            <a:lvl7pPr algn="ctr">
              <a:defRPr sz="750" b="0">
                <a:solidFill>
                  <a:srgbClr val="22C55E"/>
                </a:solidFill>
                <a:latin typeface="DM Sans"/>
                <a:ea typeface="DM Sans"/>
                <a:cs typeface="DM Sans"/>
              </a:defRPr>
            </a:lvl7pPr>
            <a:lvl8pPr algn="ctr">
              <a:defRPr sz="750" b="0">
                <a:solidFill>
                  <a:srgbClr val="22C55E"/>
                </a:solidFill>
                <a:latin typeface="DM Sans"/>
                <a:ea typeface="DM Sans"/>
                <a:cs typeface="DM Sans"/>
              </a:defRPr>
            </a:lvl8pPr>
            <a:lvl9pPr algn="ctr">
              <a:defRPr sz="750" b="0">
                <a:solidFill>
                  <a:srgbClr val="22C55E"/>
                </a:solidFill>
                <a:latin typeface="DM Sans"/>
                <a:ea typeface="DM Sans"/>
                <a:cs typeface="DM Sans"/>
              </a:defRPr>
            </a:lvl9pPr>
          </a:lstStyle>
          <a:p xmlns:a="http://schemas.openxmlformats.org/drawingml/2006/main">
            <a:pPr algn="ctr">
              <a:defRPr sz="750" b="0">
                <a:solidFill>
                  <a:srgbClr val="22C55E"/>
                </a:solidFill>
                <a:latin typeface="DM Sans"/>
                <a:ea typeface="DM Sans"/>
                <a:cs typeface="DM Sans"/>
              </a:defRPr>
            </a:pPr>
            <a:r>
              <a:rPr sz="750" b="0">
                <a:solidFill>
                  <a:srgbClr val="22C55E"/>
                </a:solidFill>
                <a:latin typeface="DM Sans"/>
                <a:ea typeface="DM Sans"/>
                <a:cs typeface="DM Sans"/>
              </a:rPr>
              <a:t>DAY 3</a:t>
            </a:r>
          </a:p>
        </p:txBody>
      </p:sp>
      <p:sp>
        <p:nvSpPr>
          <p:cNvPr id="32" name="">
            <a:extLst xmlns:a="http://schemas.openxmlformats.org/drawingml/2006/main">
              <a:ext uri="{FF2B5EF4-FFF2-40B4-BE49-F238E27FC236}">
                <a16:creationId xmlns:a16="http://schemas.microsoft.com/office/drawing/2014/main" id="{E20B989F-CE12-4232-81AB-979EC7F6CBA7}"/>
              </a:ext>
            </a:extLst>
          </p:cNvPr>
          <p:cNvSpPr>
            <a:spLocks xmlns:a="http://schemas.openxmlformats.org/drawingml/2006/main" noGrp="1"/>
          </p:cNvSpPr>
          <p:nvPr/>
        </p:nvSpPr>
        <p:spPr>
          <a:xfrm xmlns:a="http://schemas.openxmlformats.org/drawingml/2006/main">
            <a:off x="917257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3" name="">
            <a:extLst xmlns:a="http://schemas.openxmlformats.org/drawingml/2006/main">
              <a:ext uri="{FF2B5EF4-FFF2-40B4-BE49-F238E27FC236}">
                <a16:creationId xmlns:a16="http://schemas.microsoft.com/office/drawing/2014/main" id="{2F829D63-3772-475B-B066-40438B116E1E}"/>
              </a:ext>
            </a:extLst>
          </p:cNvPr>
          <p:cNvSpPr>
            <a:spLocks xmlns:a="http://schemas.openxmlformats.org/drawingml/2006/main" noGrp="1"/>
          </p:cNvSpPr>
          <p:nvPr/>
        </p:nvSpPr>
        <p:spPr>
          <a:xfrm xmlns:a="http://schemas.openxmlformats.org/drawingml/2006/main" rot="0">
            <a:off x="885825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4</a:t>
            </a:r>
          </a:p>
        </p:txBody>
      </p:sp>
      <p:sp>
        <p:nvSpPr>
          <p:cNvPr id="34" name="">
            <a:extLst xmlns:a="http://schemas.openxmlformats.org/drawingml/2006/main">
              <a:ext uri="{FF2B5EF4-FFF2-40B4-BE49-F238E27FC236}">
                <a16:creationId xmlns:a16="http://schemas.microsoft.com/office/drawing/2014/main" id="{41ADE8E3-F03A-4689-8031-C36728A386B7}"/>
              </a:ext>
            </a:extLst>
          </p:cNvPr>
          <p:cNvSpPr>
            <a:spLocks xmlns:a="http://schemas.openxmlformats.org/drawingml/2006/main" noGrp="1"/>
          </p:cNvSpPr>
          <p:nvPr/>
        </p:nvSpPr>
        <p:spPr>
          <a:xfrm xmlns:a="http://schemas.openxmlformats.org/drawingml/2006/main">
            <a:off x="114776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5" name="">
            <a:extLst xmlns:a="http://schemas.openxmlformats.org/drawingml/2006/main">
              <a:ext uri="{FF2B5EF4-FFF2-40B4-BE49-F238E27FC236}">
                <a16:creationId xmlns:a16="http://schemas.microsoft.com/office/drawing/2014/main" id="{9428BE96-6132-4BC9-A209-D5DEF10C8C65}"/>
              </a:ext>
            </a:extLst>
          </p:cNvPr>
          <p:cNvSpPr>
            <a:spLocks xmlns:a="http://schemas.openxmlformats.org/drawingml/2006/main" noGrp="1"/>
          </p:cNvSpPr>
          <p:nvPr/>
        </p:nvSpPr>
        <p:spPr>
          <a:xfrm xmlns:a="http://schemas.openxmlformats.org/drawingml/2006/main" rot="0">
            <a:off x="111633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5</a:t>
            </a:r>
          </a:p>
        </p:txBody>
      </p:sp>
      <p:sp>
        <p:nvSpPr>
          <p:cNvPr id="36" name="">
            <a:extLst xmlns:a="http://schemas.openxmlformats.org/drawingml/2006/main">
              <a:ext uri="{FF2B5EF4-FFF2-40B4-BE49-F238E27FC236}">
                <a16:creationId xmlns:a16="http://schemas.microsoft.com/office/drawing/2014/main" id="{8CE72BC7-E167-41B8-873E-9EEF41070D37}"/>
              </a:ext>
            </a:extLst>
          </p:cNvPr>
          <p:cNvSpPr>
            <a:spLocks xmlns:a="http://schemas.openxmlformats.org/drawingml/2006/main" noGrp="1"/>
          </p:cNvSpPr>
          <p:nvPr/>
        </p:nvSpPr>
        <p:spPr>
          <a:xfrm xmlns:a="http://schemas.openxmlformats.org/drawingml/2006/main" rot="0">
            <a:off x="400050" y="5753100"/>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Assignment</a:t>
            </a:r>
          </a:p>
        </p:txBody>
      </p:sp>
      <p:sp>
        <p:nvSpPr>
          <p:cNvPr id="37" name="">
            <a:extLst xmlns:a="http://schemas.openxmlformats.org/drawingml/2006/main">
              <a:ext uri="{FF2B5EF4-FFF2-40B4-BE49-F238E27FC236}">
                <a16:creationId xmlns:a16="http://schemas.microsoft.com/office/drawing/2014/main" id="{F99A1C8F-637C-4513-99F0-B7DC4F68F06D}"/>
              </a:ext>
            </a:extLst>
          </p:cNvPr>
          <p:cNvSpPr>
            <a:spLocks xmlns:a="http://schemas.openxmlformats.org/drawingml/2006/main" noGrp="1"/>
          </p:cNvSpPr>
          <p:nvPr/>
        </p:nvSpPr>
        <p:spPr>
          <a:xfrm xmlns:a="http://schemas.openxmlformats.org/drawingml/2006/main" rot="0">
            <a:off x="2124075" y="56007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HOLDING PERIOD</a:t>
            </a:r>
          </a:p>
        </p:txBody>
      </p:sp>
      <p:sp>
        <p:nvSpPr>
          <p:cNvPr id="38" name="">
            <a:extLst xmlns:a="http://schemas.openxmlformats.org/drawingml/2006/main">
              <a:ext uri="{FF2B5EF4-FFF2-40B4-BE49-F238E27FC236}">
                <a16:creationId xmlns:a16="http://schemas.microsoft.com/office/drawing/2014/main" id="{E3AA52BF-3B9E-4AA5-AD3E-C02C1100A864}"/>
              </a:ext>
            </a:extLst>
          </p:cNvPr>
          <p:cNvSpPr>
            <a:spLocks xmlns:a="http://schemas.openxmlformats.org/drawingml/2006/main" noGrp="1"/>
          </p:cNvSpPr>
          <p:nvPr/>
        </p:nvSpPr>
        <p:spPr>
          <a:xfrm xmlns:a="http://schemas.openxmlformats.org/drawingml/2006/main">
            <a:off x="2124075" y="5962650"/>
            <a:ext cx="9677400" cy="95"/>
          </a:xfrm>
          <a:custGeom xmlns:a="http://schemas.openxmlformats.org/drawingml/2006/main">
            <a:pathLst>
              <a:path w="9677400" h="95">
                <a:moveTo>
                  <a:pt x="0" y="0"/>
                </a:moveTo>
                <a:lnTo>
                  <a:pt x="9677400" y="0"/>
                </a:lnTo>
              </a:path>
            </a:pathLst>
          </a:custGeom>
          <a:noFill xmlns:a="http://schemas.openxmlformats.org/drawingml/2006/main"/>
          <a:ln xmlns:a="http://schemas.openxmlformats.org/drawingml/2006/main" w="7620">
            <a:solidFill>
              <a:srgbClr val="FAFAFA">
                <a:alpha val="75000"/>
              </a:srgbClr>
            </a:solidFill>
            <a:prstDash val="solid"/>
          </a:ln>
        </p:spPr>
      </p:sp>
      <p:sp>
        <p:nvSpPr>
          <p:cNvPr id="39" name="">
            <a:extLst xmlns:a="http://schemas.openxmlformats.org/drawingml/2006/main">
              <a:ext uri="{FF2B5EF4-FFF2-40B4-BE49-F238E27FC236}">
                <a16:creationId xmlns:a16="http://schemas.microsoft.com/office/drawing/2014/main" id="{616F82EF-FC1C-4510-A46A-2A14C6F627E1}"/>
              </a:ext>
            </a:extLst>
          </p:cNvPr>
          <p:cNvSpPr>
            <a:spLocks xmlns:a="http://schemas.openxmlformats.org/drawingml/2006/main" noGrp="1"/>
          </p:cNvSpPr>
          <p:nvPr/>
        </p:nvSpPr>
        <p:spPr>
          <a:xfrm xmlns:a="http://schemas.openxmlformats.org/drawingml/2006/main">
            <a:off x="3733800"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0" name="">
            <a:extLst xmlns:a="http://schemas.openxmlformats.org/drawingml/2006/main">
              <a:ext uri="{FF2B5EF4-FFF2-40B4-BE49-F238E27FC236}">
                <a16:creationId xmlns:a16="http://schemas.microsoft.com/office/drawing/2014/main" id="{6E0B28C7-2C26-430A-BF33-E7511C543B8F}"/>
              </a:ext>
            </a:extLst>
          </p:cNvPr>
          <p:cNvSpPr>
            <a:spLocks xmlns:a="http://schemas.openxmlformats.org/drawingml/2006/main" noGrp="1"/>
          </p:cNvSpPr>
          <p:nvPr/>
        </p:nvSpPr>
        <p:spPr>
          <a:xfrm xmlns:a="http://schemas.openxmlformats.org/drawingml/2006/main" rot="0">
            <a:off x="3295650"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FAFAFA"/>
                </a:solidFill>
                <a:latin typeface="DM Sans"/>
                <a:ea typeface="DM Sans"/>
                <a:cs typeface="DM Sans"/>
              </a:defRPr>
            </a:defPPr>
            <a:lvl1pPr algn="ctr">
              <a:defRPr sz="900" b="0">
                <a:solidFill>
                  <a:srgbClr val="FAFAFA"/>
                </a:solidFill>
                <a:latin typeface="DM Sans"/>
                <a:ea typeface="DM Sans"/>
                <a:cs typeface="DM Sans"/>
              </a:defRPr>
            </a:lvl1pPr>
            <a:lvl2pPr algn="ctr">
              <a:defRPr sz="900" b="0">
                <a:solidFill>
                  <a:srgbClr val="FAFAFA"/>
                </a:solidFill>
                <a:latin typeface="DM Sans"/>
                <a:ea typeface="DM Sans"/>
                <a:cs typeface="DM Sans"/>
              </a:defRPr>
            </a:lvl2pPr>
            <a:lvl3pPr algn="ctr">
              <a:defRPr sz="900" b="0">
                <a:solidFill>
                  <a:srgbClr val="FAFAFA"/>
                </a:solidFill>
                <a:latin typeface="DM Sans"/>
                <a:ea typeface="DM Sans"/>
                <a:cs typeface="DM Sans"/>
              </a:defRPr>
            </a:lvl3pPr>
            <a:lvl4pPr algn="ctr">
              <a:defRPr sz="900" b="0">
                <a:solidFill>
                  <a:srgbClr val="FAFAFA"/>
                </a:solidFill>
                <a:latin typeface="DM Sans"/>
                <a:ea typeface="DM Sans"/>
                <a:cs typeface="DM Sans"/>
              </a:defRPr>
            </a:lvl4pPr>
            <a:lvl5pPr algn="ctr">
              <a:defRPr sz="900" b="0">
                <a:solidFill>
                  <a:srgbClr val="FAFAFA"/>
                </a:solidFill>
                <a:latin typeface="DM Sans"/>
                <a:ea typeface="DM Sans"/>
                <a:cs typeface="DM Sans"/>
              </a:defRPr>
            </a:lvl5pPr>
            <a:lvl6pPr algn="ctr">
              <a:defRPr sz="900" b="0">
                <a:solidFill>
                  <a:srgbClr val="FAFAFA"/>
                </a:solidFill>
                <a:latin typeface="DM Sans"/>
                <a:ea typeface="DM Sans"/>
                <a:cs typeface="DM Sans"/>
              </a:defRPr>
            </a:lvl6pPr>
            <a:lvl7pPr algn="ctr">
              <a:defRPr sz="900" b="0">
                <a:solidFill>
                  <a:srgbClr val="FAFAFA"/>
                </a:solidFill>
                <a:latin typeface="DM Sans"/>
                <a:ea typeface="DM Sans"/>
                <a:cs typeface="DM Sans"/>
              </a:defRPr>
            </a:lvl7pPr>
            <a:lvl8pPr algn="ctr">
              <a:defRPr sz="900" b="0">
                <a:solidFill>
                  <a:srgbClr val="FAFAFA"/>
                </a:solidFill>
                <a:latin typeface="DM Sans"/>
                <a:ea typeface="DM Sans"/>
                <a:cs typeface="DM Sans"/>
              </a:defRPr>
            </a:lvl8pPr>
            <a:lvl9pPr algn="ctr">
              <a:defRPr sz="900" b="0">
                <a:solidFill>
                  <a:srgbClr val="FAFAFA"/>
                </a:solidFill>
                <a:latin typeface="DM Sans"/>
                <a:ea typeface="DM Sans"/>
                <a:cs typeface="DM Sans"/>
              </a:defRPr>
            </a:lvl9pPr>
          </a:lstStyle>
          <a:p xmlns:a="http://schemas.openxmlformats.org/drawingml/2006/main">
            <a:pPr algn="ctr">
              <a:defRPr sz="900" b="0">
                <a:solidFill>
                  <a:srgbClr val="FAFAFA"/>
                </a:solidFill>
                <a:latin typeface="DM Sans"/>
                <a:ea typeface="DM Sans"/>
                <a:cs typeface="DM Sans"/>
              </a:defRPr>
            </a:pPr>
            <a:r>
              <a:rPr sz="900" b="0">
                <a:solidFill>
                  <a:srgbClr val="FAFAFA"/>
                </a:solidFill>
                <a:latin typeface="DM Sans"/>
                <a:ea typeface="DM Sans"/>
                <a:cs typeface="DM Sans"/>
              </a:rPr>
              <a:t>30 DAYS</a:t>
            </a:r>
          </a:p>
        </p:txBody>
      </p:sp>
      <p:sp>
        <p:nvSpPr>
          <p:cNvPr id="41" name="">
            <a:extLst xmlns:a="http://schemas.openxmlformats.org/drawingml/2006/main">
              <a:ext uri="{FF2B5EF4-FFF2-40B4-BE49-F238E27FC236}">
                <a16:creationId xmlns:a16="http://schemas.microsoft.com/office/drawing/2014/main" id="{ABF6DC8C-A953-4932-9D60-BC25FF93E601}"/>
              </a:ext>
            </a:extLst>
          </p:cNvPr>
          <p:cNvSpPr>
            <a:spLocks xmlns:a="http://schemas.openxmlformats.org/drawingml/2006/main" noGrp="1"/>
          </p:cNvSpPr>
          <p:nvPr/>
        </p:nvSpPr>
        <p:spPr>
          <a:xfrm xmlns:a="http://schemas.openxmlformats.org/drawingml/2006/main">
            <a:off x="6962775"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2" name="">
            <a:extLst xmlns:a="http://schemas.openxmlformats.org/drawingml/2006/main">
              <a:ext uri="{FF2B5EF4-FFF2-40B4-BE49-F238E27FC236}">
                <a16:creationId xmlns:a16="http://schemas.microsoft.com/office/drawing/2014/main" id="{4B7709E4-AF5F-4E5F-8FAB-CC4B617557FB}"/>
              </a:ext>
            </a:extLst>
          </p:cNvPr>
          <p:cNvSpPr>
            <a:spLocks xmlns:a="http://schemas.openxmlformats.org/drawingml/2006/main" noGrp="1"/>
          </p:cNvSpPr>
          <p:nvPr/>
        </p:nvSpPr>
        <p:spPr>
          <a:xfrm xmlns:a="http://schemas.openxmlformats.org/drawingml/2006/main" rot="0">
            <a:off x="6524625"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22C55E"/>
                </a:solidFill>
                <a:latin typeface="DM Sans"/>
                <a:ea typeface="DM Sans"/>
                <a:cs typeface="DM Sans"/>
              </a:defRPr>
            </a:defPPr>
            <a:lvl1pPr algn="ctr">
              <a:defRPr sz="900" b="0">
                <a:solidFill>
                  <a:srgbClr val="22C55E"/>
                </a:solidFill>
                <a:latin typeface="DM Sans"/>
                <a:ea typeface="DM Sans"/>
                <a:cs typeface="DM Sans"/>
              </a:defRPr>
            </a:lvl1pPr>
            <a:lvl2pPr algn="ctr">
              <a:defRPr sz="900" b="0">
                <a:solidFill>
                  <a:srgbClr val="22C55E"/>
                </a:solidFill>
                <a:latin typeface="DM Sans"/>
                <a:ea typeface="DM Sans"/>
                <a:cs typeface="DM Sans"/>
              </a:defRPr>
            </a:lvl2pPr>
            <a:lvl3pPr algn="ctr">
              <a:defRPr sz="900" b="0">
                <a:solidFill>
                  <a:srgbClr val="22C55E"/>
                </a:solidFill>
                <a:latin typeface="DM Sans"/>
                <a:ea typeface="DM Sans"/>
                <a:cs typeface="DM Sans"/>
              </a:defRPr>
            </a:lvl3pPr>
            <a:lvl4pPr algn="ctr">
              <a:defRPr sz="900" b="0">
                <a:solidFill>
                  <a:srgbClr val="22C55E"/>
                </a:solidFill>
                <a:latin typeface="DM Sans"/>
                <a:ea typeface="DM Sans"/>
                <a:cs typeface="DM Sans"/>
              </a:defRPr>
            </a:lvl4pPr>
            <a:lvl5pPr algn="ctr">
              <a:defRPr sz="900" b="0">
                <a:solidFill>
                  <a:srgbClr val="22C55E"/>
                </a:solidFill>
                <a:latin typeface="DM Sans"/>
                <a:ea typeface="DM Sans"/>
                <a:cs typeface="DM Sans"/>
              </a:defRPr>
            </a:lvl5pPr>
            <a:lvl6pPr algn="ctr">
              <a:defRPr sz="900" b="0">
                <a:solidFill>
                  <a:srgbClr val="22C55E"/>
                </a:solidFill>
                <a:latin typeface="DM Sans"/>
                <a:ea typeface="DM Sans"/>
                <a:cs typeface="DM Sans"/>
              </a:defRPr>
            </a:lvl6pPr>
            <a:lvl7pPr algn="ctr">
              <a:defRPr sz="900" b="0">
                <a:solidFill>
                  <a:srgbClr val="22C55E"/>
                </a:solidFill>
                <a:latin typeface="DM Sans"/>
                <a:ea typeface="DM Sans"/>
                <a:cs typeface="DM Sans"/>
              </a:defRPr>
            </a:lvl7pPr>
            <a:lvl8pPr algn="ctr">
              <a:defRPr sz="900" b="0">
                <a:solidFill>
                  <a:srgbClr val="22C55E"/>
                </a:solidFill>
                <a:latin typeface="DM Sans"/>
                <a:ea typeface="DM Sans"/>
                <a:cs typeface="DM Sans"/>
              </a:defRPr>
            </a:lvl8pPr>
            <a:lvl9pPr algn="ctr">
              <a:defRPr sz="900" b="0">
                <a:solidFill>
                  <a:srgbClr val="22C55E"/>
                </a:solidFill>
                <a:latin typeface="DM Sans"/>
                <a:ea typeface="DM Sans"/>
                <a:cs typeface="DM Sans"/>
              </a:defRPr>
            </a:lvl9pPr>
          </a:lstStyle>
          <a:p xmlns:a="http://schemas.openxmlformats.org/drawingml/2006/main">
            <a:pPr algn="ctr">
              <a:defRPr sz="900" b="0">
                <a:solidFill>
                  <a:srgbClr val="22C55E"/>
                </a:solidFill>
                <a:latin typeface="DM Sans"/>
                <a:ea typeface="DM Sans"/>
                <a:cs typeface="DM Sans"/>
              </a:defRPr>
            </a:pPr>
            <a:r>
              <a:rPr sz="900" b="0">
                <a:solidFill>
                  <a:srgbClr val="22C55E"/>
                </a:solidFill>
                <a:latin typeface="DM Sans"/>
                <a:ea typeface="DM Sans"/>
                <a:cs typeface="DM Sans"/>
              </a:rPr>
              <a:t>90 DAYS</a:t>
            </a:r>
          </a:p>
        </p:txBody>
      </p:sp>
      <p:sp>
        <p:nvSpPr>
          <p:cNvPr id="43" name="">
            <a:extLst xmlns:a="http://schemas.openxmlformats.org/drawingml/2006/main">
              <a:ext uri="{FF2B5EF4-FFF2-40B4-BE49-F238E27FC236}">
                <a16:creationId xmlns:a16="http://schemas.microsoft.com/office/drawing/2014/main" id="{04E0DAA2-CAB6-48D6-9D91-AAF1A3796211}"/>
              </a:ext>
            </a:extLst>
          </p:cNvPr>
          <p:cNvSpPr>
            <a:spLocks xmlns:a="http://schemas.openxmlformats.org/drawingml/2006/main" noGrp="1"/>
          </p:cNvSpPr>
          <p:nvPr/>
        </p:nvSpPr>
        <p:spPr>
          <a:xfrm xmlns:a="http://schemas.openxmlformats.org/drawingml/2006/main">
            <a:off x="11525250"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4" name="">
            <a:extLst xmlns:a="http://schemas.openxmlformats.org/drawingml/2006/main">
              <a:ext uri="{FF2B5EF4-FFF2-40B4-BE49-F238E27FC236}">
                <a16:creationId xmlns:a16="http://schemas.microsoft.com/office/drawing/2014/main" id="{8F33635E-79E3-45C4-9A81-566F6145D70A}"/>
              </a:ext>
            </a:extLst>
          </p:cNvPr>
          <p:cNvSpPr>
            <a:spLocks xmlns:a="http://schemas.openxmlformats.org/drawingml/2006/main" noGrp="1"/>
          </p:cNvSpPr>
          <p:nvPr/>
        </p:nvSpPr>
        <p:spPr>
          <a:xfrm xmlns:a="http://schemas.openxmlformats.org/drawingml/2006/main" rot="0">
            <a:off x="11087100"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FAFAFA"/>
                </a:solidFill>
                <a:latin typeface="DM Sans"/>
                <a:ea typeface="DM Sans"/>
                <a:cs typeface="DM Sans"/>
              </a:defRPr>
            </a:defPPr>
            <a:lvl1pPr algn="ctr">
              <a:defRPr sz="900" b="0">
                <a:solidFill>
                  <a:srgbClr val="FAFAFA"/>
                </a:solidFill>
                <a:latin typeface="DM Sans"/>
                <a:ea typeface="DM Sans"/>
                <a:cs typeface="DM Sans"/>
              </a:defRPr>
            </a:lvl1pPr>
            <a:lvl2pPr algn="ctr">
              <a:defRPr sz="900" b="0">
                <a:solidFill>
                  <a:srgbClr val="FAFAFA"/>
                </a:solidFill>
                <a:latin typeface="DM Sans"/>
                <a:ea typeface="DM Sans"/>
                <a:cs typeface="DM Sans"/>
              </a:defRPr>
            </a:lvl2pPr>
            <a:lvl3pPr algn="ctr">
              <a:defRPr sz="900" b="0">
                <a:solidFill>
                  <a:srgbClr val="FAFAFA"/>
                </a:solidFill>
                <a:latin typeface="DM Sans"/>
                <a:ea typeface="DM Sans"/>
                <a:cs typeface="DM Sans"/>
              </a:defRPr>
            </a:lvl3pPr>
            <a:lvl4pPr algn="ctr">
              <a:defRPr sz="900" b="0">
                <a:solidFill>
                  <a:srgbClr val="FAFAFA"/>
                </a:solidFill>
                <a:latin typeface="DM Sans"/>
                <a:ea typeface="DM Sans"/>
                <a:cs typeface="DM Sans"/>
              </a:defRPr>
            </a:lvl4pPr>
            <a:lvl5pPr algn="ctr">
              <a:defRPr sz="900" b="0">
                <a:solidFill>
                  <a:srgbClr val="FAFAFA"/>
                </a:solidFill>
                <a:latin typeface="DM Sans"/>
                <a:ea typeface="DM Sans"/>
                <a:cs typeface="DM Sans"/>
              </a:defRPr>
            </a:lvl5pPr>
            <a:lvl6pPr algn="ctr">
              <a:defRPr sz="900" b="0">
                <a:solidFill>
                  <a:srgbClr val="FAFAFA"/>
                </a:solidFill>
                <a:latin typeface="DM Sans"/>
                <a:ea typeface="DM Sans"/>
                <a:cs typeface="DM Sans"/>
              </a:defRPr>
            </a:lvl6pPr>
            <a:lvl7pPr algn="ctr">
              <a:defRPr sz="900" b="0">
                <a:solidFill>
                  <a:srgbClr val="FAFAFA"/>
                </a:solidFill>
                <a:latin typeface="DM Sans"/>
                <a:ea typeface="DM Sans"/>
                <a:cs typeface="DM Sans"/>
              </a:defRPr>
            </a:lvl7pPr>
            <a:lvl8pPr algn="ctr">
              <a:defRPr sz="900" b="0">
                <a:solidFill>
                  <a:srgbClr val="FAFAFA"/>
                </a:solidFill>
                <a:latin typeface="DM Sans"/>
                <a:ea typeface="DM Sans"/>
                <a:cs typeface="DM Sans"/>
              </a:defRPr>
            </a:lvl8pPr>
            <a:lvl9pPr algn="ctr">
              <a:defRPr sz="900" b="0">
                <a:solidFill>
                  <a:srgbClr val="FAFAFA"/>
                </a:solidFill>
                <a:latin typeface="DM Sans"/>
                <a:ea typeface="DM Sans"/>
                <a:cs typeface="DM Sans"/>
              </a:defRPr>
            </a:lvl9pPr>
          </a:lstStyle>
          <a:p xmlns:a="http://schemas.openxmlformats.org/drawingml/2006/main">
            <a:pPr algn="ctr">
              <a:defRPr sz="900" b="0">
                <a:solidFill>
                  <a:srgbClr val="FAFAFA"/>
                </a:solidFill>
                <a:latin typeface="DM Sans"/>
                <a:ea typeface="DM Sans"/>
                <a:cs typeface="DM Sans"/>
              </a:defRPr>
            </a:pPr>
            <a:r>
              <a:rPr sz="900" b="0">
                <a:solidFill>
                  <a:srgbClr val="FAFAFA"/>
                </a:solidFill>
                <a:latin typeface="DM Sans"/>
                <a:ea typeface="DM Sans"/>
                <a:cs typeface="DM Sans"/>
              </a:rPr>
              <a:t>180 DAYS</a:t>
            </a:r>
          </a:p>
        </p:txBody>
      </p:sp>
      <p:sp>
        <p:nvSpPr>
          <p:cNvPr id="45" name="">
            <a:extLst xmlns:a="http://schemas.openxmlformats.org/drawingml/2006/main">
              <a:ext uri="{FF2B5EF4-FFF2-40B4-BE49-F238E27FC236}">
                <a16:creationId xmlns:a16="http://schemas.microsoft.com/office/drawing/2014/main" id="{1F5648E2-4E7F-4C78-B759-CF0C8DBC1151}"/>
              </a:ext>
            </a:extLst>
          </p:cNvPr>
          <p:cNvSpPr>
            <a:spLocks xmlns:a="http://schemas.openxmlformats.org/drawingml/2006/main" noGrp="1"/>
          </p:cNvSpPr>
          <p:nvPr/>
        </p:nvSpPr>
        <p:spPr>
          <a:xfrm xmlns:a="http://schemas.openxmlformats.org/drawingml/2006/main" rot="0">
            <a:off x="400050" y="6486525"/>
            <a:ext cx="10953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A3A3A3"/>
                </a:solidFill>
                <a:latin typeface="DM Sans"/>
                <a:ea typeface="DM Sans"/>
                <a:cs typeface="DM Sans"/>
              </a:defRPr>
            </a:defPPr>
            <a:lvl1pPr algn="l">
              <a:defRPr sz="750" b="0">
                <a:solidFill>
                  <a:srgbClr val="A3A3A3"/>
                </a:solidFill>
                <a:latin typeface="DM Sans"/>
                <a:ea typeface="DM Sans"/>
                <a:cs typeface="DM Sans"/>
              </a:defRPr>
            </a:lvl1pPr>
            <a:lvl2pPr algn="l">
              <a:defRPr sz="750" b="0">
                <a:solidFill>
                  <a:srgbClr val="A3A3A3"/>
                </a:solidFill>
                <a:latin typeface="DM Sans"/>
                <a:ea typeface="DM Sans"/>
                <a:cs typeface="DM Sans"/>
              </a:defRPr>
            </a:lvl2pPr>
            <a:lvl3pPr algn="l">
              <a:defRPr sz="750" b="0">
                <a:solidFill>
                  <a:srgbClr val="A3A3A3"/>
                </a:solidFill>
                <a:latin typeface="DM Sans"/>
                <a:ea typeface="DM Sans"/>
                <a:cs typeface="DM Sans"/>
              </a:defRPr>
            </a:lvl3pPr>
            <a:lvl4pPr algn="l">
              <a:defRPr sz="750" b="0">
                <a:solidFill>
                  <a:srgbClr val="A3A3A3"/>
                </a:solidFill>
                <a:latin typeface="DM Sans"/>
                <a:ea typeface="DM Sans"/>
                <a:cs typeface="DM Sans"/>
              </a:defRPr>
            </a:lvl4pPr>
            <a:lvl5pPr algn="l">
              <a:defRPr sz="750" b="0">
                <a:solidFill>
                  <a:srgbClr val="A3A3A3"/>
                </a:solidFill>
                <a:latin typeface="DM Sans"/>
                <a:ea typeface="DM Sans"/>
                <a:cs typeface="DM Sans"/>
              </a:defRPr>
            </a:lvl5pPr>
            <a:lvl6pPr algn="l">
              <a:defRPr sz="750" b="0">
                <a:solidFill>
                  <a:srgbClr val="A3A3A3"/>
                </a:solidFill>
                <a:latin typeface="DM Sans"/>
                <a:ea typeface="DM Sans"/>
                <a:cs typeface="DM Sans"/>
              </a:defRPr>
            </a:lvl6pPr>
            <a:lvl7pPr algn="l">
              <a:defRPr sz="750" b="0">
                <a:solidFill>
                  <a:srgbClr val="A3A3A3"/>
                </a:solidFill>
                <a:latin typeface="DM Sans"/>
                <a:ea typeface="DM Sans"/>
                <a:cs typeface="DM Sans"/>
              </a:defRPr>
            </a:lvl7pPr>
            <a:lvl8pPr algn="l">
              <a:defRPr sz="750" b="0">
                <a:solidFill>
                  <a:srgbClr val="A3A3A3"/>
                </a:solidFill>
                <a:latin typeface="DM Sans"/>
                <a:ea typeface="DM Sans"/>
                <a:cs typeface="DM Sans"/>
              </a:defRPr>
            </a:lvl8pPr>
            <a:lvl9pPr algn="l">
              <a:defRPr sz="750" b="0">
                <a:solidFill>
                  <a:srgbClr val="A3A3A3"/>
                </a:solidFill>
                <a:latin typeface="DM Sans"/>
                <a:ea typeface="DM Sans"/>
                <a:cs typeface="DM Sans"/>
              </a:defRPr>
            </a:lvl9pPr>
          </a:lstStyle>
          <a:p xmlns:a="http://schemas.openxmlformats.org/drawingml/2006/main">
            <a:pPr algn="l">
              <a:defRPr sz="750" b="0">
                <a:solidFill>
                  <a:srgbClr val="A3A3A3"/>
                </a:solidFill>
                <a:latin typeface="DM Sans"/>
                <a:ea typeface="DM Sans"/>
                <a:cs typeface="DM Sans"/>
              </a:defRPr>
            </a:pPr>
            <a:r>
              <a:rPr sz="750" b="0">
                <a:solidFill>
                  <a:srgbClr val="A3A3A3"/>
                </a:solidFill>
                <a:latin typeface="DM Sans"/>
                <a:ea typeface="DM Sans"/>
                <a:cs typeface="DM Sans"/>
              </a:rPr>
              <a:t>Timelines are illustrative. The holding period and closing buffer must fit before expiry.</a:t>
            </a:r>
          </a:p>
        </p:txBody>
      </p:sp>
    </p:spTree>
    <p:extLst>
      <p:ext uri="{BB962C8B-B14F-4D97-AF65-F5344CB8AC3E}">
        <p14:creationId xmlns:p14="http://schemas.microsoft.com/office/powerpoint/2010/main" val="1213393286"/>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CF69DB-515C-49D2-A73C-3D9AD6848B8B}"/>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E9B25B91-C5E7-47D2-9165-18715CDF11E0}"/>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6CC39DBD-08E2-4498-BF24-D3CA602E3284}"/>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B5BF8416-A08B-4B7A-AC16-0BFF614443E8}"/>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9F462110-702C-4888-A83E-0AC34C94CD30}"/>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B1BB14D0-2043-4C5E-910B-5F81B82A4185}"/>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Observed evidence</a:t>
            </a:r>
          </a:p>
        </p:txBody>
      </p:sp>
      <p:sp>
        <p:nvSpPr>
          <p:cNvPr id="7" name="">
            <a:extLst xmlns:a="http://schemas.openxmlformats.org/drawingml/2006/main">
              <a:ext uri="{FF2B5EF4-FFF2-40B4-BE49-F238E27FC236}">
                <a16:creationId xmlns:a16="http://schemas.microsoft.com/office/drawing/2014/main" id="{627427DE-DCF6-4214-B947-EA69EEA81A8E}"/>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ED46065F-A1FE-4309-81D6-0EBEEE83AE43}"/>
              </a:ext>
            </a:extLst>
          </p:cNvPr>
          <p:cNvSpPr>
            <a:spLocks xmlns:a="http://schemas.openxmlformats.org/drawingml/2006/main" noGrp="1"/>
          </p:cNvSpPr>
          <p:nvPr/>
        </p:nvSpPr>
        <p:spPr>
          <a:xfrm xmlns:a="http://schemas.openxmlformats.org/drawingml/2006/main" rot="0">
            <a:off x="400050" y="18573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We begin with</a:t>
            </a:r>
          </a:p>
        </p:txBody>
      </p:sp>
      <p:sp>
        <p:nvSpPr>
          <p:cNvPr id="9" name="">
            <a:extLst xmlns:a="http://schemas.openxmlformats.org/drawingml/2006/main">
              <a:ext uri="{FF2B5EF4-FFF2-40B4-BE49-F238E27FC236}">
                <a16:creationId xmlns:a16="http://schemas.microsoft.com/office/drawing/2014/main" id="{80CF8B94-E498-4F4C-9C7F-59A229D7A64B}"/>
              </a:ext>
            </a:extLst>
          </p:cNvPr>
          <p:cNvSpPr>
            <a:spLocks xmlns:a="http://schemas.openxmlformats.org/drawingml/2006/main" noGrp="1"/>
          </p:cNvSpPr>
          <p:nvPr/>
        </p:nvSpPr>
        <p:spPr>
          <a:xfrm xmlns:a="http://schemas.openxmlformats.org/drawingml/2006/main" rot="0">
            <a:off x="400050" y="2314575"/>
            <a:ext cx="2571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475" b="0">
                <a:solidFill>
                  <a:srgbClr val="0A0A0A"/>
                </a:solidFill>
                <a:latin typeface="DM Sans Light"/>
                <a:ea typeface="DM Sans Light"/>
                <a:cs typeface="DM Sans Light"/>
              </a:defRPr>
            </a:defPPr>
            <a:lvl1pPr algn="l">
              <a:defRPr sz="8475" b="0">
                <a:solidFill>
                  <a:srgbClr val="0A0A0A"/>
                </a:solidFill>
                <a:latin typeface="DM Sans Light"/>
                <a:ea typeface="DM Sans Light"/>
                <a:cs typeface="DM Sans Light"/>
              </a:defRPr>
            </a:lvl1pPr>
            <a:lvl2pPr algn="l">
              <a:defRPr sz="8475" b="0">
                <a:solidFill>
                  <a:srgbClr val="0A0A0A"/>
                </a:solidFill>
                <a:latin typeface="DM Sans Light"/>
                <a:ea typeface="DM Sans Light"/>
                <a:cs typeface="DM Sans Light"/>
              </a:defRPr>
            </a:lvl2pPr>
            <a:lvl3pPr algn="l">
              <a:defRPr sz="8475" b="0">
                <a:solidFill>
                  <a:srgbClr val="0A0A0A"/>
                </a:solidFill>
                <a:latin typeface="DM Sans Light"/>
                <a:ea typeface="DM Sans Light"/>
                <a:cs typeface="DM Sans Light"/>
              </a:defRPr>
            </a:lvl3pPr>
            <a:lvl4pPr algn="l">
              <a:defRPr sz="8475" b="0">
                <a:solidFill>
                  <a:srgbClr val="0A0A0A"/>
                </a:solidFill>
                <a:latin typeface="DM Sans Light"/>
                <a:ea typeface="DM Sans Light"/>
                <a:cs typeface="DM Sans Light"/>
              </a:defRPr>
            </a:lvl4pPr>
            <a:lvl5pPr algn="l">
              <a:defRPr sz="8475" b="0">
                <a:solidFill>
                  <a:srgbClr val="0A0A0A"/>
                </a:solidFill>
                <a:latin typeface="DM Sans Light"/>
                <a:ea typeface="DM Sans Light"/>
                <a:cs typeface="DM Sans Light"/>
              </a:defRPr>
            </a:lvl5pPr>
            <a:lvl6pPr algn="l">
              <a:defRPr sz="8475" b="0">
                <a:solidFill>
                  <a:srgbClr val="0A0A0A"/>
                </a:solidFill>
                <a:latin typeface="DM Sans Light"/>
                <a:ea typeface="DM Sans Light"/>
                <a:cs typeface="DM Sans Light"/>
              </a:defRPr>
            </a:lvl6pPr>
            <a:lvl7pPr algn="l">
              <a:defRPr sz="8475" b="0">
                <a:solidFill>
                  <a:srgbClr val="0A0A0A"/>
                </a:solidFill>
                <a:latin typeface="DM Sans Light"/>
                <a:ea typeface="DM Sans Light"/>
                <a:cs typeface="DM Sans Light"/>
              </a:defRPr>
            </a:lvl7pPr>
            <a:lvl8pPr algn="l">
              <a:defRPr sz="8475" b="0">
                <a:solidFill>
                  <a:srgbClr val="0A0A0A"/>
                </a:solidFill>
                <a:latin typeface="DM Sans Light"/>
                <a:ea typeface="DM Sans Light"/>
                <a:cs typeface="DM Sans Light"/>
              </a:defRPr>
            </a:lvl8pPr>
            <a:lvl9pPr algn="l">
              <a:defRPr sz="8475" b="0">
                <a:solidFill>
                  <a:srgbClr val="0A0A0A"/>
                </a:solidFill>
                <a:latin typeface="DM Sans Light"/>
                <a:ea typeface="DM Sans Light"/>
                <a:cs typeface="DM Sans Light"/>
              </a:defRPr>
            </a:lvl9pPr>
          </a:lstStyle>
          <a:p xmlns:a="http://schemas.openxmlformats.org/drawingml/2006/main">
            <a:pPr algn="l">
              <a:defRPr sz="8475" b="0">
                <a:solidFill>
                  <a:srgbClr val="0A0A0A"/>
                </a:solidFill>
                <a:latin typeface="DM Sans Light"/>
                <a:ea typeface="DM Sans Light"/>
                <a:cs typeface="DM Sans Light"/>
              </a:defRPr>
            </a:pPr>
            <a:r>
              <a:rPr sz="8475" b="0">
                <a:solidFill>
                  <a:srgbClr val="0A0A0A"/>
                </a:solidFill>
                <a:latin typeface="DM Sans Light"/>
                <a:ea typeface="DM Sans Light"/>
                <a:cs typeface="DM Sans Light"/>
              </a:rPr>
              <a:t>67</a:t>
            </a:r>
          </a:p>
        </p:txBody>
      </p:sp>
      <p:sp>
        <p:nvSpPr>
          <p:cNvPr id="10" name="">
            <a:extLst xmlns:a="http://schemas.openxmlformats.org/drawingml/2006/main">
              <a:ext uri="{FF2B5EF4-FFF2-40B4-BE49-F238E27FC236}">
                <a16:creationId xmlns:a16="http://schemas.microsoft.com/office/drawing/2014/main" id="{77A540F3-B600-4BC3-BB81-CA42F6FD83FD}"/>
              </a:ext>
            </a:extLst>
          </p:cNvPr>
          <p:cNvSpPr>
            <a:spLocks xmlns:a="http://schemas.openxmlformats.org/drawingml/2006/main" noGrp="1"/>
          </p:cNvSpPr>
          <p:nvPr/>
        </p:nvSpPr>
        <p:spPr>
          <a:xfrm xmlns:a="http://schemas.openxmlformats.org/drawingml/2006/main">
            <a:off x="447675" y="3609975"/>
            <a:ext cx="1381125" cy="95"/>
          </a:xfrm>
          <a:custGeom xmlns:a="http://schemas.openxmlformats.org/drawingml/2006/main">
            <a:pathLst>
              <a:path w="1381125" h="95">
                <a:moveTo>
                  <a:pt x="0" y="0"/>
                </a:moveTo>
                <a:lnTo>
                  <a:pt x="1381125" y="0"/>
                </a:lnTo>
              </a:path>
            </a:pathLst>
          </a:custGeom>
          <a:noFill xmlns:a="http://schemas.openxmlformats.org/drawingml/2006/main"/>
          <a:ln xmlns:a="http://schemas.openxmlformats.org/drawingml/2006/main" w="17145">
            <a:solidFill>
              <a:srgbClr val="0A0A0A"/>
            </a:solidFill>
            <a:prstDash val="solid"/>
          </a:ln>
        </p:spPr>
      </p:sp>
      <p:sp>
        <p:nvSpPr>
          <p:cNvPr id="11" name="">
            <a:extLst xmlns:a="http://schemas.openxmlformats.org/drawingml/2006/main">
              <a:ext uri="{FF2B5EF4-FFF2-40B4-BE49-F238E27FC236}">
                <a16:creationId xmlns:a16="http://schemas.microsoft.com/office/drawing/2014/main" id="{8CE5E1F3-E4EC-4915-87FD-207594492051}"/>
              </a:ext>
            </a:extLst>
          </p:cNvPr>
          <p:cNvSpPr>
            <a:spLocks xmlns:a="http://schemas.openxmlformats.org/drawingml/2006/main" noGrp="1"/>
          </p:cNvSpPr>
          <p:nvPr/>
        </p:nvSpPr>
        <p:spPr>
          <a:xfrm xmlns:a="http://schemas.openxmlformats.org/drawingml/2006/main" rot="0">
            <a:off x="400050" y="384810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measured sediment samples</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from Tok River, Alaska.</a:t>
            </a:r>
          </a:p>
        </p:txBody>
      </p:sp>
      <p:sp>
        <p:nvSpPr>
          <p:cNvPr id="12" name="">
            <a:extLst xmlns:a="http://schemas.openxmlformats.org/drawingml/2006/main">
              <a:ext uri="{FF2B5EF4-FFF2-40B4-BE49-F238E27FC236}">
                <a16:creationId xmlns:a16="http://schemas.microsoft.com/office/drawing/2014/main" id="{E9A28FAE-6FAE-456F-BEA9-8B60E90AD7D0}"/>
              </a:ext>
            </a:extLst>
          </p:cNvPr>
          <p:cNvSpPr>
            <a:spLocks xmlns:a="http://schemas.openxmlformats.org/drawingml/2006/main" noGrp="1"/>
          </p:cNvSpPr>
          <p:nvPr/>
        </p:nvSpPr>
        <p:spPr>
          <a:xfrm xmlns:a="http://schemas.openxmlformats.org/drawingml/2006/main" rot="0">
            <a:off x="400050" y="521970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A0A0A"/>
                </a:solidFill>
                <a:latin typeface="DM Sans"/>
                <a:ea typeface="DM Sans"/>
                <a:cs typeface="DM Sans"/>
              </a:defRPr>
            </a:defPPr>
            <a:lvl1pPr algn="l">
              <a:defRPr sz="1725" b="0">
                <a:solidFill>
                  <a:srgbClr val="0A0A0A"/>
                </a:solidFill>
                <a:latin typeface="DM Sans"/>
                <a:ea typeface="DM Sans"/>
                <a:cs typeface="DM Sans"/>
              </a:defRPr>
            </a:lvl1pPr>
            <a:lvl2pPr algn="l">
              <a:defRPr sz="1725" b="0">
                <a:solidFill>
                  <a:srgbClr val="0A0A0A"/>
                </a:solidFill>
                <a:latin typeface="DM Sans"/>
                <a:ea typeface="DM Sans"/>
                <a:cs typeface="DM Sans"/>
              </a:defRPr>
            </a:lvl2pPr>
            <a:lvl3pPr algn="l">
              <a:defRPr sz="1725" b="0">
                <a:solidFill>
                  <a:srgbClr val="0A0A0A"/>
                </a:solidFill>
                <a:latin typeface="DM Sans"/>
                <a:ea typeface="DM Sans"/>
                <a:cs typeface="DM Sans"/>
              </a:defRPr>
            </a:lvl3pPr>
            <a:lvl4pPr algn="l">
              <a:defRPr sz="1725" b="0">
                <a:solidFill>
                  <a:srgbClr val="0A0A0A"/>
                </a:solidFill>
                <a:latin typeface="DM Sans"/>
                <a:ea typeface="DM Sans"/>
                <a:cs typeface="DM Sans"/>
              </a:defRPr>
            </a:lvl4pPr>
            <a:lvl5pPr algn="l">
              <a:defRPr sz="1725" b="0">
                <a:solidFill>
                  <a:srgbClr val="0A0A0A"/>
                </a:solidFill>
                <a:latin typeface="DM Sans"/>
                <a:ea typeface="DM Sans"/>
                <a:cs typeface="DM Sans"/>
              </a:defRPr>
            </a:lvl5pPr>
            <a:lvl6pPr algn="l">
              <a:defRPr sz="1725" b="0">
                <a:solidFill>
                  <a:srgbClr val="0A0A0A"/>
                </a:solidFill>
                <a:latin typeface="DM Sans"/>
                <a:ea typeface="DM Sans"/>
                <a:cs typeface="DM Sans"/>
              </a:defRPr>
            </a:lvl6pPr>
            <a:lvl7pPr algn="l">
              <a:defRPr sz="1725" b="0">
                <a:solidFill>
                  <a:srgbClr val="0A0A0A"/>
                </a:solidFill>
                <a:latin typeface="DM Sans"/>
                <a:ea typeface="DM Sans"/>
                <a:cs typeface="DM Sans"/>
              </a:defRPr>
            </a:lvl7pPr>
            <a:lvl8pPr algn="l">
              <a:defRPr sz="1725" b="0">
                <a:solidFill>
                  <a:srgbClr val="0A0A0A"/>
                </a:solidFill>
                <a:latin typeface="DM Sans"/>
                <a:ea typeface="DM Sans"/>
                <a:cs typeface="DM Sans"/>
              </a:defRPr>
            </a:lvl8pPr>
            <a:lvl9pPr algn="l">
              <a:defRPr sz="1725" b="0">
                <a:solidFill>
                  <a:srgbClr val="0A0A0A"/>
                </a:solidFill>
                <a:latin typeface="DM Sans"/>
                <a:ea typeface="DM Sans"/>
                <a:cs typeface="DM Sans"/>
              </a:defRPr>
            </a:lvl9pPr>
          </a:lstStyle>
          <a:p xmlns:a="http://schemas.openxmlformats.org/drawingml/2006/main">
            <a:pPr algn="l">
              <a:defRPr sz="1725" b="0">
                <a:solidFill>
                  <a:srgbClr val="0A0A0A"/>
                </a:solidFill>
                <a:latin typeface="DM Sans"/>
                <a:ea typeface="DM Sans"/>
                <a:cs typeface="DM Sans"/>
              </a:defRPr>
            </a:pPr>
            <a:r>
              <a:rPr sz="1725" b="0">
                <a:solidFill>
                  <a:srgbClr val="0A0A0A"/>
                </a:solidFill>
                <a:latin typeface="DM Sans"/>
                <a:ea typeface="DM Sans"/>
                <a:cs typeface="DM Sans"/>
              </a:rPr>
              <a:t>A has 33 samples. B has 34.</a:t>
            </a:r>
          </a:p>
          <a:p xmlns:a="http://schemas.openxmlformats.org/drawingml/2006/main">
            <a:pPr algn="l">
              <a:defRPr sz="1725" b="0">
                <a:solidFill>
                  <a:srgbClr val="0A0A0A"/>
                </a:solidFill>
                <a:latin typeface="DM Sans"/>
                <a:ea typeface="DM Sans"/>
                <a:cs typeface="DM Sans"/>
              </a:defRPr>
            </a:pPr>
            <a:r>
              <a:rPr sz="1725" b="0">
                <a:solidFill>
                  <a:srgbClr val="0A0A0A"/>
                </a:solidFill>
                <a:latin typeface="DM Sans"/>
                <a:ea typeface="DM Sans"/>
                <a:cs typeface="DM Sans"/>
              </a:rPr>
              <a:t>Primary gold assays screen the evidence.</a:t>
            </a:r>
          </a:p>
        </p:txBody>
      </p:sp>
      <p:sp>
        <p:nvSpPr>
          <p:cNvPr id="13" name="">
            <a:extLst xmlns:a="http://schemas.openxmlformats.org/drawingml/2006/main">
              <a:ext uri="{FF2B5EF4-FFF2-40B4-BE49-F238E27FC236}">
                <a16:creationId xmlns:a16="http://schemas.microsoft.com/office/drawing/2014/main" id="{8F796789-6F70-4447-A870-94EF6ABC00C6}"/>
              </a:ext>
            </a:extLst>
          </p:cNvPr>
          <p:cNvSpPr>
            <a:spLocks xmlns:a="http://schemas.openxmlformats.org/drawingml/2006/main" noGrp="1"/>
          </p:cNvSpPr>
          <p:nvPr/>
        </p:nvSpPr>
        <p:spPr>
          <a:xfrm xmlns:a="http://schemas.openxmlformats.org/drawingml/2006/main" rot="0">
            <a:off x="400050" y="620077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Recoverable ounces remain a separate assumption.</a:t>
            </a:r>
          </a:p>
        </p:txBody>
      </p:sp>
      <p:sp>
        <p:nvSpPr>
          <p:cNvPr id="14" name="">
            <a:extLst xmlns:a="http://schemas.openxmlformats.org/drawingml/2006/main">
              <a:ext uri="{FF2B5EF4-FFF2-40B4-BE49-F238E27FC236}">
                <a16:creationId xmlns:a16="http://schemas.microsoft.com/office/drawing/2014/main" id="{FA83D605-8616-4D47-A9F1-3DC13DDFAFAB}"/>
              </a:ext>
            </a:extLst>
          </p:cNvPr>
          <p:cNvSpPr>
            <a:spLocks xmlns:a="http://schemas.openxmlformats.org/drawingml/2006/main" noGrp="1"/>
          </p:cNvSpPr>
          <p:nvPr/>
        </p:nvSpPr>
        <p:spPr>
          <a:xfrm xmlns:a="http://schemas.openxmlformats.org/drawingml/2006/main">
            <a:off x="6172200" y="152400"/>
            <a:ext cx="5867400" cy="6553200"/>
          </a:xfrm>
          <a:prstGeom xmlns:a="http://schemas.openxmlformats.org/drawingml/2006/main" prst="roundRect">
            <a:avLst>
              <a:gd name="adj" fmla="val 4058"/>
            </a:avLst>
          </a:prstGeom>
          <a:solidFill xmlns:a="http://schemas.openxmlformats.org/drawingml/2006/main">
            <a:srgbClr val="0A0A0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7FC50B-8DED-4FC0-BDA7-2CEB4DAF22C9}"/>
              </a:ext>
            </a:extLst>
          </p:cNvPr>
          <p:cNvSpPr>
            <a:spLocks xmlns:a="http://schemas.openxmlformats.org/drawingml/2006/main" noGrp="1"/>
          </p:cNvSpPr>
          <p:nvPr/>
        </p:nvSpPr>
        <p:spPr>
          <a:xfrm xmlns:a="http://schemas.openxmlformats.org/drawingml/2006/main" rot="0">
            <a:off x="6438900" y="4095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AFAFA"/>
                </a:solidFill>
                <a:latin typeface="DM Sans"/>
                <a:ea typeface="DM Sans"/>
                <a:cs typeface="DM Sans"/>
              </a:defRPr>
            </a:defPPr>
            <a:lvl1pPr algn="l">
              <a:defRPr sz="2175" b="0">
                <a:solidFill>
                  <a:srgbClr val="FAFAFA"/>
                </a:solidFill>
                <a:latin typeface="DM Sans"/>
                <a:ea typeface="DM Sans"/>
                <a:cs typeface="DM Sans"/>
              </a:defRPr>
            </a:lvl1pPr>
            <a:lvl2pPr algn="l">
              <a:defRPr sz="2175" b="0">
                <a:solidFill>
                  <a:srgbClr val="FAFAFA"/>
                </a:solidFill>
                <a:latin typeface="DM Sans"/>
                <a:ea typeface="DM Sans"/>
                <a:cs typeface="DM Sans"/>
              </a:defRPr>
            </a:lvl2pPr>
            <a:lvl3pPr algn="l">
              <a:defRPr sz="2175" b="0">
                <a:solidFill>
                  <a:srgbClr val="FAFAFA"/>
                </a:solidFill>
                <a:latin typeface="DM Sans"/>
                <a:ea typeface="DM Sans"/>
                <a:cs typeface="DM Sans"/>
              </a:defRPr>
            </a:lvl3pPr>
            <a:lvl4pPr algn="l">
              <a:defRPr sz="2175" b="0">
                <a:solidFill>
                  <a:srgbClr val="FAFAFA"/>
                </a:solidFill>
                <a:latin typeface="DM Sans"/>
                <a:ea typeface="DM Sans"/>
                <a:cs typeface="DM Sans"/>
              </a:defRPr>
            </a:lvl4pPr>
            <a:lvl5pPr algn="l">
              <a:defRPr sz="2175" b="0">
                <a:solidFill>
                  <a:srgbClr val="FAFAFA"/>
                </a:solidFill>
                <a:latin typeface="DM Sans"/>
                <a:ea typeface="DM Sans"/>
                <a:cs typeface="DM Sans"/>
              </a:defRPr>
            </a:lvl5pPr>
            <a:lvl6pPr algn="l">
              <a:defRPr sz="2175" b="0">
                <a:solidFill>
                  <a:srgbClr val="FAFAFA"/>
                </a:solidFill>
                <a:latin typeface="DM Sans"/>
                <a:ea typeface="DM Sans"/>
                <a:cs typeface="DM Sans"/>
              </a:defRPr>
            </a:lvl6pPr>
            <a:lvl7pPr algn="l">
              <a:defRPr sz="2175" b="0">
                <a:solidFill>
                  <a:srgbClr val="FAFAFA"/>
                </a:solidFill>
                <a:latin typeface="DM Sans"/>
                <a:ea typeface="DM Sans"/>
                <a:cs typeface="DM Sans"/>
              </a:defRPr>
            </a:lvl7pPr>
            <a:lvl8pPr algn="l">
              <a:defRPr sz="2175" b="0">
                <a:solidFill>
                  <a:srgbClr val="FAFAFA"/>
                </a:solidFill>
                <a:latin typeface="DM Sans"/>
                <a:ea typeface="DM Sans"/>
                <a:cs typeface="DM Sans"/>
              </a:defRPr>
            </a:lvl8pPr>
            <a:lvl9pPr algn="l">
              <a:defRPr sz="2175" b="0">
                <a:solidFill>
                  <a:srgbClr val="FAFAFA"/>
                </a:solidFill>
                <a:latin typeface="DM Sans"/>
                <a:ea typeface="DM Sans"/>
                <a:cs typeface="DM Sans"/>
              </a:defRPr>
            </a:lvl9pPr>
          </a:lstStyle>
          <a:p xmlns:a="http://schemas.openxmlformats.org/drawingml/2006/main">
            <a:pPr algn="l">
              <a:defRPr sz="2175" b="0">
                <a:solidFill>
                  <a:srgbClr val="FAFAFA"/>
                </a:solidFill>
                <a:latin typeface="DM Sans"/>
                <a:ea typeface="DM Sans"/>
                <a:cs typeface="DM Sans"/>
              </a:defRPr>
            </a:pPr>
            <a:r>
              <a:rPr sz="2175" b="0">
                <a:solidFill>
                  <a:srgbClr val="FAFAFA"/>
                </a:solidFill>
                <a:latin typeface="DM Sans"/>
                <a:ea typeface="DM Sans"/>
                <a:cs typeface="DM Sans"/>
              </a:rPr>
              <a:t>The evidence explorer</a:t>
            </a:r>
          </a:p>
        </p:txBody>
      </p:sp>
      <p:sp>
        <p:nvSpPr>
          <p:cNvPr id="16" name="">
            <a:extLst xmlns:a="http://schemas.openxmlformats.org/drawingml/2006/main">
              <a:ext uri="{FF2B5EF4-FFF2-40B4-BE49-F238E27FC236}">
                <a16:creationId xmlns:a16="http://schemas.microsoft.com/office/drawing/2014/main" id="{4E78D4C4-98C4-4DD3-B3AA-C43F72FE6089}"/>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FAFAFA"/>
                </a:solidFill>
                <a:latin typeface="DM Sans"/>
                <a:ea typeface="DM Sans"/>
                <a:cs typeface="DM Sans"/>
              </a:defRPr>
            </a:defPPr>
            <a:lvl1pPr algn="r">
              <a:defRPr sz="900" b="0">
                <a:solidFill>
                  <a:srgbClr val="FAFAFA"/>
                </a:solidFill>
                <a:latin typeface="DM Sans"/>
                <a:ea typeface="DM Sans"/>
                <a:cs typeface="DM Sans"/>
              </a:defRPr>
            </a:lvl1pPr>
            <a:lvl2pPr algn="r">
              <a:defRPr sz="900" b="0">
                <a:solidFill>
                  <a:srgbClr val="FAFAFA"/>
                </a:solidFill>
                <a:latin typeface="DM Sans"/>
                <a:ea typeface="DM Sans"/>
                <a:cs typeface="DM Sans"/>
              </a:defRPr>
            </a:lvl2pPr>
            <a:lvl3pPr algn="r">
              <a:defRPr sz="900" b="0">
                <a:solidFill>
                  <a:srgbClr val="FAFAFA"/>
                </a:solidFill>
                <a:latin typeface="DM Sans"/>
                <a:ea typeface="DM Sans"/>
                <a:cs typeface="DM Sans"/>
              </a:defRPr>
            </a:lvl3pPr>
            <a:lvl4pPr algn="r">
              <a:defRPr sz="900" b="0">
                <a:solidFill>
                  <a:srgbClr val="FAFAFA"/>
                </a:solidFill>
                <a:latin typeface="DM Sans"/>
                <a:ea typeface="DM Sans"/>
                <a:cs typeface="DM Sans"/>
              </a:defRPr>
            </a:lvl4pPr>
            <a:lvl5pPr algn="r">
              <a:defRPr sz="900" b="0">
                <a:solidFill>
                  <a:srgbClr val="FAFAFA"/>
                </a:solidFill>
                <a:latin typeface="DM Sans"/>
                <a:ea typeface="DM Sans"/>
                <a:cs typeface="DM Sans"/>
              </a:defRPr>
            </a:lvl5pPr>
            <a:lvl6pPr algn="r">
              <a:defRPr sz="900" b="0">
                <a:solidFill>
                  <a:srgbClr val="FAFAFA"/>
                </a:solidFill>
                <a:latin typeface="DM Sans"/>
                <a:ea typeface="DM Sans"/>
                <a:cs typeface="DM Sans"/>
              </a:defRPr>
            </a:lvl6pPr>
            <a:lvl7pPr algn="r">
              <a:defRPr sz="900" b="0">
                <a:solidFill>
                  <a:srgbClr val="FAFAFA"/>
                </a:solidFill>
                <a:latin typeface="DM Sans"/>
                <a:ea typeface="DM Sans"/>
                <a:cs typeface="DM Sans"/>
              </a:defRPr>
            </a:lvl7pPr>
            <a:lvl8pPr algn="r">
              <a:defRPr sz="900" b="0">
                <a:solidFill>
                  <a:srgbClr val="FAFAFA"/>
                </a:solidFill>
                <a:latin typeface="DM Sans"/>
                <a:ea typeface="DM Sans"/>
                <a:cs typeface="DM Sans"/>
              </a:defRPr>
            </a:lvl8pPr>
            <a:lvl9pPr algn="r">
              <a:defRPr sz="900" b="0">
                <a:solidFill>
                  <a:srgbClr val="FAFAFA"/>
                </a:solidFill>
                <a:latin typeface="DM Sans"/>
                <a:ea typeface="DM Sans"/>
                <a:cs typeface="DM Sans"/>
              </a:defRPr>
            </a:lvl9pPr>
          </a:lstStyle>
          <a:p xmlns:a="http://schemas.openxmlformats.org/drawingml/2006/main">
            <a:pPr algn="r">
              <a:defRPr sz="900" b="0">
                <a:solidFill>
                  <a:srgbClr val="FAFAFA"/>
                </a:solidFill>
                <a:latin typeface="DM Sans"/>
                <a:ea typeface="DM Sans"/>
                <a:cs typeface="DM Sans"/>
              </a:defRPr>
            </a:pPr>
            <a:r>
              <a:rPr sz="900" b="0">
                <a:solidFill>
                  <a:srgbClr val="FAFAFA"/>
                </a:solidFill>
                <a:latin typeface="DM Sans"/>
                <a:ea typeface="DM Sans"/>
                <a:cs typeface="DM Sans"/>
              </a:rPr>
              <a:t>Orecast</a:t>
            </a:r>
          </a:p>
        </p:txBody>
      </p:sp>
      <p:pic>
        <p:nvPicPr>
          <p:cNvPr id="17" name="">
            <a:extLst xmlns:a="http://schemas.openxmlformats.org/drawingml/2006/main">
              <a:ext uri="{FF2B5EF4-FFF2-40B4-BE49-F238E27FC236}">
                <a16:creationId xmlns:a16="http://schemas.microsoft.com/office/drawing/2014/main" id="{CAEC42EC-5F5C-40CC-9D35-80E8C3E5091B}"/>
              </a:ext>
            </a:extLst>
          </p:cNvPr>
          <p:cNvPicPr>
            <a:picLocks xmlns:a="http://schemas.openxmlformats.org/drawingml/2006/main" noChangeAspect="1"/>
          </p:cNvPicPr>
          <p:nvPr/>
        </p:nvPicPr>
        <p:blipFill>
          <a:blip xmlns:r="http://schemas.openxmlformats.org/officeDocument/2006/relationships" xmlns:a="http://schemas.openxmlformats.org/drawingml/2006/main" r:embed="Rc77aafd307e146a4"/>
          <a:srcRect xmlns:a="http://schemas.openxmlformats.org/drawingml/2006/main" l="11057" t="0" r="11057" b="0"/>
          <a:stretch xmlns:a="http://schemas.openxmlformats.org/drawingml/2006/main">
            <a:fillRect l="0" t="0" r="0" b="0"/>
          </a:stretch>
        </p:blipFill>
        <p:spPr>
          <a:xfrm xmlns:a="http://schemas.openxmlformats.org/drawingml/2006/main">
            <a:off x="6381750" y="1066800"/>
            <a:ext cx="5448300" cy="4857750"/>
          </a:xfrm>
          <a:prstGeom xmlns:a="http://schemas.openxmlformats.org/drawingml/2006/main" prst="roundRect">
            <a:avLst>
              <a:gd name="adj" fmla="val 3137"/>
            </a:avLst>
          </a:prstGeom>
        </p:spPr>
      </p:pic>
      <p:sp>
        <p:nvSpPr>
          <p:cNvPr id="18" name="">
            <a:extLst xmlns:a="http://schemas.openxmlformats.org/drawingml/2006/main">
              <a:ext uri="{FF2B5EF4-FFF2-40B4-BE49-F238E27FC236}">
                <a16:creationId xmlns:a16="http://schemas.microsoft.com/office/drawing/2014/main" id="{80779CB8-B1B9-4DFA-A724-357DA0E4B76F}"/>
              </a:ext>
            </a:extLst>
          </p:cNvPr>
          <p:cNvSpPr>
            <a:spLocks xmlns:a="http://schemas.openxmlformats.org/drawingml/2006/main" noGrp="1"/>
          </p:cNvSpPr>
          <p:nvPr/>
        </p:nvSpPr>
        <p:spPr>
          <a:xfrm xmlns:a="http://schemas.openxmlformats.org/drawingml/2006/main" rot="0">
            <a:off x="6438900" y="6219825"/>
            <a:ext cx="523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Alaska DGGS RDF 2016-10. Comparison areas, not available listings.</a:t>
            </a:r>
          </a:p>
        </p:txBody>
      </p:sp>
    </p:spTree>
    <p:extLst>
      <p:ext uri="{BB962C8B-B14F-4D97-AF65-F5344CB8AC3E}">
        <p14:creationId xmlns:p14="http://schemas.microsoft.com/office/powerpoint/2010/main" val="1735168201"/>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4" name="">
            <a:extLst xmlns:a="http://schemas.openxmlformats.org/drawingml/2006/main">
              <a:ext uri="{FF2B5EF4-FFF2-40B4-BE49-F238E27FC236}">
                <a16:creationId xmlns:a16="http://schemas.microsoft.com/office/drawing/2014/main" id="{48F80166-405E-44A5-A190-639864A78D39}"/>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2681D4E4-0D59-4AC4-A964-ABE499668033}"/>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A3D6DAD4-460E-4B54-ACA3-F38F61B4B6E6}"/>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F33AC5B5-1157-4900-9029-0CFF371B01F0}"/>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3DA2F05E-A9AA-42A2-AE9D-4FF512C7E432}"/>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9DFB752C-980E-40A7-B30A-E0B2C832396D}"/>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Algorithm</a:t>
            </a:r>
          </a:p>
        </p:txBody>
      </p:sp>
      <p:sp>
        <p:nvSpPr>
          <p:cNvPr id="7" name="">
            <a:extLst xmlns:a="http://schemas.openxmlformats.org/drawingml/2006/main">
              <a:ext uri="{FF2B5EF4-FFF2-40B4-BE49-F238E27FC236}">
                <a16:creationId xmlns:a16="http://schemas.microsoft.com/office/drawing/2014/main" id="{204A0197-5D19-4EC2-99C5-A20520AAB3E0}"/>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pic>
        <p:nvPicPr>
          <p:cNvPr id="8" name="">
            <a:extLst xmlns:a="http://schemas.openxmlformats.org/drawingml/2006/main">
              <a:ext uri="{FF2B5EF4-FFF2-40B4-BE49-F238E27FC236}">
                <a16:creationId xmlns:a16="http://schemas.microsoft.com/office/drawing/2014/main" id="{72FA58EA-E797-40F0-9EAD-1BC97E978C21}"/>
              </a:ext>
            </a:extLst>
          </p:cNvPr>
          <p:cNvPicPr>
            <a:picLocks xmlns:a="http://schemas.openxmlformats.org/drawingml/2006/main" noChangeAspect="1"/>
          </p:cNvPicPr>
          <p:nvPr/>
        </p:nvPicPr>
        <p:blipFill>
          <a:blip xmlns:r="http://schemas.openxmlformats.org/officeDocument/2006/relationships" xmlns:a="http://schemas.openxmlformats.org/drawingml/2006/main" r:embed="R5fe8c984a21d4713"/>
          <a:srcRect xmlns:a="http://schemas.openxmlformats.org/drawingml/2006/main" l="0" t="17874" r="0" b="17874"/>
          <a:stretch xmlns:a="http://schemas.openxmlformats.org/drawingml/2006/main">
            <a:fillRect l="0" t="0" r="0" b="0"/>
          </a:stretch>
        </p:blipFill>
        <p:spPr>
          <a:xfrm xmlns:a="http://schemas.openxmlformats.org/drawingml/2006/main">
            <a:off x="2552700" y="0"/>
            <a:ext cx="2647950" cy="1438275"/>
          </a:xfrm>
          <a:prstGeom xmlns:a="http://schemas.openxmlformats.org/drawingml/2006/main" prst="roundRect">
            <a:avLst>
              <a:gd name="adj" fmla="val 15894"/>
            </a:avLst>
          </a:prstGeom>
        </p:spPr>
      </p:pic>
      <p:sp>
        <p:nvSpPr>
          <p:cNvPr id="9" name="">
            <a:extLst xmlns:a="http://schemas.openxmlformats.org/drawingml/2006/main">
              <a:ext uri="{FF2B5EF4-FFF2-40B4-BE49-F238E27FC236}">
                <a16:creationId xmlns:a16="http://schemas.microsoft.com/office/drawing/2014/main" id="{9CC19E2F-A8DD-48F9-8AC3-350D2F68BEA1}"/>
              </a:ext>
            </a:extLst>
          </p:cNvPr>
          <p:cNvSpPr>
            <a:spLocks xmlns:a="http://schemas.openxmlformats.org/drawingml/2006/main" noGrp="1"/>
          </p:cNvSpPr>
          <p:nvPr/>
        </p:nvSpPr>
        <p:spPr>
          <a:xfrm xmlns:a="http://schemas.openxmlformats.org/drawingml/2006/main" rot="0">
            <a:off x="400050" y="2038350"/>
            <a:ext cx="4857750" cy="2200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Orecast adjusts the</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gold forecast, then</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recomputes mineral</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and interest value,</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assignment and cash.</a:t>
            </a:r>
          </a:p>
        </p:txBody>
      </p:sp>
      <p:sp>
        <p:nvSpPr>
          <p:cNvPr id="10" name="">
            <a:extLst xmlns:a="http://schemas.openxmlformats.org/drawingml/2006/main">
              <a:ext uri="{FF2B5EF4-FFF2-40B4-BE49-F238E27FC236}">
                <a16:creationId xmlns:a16="http://schemas.microsoft.com/office/drawing/2014/main" id="{9B867893-FA15-4B6A-9811-866EF5D4DD52}"/>
              </a:ext>
            </a:extLst>
          </p:cNvPr>
          <p:cNvSpPr>
            <a:spLocks xmlns:a="http://schemas.openxmlformats.org/drawingml/2006/main" noGrp="1"/>
          </p:cNvSpPr>
          <p:nvPr/>
        </p:nvSpPr>
        <p:spPr>
          <a:xfrm xmlns:a="http://schemas.openxmlformats.org/drawingml/2006/main" rot="0">
            <a:off x="400050" y="4819650"/>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0A0A0A"/>
                </a:solidFill>
                <a:latin typeface="DM Sans"/>
                <a:ea typeface="DM Sans"/>
                <a:cs typeface="DM Sans"/>
              </a:defRPr>
            </a:defPPr>
            <a:lvl1pPr algn="l">
              <a:defRPr sz="1575" b="0">
                <a:solidFill>
                  <a:srgbClr val="0A0A0A"/>
                </a:solidFill>
                <a:latin typeface="DM Sans"/>
                <a:ea typeface="DM Sans"/>
                <a:cs typeface="DM Sans"/>
              </a:defRPr>
            </a:lvl1pPr>
            <a:lvl2pPr algn="l">
              <a:defRPr sz="1575" b="0">
                <a:solidFill>
                  <a:srgbClr val="0A0A0A"/>
                </a:solidFill>
                <a:latin typeface="DM Sans"/>
                <a:ea typeface="DM Sans"/>
                <a:cs typeface="DM Sans"/>
              </a:defRPr>
            </a:lvl2pPr>
            <a:lvl3pPr algn="l">
              <a:defRPr sz="1575" b="0">
                <a:solidFill>
                  <a:srgbClr val="0A0A0A"/>
                </a:solidFill>
                <a:latin typeface="DM Sans"/>
                <a:ea typeface="DM Sans"/>
                <a:cs typeface="DM Sans"/>
              </a:defRPr>
            </a:lvl3pPr>
            <a:lvl4pPr algn="l">
              <a:defRPr sz="1575" b="0">
                <a:solidFill>
                  <a:srgbClr val="0A0A0A"/>
                </a:solidFill>
                <a:latin typeface="DM Sans"/>
                <a:ea typeface="DM Sans"/>
                <a:cs typeface="DM Sans"/>
              </a:defRPr>
            </a:lvl4pPr>
            <a:lvl5pPr algn="l">
              <a:defRPr sz="1575" b="0">
                <a:solidFill>
                  <a:srgbClr val="0A0A0A"/>
                </a:solidFill>
                <a:latin typeface="DM Sans"/>
                <a:ea typeface="DM Sans"/>
                <a:cs typeface="DM Sans"/>
              </a:defRPr>
            </a:lvl5pPr>
            <a:lvl6pPr algn="l">
              <a:defRPr sz="1575" b="0">
                <a:solidFill>
                  <a:srgbClr val="0A0A0A"/>
                </a:solidFill>
                <a:latin typeface="DM Sans"/>
                <a:ea typeface="DM Sans"/>
                <a:cs typeface="DM Sans"/>
              </a:defRPr>
            </a:lvl6pPr>
            <a:lvl7pPr algn="l">
              <a:defRPr sz="1575" b="0">
                <a:solidFill>
                  <a:srgbClr val="0A0A0A"/>
                </a:solidFill>
                <a:latin typeface="DM Sans"/>
                <a:ea typeface="DM Sans"/>
                <a:cs typeface="DM Sans"/>
              </a:defRPr>
            </a:lvl7pPr>
            <a:lvl8pPr algn="l">
              <a:defRPr sz="1575" b="0">
                <a:solidFill>
                  <a:srgbClr val="0A0A0A"/>
                </a:solidFill>
                <a:latin typeface="DM Sans"/>
                <a:ea typeface="DM Sans"/>
                <a:cs typeface="DM Sans"/>
              </a:defRPr>
            </a:lvl8pPr>
            <a:lvl9pPr algn="l">
              <a:defRPr sz="1575" b="0">
                <a:solidFill>
                  <a:srgbClr val="0A0A0A"/>
                </a:solidFill>
                <a:latin typeface="DM Sans"/>
                <a:ea typeface="DM Sans"/>
                <a:cs typeface="DM Sans"/>
              </a:defRPr>
            </a:lvl9pPr>
          </a:lstStyle>
          <a:p xmlns:a="http://schemas.openxmlformats.org/drawingml/2006/main">
            <a:pPr algn="l">
              <a:defRPr sz="1575" b="0">
                <a:solidFill>
                  <a:srgbClr val="0A0A0A"/>
                </a:solidFill>
                <a:latin typeface="DM Sans"/>
                <a:ea typeface="DM Sans"/>
                <a:cs typeface="DM Sans"/>
              </a:defRPr>
            </a:pPr>
            <a:r>
              <a:rPr sz="1575" b="0">
                <a:solidFill>
                  <a:srgbClr val="0A0A0A"/>
                </a:solidFill>
                <a:latin typeface="DM Sans"/>
                <a:ea typeface="DM Sans"/>
                <a:cs typeface="DM Sans"/>
              </a:rPr>
              <a:t>Observed assays screen evidence.</a:t>
            </a:r>
          </a:p>
          <a:p xmlns:a="http://schemas.openxmlformats.org/drawingml/2006/main">
            <a:pPr algn="l">
              <a:defRPr sz="1575" b="0">
                <a:solidFill>
                  <a:srgbClr val="0A0A0A"/>
                </a:solidFill>
                <a:latin typeface="DM Sans"/>
                <a:ea typeface="DM Sans"/>
                <a:cs typeface="DM Sans"/>
              </a:defRPr>
            </a:pPr>
            <a:r>
              <a:rPr sz="1575" b="0">
                <a:solidFill>
                  <a:srgbClr val="0A0A0A"/>
                </a:solidFill>
                <a:latin typeface="DM Sans"/>
                <a:ea typeface="DM Sans"/>
                <a:cs typeface="DM Sans"/>
              </a:rPr>
              <a:t>Recorded support informs a scenario.</a:t>
            </a:r>
          </a:p>
          <a:p xmlns:a="http://schemas.openxmlformats.org/drawingml/2006/main">
            <a:pPr algn="l">
              <a:defRPr sz="1575" b="0">
                <a:solidFill>
                  <a:srgbClr val="0A0A0A"/>
                </a:solidFill>
                <a:latin typeface="DM Sans"/>
                <a:ea typeface="DM Sans"/>
                <a:cs typeface="DM Sans"/>
              </a:defRPr>
            </a:pPr>
            <a:r>
              <a:rPr sz="1575" b="0">
                <a:solidFill>
                  <a:srgbClr val="0A0A0A"/>
                </a:solidFill>
                <a:latin typeface="DM Sans"/>
                <a:ea typeface="DM Sans"/>
                <a:cs typeface="DM Sans"/>
              </a:rPr>
              <a:t>Gold response and economics are assumed.</a:t>
            </a:r>
          </a:p>
        </p:txBody>
      </p:sp>
      <p:sp>
        <p:nvSpPr>
          <p:cNvPr id="11" name="">
            <a:extLst xmlns:a="http://schemas.openxmlformats.org/drawingml/2006/main">
              <a:ext uri="{FF2B5EF4-FFF2-40B4-BE49-F238E27FC236}">
                <a16:creationId xmlns:a16="http://schemas.microsoft.com/office/drawing/2014/main" id="{9C724FD7-7B2E-4A4A-BE42-CD04A54DC801}"/>
              </a:ext>
            </a:extLst>
          </p:cNvPr>
          <p:cNvSpPr>
            <a:spLocks xmlns:a="http://schemas.openxmlformats.org/drawingml/2006/main" noGrp="1"/>
          </p:cNvSpPr>
          <p:nvPr/>
        </p:nvSpPr>
        <p:spPr>
          <a:xfrm xmlns:a="http://schemas.openxmlformats.org/drawingml/2006/main">
            <a:off x="5581650" y="4419600"/>
            <a:ext cx="4895850" cy="1866900"/>
          </a:xfrm>
          <a:custGeom xmlns:a="http://schemas.openxmlformats.org/drawingml/2006/main">
            <a:pathLst>
              <a:path w="4895850" h="1866900">
                <a:moveTo>
                  <a:pt x="2447925" y="0"/>
                </a:moveTo>
                <a:lnTo>
                  <a:pt x="4895850" y="933450"/>
                </a:lnTo>
                <a:lnTo>
                  <a:pt x="2447925" y="1866900"/>
                </a:lnTo>
                <a:lnTo>
                  <a:pt x="0" y="933450"/>
                </a:lnTo>
                <a:close/>
              </a:path>
            </a:pathLst>
          </a:custGeom>
          <a:solidFill xmlns:a="http://schemas.openxmlformats.org/drawingml/2006/main">
            <a:srgbClr val="FAFAFA"/>
          </a:solidFill>
          <a:ln xmlns:a="http://schemas.openxmlformats.org/drawingml/2006/main" w="7144">
            <a:solidFill>
              <a:srgbClr val="0A0A0A"/>
            </a:solidFill>
            <a:prstDash val="solid"/>
          </a:ln>
        </p:spPr>
      </p:sp>
      <p:sp>
        <p:nvSpPr>
          <p:cNvPr id="12" name="">
            <a:extLst xmlns:a="http://schemas.openxmlformats.org/drawingml/2006/main">
              <a:ext uri="{FF2B5EF4-FFF2-40B4-BE49-F238E27FC236}">
                <a16:creationId xmlns:a16="http://schemas.microsoft.com/office/drawing/2014/main" id="{5BE853E3-0016-43B7-8E15-3C4DA9EA6F61}"/>
              </a:ext>
            </a:extLst>
          </p:cNvPr>
          <p:cNvSpPr>
            <a:spLocks xmlns:a="http://schemas.openxmlformats.org/drawingml/2006/main" noGrp="1"/>
          </p:cNvSpPr>
          <p:nvPr/>
        </p:nvSpPr>
        <p:spPr>
          <a:xfrm xmlns:a="http://schemas.openxmlformats.org/drawingml/2006/main">
            <a:off x="7539990" y="460629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3" name="">
            <a:extLst xmlns:a="http://schemas.openxmlformats.org/drawingml/2006/main">
              <a:ext uri="{FF2B5EF4-FFF2-40B4-BE49-F238E27FC236}">
                <a16:creationId xmlns:a16="http://schemas.microsoft.com/office/drawing/2014/main" id="{33CF5B60-1E65-47E6-A8F5-5344509DF0CE}"/>
              </a:ext>
            </a:extLst>
          </p:cNvPr>
          <p:cNvSpPr>
            <a:spLocks xmlns:a="http://schemas.openxmlformats.org/drawingml/2006/main" noGrp="1"/>
          </p:cNvSpPr>
          <p:nvPr/>
        </p:nvSpPr>
        <p:spPr>
          <a:xfrm xmlns:a="http://schemas.openxmlformats.org/drawingml/2006/main">
            <a:off x="6071235" y="460629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4" name="">
            <a:extLst xmlns:a="http://schemas.openxmlformats.org/drawingml/2006/main">
              <a:ext uri="{FF2B5EF4-FFF2-40B4-BE49-F238E27FC236}">
                <a16:creationId xmlns:a16="http://schemas.microsoft.com/office/drawing/2014/main" id="{E19D1DD4-C27C-41BA-A9AC-CE35F36843A3}"/>
              </a:ext>
            </a:extLst>
          </p:cNvPr>
          <p:cNvSpPr>
            <a:spLocks xmlns:a="http://schemas.openxmlformats.org/drawingml/2006/main" noGrp="1"/>
          </p:cNvSpPr>
          <p:nvPr/>
        </p:nvSpPr>
        <p:spPr>
          <a:xfrm xmlns:a="http://schemas.openxmlformats.org/drawingml/2006/main">
            <a:off x="7050405" y="479298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5" name="">
            <a:extLst xmlns:a="http://schemas.openxmlformats.org/drawingml/2006/main">
              <a:ext uri="{FF2B5EF4-FFF2-40B4-BE49-F238E27FC236}">
                <a16:creationId xmlns:a16="http://schemas.microsoft.com/office/drawing/2014/main" id="{98B4358B-B605-462A-AA2C-942EA7F251A1}"/>
              </a:ext>
            </a:extLst>
          </p:cNvPr>
          <p:cNvSpPr>
            <a:spLocks xmlns:a="http://schemas.openxmlformats.org/drawingml/2006/main" noGrp="1"/>
          </p:cNvSpPr>
          <p:nvPr/>
        </p:nvSpPr>
        <p:spPr>
          <a:xfrm xmlns:a="http://schemas.openxmlformats.org/drawingml/2006/main">
            <a:off x="6560820" y="479298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6" name="">
            <a:extLst xmlns:a="http://schemas.openxmlformats.org/drawingml/2006/main">
              <a:ext uri="{FF2B5EF4-FFF2-40B4-BE49-F238E27FC236}">
                <a16:creationId xmlns:a16="http://schemas.microsoft.com/office/drawing/2014/main" id="{C3047745-6CFA-41F6-A11F-911D21B030C4}"/>
              </a:ext>
            </a:extLst>
          </p:cNvPr>
          <p:cNvSpPr>
            <a:spLocks xmlns:a="http://schemas.openxmlformats.org/drawingml/2006/main" noGrp="1"/>
          </p:cNvSpPr>
          <p:nvPr/>
        </p:nvSpPr>
        <p:spPr>
          <a:xfrm xmlns:a="http://schemas.openxmlformats.org/drawingml/2006/main">
            <a:off x="6560820" y="497967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7" name="">
            <a:extLst xmlns:a="http://schemas.openxmlformats.org/drawingml/2006/main">
              <a:ext uri="{FF2B5EF4-FFF2-40B4-BE49-F238E27FC236}">
                <a16:creationId xmlns:a16="http://schemas.microsoft.com/office/drawing/2014/main" id="{C719181C-0D72-486A-BE69-2E1C18A898F8}"/>
              </a:ext>
            </a:extLst>
          </p:cNvPr>
          <p:cNvSpPr>
            <a:spLocks xmlns:a="http://schemas.openxmlformats.org/drawingml/2006/main" noGrp="1"/>
          </p:cNvSpPr>
          <p:nvPr/>
        </p:nvSpPr>
        <p:spPr>
          <a:xfrm xmlns:a="http://schemas.openxmlformats.org/drawingml/2006/main">
            <a:off x="7050405" y="497967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8" name="">
            <a:extLst xmlns:a="http://schemas.openxmlformats.org/drawingml/2006/main">
              <a:ext uri="{FF2B5EF4-FFF2-40B4-BE49-F238E27FC236}">
                <a16:creationId xmlns:a16="http://schemas.microsoft.com/office/drawing/2014/main" id="{A0B0007D-4FE2-42D1-9D08-F8FBD1D97493}"/>
              </a:ext>
            </a:extLst>
          </p:cNvPr>
          <p:cNvSpPr>
            <a:spLocks xmlns:a="http://schemas.openxmlformats.org/drawingml/2006/main" noGrp="1"/>
          </p:cNvSpPr>
          <p:nvPr/>
        </p:nvSpPr>
        <p:spPr>
          <a:xfrm xmlns:a="http://schemas.openxmlformats.org/drawingml/2006/main">
            <a:off x="6071235" y="516636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9" name="">
            <a:extLst xmlns:a="http://schemas.openxmlformats.org/drawingml/2006/main">
              <a:ext uri="{FF2B5EF4-FFF2-40B4-BE49-F238E27FC236}">
                <a16:creationId xmlns:a16="http://schemas.microsoft.com/office/drawing/2014/main" id="{1B79B550-9685-4194-9374-BC7417BD5D77}"/>
              </a:ext>
            </a:extLst>
          </p:cNvPr>
          <p:cNvSpPr>
            <a:spLocks xmlns:a="http://schemas.openxmlformats.org/drawingml/2006/main" noGrp="1"/>
          </p:cNvSpPr>
          <p:nvPr/>
        </p:nvSpPr>
        <p:spPr>
          <a:xfrm xmlns:a="http://schemas.openxmlformats.org/drawingml/2006/main">
            <a:off x="7539990" y="516636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20" name="">
            <a:extLst xmlns:a="http://schemas.openxmlformats.org/drawingml/2006/main">
              <a:ext uri="{FF2B5EF4-FFF2-40B4-BE49-F238E27FC236}">
                <a16:creationId xmlns:a16="http://schemas.microsoft.com/office/drawing/2014/main" id="{D53648C7-FCAD-4EAE-A63F-49B4F46844C8}"/>
              </a:ext>
            </a:extLst>
          </p:cNvPr>
          <p:cNvSpPr>
            <a:spLocks xmlns:a="http://schemas.openxmlformats.org/drawingml/2006/main" noGrp="1"/>
          </p:cNvSpPr>
          <p:nvPr/>
        </p:nvSpPr>
        <p:spPr>
          <a:xfrm xmlns:a="http://schemas.openxmlformats.org/drawingml/2006/main">
            <a:off x="7784783" y="4893945"/>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1" name="">
            <a:extLst xmlns:a="http://schemas.openxmlformats.org/drawingml/2006/main">
              <a:ext uri="{FF2B5EF4-FFF2-40B4-BE49-F238E27FC236}">
                <a16:creationId xmlns:a16="http://schemas.microsoft.com/office/drawing/2014/main" id="{1588C405-0071-41FA-AB3E-7DB327660D89}"/>
              </a:ext>
            </a:extLst>
          </p:cNvPr>
          <p:cNvSpPr>
            <a:spLocks xmlns:a="http://schemas.openxmlformats.org/drawingml/2006/main" noGrp="1"/>
          </p:cNvSpPr>
          <p:nvPr/>
        </p:nvSpPr>
        <p:spPr>
          <a:xfrm xmlns:a="http://schemas.openxmlformats.org/drawingml/2006/main">
            <a:off x="7784783" y="4979670"/>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2" name="">
            <a:extLst xmlns:a="http://schemas.openxmlformats.org/drawingml/2006/main">
              <a:ext uri="{FF2B5EF4-FFF2-40B4-BE49-F238E27FC236}">
                <a16:creationId xmlns:a16="http://schemas.microsoft.com/office/drawing/2014/main" id="{E5F918EE-92DE-4AAE-A81A-A20169006ED1}"/>
              </a:ext>
            </a:extLst>
          </p:cNvPr>
          <p:cNvSpPr>
            <a:spLocks xmlns:a="http://schemas.openxmlformats.org/drawingml/2006/main" noGrp="1"/>
          </p:cNvSpPr>
          <p:nvPr/>
        </p:nvSpPr>
        <p:spPr>
          <a:xfrm xmlns:a="http://schemas.openxmlformats.org/drawingml/2006/main">
            <a:off x="7956233" y="4979670"/>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3" name="">
            <a:extLst xmlns:a="http://schemas.openxmlformats.org/drawingml/2006/main">
              <a:ext uri="{FF2B5EF4-FFF2-40B4-BE49-F238E27FC236}">
                <a16:creationId xmlns:a16="http://schemas.microsoft.com/office/drawing/2014/main" id="{5CD7FDDA-3016-41CB-8E93-1E2213904CB9}"/>
              </a:ext>
            </a:extLst>
          </p:cNvPr>
          <p:cNvSpPr>
            <a:spLocks xmlns:a="http://schemas.openxmlformats.org/drawingml/2006/main" noGrp="1"/>
          </p:cNvSpPr>
          <p:nvPr/>
        </p:nvSpPr>
        <p:spPr>
          <a:xfrm xmlns:a="http://schemas.openxmlformats.org/drawingml/2006/main">
            <a:off x="8249888" y="5295328"/>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4" name="">
            <a:extLst xmlns:a="http://schemas.openxmlformats.org/drawingml/2006/main">
              <a:ext uri="{FF2B5EF4-FFF2-40B4-BE49-F238E27FC236}">
                <a16:creationId xmlns:a16="http://schemas.microsoft.com/office/drawing/2014/main" id="{2F99D354-57FB-457A-8A1C-A86CA67EE675}"/>
              </a:ext>
            </a:extLst>
          </p:cNvPr>
          <p:cNvSpPr>
            <a:spLocks xmlns:a="http://schemas.openxmlformats.org/drawingml/2006/main" noGrp="1"/>
          </p:cNvSpPr>
          <p:nvPr/>
        </p:nvSpPr>
        <p:spPr>
          <a:xfrm xmlns:a="http://schemas.openxmlformats.org/drawingml/2006/main">
            <a:off x="8249888" y="5381053"/>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5" name="">
            <a:extLst xmlns:a="http://schemas.openxmlformats.org/drawingml/2006/main">
              <a:ext uri="{FF2B5EF4-FFF2-40B4-BE49-F238E27FC236}">
                <a16:creationId xmlns:a16="http://schemas.microsoft.com/office/drawing/2014/main" id="{0558FAB3-6C20-442C-A69C-D1E5090587D7}"/>
              </a:ext>
            </a:extLst>
          </p:cNvPr>
          <p:cNvSpPr>
            <a:spLocks xmlns:a="http://schemas.openxmlformats.org/drawingml/2006/main" noGrp="1"/>
          </p:cNvSpPr>
          <p:nvPr/>
        </p:nvSpPr>
        <p:spPr>
          <a:xfrm xmlns:a="http://schemas.openxmlformats.org/drawingml/2006/main">
            <a:off x="8421338" y="5381053"/>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6" name="">
            <a:extLst xmlns:a="http://schemas.openxmlformats.org/drawingml/2006/main">
              <a:ext uri="{FF2B5EF4-FFF2-40B4-BE49-F238E27FC236}">
                <a16:creationId xmlns:a16="http://schemas.microsoft.com/office/drawing/2014/main" id="{F452A5AC-BD0A-48D1-9829-178494551255}"/>
              </a:ext>
            </a:extLst>
          </p:cNvPr>
          <p:cNvSpPr>
            <a:spLocks xmlns:a="http://schemas.openxmlformats.org/drawingml/2006/main" noGrp="1"/>
          </p:cNvSpPr>
          <p:nvPr/>
        </p:nvSpPr>
        <p:spPr>
          <a:xfrm xmlns:a="http://schemas.openxmlformats.org/drawingml/2006/main">
            <a:off x="10306050" y="5353050"/>
            <a:ext cx="76200" cy="95"/>
          </a:xfrm>
          <a:custGeom xmlns:a="http://schemas.openxmlformats.org/drawingml/2006/main">
            <a:pathLst>
              <a:path w="76200" h="95">
                <a:moveTo>
                  <a:pt x="76200" y="0"/>
                </a:moveTo>
                <a:lnTo>
                  <a:pt x="0" y="0"/>
                </a:lnTo>
              </a:path>
            </a:pathLst>
          </a:custGeom>
          <a:noFill xmlns:a="http://schemas.openxmlformats.org/drawingml/2006/main"/>
          <a:ln xmlns:a="http://schemas.openxmlformats.org/drawingml/2006/main" w="5715">
            <a:solidFill>
              <a:srgbClr val="0A0A0A"/>
            </a:solidFill>
            <a:prstDash val="solid"/>
          </a:ln>
        </p:spPr>
      </p:sp>
      <p:sp>
        <p:nvSpPr>
          <p:cNvPr id="27" name="">
            <a:extLst xmlns:a="http://schemas.openxmlformats.org/drawingml/2006/main">
              <a:ext uri="{FF2B5EF4-FFF2-40B4-BE49-F238E27FC236}">
                <a16:creationId xmlns:a16="http://schemas.microsoft.com/office/drawing/2014/main" id="{E35DE2F5-877F-4E69-B870-BB0EC27FDB98}"/>
              </a:ext>
            </a:extLst>
          </p:cNvPr>
          <p:cNvSpPr>
            <a:spLocks xmlns:a="http://schemas.openxmlformats.org/drawingml/2006/main" noGrp="1"/>
          </p:cNvSpPr>
          <p:nvPr/>
        </p:nvSpPr>
        <p:spPr>
          <a:xfrm xmlns:a="http://schemas.openxmlformats.org/drawingml/2006/main" rot="0">
            <a:off x="10382250" y="4572000"/>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Assignment</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and cash</a:t>
            </a:r>
          </a:p>
        </p:txBody>
      </p:sp>
      <p:sp>
        <p:nvSpPr>
          <p:cNvPr id="28" name="">
            <a:extLst xmlns:a="http://schemas.openxmlformats.org/drawingml/2006/main">
              <a:ext uri="{FF2B5EF4-FFF2-40B4-BE49-F238E27FC236}">
                <a16:creationId xmlns:a16="http://schemas.microsoft.com/office/drawing/2014/main" id="{C62A338D-A946-4A88-8D31-C7D3A977ED6B}"/>
              </a:ext>
            </a:extLst>
          </p:cNvPr>
          <p:cNvSpPr>
            <a:spLocks xmlns:a="http://schemas.openxmlformats.org/drawingml/2006/main" noGrp="1"/>
          </p:cNvSpPr>
          <p:nvPr/>
        </p:nvSpPr>
        <p:spPr>
          <a:xfrm xmlns:a="http://schemas.openxmlformats.org/drawingml/2006/main" rot="0">
            <a:off x="10382250" y="502920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Assumed</a:t>
            </a:r>
          </a:p>
        </p:txBody>
      </p:sp>
      <p:sp>
        <p:nvSpPr>
          <p:cNvPr id="29" name="">
            <a:extLst xmlns:a="http://schemas.openxmlformats.org/drawingml/2006/main">
              <a:ext uri="{FF2B5EF4-FFF2-40B4-BE49-F238E27FC236}">
                <a16:creationId xmlns:a16="http://schemas.microsoft.com/office/drawing/2014/main" id="{AC91D8CC-CC6B-45AF-99C5-2A4910655147}"/>
              </a:ext>
            </a:extLst>
          </p:cNvPr>
          <p:cNvSpPr>
            <a:spLocks xmlns:a="http://schemas.openxmlformats.org/drawingml/2006/main" noGrp="1"/>
          </p:cNvSpPr>
          <p:nvPr/>
        </p:nvSpPr>
        <p:spPr>
          <a:xfrm xmlns:a="http://schemas.openxmlformats.org/drawingml/2006/main">
            <a:off x="5876925" y="29051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22C55E"/>
            </a:solidFill>
            <a:prstDash val="solid"/>
          </a:ln>
        </p:spPr>
      </p:sp>
      <p:sp>
        <p:nvSpPr>
          <p:cNvPr id="30" name="">
            <a:extLst xmlns:a="http://schemas.openxmlformats.org/drawingml/2006/main">
              <a:ext uri="{FF2B5EF4-FFF2-40B4-BE49-F238E27FC236}">
                <a16:creationId xmlns:a16="http://schemas.microsoft.com/office/drawing/2014/main" id="{50FB0AA5-C683-42AC-A5A3-FF3FE832A52C}"/>
              </a:ext>
            </a:extLst>
          </p:cNvPr>
          <p:cNvSpPr>
            <a:spLocks xmlns:a="http://schemas.openxmlformats.org/drawingml/2006/main" noGrp="1"/>
          </p:cNvSpPr>
          <p:nvPr/>
        </p:nvSpPr>
        <p:spPr>
          <a:xfrm xmlns:a="http://schemas.openxmlformats.org/drawingml/2006/main">
            <a:off x="7599045" y="30680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1" name="">
            <a:extLst xmlns:a="http://schemas.openxmlformats.org/drawingml/2006/main">
              <a:ext uri="{FF2B5EF4-FFF2-40B4-BE49-F238E27FC236}">
                <a16:creationId xmlns:a16="http://schemas.microsoft.com/office/drawing/2014/main" id="{456AAEAF-CF97-479F-90A7-1E33476E0928}"/>
              </a:ext>
            </a:extLst>
          </p:cNvPr>
          <p:cNvSpPr>
            <a:spLocks xmlns:a="http://schemas.openxmlformats.org/drawingml/2006/main" noGrp="1"/>
          </p:cNvSpPr>
          <p:nvPr/>
        </p:nvSpPr>
        <p:spPr>
          <a:xfrm xmlns:a="http://schemas.openxmlformats.org/drawingml/2006/main">
            <a:off x="6307455" y="30680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2" name="">
            <a:extLst xmlns:a="http://schemas.openxmlformats.org/drawingml/2006/main">
              <a:ext uri="{FF2B5EF4-FFF2-40B4-BE49-F238E27FC236}">
                <a16:creationId xmlns:a16="http://schemas.microsoft.com/office/drawing/2014/main" id="{F36506A1-AD54-4D4F-BAA8-2897311DE302}"/>
              </a:ext>
            </a:extLst>
          </p:cNvPr>
          <p:cNvSpPr>
            <a:spLocks xmlns:a="http://schemas.openxmlformats.org/drawingml/2006/main" noGrp="1"/>
          </p:cNvSpPr>
          <p:nvPr/>
        </p:nvSpPr>
        <p:spPr>
          <a:xfrm xmlns:a="http://schemas.openxmlformats.org/drawingml/2006/main">
            <a:off x="7168515" y="3230880"/>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3" name="">
            <a:extLst xmlns:a="http://schemas.openxmlformats.org/drawingml/2006/main">
              <a:ext uri="{FF2B5EF4-FFF2-40B4-BE49-F238E27FC236}">
                <a16:creationId xmlns:a16="http://schemas.microsoft.com/office/drawing/2014/main" id="{01BAF84A-D325-4099-98AE-9421BF246F01}"/>
              </a:ext>
            </a:extLst>
          </p:cNvPr>
          <p:cNvSpPr>
            <a:spLocks xmlns:a="http://schemas.openxmlformats.org/drawingml/2006/main" noGrp="1"/>
          </p:cNvSpPr>
          <p:nvPr/>
        </p:nvSpPr>
        <p:spPr>
          <a:xfrm xmlns:a="http://schemas.openxmlformats.org/drawingml/2006/main">
            <a:off x="6737985" y="3230880"/>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4" name="">
            <a:extLst xmlns:a="http://schemas.openxmlformats.org/drawingml/2006/main">
              <a:ext uri="{FF2B5EF4-FFF2-40B4-BE49-F238E27FC236}">
                <a16:creationId xmlns:a16="http://schemas.microsoft.com/office/drawing/2014/main" id="{F725C65B-8CF3-44AD-BFB2-E3F3EB5352FE}"/>
              </a:ext>
            </a:extLst>
          </p:cNvPr>
          <p:cNvSpPr>
            <a:spLocks xmlns:a="http://schemas.openxmlformats.org/drawingml/2006/main" noGrp="1"/>
          </p:cNvSpPr>
          <p:nvPr/>
        </p:nvSpPr>
        <p:spPr>
          <a:xfrm xmlns:a="http://schemas.openxmlformats.org/drawingml/2006/main">
            <a:off x="6737985" y="33937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5" name="">
            <a:extLst xmlns:a="http://schemas.openxmlformats.org/drawingml/2006/main">
              <a:ext uri="{FF2B5EF4-FFF2-40B4-BE49-F238E27FC236}">
                <a16:creationId xmlns:a16="http://schemas.microsoft.com/office/drawing/2014/main" id="{E46C884C-9834-421B-BF3F-8F76458A4F65}"/>
              </a:ext>
            </a:extLst>
          </p:cNvPr>
          <p:cNvSpPr>
            <a:spLocks xmlns:a="http://schemas.openxmlformats.org/drawingml/2006/main" noGrp="1"/>
          </p:cNvSpPr>
          <p:nvPr/>
        </p:nvSpPr>
        <p:spPr>
          <a:xfrm xmlns:a="http://schemas.openxmlformats.org/drawingml/2006/main">
            <a:off x="7168515" y="33937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6" name="">
            <a:extLst xmlns:a="http://schemas.openxmlformats.org/drawingml/2006/main">
              <a:ext uri="{FF2B5EF4-FFF2-40B4-BE49-F238E27FC236}">
                <a16:creationId xmlns:a16="http://schemas.microsoft.com/office/drawing/2014/main" id="{11637A61-240E-40B4-B269-FFC3777B11C3}"/>
              </a:ext>
            </a:extLst>
          </p:cNvPr>
          <p:cNvSpPr>
            <a:spLocks xmlns:a="http://schemas.openxmlformats.org/drawingml/2006/main" noGrp="1"/>
          </p:cNvSpPr>
          <p:nvPr/>
        </p:nvSpPr>
        <p:spPr>
          <a:xfrm xmlns:a="http://schemas.openxmlformats.org/drawingml/2006/main">
            <a:off x="6307455" y="3556635"/>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7" name="">
            <a:extLst xmlns:a="http://schemas.openxmlformats.org/drawingml/2006/main">
              <a:ext uri="{FF2B5EF4-FFF2-40B4-BE49-F238E27FC236}">
                <a16:creationId xmlns:a16="http://schemas.microsoft.com/office/drawing/2014/main" id="{DF84F278-E9D5-471C-815A-D33ABC6A21B2}"/>
              </a:ext>
            </a:extLst>
          </p:cNvPr>
          <p:cNvSpPr>
            <a:spLocks xmlns:a="http://schemas.openxmlformats.org/drawingml/2006/main" noGrp="1"/>
          </p:cNvSpPr>
          <p:nvPr/>
        </p:nvSpPr>
        <p:spPr>
          <a:xfrm xmlns:a="http://schemas.openxmlformats.org/drawingml/2006/main">
            <a:off x="7599045" y="3556635"/>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8" name="">
            <a:extLst xmlns:a="http://schemas.openxmlformats.org/drawingml/2006/main">
              <a:ext uri="{FF2B5EF4-FFF2-40B4-BE49-F238E27FC236}">
                <a16:creationId xmlns:a16="http://schemas.microsoft.com/office/drawing/2014/main" id="{E9F4519F-28B7-4641-83D8-CDD9ACE6192A}"/>
              </a:ext>
            </a:extLst>
          </p:cNvPr>
          <p:cNvSpPr>
            <a:spLocks xmlns:a="http://schemas.openxmlformats.org/drawingml/2006/main" noGrp="1"/>
          </p:cNvSpPr>
          <p:nvPr/>
        </p:nvSpPr>
        <p:spPr>
          <a:xfrm xmlns:a="http://schemas.openxmlformats.org/drawingml/2006/main">
            <a:off x="7835837" y="31858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39" name="">
            <a:extLst xmlns:a="http://schemas.openxmlformats.org/drawingml/2006/main">
              <a:ext uri="{FF2B5EF4-FFF2-40B4-BE49-F238E27FC236}">
                <a16:creationId xmlns:a16="http://schemas.microsoft.com/office/drawing/2014/main" id="{73A8B56F-DC96-4083-B351-6AE1F9033742}"/>
              </a:ext>
            </a:extLst>
          </p:cNvPr>
          <p:cNvSpPr>
            <a:spLocks xmlns:a="http://schemas.openxmlformats.org/drawingml/2006/main" noGrp="1"/>
          </p:cNvSpPr>
          <p:nvPr/>
        </p:nvSpPr>
        <p:spPr>
          <a:xfrm xmlns:a="http://schemas.openxmlformats.org/drawingml/2006/main">
            <a:off x="7835837" y="32715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0" name="">
            <a:extLst xmlns:a="http://schemas.openxmlformats.org/drawingml/2006/main">
              <a:ext uri="{FF2B5EF4-FFF2-40B4-BE49-F238E27FC236}">
                <a16:creationId xmlns:a16="http://schemas.microsoft.com/office/drawing/2014/main" id="{8F1C3C59-79BC-4CD0-AB49-15C84934CBDF}"/>
              </a:ext>
            </a:extLst>
          </p:cNvPr>
          <p:cNvSpPr>
            <a:spLocks xmlns:a="http://schemas.openxmlformats.org/drawingml/2006/main" noGrp="1"/>
          </p:cNvSpPr>
          <p:nvPr/>
        </p:nvSpPr>
        <p:spPr>
          <a:xfrm xmlns:a="http://schemas.openxmlformats.org/drawingml/2006/main">
            <a:off x="8007287" y="32715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1" name="">
            <a:extLst xmlns:a="http://schemas.openxmlformats.org/drawingml/2006/main">
              <a:ext uri="{FF2B5EF4-FFF2-40B4-BE49-F238E27FC236}">
                <a16:creationId xmlns:a16="http://schemas.microsoft.com/office/drawing/2014/main" id="{4D938F7D-F606-4AD5-96F5-446795E1E96F}"/>
              </a:ext>
            </a:extLst>
          </p:cNvPr>
          <p:cNvSpPr>
            <a:spLocks xmlns:a="http://schemas.openxmlformats.org/drawingml/2006/main" noGrp="1"/>
          </p:cNvSpPr>
          <p:nvPr/>
        </p:nvSpPr>
        <p:spPr>
          <a:xfrm xmlns:a="http://schemas.openxmlformats.org/drawingml/2006/main">
            <a:off x="8460105" y="34057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2" name="">
            <a:extLst xmlns:a="http://schemas.openxmlformats.org/drawingml/2006/main">
              <a:ext uri="{FF2B5EF4-FFF2-40B4-BE49-F238E27FC236}">
                <a16:creationId xmlns:a16="http://schemas.microsoft.com/office/drawing/2014/main" id="{50C8B258-DA66-44F5-B6AB-BB2392A6DEAB}"/>
              </a:ext>
            </a:extLst>
          </p:cNvPr>
          <p:cNvSpPr>
            <a:spLocks xmlns:a="http://schemas.openxmlformats.org/drawingml/2006/main" noGrp="1"/>
          </p:cNvSpPr>
          <p:nvPr/>
        </p:nvSpPr>
        <p:spPr>
          <a:xfrm xmlns:a="http://schemas.openxmlformats.org/drawingml/2006/main">
            <a:off x="8460105" y="34914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3" name="">
            <a:extLst xmlns:a="http://schemas.openxmlformats.org/drawingml/2006/main">
              <a:ext uri="{FF2B5EF4-FFF2-40B4-BE49-F238E27FC236}">
                <a16:creationId xmlns:a16="http://schemas.microsoft.com/office/drawing/2014/main" id="{E7F1599F-4AB4-422C-9EEA-8FC246E00DF4}"/>
              </a:ext>
            </a:extLst>
          </p:cNvPr>
          <p:cNvSpPr>
            <a:spLocks xmlns:a="http://schemas.openxmlformats.org/drawingml/2006/main" noGrp="1"/>
          </p:cNvSpPr>
          <p:nvPr/>
        </p:nvSpPr>
        <p:spPr>
          <a:xfrm xmlns:a="http://schemas.openxmlformats.org/drawingml/2006/main">
            <a:off x="8631555" y="34914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4" name="">
            <a:extLst xmlns:a="http://schemas.openxmlformats.org/drawingml/2006/main">
              <a:ext uri="{FF2B5EF4-FFF2-40B4-BE49-F238E27FC236}">
                <a16:creationId xmlns:a16="http://schemas.microsoft.com/office/drawing/2014/main" id="{07A98397-5C77-42B9-B3FE-156F9931B9C8}"/>
              </a:ext>
            </a:extLst>
          </p:cNvPr>
          <p:cNvSpPr>
            <a:spLocks xmlns:a="http://schemas.openxmlformats.org/drawingml/2006/main" noGrp="1"/>
          </p:cNvSpPr>
          <p:nvPr/>
        </p:nvSpPr>
        <p:spPr>
          <a:xfrm xmlns:a="http://schemas.openxmlformats.org/drawingml/2006/main">
            <a:off x="8266367" y="37559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5" name="">
            <a:extLst xmlns:a="http://schemas.openxmlformats.org/drawingml/2006/main">
              <a:ext uri="{FF2B5EF4-FFF2-40B4-BE49-F238E27FC236}">
                <a16:creationId xmlns:a16="http://schemas.microsoft.com/office/drawing/2014/main" id="{62F0293A-0907-4322-A7C8-530259D94B0C}"/>
              </a:ext>
            </a:extLst>
          </p:cNvPr>
          <p:cNvSpPr>
            <a:spLocks xmlns:a="http://schemas.openxmlformats.org/drawingml/2006/main" noGrp="1"/>
          </p:cNvSpPr>
          <p:nvPr/>
        </p:nvSpPr>
        <p:spPr>
          <a:xfrm xmlns:a="http://schemas.openxmlformats.org/drawingml/2006/main">
            <a:off x="8266367" y="38416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6" name="">
            <a:extLst xmlns:a="http://schemas.openxmlformats.org/drawingml/2006/main">
              <a:ext uri="{FF2B5EF4-FFF2-40B4-BE49-F238E27FC236}">
                <a16:creationId xmlns:a16="http://schemas.microsoft.com/office/drawing/2014/main" id="{BC7FC8AE-85BD-42EB-B6D2-78B26F297770}"/>
              </a:ext>
            </a:extLst>
          </p:cNvPr>
          <p:cNvSpPr>
            <a:spLocks xmlns:a="http://schemas.openxmlformats.org/drawingml/2006/main" noGrp="1"/>
          </p:cNvSpPr>
          <p:nvPr/>
        </p:nvSpPr>
        <p:spPr>
          <a:xfrm xmlns:a="http://schemas.openxmlformats.org/drawingml/2006/main">
            <a:off x="8437817" y="38416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7" name="">
            <a:extLst xmlns:a="http://schemas.openxmlformats.org/drawingml/2006/main">
              <a:ext uri="{FF2B5EF4-FFF2-40B4-BE49-F238E27FC236}">
                <a16:creationId xmlns:a16="http://schemas.microsoft.com/office/drawing/2014/main" id="{5EE815A7-F258-4571-A2C4-432884AE460B}"/>
              </a:ext>
            </a:extLst>
          </p:cNvPr>
          <p:cNvSpPr>
            <a:spLocks xmlns:a="http://schemas.openxmlformats.org/drawingml/2006/main" noGrp="1"/>
          </p:cNvSpPr>
          <p:nvPr/>
        </p:nvSpPr>
        <p:spPr>
          <a:xfrm xmlns:a="http://schemas.openxmlformats.org/drawingml/2006/main">
            <a:off x="7319201" y="36093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8" name="">
            <a:extLst xmlns:a="http://schemas.openxmlformats.org/drawingml/2006/main">
              <a:ext uri="{FF2B5EF4-FFF2-40B4-BE49-F238E27FC236}">
                <a16:creationId xmlns:a16="http://schemas.microsoft.com/office/drawing/2014/main" id="{4E5944A4-0CC0-41BC-895C-BBBCCB0E5ABB}"/>
              </a:ext>
            </a:extLst>
          </p:cNvPr>
          <p:cNvSpPr>
            <a:spLocks xmlns:a="http://schemas.openxmlformats.org/drawingml/2006/main" noGrp="1"/>
          </p:cNvSpPr>
          <p:nvPr/>
        </p:nvSpPr>
        <p:spPr>
          <a:xfrm xmlns:a="http://schemas.openxmlformats.org/drawingml/2006/main">
            <a:off x="7319201" y="36950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9" name="">
            <a:extLst xmlns:a="http://schemas.openxmlformats.org/drawingml/2006/main">
              <a:ext uri="{FF2B5EF4-FFF2-40B4-BE49-F238E27FC236}">
                <a16:creationId xmlns:a16="http://schemas.microsoft.com/office/drawing/2014/main" id="{3FCE7078-1C81-4021-8697-D072C71C016D}"/>
              </a:ext>
            </a:extLst>
          </p:cNvPr>
          <p:cNvSpPr>
            <a:spLocks xmlns:a="http://schemas.openxmlformats.org/drawingml/2006/main" noGrp="1"/>
          </p:cNvSpPr>
          <p:nvPr/>
        </p:nvSpPr>
        <p:spPr>
          <a:xfrm xmlns:a="http://schemas.openxmlformats.org/drawingml/2006/main">
            <a:off x="7490651" y="36950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50" name="">
            <a:extLst xmlns:a="http://schemas.openxmlformats.org/drawingml/2006/main">
              <a:ext uri="{FF2B5EF4-FFF2-40B4-BE49-F238E27FC236}">
                <a16:creationId xmlns:a16="http://schemas.microsoft.com/office/drawing/2014/main" id="{F3044D43-40C0-4BD1-B2C5-3FDE1B5E9979}"/>
              </a:ext>
            </a:extLst>
          </p:cNvPr>
          <p:cNvSpPr>
            <a:spLocks xmlns:a="http://schemas.openxmlformats.org/drawingml/2006/main" noGrp="1"/>
          </p:cNvSpPr>
          <p:nvPr/>
        </p:nvSpPr>
        <p:spPr>
          <a:xfrm xmlns:a="http://schemas.openxmlformats.org/drawingml/2006/main">
            <a:off x="10086975" y="37195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22C55E"/>
            </a:solidFill>
            <a:prstDash val="solid"/>
          </a:ln>
        </p:spPr>
      </p:sp>
      <p:sp>
        <p:nvSpPr>
          <p:cNvPr id="51" name="">
            <a:extLst xmlns:a="http://schemas.openxmlformats.org/drawingml/2006/main">
              <a:ext uri="{FF2B5EF4-FFF2-40B4-BE49-F238E27FC236}">
                <a16:creationId xmlns:a16="http://schemas.microsoft.com/office/drawing/2014/main" id="{64A1DFD6-EC0E-44FD-B2C3-E8D0439044A5}"/>
              </a:ext>
            </a:extLst>
          </p:cNvPr>
          <p:cNvSpPr>
            <a:spLocks xmlns:a="http://schemas.openxmlformats.org/drawingml/2006/main" noGrp="1"/>
          </p:cNvSpPr>
          <p:nvPr/>
        </p:nvSpPr>
        <p:spPr>
          <a:xfrm xmlns:a="http://schemas.openxmlformats.org/drawingml/2006/main" rot="0">
            <a:off x="10382250" y="3529013"/>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Gold</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forecast</a:t>
            </a:r>
          </a:p>
        </p:txBody>
      </p:sp>
      <p:sp>
        <p:nvSpPr>
          <p:cNvPr id="52" name="">
            <a:extLst xmlns:a="http://schemas.openxmlformats.org/drawingml/2006/main">
              <a:ext uri="{FF2B5EF4-FFF2-40B4-BE49-F238E27FC236}">
                <a16:creationId xmlns:a16="http://schemas.microsoft.com/office/drawing/2014/main" id="{A37A613F-7AEB-4184-AEC6-3FE6A085B56E}"/>
              </a:ext>
            </a:extLst>
          </p:cNvPr>
          <p:cNvSpPr>
            <a:spLocks xmlns:a="http://schemas.openxmlformats.org/drawingml/2006/main" noGrp="1"/>
          </p:cNvSpPr>
          <p:nvPr/>
        </p:nvSpPr>
        <p:spPr>
          <a:xfrm xmlns:a="http://schemas.openxmlformats.org/drawingml/2006/main" rot="0">
            <a:off x="10382250" y="39862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Assumed</a:t>
            </a:r>
          </a:p>
        </p:txBody>
      </p:sp>
      <p:sp>
        <p:nvSpPr>
          <p:cNvPr id="53" name="">
            <a:extLst xmlns:a="http://schemas.openxmlformats.org/drawingml/2006/main">
              <a:ext uri="{FF2B5EF4-FFF2-40B4-BE49-F238E27FC236}">
                <a16:creationId xmlns:a16="http://schemas.microsoft.com/office/drawing/2014/main" id="{9F166B80-D955-499D-9A95-57D065344861}"/>
              </a:ext>
            </a:extLst>
          </p:cNvPr>
          <p:cNvSpPr>
            <a:spLocks xmlns:a="http://schemas.openxmlformats.org/drawingml/2006/main" noGrp="1"/>
          </p:cNvSpPr>
          <p:nvPr/>
        </p:nvSpPr>
        <p:spPr>
          <a:xfrm xmlns:a="http://schemas.openxmlformats.org/drawingml/2006/main">
            <a:off x="5876925" y="16859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B6B6B6"/>
            </a:solidFill>
            <a:prstDash val="solid"/>
          </a:ln>
        </p:spPr>
      </p:sp>
      <p:sp>
        <p:nvSpPr>
          <p:cNvPr id="54" name="">
            <a:extLst xmlns:a="http://schemas.openxmlformats.org/drawingml/2006/main">
              <a:ext uri="{FF2B5EF4-FFF2-40B4-BE49-F238E27FC236}">
                <a16:creationId xmlns:a16="http://schemas.microsoft.com/office/drawing/2014/main" id="{9D5704E0-1518-4B14-A63F-06D8E6BD13F6}"/>
              </a:ext>
            </a:extLst>
          </p:cNvPr>
          <p:cNvSpPr>
            <a:spLocks xmlns:a="http://schemas.openxmlformats.org/drawingml/2006/main" noGrp="1"/>
          </p:cNvSpPr>
          <p:nvPr/>
        </p:nvSpPr>
        <p:spPr>
          <a:xfrm xmlns:a="http://schemas.openxmlformats.org/drawingml/2006/main">
            <a:off x="7599045" y="18488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5" name="">
            <a:extLst xmlns:a="http://schemas.openxmlformats.org/drawingml/2006/main">
              <a:ext uri="{FF2B5EF4-FFF2-40B4-BE49-F238E27FC236}">
                <a16:creationId xmlns:a16="http://schemas.microsoft.com/office/drawing/2014/main" id="{F89970B4-520A-4511-8A21-0CA518EB8ECB}"/>
              </a:ext>
            </a:extLst>
          </p:cNvPr>
          <p:cNvSpPr>
            <a:spLocks xmlns:a="http://schemas.openxmlformats.org/drawingml/2006/main" noGrp="1"/>
          </p:cNvSpPr>
          <p:nvPr/>
        </p:nvSpPr>
        <p:spPr>
          <a:xfrm xmlns:a="http://schemas.openxmlformats.org/drawingml/2006/main">
            <a:off x="6307455" y="18488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56" name="">
            <a:extLst xmlns:a="http://schemas.openxmlformats.org/drawingml/2006/main">
              <a:ext uri="{FF2B5EF4-FFF2-40B4-BE49-F238E27FC236}">
                <a16:creationId xmlns:a16="http://schemas.microsoft.com/office/drawing/2014/main" id="{C69E4182-13B8-4E12-85F1-EBE43FD03E98}"/>
              </a:ext>
            </a:extLst>
          </p:cNvPr>
          <p:cNvSpPr>
            <a:spLocks xmlns:a="http://schemas.openxmlformats.org/drawingml/2006/main" noGrp="1"/>
          </p:cNvSpPr>
          <p:nvPr/>
        </p:nvSpPr>
        <p:spPr>
          <a:xfrm xmlns:a="http://schemas.openxmlformats.org/drawingml/2006/main">
            <a:off x="7168515" y="2011680"/>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7" name="">
            <a:extLst xmlns:a="http://schemas.openxmlformats.org/drawingml/2006/main">
              <a:ext uri="{FF2B5EF4-FFF2-40B4-BE49-F238E27FC236}">
                <a16:creationId xmlns:a16="http://schemas.microsoft.com/office/drawing/2014/main" id="{5AEC4215-1E00-4F9C-8863-107B5B941A5B}"/>
              </a:ext>
            </a:extLst>
          </p:cNvPr>
          <p:cNvSpPr>
            <a:spLocks xmlns:a="http://schemas.openxmlformats.org/drawingml/2006/main" noGrp="1"/>
          </p:cNvSpPr>
          <p:nvPr/>
        </p:nvSpPr>
        <p:spPr>
          <a:xfrm xmlns:a="http://schemas.openxmlformats.org/drawingml/2006/main">
            <a:off x="6737985" y="2011680"/>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58" name="">
            <a:extLst xmlns:a="http://schemas.openxmlformats.org/drawingml/2006/main">
              <a:ext uri="{FF2B5EF4-FFF2-40B4-BE49-F238E27FC236}">
                <a16:creationId xmlns:a16="http://schemas.microsoft.com/office/drawing/2014/main" id="{023425D4-86EB-4A01-BE9A-F151118A53C6}"/>
              </a:ext>
            </a:extLst>
          </p:cNvPr>
          <p:cNvSpPr>
            <a:spLocks xmlns:a="http://schemas.openxmlformats.org/drawingml/2006/main" noGrp="1"/>
          </p:cNvSpPr>
          <p:nvPr/>
        </p:nvSpPr>
        <p:spPr>
          <a:xfrm xmlns:a="http://schemas.openxmlformats.org/drawingml/2006/main">
            <a:off x="6737985" y="21745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9" name="">
            <a:extLst xmlns:a="http://schemas.openxmlformats.org/drawingml/2006/main">
              <a:ext uri="{FF2B5EF4-FFF2-40B4-BE49-F238E27FC236}">
                <a16:creationId xmlns:a16="http://schemas.microsoft.com/office/drawing/2014/main" id="{CDD0DB38-E2DE-47CD-B0AB-E2E6890A43B8}"/>
              </a:ext>
            </a:extLst>
          </p:cNvPr>
          <p:cNvSpPr>
            <a:spLocks xmlns:a="http://schemas.openxmlformats.org/drawingml/2006/main" noGrp="1"/>
          </p:cNvSpPr>
          <p:nvPr/>
        </p:nvSpPr>
        <p:spPr>
          <a:xfrm xmlns:a="http://schemas.openxmlformats.org/drawingml/2006/main">
            <a:off x="7168515" y="21745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60" name="">
            <a:extLst xmlns:a="http://schemas.openxmlformats.org/drawingml/2006/main">
              <a:ext uri="{FF2B5EF4-FFF2-40B4-BE49-F238E27FC236}">
                <a16:creationId xmlns:a16="http://schemas.microsoft.com/office/drawing/2014/main" id="{1728F51B-326F-4E30-8834-581B71A09911}"/>
              </a:ext>
            </a:extLst>
          </p:cNvPr>
          <p:cNvSpPr>
            <a:spLocks xmlns:a="http://schemas.openxmlformats.org/drawingml/2006/main" noGrp="1"/>
          </p:cNvSpPr>
          <p:nvPr/>
        </p:nvSpPr>
        <p:spPr>
          <a:xfrm xmlns:a="http://schemas.openxmlformats.org/drawingml/2006/main">
            <a:off x="6307455" y="2337435"/>
            <a:ext cx="2152650" cy="814387"/>
          </a:xfrm>
          <a:custGeom xmlns:a="http://schemas.openxmlformats.org/drawingml/2006/main">
            <a:pathLst>
              <a:path w="2152650" h="814387">
                <a:moveTo>
                  <a:pt x="0" y="0"/>
                </a:moveTo>
                <a:lnTo>
                  <a:pt x="2152650" y="814387"/>
                </a:lnTo>
              </a:path>
            </a:pathLst>
          </a:custGeom>
          <a:noFill xmlns:a="http://schemas.openxmlformats.org/drawingml/2006/main"/>
          <a:ln xmlns:a="http://schemas.openxmlformats.org/drawingml/2006/main" w="3334">
            <a:solidFill>
              <a:srgbClr val="B6B6B6"/>
            </a:solidFill>
            <a:prstDash val="solid"/>
          </a:ln>
        </p:spPr>
      </p:sp>
      <p:sp>
        <p:nvSpPr>
          <p:cNvPr id="61" name="">
            <a:extLst xmlns:a="http://schemas.openxmlformats.org/drawingml/2006/main">
              <a:ext uri="{FF2B5EF4-FFF2-40B4-BE49-F238E27FC236}">
                <a16:creationId xmlns:a16="http://schemas.microsoft.com/office/drawing/2014/main" id="{8500F519-179E-4E99-99E9-167EF7EF8F64}"/>
              </a:ext>
            </a:extLst>
          </p:cNvPr>
          <p:cNvSpPr>
            <a:spLocks xmlns:a="http://schemas.openxmlformats.org/drawingml/2006/main" noGrp="1"/>
          </p:cNvSpPr>
          <p:nvPr/>
        </p:nvSpPr>
        <p:spPr>
          <a:xfrm xmlns:a="http://schemas.openxmlformats.org/drawingml/2006/main">
            <a:off x="7599045" y="2337435"/>
            <a:ext cx="2152650" cy="814387"/>
          </a:xfrm>
          <a:custGeom xmlns:a="http://schemas.openxmlformats.org/drawingml/2006/main">
            <a:pathLst>
              <a:path w="2152650" h="814387">
                <a:moveTo>
                  <a:pt x="2152650" y="0"/>
                </a:moveTo>
                <a:lnTo>
                  <a:pt x="0" y="814387"/>
                </a:lnTo>
              </a:path>
            </a:pathLst>
          </a:custGeom>
          <a:noFill xmlns:a="http://schemas.openxmlformats.org/drawingml/2006/main"/>
          <a:ln xmlns:a="http://schemas.openxmlformats.org/drawingml/2006/main" w="3334">
            <a:solidFill>
              <a:srgbClr val="B6B6B6"/>
            </a:solidFill>
            <a:prstDash val="solid"/>
          </a:ln>
        </p:spPr>
      </p:sp>
      <p:sp>
        <p:nvSpPr>
          <p:cNvPr id="62" name="">
            <a:extLst xmlns:a="http://schemas.openxmlformats.org/drawingml/2006/main">
              <a:ext uri="{FF2B5EF4-FFF2-40B4-BE49-F238E27FC236}">
                <a16:creationId xmlns:a16="http://schemas.microsoft.com/office/drawing/2014/main" id="{72A1A973-0D34-49A3-A282-EC47546A498E}"/>
              </a:ext>
            </a:extLst>
          </p:cNvPr>
          <p:cNvSpPr>
            <a:spLocks xmlns:a="http://schemas.openxmlformats.org/drawingml/2006/main" noGrp="1"/>
          </p:cNvSpPr>
          <p:nvPr/>
        </p:nvSpPr>
        <p:spPr>
          <a:xfrm xmlns:a="http://schemas.openxmlformats.org/drawingml/2006/main">
            <a:off x="7835837" y="19666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3" name="">
            <a:extLst xmlns:a="http://schemas.openxmlformats.org/drawingml/2006/main">
              <a:ext uri="{FF2B5EF4-FFF2-40B4-BE49-F238E27FC236}">
                <a16:creationId xmlns:a16="http://schemas.microsoft.com/office/drawing/2014/main" id="{18E95B0D-CEA1-4BE0-9F4D-C3E3E55062FA}"/>
              </a:ext>
            </a:extLst>
          </p:cNvPr>
          <p:cNvSpPr>
            <a:spLocks xmlns:a="http://schemas.openxmlformats.org/drawingml/2006/main" noGrp="1"/>
          </p:cNvSpPr>
          <p:nvPr/>
        </p:nvSpPr>
        <p:spPr>
          <a:xfrm xmlns:a="http://schemas.openxmlformats.org/drawingml/2006/main">
            <a:off x="7835837" y="20523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4" name="">
            <a:extLst xmlns:a="http://schemas.openxmlformats.org/drawingml/2006/main">
              <a:ext uri="{FF2B5EF4-FFF2-40B4-BE49-F238E27FC236}">
                <a16:creationId xmlns:a16="http://schemas.microsoft.com/office/drawing/2014/main" id="{5776C02A-0172-476D-AE06-3E1F44E6573B}"/>
              </a:ext>
            </a:extLst>
          </p:cNvPr>
          <p:cNvSpPr>
            <a:spLocks xmlns:a="http://schemas.openxmlformats.org/drawingml/2006/main" noGrp="1"/>
          </p:cNvSpPr>
          <p:nvPr/>
        </p:nvSpPr>
        <p:spPr>
          <a:xfrm xmlns:a="http://schemas.openxmlformats.org/drawingml/2006/main">
            <a:off x="8007287" y="20523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5" name="">
            <a:extLst xmlns:a="http://schemas.openxmlformats.org/drawingml/2006/main">
              <a:ext uri="{FF2B5EF4-FFF2-40B4-BE49-F238E27FC236}">
                <a16:creationId xmlns:a16="http://schemas.microsoft.com/office/drawing/2014/main" id="{4E8B8F85-4765-437B-AF6B-8442F2DACEC8}"/>
              </a:ext>
            </a:extLst>
          </p:cNvPr>
          <p:cNvSpPr>
            <a:spLocks xmlns:a="http://schemas.openxmlformats.org/drawingml/2006/main" noGrp="1"/>
          </p:cNvSpPr>
          <p:nvPr/>
        </p:nvSpPr>
        <p:spPr>
          <a:xfrm xmlns:a="http://schemas.openxmlformats.org/drawingml/2006/main">
            <a:off x="8460105" y="21865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6" name="">
            <a:extLst xmlns:a="http://schemas.openxmlformats.org/drawingml/2006/main">
              <a:ext uri="{FF2B5EF4-FFF2-40B4-BE49-F238E27FC236}">
                <a16:creationId xmlns:a16="http://schemas.microsoft.com/office/drawing/2014/main" id="{6D9C2B06-A369-4210-96AC-5DD4000597E7}"/>
              </a:ext>
            </a:extLst>
          </p:cNvPr>
          <p:cNvSpPr>
            <a:spLocks xmlns:a="http://schemas.openxmlformats.org/drawingml/2006/main" noGrp="1"/>
          </p:cNvSpPr>
          <p:nvPr/>
        </p:nvSpPr>
        <p:spPr>
          <a:xfrm xmlns:a="http://schemas.openxmlformats.org/drawingml/2006/main">
            <a:off x="8460105" y="22722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7" name="">
            <a:extLst xmlns:a="http://schemas.openxmlformats.org/drawingml/2006/main">
              <a:ext uri="{FF2B5EF4-FFF2-40B4-BE49-F238E27FC236}">
                <a16:creationId xmlns:a16="http://schemas.microsoft.com/office/drawing/2014/main" id="{9313DB63-14DA-406E-9A5F-A8AE044CA9C1}"/>
              </a:ext>
            </a:extLst>
          </p:cNvPr>
          <p:cNvSpPr>
            <a:spLocks xmlns:a="http://schemas.openxmlformats.org/drawingml/2006/main" noGrp="1"/>
          </p:cNvSpPr>
          <p:nvPr/>
        </p:nvSpPr>
        <p:spPr>
          <a:xfrm xmlns:a="http://schemas.openxmlformats.org/drawingml/2006/main">
            <a:off x="8631555" y="22722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8" name="">
            <a:extLst xmlns:a="http://schemas.openxmlformats.org/drawingml/2006/main">
              <a:ext uri="{FF2B5EF4-FFF2-40B4-BE49-F238E27FC236}">
                <a16:creationId xmlns:a16="http://schemas.microsoft.com/office/drawing/2014/main" id="{5FFD6B9E-C60C-41E1-97F7-48F02E39F2F8}"/>
              </a:ext>
            </a:extLst>
          </p:cNvPr>
          <p:cNvSpPr>
            <a:spLocks xmlns:a="http://schemas.openxmlformats.org/drawingml/2006/main" noGrp="1"/>
          </p:cNvSpPr>
          <p:nvPr/>
        </p:nvSpPr>
        <p:spPr>
          <a:xfrm xmlns:a="http://schemas.openxmlformats.org/drawingml/2006/main">
            <a:off x="8266367" y="25367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9" name="">
            <a:extLst xmlns:a="http://schemas.openxmlformats.org/drawingml/2006/main">
              <a:ext uri="{FF2B5EF4-FFF2-40B4-BE49-F238E27FC236}">
                <a16:creationId xmlns:a16="http://schemas.microsoft.com/office/drawing/2014/main" id="{E82AE9AC-BB59-44C0-92AD-AF5EFB78A15B}"/>
              </a:ext>
            </a:extLst>
          </p:cNvPr>
          <p:cNvSpPr>
            <a:spLocks xmlns:a="http://schemas.openxmlformats.org/drawingml/2006/main" noGrp="1"/>
          </p:cNvSpPr>
          <p:nvPr/>
        </p:nvSpPr>
        <p:spPr>
          <a:xfrm xmlns:a="http://schemas.openxmlformats.org/drawingml/2006/main">
            <a:off x="8266367" y="26224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0" name="">
            <a:extLst xmlns:a="http://schemas.openxmlformats.org/drawingml/2006/main">
              <a:ext uri="{FF2B5EF4-FFF2-40B4-BE49-F238E27FC236}">
                <a16:creationId xmlns:a16="http://schemas.microsoft.com/office/drawing/2014/main" id="{985B6102-4830-421D-9975-EAE31A4A0ED1}"/>
              </a:ext>
            </a:extLst>
          </p:cNvPr>
          <p:cNvSpPr>
            <a:spLocks xmlns:a="http://schemas.openxmlformats.org/drawingml/2006/main" noGrp="1"/>
          </p:cNvSpPr>
          <p:nvPr/>
        </p:nvSpPr>
        <p:spPr>
          <a:xfrm xmlns:a="http://schemas.openxmlformats.org/drawingml/2006/main">
            <a:off x="8437817" y="26224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1" name="">
            <a:extLst xmlns:a="http://schemas.openxmlformats.org/drawingml/2006/main">
              <a:ext uri="{FF2B5EF4-FFF2-40B4-BE49-F238E27FC236}">
                <a16:creationId xmlns:a16="http://schemas.microsoft.com/office/drawing/2014/main" id="{7E94AFB3-753E-4E4F-8D8B-31590798E3AC}"/>
              </a:ext>
            </a:extLst>
          </p:cNvPr>
          <p:cNvSpPr>
            <a:spLocks xmlns:a="http://schemas.openxmlformats.org/drawingml/2006/main" noGrp="1"/>
          </p:cNvSpPr>
          <p:nvPr/>
        </p:nvSpPr>
        <p:spPr>
          <a:xfrm xmlns:a="http://schemas.openxmlformats.org/drawingml/2006/main">
            <a:off x="7319201" y="23901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2" name="">
            <a:extLst xmlns:a="http://schemas.openxmlformats.org/drawingml/2006/main">
              <a:ext uri="{FF2B5EF4-FFF2-40B4-BE49-F238E27FC236}">
                <a16:creationId xmlns:a16="http://schemas.microsoft.com/office/drawing/2014/main" id="{B6475458-483F-43D5-8889-045EAB0655DF}"/>
              </a:ext>
            </a:extLst>
          </p:cNvPr>
          <p:cNvSpPr>
            <a:spLocks xmlns:a="http://schemas.openxmlformats.org/drawingml/2006/main" noGrp="1"/>
          </p:cNvSpPr>
          <p:nvPr/>
        </p:nvSpPr>
        <p:spPr>
          <a:xfrm xmlns:a="http://schemas.openxmlformats.org/drawingml/2006/main">
            <a:off x="7319201" y="24758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3" name="">
            <a:extLst xmlns:a="http://schemas.openxmlformats.org/drawingml/2006/main">
              <a:ext uri="{FF2B5EF4-FFF2-40B4-BE49-F238E27FC236}">
                <a16:creationId xmlns:a16="http://schemas.microsoft.com/office/drawing/2014/main" id="{54207AC8-D655-4810-A0C4-03F482C6BB54}"/>
              </a:ext>
            </a:extLst>
          </p:cNvPr>
          <p:cNvSpPr>
            <a:spLocks xmlns:a="http://schemas.openxmlformats.org/drawingml/2006/main" noGrp="1"/>
          </p:cNvSpPr>
          <p:nvPr/>
        </p:nvSpPr>
        <p:spPr>
          <a:xfrm xmlns:a="http://schemas.openxmlformats.org/drawingml/2006/main">
            <a:off x="7490651" y="24758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4" name="">
            <a:extLst xmlns:a="http://schemas.openxmlformats.org/drawingml/2006/main">
              <a:ext uri="{FF2B5EF4-FFF2-40B4-BE49-F238E27FC236}">
                <a16:creationId xmlns:a16="http://schemas.microsoft.com/office/drawing/2014/main" id="{AB86E06A-2BFA-4250-AA49-73AC84AEF766}"/>
              </a:ext>
            </a:extLst>
          </p:cNvPr>
          <p:cNvSpPr>
            <a:spLocks xmlns:a="http://schemas.openxmlformats.org/drawingml/2006/main" noGrp="1"/>
          </p:cNvSpPr>
          <p:nvPr/>
        </p:nvSpPr>
        <p:spPr>
          <a:xfrm xmlns:a="http://schemas.openxmlformats.org/drawingml/2006/main">
            <a:off x="10086975" y="25003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B6B6B6"/>
            </a:solidFill>
            <a:prstDash val="solid"/>
          </a:ln>
        </p:spPr>
      </p:sp>
      <p:sp>
        <p:nvSpPr>
          <p:cNvPr id="75" name="">
            <a:extLst xmlns:a="http://schemas.openxmlformats.org/drawingml/2006/main">
              <a:ext uri="{FF2B5EF4-FFF2-40B4-BE49-F238E27FC236}">
                <a16:creationId xmlns:a16="http://schemas.microsoft.com/office/drawing/2014/main" id="{4AEE8D0D-2DAF-4204-8D9D-CEAFDA8F48DC}"/>
              </a:ext>
            </a:extLst>
          </p:cNvPr>
          <p:cNvSpPr>
            <a:spLocks xmlns:a="http://schemas.openxmlformats.org/drawingml/2006/main" noGrp="1"/>
          </p:cNvSpPr>
          <p:nvPr/>
        </p:nvSpPr>
        <p:spPr>
          <a:xfrm xmlns:a="http://schemas.openxmlformats.org/drawingml/2006/main" rot="0">
            <a:off x="10382250" y="2309813"/>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Recorded</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support</a:t>
            </a:r>
          </a:p>
        </p:txBody>
      </p:sp>
      <p:sp>
        <p:nvSpPr>
          <p:cNvPr id="76" name="">
            <a:extLst xmlns:a="http://schemas.openxmlformats.org/drawingml/2006/main">
              <a:ext uri="{FF2B5EF4-FFF2-40B4-BE49-F238E27FC236}">
                <a16:creationId xmlns:a16="http://schemas.microsoft.com/office/drawing/2014/main" id="{0A51A170-1A61-4A80-A88B-9C5C9CA191B9}"/>
              </a:ext>
            </a:extLst>
          </p:cNvPr>
          <p:cNvSpPr>
            <a:spLocks xmlns:a="http://schemas.openxmlformats.org/drawingml/2006/main" noGrp="1"/>
          </p:cNvSpPr>
          <p:nvPr/>
        </p:nvSpPr>
        <p:spPr>
          <a:xfrm xmlns:a="http://schemas.openxmlformats.org/drawingml/2006/main" rot="0">
            <a:off x="10382250" y="27670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Simulated</a:t>
            </a:r>
          </a:p>
        </p:txBody>
      </p:sp>
      <p:sp>
        <p:nvSpPr>
          <p:cNvPr id="77" name="">
            <a:extLst xmlns:a="http://schemas.openxmlformats.org/drawingml/2006/main">
              <a:ext uri="{FF2B5EF4-FFF2-40B4-BE49-F238E27FC236}">
                <a16:creationId xmlns:a16="http://schemas.microsoft.com/office/drawing/2014/main" id="{CA91C075-604B-4173-834E-97B2F2960002}"/>
              </a:ext>
            </a:extLst>
          </p:cNvPr>
          <p:cNvSpPr>
            <a:spLocks xmlns:a="http://schemas.openxmlformats.org/drawingml/2006/main" noGrp="1"/>
          </p:cNvSpPr>
          <p:nvPr/>
        </p:nvSpPr>
        <p:spPr>
          <a:xfrm xmlns:a="http://schemas.openxmlformats.org/drawingml/2006/main">
            <a:off x="5876925" y="4667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B6B6B6"/>
            </a:solidFill>
            <a:prstDash val="solid"/>
          </a:ln>
        </p:spPr>
      </p:sp>
      <p:sp>
        <p:nvSpPr>
          <p:cNvPr id="78" name="">
            <a:extLst xmlns:a="http://schemas.openxmlformats.org/drawingml/2006/main">
              <a:ext uri="{FF2B5EF4-FFF2-40B4-BE49-F238E27FC236}">
                <a16:creationId xmlns:a16="http://schemas.microsoft.com/office/drawing/2014/main" id="{66001837-2409-4E01-9CDA-6B9965BEF745}"/>
              </a:ext>
            </a:extLst>
          </p:cNvPr>
          <p:cNvSpPr>
            <a:spLocks xmlns:a="http://schemas.openxmlformats.org/drawingml/2006/main" noGrp="1"/>
          </p:cNvSpPr>
          <p:nvPr/>
        </p:nvSpPr>
        <p:spPr>
          <a:xfrm xmlns:a="http://schemas.openxmlformats.org/drawingml/2006/main">
            <a:off x="7599045" y="6296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79" name="">
            <a:extLst xmlns:a="http://schemas.openxmlformats.org/drawingml/2006/main">
              <a:ext uri="{FF2B5EF4-FFF2-40B4-BE49-F238E27FC236}">
                <a16:creationId xmlns:a16="http://schemas.microsoft.com/office/drawing/2014/main" id="{CE9C1A0D-DCB4-4208-B16B-80D11051C1B1}"/>
              </a:ext>
            </a:extLst>
          </p:cNvPr>
          <p:cNvSpPr>
            <a:spLocks xmlns:a="http://schemas.openxmlformats.org/drawingml/2006/main" noGrp="1"/>
          </p:cNvSpPr>
          <p:nvPr/>
        </p:nvSpPr>
        <p:spPr>
          <a:xfrm xmlns:a="http://schemas.openxmlformats.org/drawingml/2006/main">
            <a:off x="6307455" y="6296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0" name="">
            <a:extLst xmlns:a="http://schemas.openxmlformats.org/drawingml/2006/main">
              <a:ext uri="{FF2B5EF4-FFF2-40B4-BE49-F238E27FC236}">
                <a16:creationId xmlns:a16="http://schemas.microsoft.com/office/drawing/2014/main" id="{73AFEE94-B9D3-4B6D-9F60-BA37DE270F7D}"/>
              </a:ext>
            </a:extLst>
          </p:cNvPr>
          <p:cNvSpPr>
            <a:spLocks xmlns:a="http://schemas.openxmlformats.org/drawingml/2006/main" noGrp="1"/>
          </p:cNvSpPr>
          <p:nvPr/>
        </p:nvSpPr>
        <p:spPr>
          <a:xfrm xmlns:a="http://schemas.openxmlformats.org/drawingml/2006/main">
            <a:off x="7168515" y="792480"/>
            <a:ext cx="2152650" cy="814387"/>
          </a:xfrm>
          <a:custGeom xmlns:a="http://schemas.openxmlformats.org/drawingml/2006/main">
            <a:pathLst>
              <a:path w="2152650" h="814387">
                <a:moveTo>
                  <a:pt x="0" y="0"/>
                </a:moveTo>
                <a:lnTo>
                  <a:pt x="2152650" y="814387"/>
                </a:lnTo>
              </a:path>
            </a:pathLst>
          </a:custGeom>
          <a:noFill xmlns:a="http://schemas.openxmlformats.org/drawingml/2006/main"/>
          <a:ln xmlns:a="http://schemas.openxmlformats.org/drawingml/2006/main" w="3334">
            <a:solidFill>
              <a:srgbClr val="B6B6B6"/>
            </a:solidFill>
            <a:prstDash val="solid"/>
          </a:ln>
        </p:spPr>
      </p:sp>
      <p:sp>
        <p:nvSpPr>
          <p:cNvPr id="81" name="">
            <a:extLst xmlns:a="http://schemas.openxmlformats.org/drawingml/2006/main">
              <a:ext uri="{FF2B5EF4-FFF2-40B4-BE49-F238E27FC236}">
                <a16:creationId xmlns:a16="http://schemas.microsoft.com/office/drawing/2014/main" id="{D03E7CB4-3A96-43CA-BFA8-8ED5A37F44E9}"/>
              </a:ext>
            </a:extLst>
          </p:cNvPr>
          <p:cNvSpPr>
            <a:spLocks xmlns:a="http://schemas.openxmlformats.org/drawingml/2006/main" noGrp="1"/>
          </p:cNvSpPr>
          <p:nvPr/>
        </p:nvSpPr>
        <p:spPr>
          <a:xfrm xmlns:a="http://schemas.openxmlformats.org/drawingml/2006/main">
            <a:off x="6737985" y="792480"/>
            <a:ext cx="2152650" cy="814387"/>
          </a:xfrm>
          <a:custGeom xmlns:a="http://schemas.openxmlformats.org/drawingml/2006/main">
            <a:pathLst>
              <a:path w="2152650" h="814387">
                <a:moveTo>
                  <a:pt x="2152650" y="0"/>
                </a:moveTo>
                <a:lnTo>
                  <a:pt x="0" y="814387"/>
                </a:lnTo>
              </a:path>
            </a:pathLst>
          </a:custGeom>
          <a:noFill xmlns:a="http://schemas.openxmlformats.org/drawingml/2006/main"/>
          <a:ln xmlns:a="http://schemas.openxmlformats.org/drawingml/2006/main" w="3334">
            <a:solidFill>
              <a:srgbClr val="B6B6B6"/>
            </a:solidFill>
            <a:prstDash val="solid"/>
          </a:ln>
        </p:spPr>
      </p:sp>
      <p:sp>
        <p:nvSpPr>
          <p:cNvPr id="82" name="">
            <a:extLst xmlns:a="http://schemas.openxmlformats.org/drawingml/2006/main">
              <a:ext uri="{FF2B5EF4-FFF2-40B4-BE49-F238E27FC236}">
                <a16:creationId xmlns:a16="http://schemas.microsoft.com/office/drawing/2014/main" id="{F32E3775-5311-4753-95EA-BE523CBF38C2}"/>
              </a:ext>
            </a:extLst>
          </p:cNvPr>
          <p:cNvSpPr>
            <a:spLocks xmlns:a="http://schemas.openxmlformats.org/drawingml/2006/main" noGrp="1"/>
          </p:cNvSpPr>
          <p:nvPr/>
        </p:nvSpPr>
        <p:spPr>
          <a:xfrm xmlns:a="http://schemas.openxmlformats.org/drawingml/2006/main">
            <a:off x="6737985" y="9553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83" name="">
            <a:extLst xmlns:a="http://schemas.openxmlformats.org/drawingml/2006/main">
              <a:ext uri="{FF2B5EF4-FFF2-40B4-BE49-F238E27FC236}">
                <a16:creationId xmlns:a16="http://schemas.microsoft.com/office/drawing/2014/main" id="{E34DF256-5AEC-4FD6-89C4-A4250D25113A}"/>
              </a:ext>
            </a:extLst>
          </p:cNvPr>
          <p:cNvSpPr>
            <a:spLocks xmlns:a="http://schemas.openxmlformats.org/drawingml/2006/main" noGrp="1"/>
          </p:cNvSpPr>
          <p:nvPr/>
        </p:nvSpPr>
        <p:spPr>
          <a:xfrm xmlns:a="http://schemas.openxmlformats.org/drawingml/2006/main">
            <a:off x="7168515" y="9553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4" name="">
            <a:extLst xmlns:a="http://schemas.openxmlformats.org/drawingml/2006/main">
              <a:ext uri="{FF2B5EF4-FFF2-40B4-BE49-F238E27FC236}">
                <a16:creationId xmlns:a16="http://schemas.microsoft.com/office/drawing/2014/main" id="{6F49193E-2BB5-404E-99AA-6BF440BD944F}"/>
              </a:ext>
            </a:extLst>
          </p:cNvPr>
          <p:cNvSpPr>
            <a:spLocks xmlns:a="http://schemas.openxmlformats.org/drawingml/2006/main" noGrp="1"/>
          </p:cNvSpPr>
          <p:nvPr/>
        </p:nvSpPr>
        <p:spPr>
          <a:xfrm xmlns:a="http://schemas.openxmlformats.org/drawingml/2006/main">
            <a:off x="6307455" y="1118235"/>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85" name="">
            <a:extLst xmlns:a="http://schemas.openxmlformats.org/drawingml/2006/main">
              <a:ext uri="{FF2B5EF4-FFF2-40B4-BE49-F238E27FC236}">
                <a16:creationId xmlns:a16="http://schemas.microsoft.com/office/drawing/2014/main" id="{1074D35F-10B8-4E72-B346-8E8C6DF1A5B2}"/>
              </a:ext>
            </a:extLst>
          </p:cNvPr>
          <p:cNvSpPr>
            <a:spLocks xmlns:a="http://schemas.openxmlformats.org/drawingml/2006/main" noGrp="1"/>
          </p:cNvSpPr>
          <p:nvPr/>
        </p:nvSpPr>
        <p:spPr>
          <a:xfrm xmlns:a="http://schemas.openxmlformats.org/drawingml/2006/main">
            <a:off x="7599045" y="1118235"/>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6" name="">
            <a:extLst xmlns:a="http://schemas.openxmlformats.org/drawingml/2006/main">
              <a:ext uri="{FF2B5EF4-FFF2-40B4-BE49-F238E27FC236}">
                <a16:creationId xmlns:a16="http://schemas.microsoft.com/office/drawing/2014/main" id="{661418B9-35B0-400D-B2DE-F91C78A73C20}"/>
              </a:ext>
            </a:extLst>
          </p:cNvPr>
          <p:cNvSpPr>
            <a:spLocks xmlns:a="http://schemas.openxmlformats.org/drawingml/2006/main" noGrp="1"/>
          </p:cNvSpPr>
          <p:nvPr/>
        </p:nvSpPr>
        <p:spPr>
          <a:xfrm xmlns:a="http://schemas.openxmlformats.org/drawingml/2006/main">
            <a:off x="7835837" y="7474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7" name="">
            <a:extLst xmlns:a="http://schemas.openxmlformats.org/drawingml/2006/main">
              <a:ext uri="{FF2B5EF4-FFF2-40B4-BE49-F238E27FC236}">
                <a16:creationId xmlns:a16="http://schemas.microsoft.com/office/drawing/2014/main" id="{AE446402-F11B-4F26-86E8-48E4CA3B7EF9}"/>
              </a:ext>
            </a:extLst>
          </p:cNvPr>
          <p:cNvSpPr>
            <a:spLocks xmlns:a="http://schemas.openxmlformats.org/drawingml/2006/main" noGrp="1"/>
          </p:cNvSpPr>
          <p:nvPr/>
        </p:nvSpPr>
        <p:spPr>
          <a:xfrm xmlns:a="http://schemas.openxmlformats.org/drawingml/2006/main">
            <a:off x="7835837" y="8331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8" name="">
            <a:extLst xmlns:a="http://schemas.openxmlformats.org/drawingml/2006/main">
              <a:ext uri="{FF2B5EF4-FFF2-40B4-BE49-F238E27FC236}">
                <a16:creationId xmlns:a16="http://schemas.microsoft.com/office/drawing/2014/main" id="{167EE823-25C5-4F2C-8B5C-B455378B446C}"/>
              </a:ext>
            </a:extLst>
          </p:cNvPr>
          <p:cNvSpPr>
            <a:spLocks xmlns:a="http://schemas.openxmlformats.org/drawingml/2006/main" noGrp="1"/>
          </p:cNvSpPr>
          <p:nvPr/>
        </p:nvSpPr>
        <p:spPr>
          <a:xfrm xmlns:a="http://schemas.openxmlformats.org/drawingml/2006/main">
            <a:off x="8007287" y="8331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9" name="">
            <a:extLst xmlns:a="http://schemas.openxmlformats.org/drawingml/2006/main">
              <a:ext uri="{FF2B5EF4-FFF2-40B4-BE49-F238E27FC236}">
                <a16:creationId xmlns:a16="http://schemas.microsoft.com/office/drawing/2014/main" id="{5B4D33DD-083E-4D06-AE2E-47BA057C5232}"/>
              </a:ext>
            </a:extLst>
          </p:cNvPr>
          <p:cNvSpPr>
            <a:spLocks xmlns:a="http://schemas.openxmlformats.org/drawingml/2006/main" noGrp="1"/>
          </p:cNvSpPr>
          <p:nvPr/>
        </p:nvSpPr>
        <p:spPr>
          <a:xfrm xmlns:a="http://schemas.openxmlformats.org/drawingml/2006/main">
            <a:off x="8460105" y="9673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0" name="">
            <a:extLst xmlns:a="http://schemas.openxmlformats.org/drawingml/2006/main">
              <a:ext uri="{FF2B5EF4-FFF2-40B4-BE49-F238E27FC236}">
                <a16:creationId xmlns:a16="http://schemas.microsoft.com/office/drawing/2014/main" id="{6AC5CAF2-4642-4BAB-92B9-FF236DC4F430}"/>
              </a:ext>
            </a:extLst>
          </p:cNvPr>
          <p:cNvSpPr>
            <a:spLocks xmlns:a="http://schemas.openxmlformats.org/drawingml/2006/main" noGrp="1"/>
          </p:cNvSpPr>
          <p:nvPr/>
        </p:nvSpPr>
        <p:spPr>
          <a:xfrm xmlns:a="http://schemas.openxmlformats.org/drawingml/2006/main">
            <a:off x="8460105" y="10530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1" name="">
            <a:extLst xmlns:a="http://schemas.openxmlformats.org/drawingml/2006/main">
              <a:ext uri="{FF2B5EF4-FFF2-40B4-BE49-F238E27FC236}">
                <a16:creationId xmlns:a16="http://schemas.microsoft.com/office/drawing/2014/main" id="{DB57E994-7CE9-4F54-AB07-6548C6E825A7}"/>
              </a:ext>
            </a:extLst>
          </p:cNvPr>
          <p:cNvSpPr>
            <a:spLocks xmlns:a="http://schemas.openxmlformats.org/drawingml/2006/main" noGrp="1"/>
          </p:cNvSpPr>
          <p:nvPr/>
        </p:nvSpPr>
        <p:spPr>
          <a:xfrm xmlns:a="http://schemas.openxmlformats.org/drawingml/2006/main">
            <a:off x="8631555" y="10530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2" name="">
            <a:extLst xmlns:a="http://schemas.openxmlformats.org/drawingml/2006/main">
              <a:ext uri="{FF2B5EF4-FFF2-40B4-BE49-F238E27FC236}">
                <a16:creationId xmlns:a16="http://schemas.microsoft.com/office/drawing/2014/main" id="{5CE61672-3263-4A16-8A7A-B223E5DD715F}"/>
              </a:ext>
            </a:extLst>
          </p:cNvPr>
          <p:cNvSpPr>
            <a:spLocks xmlns:a="http://schemas.openxmlformats.org/drawingml/2006/main" noGrp="1"/>
          </p:cNvSpPr>
          <p:nvPr/>
        </p:nvSpPr>
        <p:spPr>
          <a:xfrm xmlns:a="http://schemas.openxmlformats.org/drawingml/2006/main">
            <a:off x="8266367" y="13175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3" name="">
            <a:extLst xmlns:a="http://schemas.openxmlformats.org/drawingml/2006/main">
              <a:ext uri="{FF2B5EF4-FFF2-40B4-BE49-F238E27FC236}">
                <a16:creationId xmlns:a16="http://schemas.microsoft.com/office/drawing/2014/main" id="{97105E70-4DED-4D97-B49B-64F650C718BE}"/>
              </a:ext>
            </a:extLst>
          </p:cNvPr>
          <p:cNvSpPr>
            <a:spLocks xmlns:a="http://schemas.openxmlformats.org/drawingml/2006/main" noGrp="1"/>
          </p:cNvSpPr>
          <p:nvPr/>
        </p:nvSpPr>
        <p:spPr>
          <a:xfrm xmlns:a="http://schemas.openxmlformats.org/drawingml/2006/main">
            <a:off x="8266367" y="14032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4" name="">
            <a:extLst xmlns:a="http://schemas.openxmlformats.org/drawingml/2006/main">
              <a:ext uri="{FF2B5EF4-FFF2-40B4-BE49-F238E27FC236}">
                <a16:creationId xmlns:a16="http://schemas.microsoft.com/office/drawing/2014/main" id="{BB3C5502-75E8-480A-9CBB-9EBAA8560AA8}"/>
              </a:ext>
            </a:extLst>
          </p:cNvPr>
          <p:cNvSpPr>
            <a:spLocks xmlns:a="http://schemas.openxmlformats.org/drawingml/2006/main" noGrp="1"/>
          </p:cNvSpPr>
          <p:nvPr/>
        </p:nvSpPr>
        <p:spPr>
          <a:xfrm xmlns:a="http://schemas.openxmlformats.org/drawingml/2006/main">
            <a:off x="8437817" y="14032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5" name="">
            <a:extLst xmlns:a="http://schemas.openxmlformats.org/drawingml/2006/main">
              <a:ext uri="{FF2B5EF4-FFF2-40B4-BE49-F238E27FC236}">
                <a16:creationId xmlns:a16="http://schemas.microsoft.com/office/drawing/2014/main" id="{FFEE9B2C-F69B-40FA-8AF6-41229E60CA84}"/>
              </a:ext>
            </a:extLst>
          </p:cNvPr>
          <p:cNvSpPr>
            <a:spLocks xmlns:a="http://schemas.openxmlformats.org/drawingml/2006/main" noGrp="1"/>
          </p:cNvSpPr>
          <p:nvPr/>
        </p:nvSpPr>
        <p:spPr>
          <a:xfrm xmlns:a="http://schemas.openxmlformats.org/drawingml/2006/main">
            <a:off x="7319201" y="11709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6" name="">
            <a:extLst xmlns:a="http://schemas.openxmlformats.org/drawingml/2006/main">
              <a:ext uri="{FF2B5EF4-FFF2-40B4-BE49-F238E27FC236}">
                <a16:creationId xmlns:a16="http://schemas.microsoft.com/office/drawing/2014/main" id="{E6ECBF6D-4FC7-4607-BB9F-CD61C8465C2B}"/>
              </a:ext>
            </a:extLst>
          </p:cNvPr>
          <p:cNvSpPr>
            <a:spLocks xmlns:a="http://schemas.openxmlformats.org/drawingml/2006/main" noGrp="1"/>
          </p:cNvSpPr>
          <p:nvPr/>
        </p:nvSpPr>
        <p:spPr>
          <a:xfrm xmlns:a="http://schemas.openxmlformats.org/drawingml/2006/main">
            <a:off x="7319201" y="12566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7" name="">
            <a:extLst xmlns:a="http://schemas.openxmlformats.org/drawingml/2006/main">
              <a:ext uri="{FF2B5EF4-FFF2-40B4-BE49-F238E27FC236}">
                <a16:creationId xmlns:a16="http://schemas.microsoft.com/office/drawing/2014/main" id="{A81D9224-762D-4599-83F2-150BC3F1F8DA}"/>
              </a:ext>
            </a:extLst>
          </p:cNvPr>
          <p:cNvSpPr>
            <a:spLocks xmlns:a="http://schemas.openxmlformats.org/drawingml/2006/main" noGrp="1"/>
          </p:cNvSpPr>
          <p:nvPr/>
        </p:nvSpPr>
        <p:spPr>
          <a:xfrm xmlns:a="http://schemas.openxmlformats.org/drawingml/2006/main">
            <a:off x="7490651" y="12566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8" name="">
            <a:extLst xmlns:a="http://schemas.openxmlformats.org/drawingml/2006/main">
              <a:ext uri="{FF2B5EF4-FFF2-40B4-BE49-F238E27FC236}">
                <a16:creationId xmlns:a16="http://schemas.microsoft.com/office/drawing/2014/main" id="{3C8BFF38-AA3F-4004-BA89-CE930AB2D077}"/>
              </a:ext>
            </a:extLst>
          </p:cNvPr>
          <p:cNvSpPr>
            <a:spLocks xmlns:a="http://schemas.openxmlformats.org/drawingml/2006/main" noGrp="1"/>
          </p:cNvSpPr>
          <p:nvPr/>
        </p:nvSpPr>
        <p:spPr>
          <a:xfrm xmlns:a="http://schemas.openxmlformats.org/drawingml/2006/main">
            <a:off x="10086975" y="12811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B6B6B6"/>
            </a:solidFill>
            <a:prstDash val="solid"/>
          </a:ln>
        </p:spPr>
      </p:sp>
      <p:sp>
        <p:nvSpPr>
          <p:cNvPr id="99" name="">
            <a:extLst xmlns:a="http://schemas.openxmlformats.org/drawingml/2006/main">
              <a:ext uri="{FF2B5EF4-FFF2-40B4-BE49-F238E27FC236}">
                <a16:creationId xmlns:a16="http://schemas.microsoft.com/office/drawing/2014/main" id="{22B9311E-02C7-44E8-9BF8-15C052F61EB7}"/>
              </a:ext>
            </a:extLst>
          </p:cNvPr>
          <p:cNvSpPr>
            <a:spLocks xmlns:a="http://schemas.openxmlformats.org/drawingml/2006/main" noGrp="1"/>
          </p:cNvSpPr>
          <p:nvPr/>
        </p:nvSpPr>
        <p:spPr>
          <a:xfrm xmlns:a="http://schemas.openxmlformats.org/drawingml/2006/main" rot="0">
            <a:off x="10382250" y="1090613"/>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Observed</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evidence</a:t>
            </a:r>
          </a:p>
        </p:txBody>
      </p:sp>
      <p:sp>
        <p:nvSpPr>
          <p:cNvPr id="100" name="">
            <a:extLst xmlns:a="http://schemas.openxmlformats.org/drawingml/2006/main">
              <a:ext uri="{FF2B5EF4-FFF2-40B4-BE49-F238E27FC236}">
                <a16:creationId xmlns:a16="http://schemas.microsoft.com/office/drawing/2014/main" id="{194EA412-2643-476F-9AC5-50E1022F3F9C}"/>
              </a:ext>
            </a:extLst>
          </p:cNvPr>
          <p:cNvSpPr>
            <a:spLocks xmlns:a="http://schemas.openxmlformats.org/drawingml/2006/main" noGrp="1"/>
          </p:cNvSpPr>
          <p:nvPr/>
        </p:nvSpPr>
        <p:spPr>
          <a:xfrm xmlns:a="http://schemas.openxmlformats.org/drawingml/2006/main" rot="0">
            <a:off x="10382250" y="15478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Primary assays</a:t>
            </a:r>
          </a:p>
        </p:txBody>
      </p:sp>
      <p:pic>
        <p:nvPicPr>
          <p:cNvPr id="101" name="">
            <a:extLst xmlns:a="http://schemas.openxmlformats.org/drawingml/2006/main">
              <a:ext uri="{FF2B5EF4-FFF2-40B4-BE49-F238E27FC236}">
                <a16:creationId xmlns:a16="http://schemas.microsoft.com/office/drawing/2014/main" id="{132D0F67-A913-4FFE-838A-9FBA8A5D46E6}"/>
              </a:ext>
            </a:extLst>
          </p:cNvPr>
          <p:cNvPicPr>
            <a:picLocks xmlns:a="http://schemas.openxmlformats.org/drawingml/2006/main" noChangeAspect="1"/>
          </p:cNvPicPr>
          <p:nvPr/>
        </p:nvPicPr>
        <p:blipFill>
          <a:blip xmlns:r="http://schemas.openxmlformats.org/officeDocument/2006/relationships" xmlns:a="http://schemas.openxmlformats.org/drawingml/2006/main" r:embed="R1a8b62504dd04e12"/>
          <a:srcRect xmlns:a="http://schemas.openxmlformats.org/drawingml/2006/main" l="3448" t="0" r="3448" b="0"/>
          <a:stretch xmlns:a="http://schemas.openxmlformats.org/drawingml/2006/main">
            <a:fillRect l="0" t="0" r="0" b="0"/>
          </a:stretch>
        </p:blipFill>
        <p:spPr>
          <a:xfrm xmlns:a="http://schemas.openxmlformats.org/drawingml/2006/main">
            <a:off x="9906000" y="5476875"/>
            <a:ext cx="2286000" cy="1381125"/>
          </a:xfrm>
          <a:prstGeom xmlns:a="http://schemas.openxmlformats.org/drawingml/2006/main" prst="roundRect">
            <a:avLst>
              <a:gd name="adj" fmla="val 16552"/>
            </a:avLst>
          </a:prstGeom>
        </p:spPr>
      </p:pic>
      <p:sp>
        <p:nvSpPr>
          <p:cNvPr id="102" name="">
            <a:extLst xmlns:a="http://schemas.openxmlformats.org/drawingml/2006/main">
              <a:ext uri="{FF2B5EF4-FFF2-40B4-BE49-F238E27FC236}">
                <a16:creationId xmlns:a16="http://schemas.microsoft.com/office/drawing/2014/main" id="{5F95A121-F49C-47FF-867C-0A5F8B8ECD10}"/>
              </a:ext>
            </a:extLst>
          </p:cNvPr>
          <p:cNvSpPr>
            <a:spLocks xmlns:a="http://schemas.openxmlformats.org/drawingml/2006/main" noGrp="1"/>
          </p:cNvSpPr>
          <p:nvPr/>
        </p:nvSpPr>
        <p:spPr>
          <a:xfrm xmlns:a="http://schemas.openxmlformats.org/drawingml/2006/main">
            <a:off x="5857875" y="1285875"/>
            <a:ext cx="95" cy="2428875"/>
          </a:xfrm>
          <a:custGeom xmlns:a="http://schemas.openxmlformats.org/drawingml/2006/main">
            <a:pathLst>
              <a:path w="95" h="2428875">
                <a:moveTo>
                  <a:pt x="0" y="0"/>
                </a:moveTo>
                <a:lnTo>
                  <a:pt x="0" y="2428875"/>
                </a:lnTo>
              </a:path>
            </a:pathLst>
          </a:custGeom>
          <a:noFill xmlns:a="http://schemas.openxmlformats.org/drawingml/2006/main"/>
          <a:ln xmlns:a="http://schemas.openxmlformats.org/drawingml/2006/main" w="4763">
            <a:solidFill>
              <a:srgbClr val="B6B6B6"/>
            </a:solidFill>
            <a:prstDash val="dot"/>
          </a:ln>
        </p:spPr>
      </p:sp>
      <p:sp>
        <p:nvSpPr>
          <p:cNvPr id="103" name="">
            <a:extLst xmlns:a="http://schemas.openxmlformats.org/drawingml/2006/main">
              <a:ext uri="{FF2B5EF4-FFF2-40B4-BE49-F238E27FC236}">
                <a16:creationId xmlns:a16="http://schemas.microsoft.com/office/drawing/2014/main" id="{55D25B8F-AB6A-48FF-900E-BF83A284517C}"/>
              </a:ext>
            </a:extLst>
          </p:cNvPr>
          <p:cNvSpPr>
            <a:spLocks xmlns:a="http://schemas.openxmlformats.org/drawingml/2006/main" noGrp="1"/>
          </p:cNvSpPr>
          <p:nvPr/>
        </p:nvSpPr>
        <p:spPr>
          <a:xfrm xmlns:a="http://schemas.openxmlformats.org/drawingml/2006/main">
            <a:off x="10201275" y="1285875"/>
            <a:ext cx="95" cy="2428875"/>
          </a:xfrm>
          <a:custGeom xmlns:a="http://schemas.openxmlformats.org/drawingml/2006/main">
            <a:pathLst>
              <a:path w="95" h="2428875">
                <a:moveTo>
                  <a:pt x="0" y="0"/>
                </a:moveTo>
                <a:lnTo>
                  <a:pt x="0" y="2428875"/>
                </a:lnTo>
              </a:path>
            </a:pathLst>
          </a:custGeom>
          <a:noFill xmlns:a="http://schemas.openxmlformats.org/drawingml/2006/main"/>
          <a:ln xmlns:a="http://schemas.openxmlformats.org/drawingml/2006/main" w="4763">
            <a:solidFill>
              <a:srgbClr val="B6B6B6"/>
            </a:solidFill>
            <a:prstDash val="dot"/>
          </a:ln>
        </p:spPr>
      </p:sp>
    </p:spTree>
    <p:extLst>
      <p:ext uri="{BB962C8B-B14F-4D97-AF65-F5344CB8AC3E}">
        <p14:creationId xmlns:p14="http://schemas.microsoft.com/office/powerpoint/2010/main" val="1315669442"/>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AF5F89-1600-4B12-B62A-9FD38992B65A}"/>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CEC9AB01-E340-4025-9AEB-52079ED6CCF2}"/>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ECB170BD-B434-4DF1-ACAF-4BB4328AB31F}"/>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51549A36-DE6A-48BF-B63C-9EAD30776049}"/>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241FC0FF-1F92-424A-95EF-4D00BE5CD0B7}"/>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92724E67-6F89-4BBA-93E4-DB118C9909C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Recorded scenario contrast</a:t>
            </a:r>
          </a:p>
        </p:txBody>
      </p:sp>
      <p:sp>
        <p:nvSpPr>
          <p:cNvPr id="7" name="">
            <a:extLst xmlns:a="http://schemas.openxmlformats.org/drawingml/2006/main">
              <a:ext uri="{FF2B5EF4-FFF2-40B4-BE49-F238E27FC236}">
                <a16:creationId xmlns:a16="http://schemas.microsoft.com/office/drawing/2014/main" id="{12199F78-11BF-4ED5-974E-19879C8B7AD2}"/>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6932C380-811A-4F2C-B5D3-8F47A6725AD2}"/>
              </a:ext>
            </a:extLst>
          </p:cNvPr>
          <p:cNvSpPr>
            <a:spLocks xmlns:a="http://schemas.openxmlformats.org/drawingml/2006/main" noGrp="1"/>
          </p:cNvSpPr>
          <p:nvPr/>
        </p:nvSpPr>
        <p:spPr>
          <a:xfrm xmlns:a="http://schemas.openxmlformats.org/drawingml/2006/main" rot="0">
            <a:off x="400050" y="895350"/>
            <a:ext cx="1128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Recorded support changes an assumed gold forecast,</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then flows through to the same option contract.</a:t>
            </a:r>
          </a:p>
        </p:txBody>
      </p:sp>
      <p:sp>
        <p:nvSpPr>
          <p:cNvPr id="9" name="">
            <a:extLst xmlns:a="http://schemas.openxmlformats.org/drawingml/2006/main">
              <a:ext uri="{FF2B5EF4-FFF2-40B4-BE49-F238E27FC236}">
                <a16:creationId xmlns:a16="http://schemas.microsoft.com/office/drawing/2014/main" id="{89005F70-4B6A-4341-9675-D8DAED7EC910}"/>
              </a:ext>
            </a:extLst>
          </p:cNvPr>
          <p:cNvSpPr>
            <a:spLocks xmlns:a="http://schemas.openxmlformats.org/drawingml/2006/main" noGrp="1"/>
          </p:cNvSpPr>
          <p:nvPr/>
        </p:nvSpPr>
        <p:spPr>
          <a:xfrm xmlns:a="http://schemas.openxmlformats.org/drawingml/2006/main" rot="0">
            <a:off x="400050" y="2009775"/>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Mine approval</a:t>
            </a:r>
          </a:p>
        </p:txBody>
      </p:sp>
      <p:sp>
        <p:nvSpPr>
          <p:cNvPr id="10" name="">
            <a:extLst xmlns:a="http://schemas.openxmlformats.org/drawingml/2006/main">
              <a:ext uri="{FF2B5EF4-FFF2-40B4-BE49-F238E27FC236}">
                <a16:creationId xmlns:a16="http://schemas.microsoft.com/office/drawing/2014/main" id="{837D4028-31E4-40FD-9FC6-CF56E7A29641}"/>
              </a:ext>
            </a:extLst>
          </p:cNvPr>
          <p:cNvSpPr>
            <a:spLocks xmlns:a="http://schemas.openxmlformats.org/drawingml/2006/main" noGrp="1"/>
          </p:cNvSpPr>
          <p:nvPr/>
        </p:nvSpPr>
        <p:spPr>
          <a:xfrm xmlns:a="http://schemas.openxmlformats.org/drawingml/2006/main" rot="0">
            <a:off x="400050" y="24003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−0.0252 support · $1,996.47/oz gold</a:t>
            </a:r>
          </a:p>
        </p:txBody>
      </p:sp>
      <p:sp>
        <p:nvSpPr>
          <p:cNvPr id="11" name="">
            <a:extLst xmlns:a="http://schemas.openxmlformats.org/drawingml/2006/main">
              <a:ext uri="{FF2B5EF4-FFF2-40B4-BE49-F238E27FC236}">
                <a16:creationId xmlns:a16="http://schemas.microsoft.com/office/drawing/2014/main" id="{053C47C1-0DB0-4A4C-96C4-C6A4FBD0CF88}"/>
              </a:ext>
            </a:extLst>
          </p:cNvPr>
          <p:cNvSpPr>
            <a:spLocks xmlns:a="http://schemas.openxmlformats.org/drawingml/2006/main" noGrp="1"/>
          </p:cNvSpPr>
          <p:nvPr/>
        </p:nvSpPr>
        <p:spPr>
          <a:xfrm xmlns:a="http://schemas.openxmlformats.org/drawingml/2006/main" rot="0">
            <a:off x="400050" y="26860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$5.45 expected cash · 0.78% option return</a:t>
            </a:r>
          </a:p>
        </p:txBody>
      </p:sp>
      <p:sp>
        <p:nvSpPr>
          <p:cNvPr id="12" name="">
            <a:extLst xmlns:a="http://schemas.openxmlformats.org/drawingml/2006/main">
              <a:ext uri="{FF2B5EF4-FFF2-40B4-BE49-F238E27FC236}">
                <a16:creationId xmlns:a16="http://schemas.microsoft.com/office/drawing/2014/main" id="{D29B306D-E241-4232-BF08-6D1C376250DF}"/>
              </a:ext>
            </a:extLst>
          </p:cNvPr>
          <p:cNvSpPr>
            <a:spLocks xmlns:a="http://schemas.openxmlformats.org/drawingml/2006/main" noGrp="1"/>
          </p:cNvSpPr>
          <p:nvPr/>
        </p:nvSpPr>
        <p:spPr>
          <a:xfrm xmlns:a="http://schemas.openxmlformats.org/drawingml/2006/main" rot="0">
            <a:off x="6286500" y="2009775"/>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Court blockage</a:t>
            </a:r>
          </a:p>
        </p:txBody>
      </p:sp>
      <p:sp>
        <p:nvSpPr>
          <p:cNvPr id="13" name="">
            <a:extLst xmlns:a="http://schemas.openxmlformats.org/drawingml/2006/main">
              <a:ext uri="{FF2B5EF4-FFF2-40B4-BE49-F238E27FC236}">
                <a16:creationId xmlns:a16="http://schemas.microsoft.com/office/drawing/2014/main" id="{97239899-C90B-4A84-A3C1-089EB04DF741}"/>
              </a:ext>
            </a:extLst>
          </p:cNvPr>
          <p:cNvSpPr>
            <a:spLocks xmlns:a="http://schemas.openxmlformats.org/drawingml/2006/main" noGrp="1"/>
          </p:cNvSpPr>
          <p:nvPr/>
        </p:nvSpPr>
        <p:spPr>
          <a:xfrm xmlns:a="http://schemas.openxmlformats.org/drawingml/2006/main" rot="0">
            <a:off x="6286500" y="240030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+0.0307 support · $2,004.30/oz gold</a:t>
            </a:r>
          </a:p>
        </p:txBody>
      </p:sp>
      <p:sp>
        <p:nvSpPr>
          <p:cNvPr id="14" name="">
            <a:extLst xmlns:a="http://schemas.openxmlformats.org/drawingml/2006/main">
              <a:ext uri="{FF2B5EF4-FFF2-40B4-BE49-F238E27FC236}">
                <a16:creationId xmlns:a16="http://schemas.microsoft.com/office/drawing/2014/main" id="{82C0BE7E-8F11-4556-92E8-11671377ABD5}"/>
              </a:ext>
            </a:extLst>
          </p:cNvPr>
          <p:cNvSpPr>
            <a:spLocks xmlns:a="http://schemas.openxmlformats.org/drawingml/2006/main" noGrp="1"/>
          </p:cNvSpPr>
          <p:nvPr/>
        </p:nvSpPr>
        <p:spPr>
          <a:xfrm xmlns:a="http://schemas.openxmlformats.org/drawingml/2006/main" rot="0">
            <a:off x="6286500" y="26860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$10.22 expected cash · 1.46% option return</a:t>
            </a:r>
          </a:p>
        </p:txBody>
      </p:sp>
      <p:pic>
        <p:nvPicPr>
          <p:cNvPr id="15" name="">
            <a:extLst xmlns:a="http://schemas.openxmlformats.org/drawingml/2006/main">
              <a:ext uri="{FF2B5EF4-FFF2-40B4-BE49-F238E27FC236}">
                <a16:creationId xmlns:a16="http://schemas.microsoft.com/office/drawing/2014/main" id="{2E2ACBD0-4738-4F9D-A962-C892247A76B6}"/>
              </a:ext>
            </a:extLst>
          </p:cNvPr>
          <p:cNvPicPr>
            <a:picLocks xmlns:a="http://schemas.openxmlformats.org/drawingml/2006/main" noChangeAspect="1"/>
          </p:cNvPicPr>
          <p:nvPr/>
        </p:nvPicPr>
        <p:blipFill>
          <a:blip xmlns:r="http://schemas.openxmlformats.org/officeDocument/2006/relationships" xmlns:a="http://schemas.openxmlformats.org/drawingml/2006/main" r:embed="R2a57a97d044a4225"/>
          <a:srcRect xmlns:a="http://schemas.openxmlformats.org/drawingml/2006/main" l="0" t="2537" r="0" b="2537"/>
          <a:stretch xmlns:a="http://schemas.openxmlformats.org/drawingml/2006/main">
            <a:fillRect l="0" t="0" r="0" b="0"/>
          </a:stretch>
        </p:blipFill>
        <p:spPr>
          <a:xfrm xmlns:a="http://schemas.openxmlformats.org/drawingml/2006/main">
            <a:off x="0" y="3648075"/>
            <a:ext cx="2314575" cy="1857375"/>
          </a:xfrm>
          <a:prstGeom xmlns:a="http://schemas.openxmlformats.org/drawingml/2006/main" prst="roundRect">
            <a:avLst>
              <a:gd name="adj" fmla="val 12308"/>
            </a:avLst>
          </a:prstGeom>
        </p:spPr>
      </p:pic>
      <p:pic>
        <p:nvPicPr>
          <p:cNvPr id="16" name="">
            <a:extLst xmlns:a="http://schemas.openxmlformats.org/drawingml/2006/main">
              <a:ext uri="{FF2B5EF4-FFF2-40B4-BE49-F238E27FC236}">
                <a16:creationId xmlns:a16="http://schemas.microsoft.com/office/drawing/2014/main" id="{CFB6A6F9-83D4-4012-8491-80694B3A7695}"/>
              </a:ext>
            </a:extLst>
          </p:cNvPr>
          <p:cNvPicPr>
            <a:picLocks xmlns:a="http://schemas.openxmlformats.org/drawingml/2006/main" noChangeAspect="1"/>
          </p:cNvPicPr>
          <p:nvPr/>
        </p:nvPicPr>
        <p:blipFill>
          <a:blip xmlns:r="http://schemas.openxmlformats.org/officeDocument/2006/relationships" xmlns:a="http://schemas.openxmlformats.org/drawingml/2006/main" r:embed="Raafa7ea498a144ef"/>
          <a:srcRect xmlns:a="http://schemas.openxmlformats.org/drawingml/2006/main" l="18880" t="0" r="18880" b="0"/>
          <a:stretch xmlns:a="http://schemas.openxmlformats.org/drawingml/2006/main">
            <a:fillRect l="0" t="0" r="0" b="0"/>
          </a:stretch>
        </p:blipFill>
        <p:spPr>
          <a:xfrm xmlns:a="http://schemas.openxmlformats.org/drawingml/2006/main">
            <a:off x="2876550" y="4371975"/>
            <a:ext cx="2286000" cy="2295525"/>
          </a:xfrm>
          <a:prstGeom xmlns:a="http://schemas.openxmlformats.org/drawingml/2006/main" prst="roundRect">
            <a:avLst>
              <a:gd name="adj" fmla="val 10000"/>
            </a:avLst>
          </a:prstGeom>
        </p:spPr>
      </p:pic>
      <p:pic>
        <p:nvPicPr>
          <p:cNvPr id="17" name="">
            <a:extLst xmlns:a="http://schemas.openxmlformats.org/drawingml/2006/main">
              <a:ext uri="{FF2B5EF4-FFF2-40B4-BE49-F238E27FC236}">
                <a16:creationId xmlns:a16="http://schemas.microsoft.com/office/drawing/2014/main" id="{695F1720-31FE-4287-935E-232D8EED5199}"/>
              </a:ext>
            </a:extLst>
          </p:cNvPr>
          <p:cNvPicPr>
            <a:picLocks xmlns:a="http://schemas.openxmlformats.org/drawingml/2006/main" noChangeAspect="1"/>
          </p:cNvPicPr>
          <p:nvPr/>
        </p:nvPicPr>
        <p:blipFill>
          <a:blip xmlns:r="http://schemas.openxmlformats.org/officeDocument/2006/relationships" xmlns:a="http://schemas.openxmlformats.org/drawingml/2006/main" r:embed="R449f84dd0e0b4330"/>
          <a:stretch xmlns:a="http://schemas.openxmlformats.org/drawingml/2006/main"/>
        </p:blipFill>
        <p:spPr>
          <a:xfrm xmlns:a="http://schemas.openxmlformats.org/drawingml/2006/main">
            <a:off x="5468408" y="2962275"/>
            <a:ext cx="6570133" cy="3695700"/>
          </a:xfrm>
          <a:prstGeom xmlns:a="http://schemas.openxmlformats.org/drawingml/2006/main" prst="roundRect">
            <a:avLst>
              <a:gd name="adj" fmla="val 6186"/>
            </a:avLst>
          </a:prstGeom>
        </p:spPr>
      </p:pic>
      <p:sp>
        <p:nvSpPr>
          <p:cNvPr id="18" name="">
            <a:extLst xmlns:a="http://schemas.openxmlformats.org/drawingml/2006/main">
              <a:ext uri="{FF2B5EF4-FFF2-40B4-BE49-F238E27FC236}">
                <a16:creationId xmlns:a16="http://schemas.microsoft.com/office/drawing/2014/main" id="{0D78FA18-91B1-4D9D-A549-4C9DC08E5BED}"/>
              </a:ext>
            </a:extLst>
          </p:cNvPr>
          <p:cNvSpPr>
            <a:spLocks xmlns:a="http://schemas.openxmlformats.org/drawingml/2006/main" noGrp="1"/>
          </p:cNvSpPr>
          <p:nvPr/>
        </p:nvSpPr>
        <p:spPr>
          <a:xfrm xmlns:a="http://schemas.openxmlformats.org/drawingml/2006/main" rot="0">
            <a:off x="400050" y="5762625"/>
            <a:ext cx="2324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Matching sports-placebo reference, days 3–5.</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Support scale −1 to +1. Area A, 90 days.</a:t>
            </a:r>
          </a:p>
        </p:txBody>
      </p:sp>
      <p:sp>
        <p:nvSpPr>
          <p:cNvPr id="19" name="">
            <a:extLst xmlns:a="http://schemas.openxmlformats.org/drawingml/2006/main">
              <a:ext uri="{FF2B5EF4-FFF2-40B4-BE49-F238E27FC236}">
                <a16:creationId xmlns:a16="http://schemas.microsoft.com/office/drawing/2014/main" id="{2096DCE1-9A96-433D-B37B-95626792E344}"/>
              </a:ext>
            </a:extLst>
          </p:cNvPr>
          <p:cNvSpPr>
            <a:spLocks xmlns:a="http://schemas.openxmlformats.org/drawingml/2006/main" noGrp="1"/>
          </p:cNvSpPr>
          <p:nvPr/>
        </p:nvSpPr>
        <p:spPr>
          <a:xfrm xmlns:a="http://schemas.openxmlformats.org/drawingml/2006/main" rot="0">
            <a:off x="2876550" y="3162300"/>
            <a:ext cx="2333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7% assumed gold response cap.</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Financial outputs hypothetical. Research checks failed.</a:t>
            </a:r>
          </a:p>
        </p:txBody>
      </p:sp>
    </p:spTree>
    <p:extLst>
      <p:ext uri="{BB962C8B-B14F-4D97-AF65-F5344CB8AC3E}">
        <p14:creationId xmlns:p14="http://schemas.microsoft.com/office/powerpoint/2010/main" val="804714509"/>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0B76BB6-0ACE-49CB-9AEB-761752BE97EE}"/>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F68B664A-3DF0-43B3-A3ED-B0427F7B8B82}"/>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04</a:t>
            </a:r>
          </a:p>
        </p:txBody>
      </p:sp>
      <p:sp>
        <p:nvSpPr>
          <p:cNvPr id="3" name="">
            <a:extLst xmlns:a="http://schemas.openxmlformats.org/drawingml/2006/main">
              <a:ext uri="{FF2B5EF4-FFF2-40B4-BE49-F238E27FC236}">
                <a16:creationId xmlns:a16="http://schemas.microsoft.com/office/drawing/2014/main" id="{C4DE5D33-9D0F-4F01-9250-04016AECAD06}"/>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8CD26FE2-3296-467D-9DA4-75CC7DE8C29A}"/>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C8C7BD1E-55EC-4163-B5A5-4ACCDB4938A6}"/>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3A7E4E61-F531-48F2-A229-A3A02DC3C44A}"/>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Time and return</a:t>
            </a:r>
          </a:p>
        </p:txBody>
      </p:sp>
      <p:sp>
        <p:nvSpPr>
          <p:cNvPr id="7" name="">
            <a:extLst xmlns:a="http://schemas.openxmlformats.org/drawingml/2006/main">
              <a:ext uri="{FF2B5EF4-FFF2-40B4-BE49-F238E27FC236}">
                <a16:creationId xmlns:a16="http://schemas.microsoft.com/office/drawing/2014/main" id="{8B848B4A-0CAF-42A9-ACA7-38222D0B8DAD}"/>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67852B67-F4D1-41E9-94CF-8D66E2DCDB78}"/>
              </a:ext>
            </a:extLst>
          </p:cNvPr>
          <p:cNvSpPr>
            <a:spLocks xmlns:a="http://schemas.openxmlformats.org/drawingml/2006/main" noGrp="1"/>
          </p:cNvSpPr>
          <p:nvPr/>
        </p:nvSpPr>
        <p:spPr>
          <a:xfrm xmlns:a="http://schemas.openxmlformats.org/drawingml/2006/main" rot="0">
            <a:off x="400050" y="1304925"/>
            <a:ext cx="53816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A0A0A"/>
                </a:solidFill>
                <a:latin typeface="DM Sans"/>
                <a:ea typeface="DM Sans"/>
                <a:cs typeface="DM Sans"/>
              </a:defRPr>
            </a:defPPr>
            <a:lvl1pPr algn="l">
              <a:defRPr sz="2625" b="0">
                <a:solidFill>
                  <a:srgbClr val="0A0A0A"/>
                </a:solidFill>
                <a:latin typeface="DM Sans"/>
                <a:ea typeface="DM Sans"/>
                <a:cs typeface="DM Sans"/>
              </a:defRPr>
            </a:lvl1pPr>
            <a:lvl2pPr algn="l">
              <a:defRPr sz="2625" b="0">
                <a:solidFill>
                  <a:srgbClr val="0A0A0A"/>
                </a:solidFill>
                <a:latin typeface="DM Sans"/>
                <a:ea typeface="DM Sans"/>
                <a:cs typeface="DM Sans"/>
              </a:defRPr>
            </a:lvl2pPr>
            <a:lvl3pPr algn="l">
              <a:defRPr sz="2625" b="0">
                <a:solidFill>
                  <a:srgbClr val="0A0A0A"/>
                </a:solidFill>
                <a:latin typeface="DM Sans"/>
                <a:ea typeface="DM Sans"/>
                <a:cs typeface="DM Sans"/>
              </a:defRPr>
            </a:lvl3pPr>
            <a:lvl4pPr algn="l">
              <a:defRPr sz="2625" b="0">
                <a:solidFill>
                  <a:srgbClr val="0A0A0A"/>
                </a:solidFill>
                <a:latin typeface="DM Sans"/>
                <a:ea typeface="DM Sans"/>
                <a:cs typeface="DM Sans"/>
              </a:defRPr>
            </a:lvl4pPr>
            <a:lvl5pPr algn="l">
              <a:defRPr sz="2625" b="0">
                <a:solidFill>
                  <a:srgbClr val="0A0A0A"/>
                </a:solidFill>
                <a:latin typeface="DM Sans"/>
                <a:ea typeface="DM Sans"/>
                <a:cs typeface="DM Sans"/>
              </a:defRPr>
            </a:lvl5pPr>
            <a:lvl6pPr algn="l">
              <a:defRPr sz="2625" b="0">
                <a:solidFill>
                  <a:srgbClr val="0A0A0A"/>
                </a:solidFill>
                <a:latin typeface="DM Sans"/>
                <a:ea typeface="DM Sans"/>
                <a:cs typeface="DM Sans"/>
              </a:defRPr>
            </a:lvl6pPr>
            <a:lvl7pPr algn="l">
              <a:defRPr sz="2625" b="0">
                <a:solidFill>
                  <a:srgbClr val="0A0A0A"/>
                </a:solidFill>
                <a:latin typeface="DM Sans"/>
                <a:ea typeface="DM Sans"/>
                <a:cs typeface="DM Sans"/>
              </a:defRPr>
            </a:lvl7pPr>
            <a:lvl8pPr algn="l">
              <a:defRPr sz="2625" b="0">
                <a:solidFill>
                  <a:srgbClr val="0A0A0A"/>
                </a:solidFill>
                <a:latin typeface="DM Sans"/>
                <a:ea typeface="DM Sans"/>
                <a:cs typeface="DM Sans"/>
              </a:defRPr>
            </a:lvl8pPr>
            <a:lvl9pPr algn="l">
              <a:defRPr sz="2625" b="0">
                <a:solidFill>
                  <a:srgbClr val="0A0A0A"/>
                </a:solidFill>
                <a:latin typeface="DM Sans"/>
                <a:ea typeface="DM Sans"/>
                <a:cs typeface="DM Sans"/>
              </a:defRPr>
            </a:lvl9pPr>
          </a:lstStyle>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At 90 days, the same</a:t>
            </a:r>
          </a:p>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hypothetical option has</a:t>
            </a:r>
          </a:p>
        </p:txBody>
      </p:sp>
      <p:sp>
        <p:nvSpPr>
          <p:cNvPr id="9" name="">
            <a:extLst xmlns:a="http://schemas.openxmlformats.org/drawingml/2006/main">
              <a:ext uri="{FF2B5EF4-FFF2-40B4-BE49-F238E27FC236}">
                <a16:creationId xmlns:a16="http://schemas.microsoft.com/office/drawing/2014/main" id="{01EA772C-F718-4F01-ABF2-6DA0F5372A93}"/>
              </a:ext>
            </a:extLst>
          </p:cNvPr>
          <p:cNvSpPr>
            <a:spLocks xmlns:a="http://schemas.openxmlformats.org/drawingml/2006/main" noGrp="1"/>
          </p:cNvSpPr>
          <p:nvPr/>
        </p:nvSpPr>
        <p:spPr>
          <a:xfrm xmlns:a="http://schemas.openxmlformats.org/drawingml/2006/main" rot="0">
            <a:off x="400050" y="2171700"/>
            <a:ext cx="5191125"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325" b="0">
                <a:solidFill>
                  <a:srgbClr val="0A0A0A"/>
                </a:solidFill>
                <a:latin typeface="DM Sans Light"/>
                <a:ea typeface="DM Sans Light"/>
                <a:cs typeface="DM Sans Light"/>
              </a:defRPr>
            </a:defPPr>
            <a:lvl1pPr algn="l">
              <a:defRPr sz="8325" b="0">
                <a:solidFill>
                  <a:srgbClr val="0A0A0A"/>
                </a:solidFill>
                <a:latin typeface="DM Sans Light"/>
                <a:ea typeface="DM Sans Light"/>
                <a:cs typeface="DM Sans Light"/>
              </a:defRPr>
            </a:lvl1pPr>
            <a:lvl2pPr algn="l">
              <a:defRPr sz="8325" b="0">
                <a:solidFill>
                  <a:srgbClr val="0A0A0A"/>
                </a:solidFill>
                <a:latin typeface="DM Sans Light"/>
                <a:ea typeface="DM Sans Light"/>
                <a:cs typeface="DM Sans Light"/>
              </a:defRPr>
            </a:lvl2pPr>
            <a:lvl3pPr algn="l">
              <a:defRPr sz="8325" b="0">
                <a:solidFill>
                  <a:srgbClr val="0A0A0A"/>
                </a:solidFill>
                <a:latin typeface="DM Sans Light"/>
                <a:ea typeface="DM Sans Light"/>
                <a:cs typeface="DM Sans Light"/>
              </a:defRPr>
            </a:lvl3pPr>
            <a:lvl4pPr algn="l">
              <a:defRPr sz="8325" b="0">
                <a:solidFill>
                  <a:srgbClr val="0A0A0A"/>
                </a:solidFill>
                <a:latin typeface="DM Sans Light"/>
                <a:ea typeface="DM Sans Light"/>
                <a:cs typeface="DM Sans Light"/>
              </a:defRPr>
            </a:lvl4pPr>
            <a:lvl5pPr algn="l">
              <a:defRPr sz="8325" b="0">
                <a:solidFill>
                  <a:srgbClr val="0A0A0A"/>
                </a:solidFill>
                <a:latin typeface="DM Sans Light"/>
                <a:ea typeface="DM Sans Light"/>
                <a:cs typeface="DM Sans Light"/>
              </a:defRPr>
            </a:lvl5pPr>
            <a:lvl6pPr algn="l">
              <a:defRPr sz="8325" b="0">
                <a:solidFill>
                  <a:srgbClr val="0A0A0A"/>
                </a:solidFill>
                <a:latin typeface="DM Sans Light"/>
                <a:ea typeface="DM Sans Light"/>
                <a:cs typeface="DM Sans Light"/>
              </a:defRPr>
            </a:lvl6pPr>
            <a:lvl7pPr algn="l">
              <a:defRPr sz="8325" b="0">
                <a:solidFill>
                  <a:srgbClr val="0A0A0A"/>
                </a:solidFill>
                <a:latin typeface="DM Sans Light"/>
                <a:ea typeface="DM Sans Light"/>
                <a:cs typeface="DM Sans Light"/>
              </a:defRPr>
            </a:lvl7pPr>
            <a:lvl8pPr algn="l">
              <a:defRPr sz="8325" b="0">
                <a:solidFill>
                  <a:srgbClr val="0A0A0A"/>
                </a:solidFill>
                <a:latin typeface="DM Sans Light"/>
                <a:ea typeface="DM Sans Light"/>
                <a:cs typeface="DM Sans Light"/>
              </a:defRPr>
            </a:lvl8pPr>
            <a:lvl9pPr algn="l">
              <a:defRPr sz="8325" b="0">
                <a:solidFill>
                  <a:srgbClr val="0A0A0A"/>
                </a:solidFill>
                <a:latin typeface="DM Sans Light"/>
                <a:ea typeface="DM Sans Light"/>
                <a:cs typeface="DM Sans Light"/>
              </a:defRPr>
            </a:lvl9pPr>
          </a:lstStyle>
          <a:p xmlns:a="http://schemas.openxmlformats.org/drawingml/2006/main">
            <a:pPr algn="l">
              <a:defRPr sz="8325" b="0">
                <a:solidFill>
                  <a:srgbClr val="0A0A0A"/>
                </a:solidFill>
                <a:latin typeface="DM Sans Light"/>
                <a:ea typeface="DM Sans Light"/>
                <a:cs typeface="DM Sans Light"/>
              </a:defRPr>
            </a:pPr>
            <a:r>
              <a:rPr sz="8325" b="0">
                <a:solidFill>
                  <a:srgbClr val="0A0A0A"/>
                </a:solidFill>
                <a:latin typeface="DM Sans Light"/>
                <a:ea typeface="DM Sans Light"/>
                <a:cs typeface="DM Sans Light"/>
              </a:rPr>
              <a:t>1.09%</a:t>
            </a:r>
          </a:p>
        </p:txBody>
      </p:sp>
      <p:sp>
        <p:nvSpPr>
          <p:cNvPr id="10" name="">
            <a:extLst xmlns:a="http://schemas.openxmlformats.org/drawingml/2006/main">
              <a:ext uri="{FF2B5EF4-FFF2-40B4-BE49-F238E27FC236}">
                <a16:creationId xmlns:a16="http://schemas.microsoft.com/office/drawing/2014/main" id="{6EA97909-C3CB-413F-A70D-30A55EACA058}"/>
              </a:ext>
            </a:extLst>
          </p:cNvPr>
          <p:cNvSpPr>
            <a:spLocks xmlns:a="http://schemas.openxmlformats.org/drawingml/2006/main" noGrp="1"/>
          </p:cNvSpPr>
          <p:nvPr/>
        </p:nvSpPr>
        <p:spPr>
          <a:xfrm xmlns:a="http://schemas.openxmlformats.org/drawingml/2006/main">
            <a:off x="447675" y="3419475"/>
            <a:ext cx="3371850" cy="95"/>
          </a:xfrm>
          <a:custGeom xmlns:a="http://schemas.openxmlformats.org/drawingml/2006/main">
            <a:pathLst>
              <a:path w="3371850" h="95">
                <a:moveTo>
                  <a:pt x="0" y="0"/>
                </a:moveTo>
                <a:lnTo>
                  <a:pt x="3371850" y="0"/>
                </a:lnTo>
              </a:path>
            </a:pathLst>
          </a:custGeom>
          <a:noFill xmlns:a="http://schemas.openxmlformats.org/drawingml/2006/main"/>
          <a:ln xmlns:a="http://schemas.openxmlformats.org/drawingml/2006/main" w="17145">
            <a:solidFill>
              <a:srgbClr val="0A0A0A"/>
            </a:solidFill>
            <a:prstDash val="solid"/>
          </a:ln>
        </p:spPr>
      </p:sp>
      <p:sp>
        <p:nvSpPr>
          <p:cNvPr id="11" name="">
            <a:extLst xmlns:a="http://schemas.openxmlformats.org/drawingml/2006/main">
              <a:ext uri="{FF2B5EF4-FFF2-40B4-BE49-F238E27FC236}">
                <a16:creationId xmlns:a16="http://schemas.microsoft.com/office/drawing/2014/main" id="{14D5D9EF-4FB1-49BB-B661-1E6E0A118653}"/>
              </a:ext>
            </a:extLst>
          </p:cNvPr>
          <p:cNvSpPr>
            <a:spLocks xmlns:a="http://schemas.openxmlformats.org/drawingml/2006/main" noGrp="1"/>
          </p:cNvSpPr>
          <p:nvPr/>
        </p:nvSpPr>
        <p:spPr>
          <a:xfrm xmlns:a="http://schemas.openxmlformats.org/drawingml/2006/main" rot="0">
            <a:off x="400050" y="36385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0A0A0A"/>
                </a:solidFill>
                <a:latin typeface="DM Sans"/>
                <a:ea typeface="DM Sans"/>
                <a:cs typeface="DM Sans"/>
              </a:defRPr>
            </a:defPPr>
            <a:lvl1pPr algn="l">
              <a:defRPr sz="2475" b="0">
                <a:solidFill>
                  <a:srgbClr val="0A0A0A"/>
                </a:solidFill>
                <a:latin typeface="DM Sans"/>
                <a:ea typeface="DM Sans"/>
                <a:cs typeface="DM Sans"/>
              </a:defRPr>
            </a:lvl1pPr>
            <a:lvl2pPr algn="l">
              <a:defRPr sz="2475" b="0">
                <a:solidFill>
                  <a:srgbClr val="0A0A0A"/>
                </a:solidFill>
                <a:latin typeface="DM Sans"/>
                <a:ea typeface="DM Sans"/>
                <a:cs typeface="DM Sans"/>
              </a:defRPr>
            </a:lvl2pPr>
            <a:lvl3pPr algn="l">
              <a:defRPr sz="2475" b="0">
                <a:solidFill>
                  <a:srgbClr val="0A0A0A"/>
                </a:solidFill>
                <a:latin typeface="DM Sans"/>
                <a:ea typeface="DM Sans"/>
                <a:cs typeface="DM Sans"/>
              </a:defRPr>
            </a:lvl3pPr>
            <a:lvl4pPr algn="l">
              <a:defRPr sz="2475" b="0">
                <a:solidFill>
                  <a:srgbClr val="0A0A0A"/>
                </a:solidFill>
                <a:latin typeface="DM Sans"/>
                <a:ea typeface="DM Sans"/>
                <a:cs typeface="DM Sans"/>
              </a:defRPr>
            </a:lvl4pPr>
            <a:lvl5pPr algn="l">
              <a:defRPr sz="2475" b="0">
                <a:solidFill>
                  <a:srgbClr val="0A0A0A"/>
                </a:solidFill>
                <a:latin typeface="DM Sans"/>
                <a:ea typeface="DM Sans"/>
                <a:cs typeface="DM Sans"/>
              </a:defRPr>
            </a:lvl5pPr>
            <a:lvl6pPr algn="l">
              <a:defRPr sz="2475" b="0">
                <a:solidFill>
                  <a:srgbClr val="0A0A0A"/>
                </a:solidFill>
                <a:latin typeface="DM Sans"/>
                <a:ea typeface="DM Sans"/>
                <a:cs typeface="DM Sans"/>
              </a:defRPr>
            </a:lvl6pPr>
            <a:lvl7pPr algn="l">
              <a:defRPr sz="2475" b="0">
                <a:solidFill>
                  <a:srgbClr val="0A0A0A"/>
                </a:solidFill>
                <a:latin typeface="DM Sans"/>
                <a:ea typeface="DM Sans"/>
                <a:cs typeface="DM Sans"/>
              </a:defRPr>
            </a:lvl7pPr>
            <a:lvl8pPr algn="l">
              <a:defRPr sz="2475" b="0">
                <a:solidFill>
                  <a:srgbClr val="0A0A0A"/>
                </a:solidFill>
                <a:latin typeface="DM Sans"/>
                <a:ea typeface="DM Sans"/>
                <a:cs typeface="DM Sans"/>
              </a:defRPr>
            </a:lvl8pPr>
            <a:lvl9pPr algn="l">
              <a:defRPr sz="2475" b="0">
                <a:solidFill>
                  <a:srgbClr val="0A0A0A"/>
                </a:solidFill>
                <a:latin typeface="DM Sans"/>
                <a:ea typeface="DM Sans"/>
                <a:cs typeface="DM Sans"/>
              </a:defRPr>
            </a:lvl9pPr>
          </a:lstStyle>
          <a:p xmlns:a="http://schemas.openxmlformats.org/drawingml/2006/main">
            <a:pPr algn="l">
              <a:defRPr sz="2475" b="0">
                <a:solidFill>
                  <a:srgbClr val="0A0A0A"/>
                </a:solidFill>
                <a:latin typeface="DM Sans"/>
                <a:ea typeface="DM Sans"/>
                <a:cs typeface="DM Sans"/>
              </a:defRPr>
            </a:pPr>
            <a:r>
              <a:rPr sz="2475" b="0">
                <a:solidFill>
                  <a:srgbClr val="0A0A0A"/>
                </a:solidFill>
                <a:latin typeface="DM Sans"/>
                <a:ea typeface="DM Sans"/>
                <a:cs typeface="DM Sans"/>
              </a:rPr>
              <a:t>expected option return, while</a:t>
            </a:r>
          </a:p>
        </p:txBody>
      </p:sp>
      <p:sp>
        <p:nvSpPr>
          <p:cNvPr id="12" name="">
            <a:extLst xmlns:a="http://schemas.openxmlformats.org/drawingml/2006/main">
              <a:ext uri="{FF2B5EF4-FFF2-40B4-BE49-F238E27FC236}">
                <a16:creationId xmlns:a16="http://schemas.microsoft.com/office/drawing/2014/main" id="{7F65D150-39F4-4DAC-AD98-FA3A8F759AB3}"/>
              </a:ext>
            </a:extLst>
          </p:cNvPr>
          <p:cNvSpPr>
            <a:spLocks xmlns:a="http://schemas.openxmlformats.org/drawingml/2006/main" noGrp="1"/>
          </p:cNvSpPr>
          <p:nvPr/>
        </p:nvSpPr>
        <p:spPr>
          <a:xfrm xmlns:a="http://schemas.openxmlformats.org/drawingml/2006/main" rot="0">
            <a:off x="400050" y="4105275"/>
            <a:ext cx="5238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75" b="0">
                <a:solidFill>
                  <a:srgbClr val="0A0A0A"/>
                </a:solidFill>
                <a:latin typeface="DM Sans Light"/>
                <a:ea typeface="DM Sans Light"/>
                <a:cs typeface="DM Sans Light"/>
              </a:defRPr>
            </a:defPPr>
            <a:lvl1pPr algn="l">
              <a:defRPr sz="7875" b="0">
                <a:solidFill>
                  <a:srgbClr val="0A0A0A"/>
                </a:solidFill>
                <a:latin typeface="DM Sans Light"/>
                <a:ea typeface="DM Sans Light"/>
                <a:cs typeface="DM Sans Light"/>
              </a:defRPr>
            </a:lvl1pPr>
            <a:lvl2pPr algn="l">
              <a:defRPr sz="7875" b="0">
                <a:solidFill>
                  <a:srgbClr val="0A0A0A"/>
                </a:solidFill>
                <a:latin typeface="DM Sans Light"/>
                <a:ea typeface="DM Sans Light"/>
                <a:cs typeface="DM Sans Light"/>
              </a:defRPr>
            </a:lvl2pPr>
            <a:lvl3pPr algn="l">
              <a:defRPr sz="7875" b="0">
                <a:solidFill>
                  <a:srgbClr val="0A0A0A"/>
                </a:solidFill>
                <a:latin typeface="DM Sans Light"/>
                <a:ea typeface="DM Sans Light"/>
                <a:cs typeface="DM Sans Light"/>
              </a:defRPr>
            </a:lvl3pPr>
            <a:lvl4pPr algn="l">
              <a:defRPr sz="7875" b="0">
                <a:solidFill>
                  <a:srgbClr val="0A0A0A"/>
                </a:solidFill>
                <a:latin typeface="DM Sans Light"/>
                <a:ea typeface="DM Sans Light"/>
                <a:cs typeface="DM Sans Light"/>
              </a:defRPr>
            </a:lvl4pPr>
            <a:lvl5pPr algn="l">
              <a:defRPr sz="7875" b="0">
                <a:solidFill>
                  <a:srgbClr val="0A0A0A"/>
                </a:solidFill>
                <a:latin typeface="DM Sans Light"/>
                <a:ea typeface="DM Sans Light"/>
                <a:cs typeface="DM Sans Light"/>
              </a:defRPr>
            </a:lvl5pPr>
            <a:lvl6pPr algn="l">
              <a:defRPr sz="7875" b="0">
                <a:solidFill>
                  <a:srgbClr val="0A0A0A"/>
                </a:solidFill>
                <a:latin typeface="DM Sans Light"/>
                <a:ea typeface="DM Sans Light"/>
                <a:cs typeface="DM Sans Light"/>
              </a:defRPr>
            </a:lvl6pPr>
            <a:lvl7pPr algn="l">
              <a:defRPr sz="7875" b="0">
                <a:solidFill>
                  <a:srgbClr val="0A0A0A"/>
                </a:solidFill>
                <a:latin typeface="DM Sans Light"/>
                <a:ea typeface="DM Sans Light"/>
                <a:cs typeface="DM Sans Light"/>
              </a:defRPr>
            </a:lvl7pPr>
            <a:lvl8pPr algn="l">
              <a:defRPr sz="7875" b="0">
                <a:solidFill>
                  <a:srgbClr val="0A0A0A"/>
                </a:solidFill>
                <a:latin typeface="DM Sans Light"/>
                <a:ea typeface="DM Sans Light"/>
                <a:cs typeface="DM Sans Light"/>
              </a:defRPr>
            </a:lvl8pPr>
            <a:lvl9pPr algn="l">
              <a:defRPr sz="7875" b="0">
                <a:solidFill>
                  <a:srgbClr val="0A0A0A"/>
                </a:solidFill>
                <a:latin typeface="DM Sans Light"/>
                <a:ea typeface="DM Sans Light"/>
                <a:cs typeface="DM Sans Light"/>
              </a:defRPr>
            </a:lvl9pPr>
          </a:lstStyle>
          <a:p xmlns:a="http://schemas.openxmlformats.org/drawingml/2006/main">
            <a:pPr algn="l">
              <a:defRPr sz="7875" b="0">
                <a:solidFill>
                  <a:srgbClr val="0A0A0A"/>
                </a:solidFill>
                <a:latin typeface="DM Sans Light"/>
                <a:ea typeface="DM Sans Light"/>
                <a:cs typeface="DM Sans Light"/>
              </a:defRPr>
            </a:pPr>
            <a:r>
              <a:rPr sz="7875" b="0">
                <a:solidFill>
                  <a:srgbClr val="0A0A0A"/>
                </a:solidFill>
                <a:latin typeface="DM Sans Light"/>
                <a:ea typeface="DM Sans Light"/>
                <a:cs typeface="DM Sans Light"/>
              </a:rPr>
              <a:t>51.2%</a:t>
            </a:r>
          </a:p>
        </p:txBody>
      </p:sp>
      <p:sp>
        <p:nvSpPr>
          <p:cNvPr id="13" name="">
            <a:extLst xmlns:a="http://schemas.openxmlformats.org/drawingml/2006/main">
              <a:ext uri="{FF2B5EF4-FFF2-40B4-BE49-F238E27FC236}">
                <a16:creationId xmlns:a16="http://schemas.microsoft.com/office/drawing/2014/main" id="{0691D424-A284-47DA-895E-16DDEEC5DAC2}"/>
              </a:ext>
            </a:extLst>
          </p:cNvPr>
          <p:cNvSpPr>
            <a:spLocks xmlns:a="http://schemas.openxmlformats.org/drawingml/2006/main" noGrp="1"/>
          </p:cNvSpPr>
          <p:nvPr/>
        </p:nvSpPr>
        <p:spPr>
          <a:xfrm xmlns:a="http://schemas.openxmlformats.org/drawingml/2006/main">
            <a:off x="447675" y="5305425"/>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17145">
            <a:solidFill>
              <a:srgbClr val="0A0A0A"/>
            </a:solidFill>
            <a:prstDash val="solid"/>
          </a:ln>
        </p:spPr>
      </p:sp>
      <p:sp>
        <p:nvSpPr>
          <p:cNvPr id="14" name="">
            <a:extLst xmlns:a="http://schemas.openxmlformats.org/drawingml/2006/main">
              <a:ext uri="{FF2B5EF4-FFF2-40B4-BE49-F238E27FC236}">
                <a16:creationId xmlns:a16="http://schemas.microsoft.com/office/drawing/2014/main" id="{093029BF-2247-4005-9DDA-9F5025FEFAEC}"/>
              </a:ext>
            </a:extLst>
          </p:cNvPr>
          <p:cNvSpPr>
            <a:spLocks xmlns:a="http://schemas.openxmlformats.org/drawingml/2006/main" noGrp="1"/>
          </p:cNvSpPr>
          <p:nvPr/>
        </p:nvSpPr>
        <p:spPr>
          <a:xfrm xmlns:a="http://schemas.openxmlformats.org/drawingml/2006/main" rot="0">
            <a:off x="400050" y="5476875"/>
            <a:ext cx="542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A0A0A"/>
                </a:solidFill>
                <a:latin typeface="DM Sans"/>
                <a:ea typeface="DM Sans"/>
                <a:cs typeface="DM Sans"/>
              </a:defRPr>
            </a:defPPr>
            <a:lvl1pPr algn="l">
              <a:defRPr sz="2625" b="0">
                <a:solidFill>
                  <a:srgbClr val="0A0A0A"/>
                </a:solidFill>
                <a:latin typeface="DM Sans"/>
                <a:ea typeface="DM Sans"/>
                <a:cs typeface="DM Sans"/>
              </a:defRPr>
            </a:lvl1pPr>
            <a:lvl2pPr algn="l">
              <a:defRPr sz="2625" b="0">
                <a:solidFill>
                  <a:srgbClr val="0A0A0A"/>
                </a:solidFill>
                <a:latin typeface="DM Sans"/>
                <a:ea typeface="DM Sans"/>
                <a:cs typeface="DM Sans"/>
              </a:defRPr>
            </a:lvl2pPr>
            <a:lvl3pPr algn="l">
              <a:defRPr sz="2625" b="0">
                <a:solidFill>
                  <a:srgbClr val="0A0A0A"/>
                </a:solidFill>
                <a:latin typeface="DM Sans"/>
                <a:ea typeface="DM Sans"/>
                <a:cs typeface="DM Sans"/>
              </a:defRPr>
            </a:lvl3pPr>
            <a:lvl4pPr algn="l">
              <a:defRPr sz="2625" b="0">
                <a:solidFill>
                  <a:srgbClr val="0A0A0A"/>
                </a:solidFill>
                <a:latin typeface="DM Sans"/>
                <a:ea typeface="DM Sans"/>
                <a:cs typeface="DM Sans"/>
              </a:defRPr>
            </a:lvl4pPr>
            <a:lvl5pPr algn="l">
              <a:defRPr sz="2625" b="0">
                <a:solidFill>
                  <a:srgbClr val="0A0A0A"/>
                </a:solidFill>
                <a:latin typeface="DM Sans"/>
                <a:ea typeface="DM Sans"/>
                <a:cs typeface="DM Sans"/>
              </a:defRPr>
            </a:lvl5pPr>
            <a:lvl6pPr algn="l">
              <a:defRPr sz="2625" b="0">
                <a:solidFill>
                  <a:srgbClr val="0A0A0A"/>
                </a:solidFill>
                <a:latin typeface="DM Sans"/>
                <a:ea typeface="DM Sans"/>
                <a:cs typeface="DM Sans"/>
              </a:defRPr>
            </a:lvl6pPr>
            <a:lvl7pPr algn="l">
              <a:defRPr sz="2625" b="0">
                <a:solidFill>
                  <a:srgbClr val="0A0A0A"/>
                </a:solidFill>
                <a:latin typeface="DM Sans"/>
                <a:ea typeface="DM Sans"/>
                <a:cs typeface="DM Sans"/>
              </a:defRPr>
            </a:lvl7pPr>
            <a:lvl8pPr algn="l">
              <a:defRPr sz="2625" b="0">
                <a:solidFill>
                  <a:srgbClr val="0A0A0A"/>
                </a:solidFill>
                <a:latin typeface="DM Sans"/>
                <a:ea typeface="DM Sans"/>
                <a:cs typeface="DM Sans"/>
              </a:defRPr>
            </a:lvl8pPr>
            <a:lvl9pPr algn="l">
              <a:defRPr sz="2625" b="0">
                <a:solidFill>
                  <a:srgbClr val="0A0A0A"/>
                </a:solidFill>
                <a:latin typeface="DM Sans"/>
                <a:ea typeface="DM Sans"/>
                <a:cs typeface="DM Sans"/>
              </a:defRPr>
            </a:lvl9pPr>
          </a:lstStyle>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of paths have no sale.</a:t>
            </a:r>
          </a:p>
        </p:txBody>
      </p:sp>
      <p:sp>
        <p:nvSpPr>
          <p:cNvPr id="15" name="">
            <a:extLst xmlns:a="http://schemas.openxmlformats.org/drawingml/2006/main">
              <a:ext uri="{FF2B5EF4-FFF2-40B4-BE49-F238E27FC236}">
                <a16:creationId xmlns:a16="http://schemas.microsoft.com/office/drawing/2014/main" id="{92128379-5717-4227-91D0-6C8BB095CF12}"/>
              </a:ext>
            </a:extLst>
          </p:cNvPr>
          <p:cNvSpPr>
            <a:spLocks xmlns:a="http://schemas.openxmlformats.org/drawingml/2006/main" noGrp="1"/>
          </p:cNvSpPr>
          <p:nvPr/>
        </p:nvSpPr>
        <p:spPr>
          <a:xfrm xmlns:a="http://schemas.openxmlformats.org/drawingml/2006/main" rot="0">
            <a:off x="400050" y="6124575"/>
            <a:ext cx="54387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737373"/>
                </a:solidFill>
                <a:latin typeface="DM Sans"/>
                <a:ea typeface="DM Sans"/>
                <a:cs typeface="DM Sans"/>
              </a:defRPr>
            </a:defPPr>
            <a:lvl1pPr algn="l">
              <a:defRPr sz="863" b="0">
                <a:solidFill>
                  <a:srgbClr val="737373"/>
                </a:solidFill>
                <a:latin typeface="DM Sans"/>
                <a:ea typeface="DM Sans"/>
                <a:cs typeface="DM Sans"/>
              </a:defRPr>
            </a:lvl1pPr>
            <a:lvl2pPr algn="l">
              <a:defRPr sz="863" b="0">
                <a:solidFill>
                  <a:srgbClr val="737373"/>
                </a:solidFill>
                <a:latin typeface="DM Sans"/>
                <a:ea typeface="DM Sans"/>
                <a:cs typeface="DM Sans"/>
              </a:defRPr>
            </a:lvl2pPr>
            <a:lvl3pPr algn="l">
              <a:defRPr sz="863" b="0">
                <a:solidFill>
                  <a:srgbClr val="737373"/>
                </a:solidFill>
                <a:latin typeface="DM Sans"/>
                <a:ea typeface="DM Sans"/>
                <a:cs typeface="DM Sans"/>
              </a:defRPr>
            </a:lvl3pPr>
            <a:lvl4pPr algn="l">
              <a:defRPr sz="863" b="0">
                <a:solidFill>
                  <a:srgbClr val="737373"/>
                </a:solidFill>
                <a:latin typeface="DM Sans"/>
                <a:ea typeface="DM Sans"/>
                <a:cs typeface="DM Sans"/>
              </a:defRPr>
            </a:lvl4pPr>
            <a:lvl5pPr algn="l">
              <a:defRPr sz="863" b="0">
                <a:solidFill>
                  <a:srgbClr val="737373"/>
                </a:solidFill>
                <a:latin typeface="DM Sans"/>
                <a:ea typeface="DM Sans"/>
                <a:cs typeface="DM Sans"/>
              </a:defRPr>
            </a:lvl5pPr>
            <a:lvl6pPr algn="l">
              <a:defRPr sz="863" b="0">
                <a:solidFill>
                  <a:srgbClr val="737373"/>
                </a:solidFill>
                <a:latin typeface="DM Sans"/>
                <a:ea typeface="DM Sans"/>
                <a:cs typeface="DM Sans"/>
              </a:defRPr>
            </a:lvl6pPr>
            <a:lvl7pPr algn="l">
              <a:defRPr sz="863" b="0">
                <a:solidFill>
                  <a:srgbClr val="737373"/>
                </a:solidFill>
                <a:latin typeface="DM Sans"/>
                <a:ea typeface="DM Sans"/>
                <a:cs typeface="DM Sans"/>
              </a:defRPr>
            </a:lvl7pPr>
            <a:lvl8pPr algn="l">
              <a:defRPr sz="863" b="0">
                <a:solidFill>
                  <a:srgbClr val="737373"/>
                </a:solidFill>
                <a:latin typeface="DM Sans"/>
                <a:ea typeface="DM Sans"/>
                <a:cs typeface="DM Sans"/>
              </a:defRPr>
            </a:lvl8pPr>
            <a:lvl9pPr algn="l">
              <a:defRPr sz="863" b="0">
                <a:solidFill>
                  <a:srgbClr val="737373"/>
                </a:solidFill>
                <a:latin typeface="DM Sans"/>
                <a:ea typeface="DM Sans"/>
                <a:cs typeface="DM Sans"/>
              </a:defRPr>
            </a:lvl9pPr>
          </a:lstStyle>
          <a:p xmlns:a="http://schemas.openxmlformats.org/drawingml/2006/main">
            <a:pPr algn="l">
              <a:defRPr sz="863" b="0">
                <a:solidFill>
                  <a:srgbClr val="737373"/>
                </a:solidFill>
                <a:latin typeface="DM Sans"/>
                <a:ea typeface="DM Sans"/>
                <a:cs typeface="DM Sans"/>
              </a:defRPr>
            </a:pPr>
            <a:r>
              <a:rPr sz="863" b="0">
                <a:solidFill>
                  <a:srgbClr val="737373"/>
                </a:solidFill>
                <a:latin typeface="DM Sans"/>
                <a:ea typeface="DM Sans"/>
                <a:cs typeface="DM Sans"/>
              </a:rPr>
              <a:t>$700 upfront. No-sale cash: −$700. Zero gold growth.</a:t>
            </a:r>
          </a:p>
          <a:p xmlns:a="http://schemas.openxmlformats.org/drawingml/2006/main">
            <a:pPr algn="l">
              <a:defRPr sz="863" b="0">
                <a:solidFill>
                  <a:srgbClr val="737373"/>
                </a:solidFill>
                <a:latin typeface="DM Sans"/>
                <a:ea typeface="DM Sans"/>
                <a:cs typeface="DM Sans"/>
              </a:defRPr>
            </a:pPr>
            <a:r>
              <a:rPr sz="863" b="0">
                <a:solidFill>
                  <a:srgbClr val="737373"/>
                </a:solidFill>
                <a:latin typeface="DM Sans"/>
                <a:ea typeface="DM Sans"/>
                <a:cs typeface="DM Sans"/>
              </a:rPr>
              <a:t>20% assumed sale hazard per 30 days; gold stays $2,000/oz.</a:t>
            </a:r>
          </a:p>
          <a:p xmlns:a="http://schemas.openxmlformats.org/drawingml/2006/main">
            <a:pPr algn="l">
              <a:defRPr sz="863" b="0">
                <a:solidFill>
                  <a:srgbClr val="737373"/>
                </a:solidFill>
                <a:latin typeface="DM Sans"/>
                <a:ea typeface="DM Sans"/>
                <a:cs typeface="DM Sans"/>
              </a:defRPr>
            </a:pPr>
            <a:r>
              <a:rPr sz="863" b="0">
                <a:solidFill>
                  <a:srgbClr val="737373"/>
                </a:solidFill>
                <a:latin typeface="DM Sans"/>
                <a:ea typeface="DM Sans"/>
                <a:cs typeface="DM Sans"/>
              </a:rPr>
              <a:t>Non-annualized option return = expected cash / $700.</a:t>
            </a:r>
          </a:p>
        </p:txBody>
      </p:sp>
      <p:sp>
        <p:nvSpPr>
          <p:cNvPr id="16" name="">
            <a:extLst xmlns:a="http://schemas.openxmlformats.org/drawingml/2006/main">
              <a:ext uri="{FF2B5EF4-FFF2-40B4-BE49-F238E27FC236}">
                <a16:creationId xmlns:a16="http://schemas.microsoft.com/office/drawing/2014/main" id="{8329DC80-D410-47CA-B735-9988EE112FD5}"/>
              </a:ext>
            </a:extLst>
          </p:cNvPr>
          <p:cNvSpPr>
            <a:spLocks xmlns:a="http://schemas.openxmlformats.org/drawingml/2006/main" noGrp="1"/>
          </p:cNvSpPr>
          <p:nvPr/>
        </p:nvSpPr>
        <p:spPr>
          <a:xfrm xmlns:a="http://schemas.openxmlformats.org/drawingml/2006/main">
            <a:off x="6172200" y="152400"/>
            <a:ext cx="5867400" cy="6553200"/>
          </a:xfrm>
          <a:prstGeom xmlns:a="http://schemas.openxmlformats.org/drawingml/2006/main" prst="roundRect">
            <a:avLst>
              <a:gd name="adj" fmla="val 4058"/>
            </a:avLst>
          </a:prstGeom>
          <a:solidFill xmlns:a="http://schemas.openxmlformats.org/drawingml/2006/main">
            <a:srgbClr val="0A0A0A"/>
          </a:solidFill>
          <a:ln xmlns:a="http://schemas.openxmlformats.org/drawingml/2006/main" w="0">
            <a:noFill/>
            <a:prstDash val="solid"/>
          </a:ln>
        </p:spPr>
      </p:sp>
      <p:graphicFrame>
        <p:nvGraphicFramePr>
          <p:cNvPr id="17" name="Chart">
            <a:extLst xmlns:a="http://schemas.openxmlformats.org/drawingml/2006/main">
              <a:ext uri="{FF2B5EF4-FFF2-40B4-BE49-F238E27FC236}">
                <a16:creationId xmlns:a16="http://schemas.microsoft.com/office/drawing/2014/main" id="{B010793A-B1B7-45D9-B789-9AE407353AF9}"/>
              </a:ext>
            </a:extLst>
          </p:cNvPr>
          <p:cNvGraphicFramePr/>
          <p:nvPr/>
        </p:nvGraphicFramePr>
        <p:xfrm>
          <a:off xmlns:a="http://schemas.openxmlformats.org/drawingml/2006/main" x="6334125" y="361950"/>
          <a:ext xmlns:a="http://schemas.openxmlformats.org/drawingml/2006/main" cx="5543550" cy="5743575"/>
        </p:xfrm>
        <a:graphic xmlns:a="http://schemas.openxmlformats.org/drawingml/2006/main">
          <a:graphicData uri="http://schemas.openxmlformats.org/drawingml/2006/chart">
            <c:chart xmlns:r="http://schemas.openxmlformats.org/officeDocument/2006/relationships" xmlns:c="http://schemas.openxmlformats.org/drawingml/2006/chart" r:id="Rb0771b59d5b14d0a"/>
          </a:graphicData>
        </a:graphic>
      </p:graphicFrame>
      <p:sp>
        <p:nvSpPr>
          <p:cNvPr id="18" name="">
            <a:extLst xmlns:a="http://schemas.openxmlformats.org/drawingml/2006/main">
              <a:ext uri="{FF2B5EF4-FFF2-40B4-BE49-F238E27FC236}">
                <a16:creationId xmlns:a16="http://schemas.microsoft.com/office/drawing/2014/main" id="{27292AFF-7C52-4D1C-AA92-38BAA318017D}"/>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FAFAFA"/>
                </a:solidFill>
                <a:latin typeface="DM Sans"/>
                <a:ea typeface="DM Sans"/>
                <a:cs typeface="DM Sans"/>
              </a:defRPr>
            </a:defPPr>
            <a:lvl1pPr algn="r">
              <a:defRPr sz="900" b="0">
                <a:solidFill>
                  <a:srgbClr val="FAFAFA"/>
                </a:solidFill>
                <a:latin typeface="DM Sans"/>
                <a:ea typeface="DM Sans"/>
                <a:cs typeface="DM Sans"/>
              </a:defRPr>
            </a:lvl1pPr>
            <a:lvl2pPr algn="r">
              <a:defRPr sz="900" b="0">
                <a:solidFill>
                  <a:srgbClr val="FAFAFA"/>
                </a:solidFill>
                <a:latin typeface="DM Sans"/>
                <a:ea typeface="DM Sans"/>
                <a:cs typeface="DM Sans"/>
              </a:defRPr>
            </a:lvl2pPr>
            <a:lvl3pPr algn="r">
              <a:defRPr sz="900" b="0">
                <a:solidFill>
                  <a:srgbClr val="FAFAFA"/>
                </a:solidFill>
                <a:latin typeface="DM Sans"/>
                <a:ea typeface="DM Sans"/>
                <a:cs typeface="DM Sans"/>
              </a:defRPr>
            </a:lvl3pPr>
            <a:lvl4pPr algn="r">
              <a:defRPr sz="900" b="0">
                <a:solidFill>
                  <a:srgbClr val="FAFAFA"/>
                </a:solidFill>
                <a:latin typeface="DM Sans"/>
                <a:ea typeface="DM Sans"/>
                <a:cs typeface="DM Sans"/>
              </a:defRPr>
            </a:lvl4pPr>
            <a:lvl5pPr algn="r">
              <a:defRPr sz="900" b="0">
                <a:solidFill>
                  <a:srgbClr val="FAFAFA"/>
                </a:solidFill>
                <a:latin typeface="DM Sans"/>
                <a:ea typeface="DM Sans"/>
                <a:cs typeface="DM Sans"/>
              </a:defRPr>
            </a:lvl5pPr>
            <a:lvl6pPr algn="r">
              <a:defRPr sz="900" b="0">
                <a:solidFill>
                  <a:srgbClr val="FAFAFA"/>
                </a:solidFill>
                <a:latin typeface="DM Sans"/>
                <a:ea typeface="DM Sans"/>
                <a:cs typeface="DM Sans"/>
              </a:defRPr>
            </a:lvl6pPr>
            <a:lvl7pPr algn="r">
              <a:defRPr sz="900" b="0">
                <a:solidFill>
                  <a:srgbClr val="FAFAFA"/>
                </a:solidFill>
                <a:latin typeface="DM Sans"/>
                <a:ea typeface="DM Sans"/>
                <a:cs typeface="DM Sans"/>
              </a:defRPr>
            </a:lvl7pPr>
            <a:lvl8pPr algn="r">
              <a:defRPr sz="900" b="0">
                <a:solidFill>
                  <a:srgbClr val="FAFAFA"/>
                </a:solidFill>
                <a:latin typeface="DM Sans"/>
                <a:ea typeface="DM Sans"/>
                <a:cs typeface="DM Sans"/>
              </a:defRPr>
            </a:lvl8pPr>
            <a:lvl9pPr algn="r">
              <a:defRPr sz="900" b="0">
                <a:solidFill>
                  <a:srgbClr val="FAFAFA"/>
                </a:solidFill>
                <a:latin typeface="DM Sans"/>
                <a:ea typeface="DM Sans"/>
                <a:cs typeface="DM Sans"/>
              </a:defRPr>
            </a:lvl9pPr>
          </a:lstStyle>
          <a:p xmlns:a="http://schemas.openxmlformats.org/drawingml/2006/main">
            <a:pPr algn="r">
              <a:defRPr sz="900" b="0">
                <a:solidFill>
                  <a:srgbClr val="FAFAFA"/>
                </a:solidFill>
                <a:latin typeface="DM Sans"/>
                <a:ea typeface="DM Sans"/>
                <a:cs typeface="DM Sans"/>
              </a:defRPr>
            </a:pPr>
            <a:r>
              <a:rPr sz="900" b="0">
                <a:solidFill>
                  <a:srgbClr val="FAFAFA"/>
                </a:solidFill>
                <a:latin typeface="DM Sans"/>
                <a:ea typeface="DM Sans"/>
                <a:cs typeface="DM Sans"/>
              </a:rPr>
              <a:t>Orecast</a:t>
            </a:r>
          </a:p>
        </p:txBody>
      </p:sp>
      <p:sp>
        <p:nvSpPr>
          <p:cNvPr id="19" name="">
            <a:extLst xmlns:a="http://schemas.openxmlformats.org/drawingml/2006/main">
              <a:ext uri="{FF2B5EF4-FFF2-40B4-BE49-F238E27FC236}">
                <a16:creationId xmlns:a16="http://schemas.microsoft.com/office/drawing/2014/main" id="{A6538AF1-D811-4047-9859-4C77546CE826}"/>
              </a:ext>
            </a:extLst>
          </p:cNvPr>
          <p:cNvSpPr>
            <a:spLocks xmlns:a="http://schemas.openxmlformats.org/drawingml/2006/main" noGrp="1"/>
          </p:cNvSpPr>
          <p:nvPr/>
        </p:nvSpPr>
        <p:spPr>
          <a:xfrm xmlns:a="http://schemas.openxmlformats.org/drawingml/2006/main" rot="0">
            <a:off x="6467475" y="6200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Sale chance</a:t>
            </a:r>
          </a:p>
        </p:txBody>
      </p:sp>
      <p:sp>
        <p:nvSpPr>
          <p:cNvPr id="20" name="">
            <a:extLst xmlns:a="http://schemas.openxmlformats.org/drawingml/2006/main">
              <a:ext uri="{FF2B5EF4-FFF2-40B4-BE49-F238E27FC236}">
                <a16:creationId xmlns:a16="http://schemas.microsoft.com/office/drawing/2014/main" id="{A910B0B3-4A66-4514-8918-E0816215E0C5}"/>
              </a:ext>
            </a:extLst>
          </p:cNvPr>
          <p:cNvSpPr>
            <a:spLocks xmlns:a="http://schemas.openxmlformats.org/drawingml/2006/main" noGrp="1"/>
          </p:cNvSpPr>
          <p:nvPr/>
        </p:nvSpPr>
        <p:spPr>
          <a:xfrm xmlns:a="http://schemas.openxmlformats.org/drawingml/2006/main" rot="0">
            <a:off x="7115175"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20.0%</a:t>
            </a:r>
          </a:p>
        </p:txBody>
      </p:sp>
      <p:sp>
        <p:nvSpPr>
          <p:cNvPr id="21" name="">
            <a:extLst xmlns:a="http://schemas.openxmlformats.org/drawingml/2006/main">
              <a:ext uri="{FF2B5EF4-FFF2-40B4-BE49-F238E27FC236}">
                <a16:creationId xmlns:a16="http://schemas.microsoft.com/office/drawing/2014/main" id="{6E3A11F3-0E17-464E-80CB-D79DC87DDC38}"/>
              </a:ext>
            </a:extLst>
          </p:cNvPr>
          <p:cNvSpPr>
            <a:spLocks xmlns:a="http://schemas.openxmlformats.org/drawingml/2006/main" noGrp="1"/>
          </p:cNvSpPr>
          <p:nvPr/>
        </p:nvSpPr>
        <p:spPr>
          <a:xfrm xmlns:a="http://schemas.openxmlformats.org/drawingml/2006/main" rot="0">
            <a:off x="8772525"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48.8%</a:t>
            </a:r>
          </a:p>
        </p:txBody>
      </p:sp>
      <p:sp>
        <p:nvSpPr>
          <p:cNvPr id="22" name="">
            <a:extLst xmlns:a="http://schemas.openxmlformats.org/drawingml/2006/main">
              <a:ext uri="{FF2B5EF4-FFF2-40B4-BE49-F238E27FC236}">
                <a16:creationId xmlns:a16="http://schemas.microsoft.com/office/drawing/2014/main" id="{6E34F9AD-2C8E-4DDB-9F73-EBB9390058DD}"/>
              </a:ext>
            </a:extLst>
          </p:cNvPr>
          <p:cNvSpPr>
            <a:spLocks xmlns:a="http://schemas.openxmlformats.org/drawingml/2006/main" noGrp="1"/>
          </p:cNvSpPr>
          <p:nvPr/>
        </p:nvSpPr>
        <p:spPr>
          <a:xfrm xmlns:a="http://schemas.openxmlformats.org/drawingml/2006/main" rot="0">
            <a:off x="10420350"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73.8%</a:t>
            </a:r>
          </a:p>
        </p:txBody>
      </p:sp>
      <p:sp>
        <p:nvSpPr>
          <p:cNvPr id="23" name="">
            <a:extLst xmlns:a="http://schemas.openxmlformats.org/drawingml/2006/main">
              <a:ext uri="{FF2B5EF4-FFF2-40B4-BE49-F238E27FC236}">
                <a16:creationId xmlns:a16="http://schemas.microsoft.com/office/drawing/2014/main" id="{AFBACE16-CDE6-46AF-8EA0-C5C3ABF3F39B}"/>
              </a:ext>
            </a:extLst>
          </p:cNvPr>
          <p:cNvSpPr>
            <a:spLocks xmlns:a="http://schemas.openxmlformats.org/drawingml/2006/main" noGrp="1"/>
          </p:cNvSpPr>
          <p:nvPr/>
        </p:nvSpPr>
        <p:spPr>
          <a:xfrm xmlns:a="http://schemas.openxmlformats.org/drawingml/2006/main" rot="0">
            <a:off x="6467475" y="6505575"/>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A3A3A3"/>
                </a:solidFill>
                <a:latin typeface="DM Sans"/>
                <a:ea typeface="DM Sans"/>
                <a:cs typeface="DM Sans"/>
              </a:defRPr>
            </a:defPPr>
            <a:lvl1pPr algn="l">
              <a:defRPr sz="750" b="0">
                <a:solidFill>
                  <a:srgbClr val="A3A3A3"/>
                </a:solidFill>
                <a:latin typeface="DM Sans"/>
                <a:ea typeface="DM Sans"/>
                <a:cs typeface="DM Sans"/>
              </a:defRPr>
            </a:lvl1pPr>
            <a:lvl2pPr algn="l">
              <a:defRPr sz="750" b="0">
                <a:solidFill>
                  <a:srgbClr val="A3A3A3"/>
                </a:solidFill>
                <a:latin typeface="DM Sans"/>
                <a:ea typeface="DM Sans"/>
                <a:cs typeface="DM Sans"/>
              </a:defRPr>
            </a:lvl2pPr>
            <a:lvl3pPr algn="l">
              <a:defRPr sz="750" b="0">
                <a:solidFill>
                  <a:srgbClr val="A3A3A3"/>
                </a:solidFill>
                <a:latin typeface="DM Sans"/>
                <a:ea typeface="DM Sans"/>
                <a:cs typeface="DM Sans"/>
              </a:defRPr>
            </a:lvl3pPr>
            <a:lvl4pPr algn="l">
              <a:defRPr sz="750" b="0">
                <a:solidFill>
                  <a:srgbClr val="A3A3A3"/>
                </a:solidFill>
                <a:latin typeface="DM Sans"/>
                <a:ea typeface="DM Sans"/>
                <a:cs typeface="DM Sans"/>
              </a:defRPr>
            </a:lvl4pPr>
            <a:lvl5pPr algn="l">
              <a:defRPr sz="750" b="0">
                <a:solidFill>
                  <a:srgbClr val="A3A3A3"/>
                </a:solidFill>
                <a:latin typeface="DM Sans"/>
                <a:ea typeface="DM Sans"/>
                <a:cs typeface="DM Sans"/>
              </a:defRPr>
            </a:lvl5pPr>
            <a:lvl6pPr algn="l">
              <a:defRPr sz="750" b="0">
                <a:solidFill>
                  <a:srgbClr val="A3A3A3"/>
                </a:solidFill>
                <a:latin typeface="DM Sans"/>
                <a:ea typeface="DM Sans"/>
                <a:cs typeface="DM Sans"/>
              </a:defRPr>
            </a:lvl6pPr>
            <a:lvl7pPr algn="l">
              <a:defRPr sz="750" b="0">
                <a:solidFill>
                  <a:srgbClr val="A3A3A3"/>
                </a:solidFill>
                <a:latin typeface="DM Sans"/>
                <a:ea typeface="DM Sans"/>
                <a:cs typeface="DM Sans"/>
              </a:defRPr>
            </a:lvl7pPr>
            <a:lvl8pPr algn="l">
              <a:defRPr sz="750" b="0">
                <a:solidFill>
                  <a:srgbClr val="A3A3A3"/>
                </a:solidFill>
                <a:latin typeface="DM Sans"/>
                <a:ea typeface="DM Sans"/>
                <a:cs typeface="DM Sans"/>
              </a:defRPr>
            </a:lvl8pPr>
            <a:lvl9pPr algn="l">
              <a:defRPr sz="750" b="0">
                <a:solidFill>
                  <a:srgbClr val="A3A3A3"/>
                </a:solidFill>
                <a:latin typeface="DM Sans"/>
                <a:ea typeface="DM Sans"/>
                <a:cs typeface="DM Sans"/>
              </a:defRPr>
            </a:lvl9pPr>
          </a:lstStyle>
          <a:p xmlns:a="http://schemas.openxmlformats.org/drawingml/2006/main">
            <a:pPr algn="l">
              <a:defRPr sz="750" b="0">
                <a:solidFill>
                  <a:srgbClr val="A3A3A3"/>
                </a:solidFill>
                <a:latin typeface="DM Sans"/>
                <a:ea typeface="DM Sans"/>
                <a:cs typeface="DM Sans"/>
              </a:defRPr>
            </a:pPr>
            <a:r>
              <a:rPr sz="750" b="0">
                <a:solidFill>
                  <a:srgbClr val="A3A3A3"/>
                </a:solidFill>
                <a:latin typeface="DM Sans"/>
                <a:ea typeface="DM Sans"/>
                <a:cs typeface="DM Sans"/>
              </a:rPr>
              <a:t>Hypothetical baseline</a:t>
            </a:r>
          </a:p>
        </p:txBody>
      </p:sp>
    </p:spTree>
    <p:extLst>
      <p:ext uri="{BB962C8B-B14F-4D97-AF65-F5344CB8AC3E}">
        <p14:creationId xmlns:p14="http://schemas.microsoft.com/office/powerpoint/2010/main" val="1751253523"/>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42E2E28-3229-4374-89B8-3807B032B0FF}"/>
              </a:ext>
            </a:extLst>
          </p:cNvPr>
          <p:cNvPicPr>
            <a:picLocks xmlns:a="http://schemas.openxmlformats.org/drawingml/2006/main" noChangeAspect="1"/>
          </p:cNvPicPr>
          <p:nvPr/>
        </p:nvPicPr>
        <p:blipFill>
          <a:blip xmlns:r="http://schemas.openxmlformats.org/officeDocument/2006/relationships" xmlns:a="http://schemas.openxmlformats.org/drawingml/2006/main" r:embed="R686edc33bee74233"/>
          <a:srcRect xmlns:a="http://schemas.openxmlformats.org/drawingml/2006/main" l="0" t="17394" r="0" b="17394"/>
          <a:stretch xmlns:a="http://schemas.openxmlformats.org/drawingml/2006/main">
            <a:fillRect l="0" t="0" r="0" b="0"/>
          </a:stretch>
        </p:blipFill>
        <p:spPr>
          <a:xfrm xmlns:a="http://schemas.openxmlformats.org/drawingml/2006/main">
            <a:off x="152400" y="152400"/>
            <a:ext cx="11887200" cy="6553200"/>
          </a:xfrm>
          <a:prstGeom xmlns:a="http://schemas.openxmlformats.org/drawingml/2006/main" prst="roundRect">
            <a:avLst>
              <a:gd name="adj" fmla="val 3634"/>
            </a:avLst>
          </a:prstGeom>
        </p:spPr>
      </p:pic>
      <p:sp>
        <p:nvSpPr>
          <p:cNvPr id="2" name="">
            <a:extLst xmlns:a="http://schemas.openxmlformats.org/drawingml/2006/main">
              <a:ext uri="{FF2B5EF4-FFF2-40B4-BE49-F238E27FC236}">
                <a16:creationId xmlns:a16="http://schemas.microsoft.com/office/drawing/2014/main" id="{9BAE8983-0E80-4ADC-AE0B-7E9C58CF3482}"/>
              </a:ext>
            </a:extLst>
          </p:cNvPr>
          <p:cNvSpPr>
            <a:spLocks xmlns:a="http://schemas.openxmlformats.org/drawingml/2006/main" noGrp="1"/>
          </p:cNvSpPr>
          <p:nvPr/>
        </p:nvSpPr>
        <p:spPr>
          <a:xfrm xmlns:a="http://schemas.openxmlformats.org/drawingml/2006/main">
            <a:off x="152400" y="152400"/>
            <a:ext cx="11887200" cy="6553200"/>
          </a:xfrm>
          <a:prstGeom xmlns:a="http://schemas.openxmlformats.org/drawingml/2006/main" prst="roundRect">
            <a:avLst>
              <a:gd name="adj" fmla="val 3634"/>
            </a:avLst>
          </a:prstGeom>
          <a:solidFill xmlns:a="http://schemas.openxmlformats.org/drawingml/2006/main">
            <a:srgbClr val="0A0A0A">
              <a:alpha val="5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BB87D8-4EF6-413C-83B7-00EF91BB7668}"/>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FAFAFA"/>
            </a:solidFill>
            <a:prstDash val="solid"/>
          </a:ln>
        </p:spPr>
      </p:sp>
      <p:sp>
        <p:nvSpPr>
          <p:cNvPr id="4" name="">
            <a:extLst xmlns:a="http://schemas.openxmlformats.org/drawingml/2006/main">
              <a:ext uri="{FF2B5EF4-FFF2-40B4-BE49-F238E27FC236}">
                <a16:creationId xmlns:a16="http://schemas.microsoft.com/office/drawing/2014/main" id="{3B659AD3-CC8F-48A4-99C0-D78071CA2D40}"/>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05</a:t>
            </a:r>
          </a:p>
        </p:txBody>
      </p:sp>
      <p:sp>
        <p:nvSpPr>
          <p:cNvPr id="5" name="">
            <a:extLst xmlns:a="http://schemas.openxmlformats.org/drawingml/2006/main">
              <a:ext uri="{FF2B5EF4-FFF2-40B4-BE49-F238E27FC236}">
                <a16:creationId xmlns:a16="http://schemas.microsoft.com/office/drawing/2014/main" id="{61D375B7-496D-4298-8E05-BE29394D9F77}"/>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FAFAFA"/>
            </a:solidFill>
            <a:prstDash val="solid"/>
          </a:ln>
        </p:spPr>
      </p:sp>
      <p:sp>
        <p:nvSpPr>
          <p:cNvPr id="6" name="">
            <a:extLst xmlns:a="http://schemas.openxmlformats.org/drawingml/2006/main">
              <a:ext uri="{FF2B5EF4-FFF2-40B4-BE49-F238E27FC236}">
                <a16:creationId xmlns:a16="http://schemas.microsoft.com/office/drawing/2014/main" id="{23129421-77A1-4BDB-8030-56ADF191ECAC}"/>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7" name="">
            <a:extLst xmlns:a="http://schemas.openxmlformats.org/drawingml/2006/main">
              <a:ext uri="{FF2B5EF4-FFF2-40B4-BE49-F238E27FC236}">
                <a16:creationId xmlns:a16="http://schemas.microsoft.com/office/drawing/2014/main" id="{93AEA349-2C9E-4AF3-9D2B-F398290126E2}"/>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8" name="">
            <a:extLst xmlns:a="http://schemas.openxmlformats.org/drawingml/2006/main">
              <a:ext uri="{FF2B5EF4-FFF2-40B4-BE49-F238E27FC236}">
                <a16:creationId xmlns:a16="http://schemas.microsoft.com/office/drawing/2014/main" id="{C165BD2D-065B-4D14-8CAB-83B62F47362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Live demonstration</a:t>
            </a:r>
          </a:p>
        </p:txBody>
      </p:sp>
      <p:sp>
        <p:nvSpPr>
          <p:cNvPr id="9" name="">
            <a:extLst xmlns:a="http://schemas.openxmlformats.org/drawingml/2006/main">
              <a:ext uri="{FF2B5EF4-FFF2-40B4-BE49-F238E27FC236}">
                <a16:creationId xmlns:a16="http://schemas.microsoft.com/office/drawing/2014/main" id="{7308938F-3F97-4C9A-A90A-AEE1437573A2}"/>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FAFAFA"/>
                </a:solidFill>
                <a:latin typeface="DM Sans"/>
                <a:ea typeface="DM Sans"/>
                <a:cs typeface="DM Sans"/>
              </a:defRPr>
            </a:defPPr>
            <a:lvl1pPr algn="r">
              <a:defRPr sz="900" b="0">
                <a:solidFill>
                  <a:srgbClr val="FAFAFA"/>
                </a:solidFill>
                <a:latin typeface="DM Sans"/>
                <a:ea typeface="DM Sans"/>
                <a:cs typeface="DM Sans"/>
              </a:defRPr>
            </a:lvl1pPr>
            <a:lvl2pPr algn="r">
              <a:defRPr sz="900" b="0">
                <a:solidFill>
                  <a:srgbClr val="FAFAFA"/>
                </a:solidFill>
                <a:latin typeface="DM Sans"/>
                <a:ea typeface="DM Sans"/>
                <a:cs typeface="DM Sans"/>
              </a:defRPr>
            </a:lvl2pPr>
            <a:lvl3pPr algn="r">
              <a:defRPr sz="900" b="0">
                <a:solidFill>
                  <a:srgbClr val="FAFAFA"/>
                </a:solidFill>
                <a:latin typeface="DM Sans"/>
                <a:ea typeface="DM Sans"/>
                <a:cs typeface="DM Sans"/>
              </a:defRPr>
            </a:lvl3pPr>
            <a:lvl4pPr algn="r">
              <a:defRPr sz="900" b="0">
                <a:solidFill>
                  <a:srgbClr val="FAFAFA"/>
                </a:solidFill>
                <a:latin typeface="DM Sans"/>
                <a:ea typeface="DM Sans"/>
                <a:cs typeface="DM Sans"/>
              </a:defRPr>
            </a:lvl4pPr>
            <a:lvl5pPr algn="r">
              <a:defRPr sz="900" b="0">
                <a:solidFill>
                  <a:srgbClr val="FAFAFA"/>
                </a:solidFill>
                <a:latin typeface="DM Sans"/>
                <a:ea typeface="DM Sans"/>
                <a:cs typeface="DM Sans"/>
              </a:defRPr>
            </a:lvl5pPr>
            <a:lvl6pPr algn="r">
              <a:defRPr sz="900" b="0">
                <a:solidFill>
                  <a:srgbClr val="FAFAFA"/>
                </a:solidFill>
                <a:latin typeface="DM Sans"/>
                <a:ea typeface="DM Sans"/>
                <a:cs typeface="DM Sans"/>
              </a:defRPr>
            </a:lvl6pPr>
            <a:lvl7pPr algn="r">
              <a:defRPr sz="900" b="0">
                <a:solidFill>
                  <a:srgbClr val="FAFAFA"/>
                </a:solidFill>
                <a:latin typeface="DM Sans"/>
                <a:ea typeface="DM Sans"/>
                <a:cs typeface="DM Sans"/>
              </a:defRPr>
            </a:lvl7pPr>
            <a:lvl8pPr algn="r">
              <a:defRPr sz="900" b="0">
                <a:solidFill>
                  <a:srgbClr val="FAFAFA"/>
                </a:solidFill>
                <a:latin typeface="DM Sans"/>
                <a:ea typeface="DM Sans"/>
                <a:cs typeface="DM Sans"/>
              </a:defRPr>
            </a:lvl8pPr>
            <a:lvl9pPr algn="r">
              <a:defRPr sz="900" b="0">
                <a:solidFill>
                  <a:srgbClr val="FAFAFA"/>
                </a:solidFill>
                <a:latin typeface="DM Sans"/>
                <a:ea typeface="DM Sans"/>
                <a:cs typeface="DM Sans"/>
              </a:defRPr>
            </a:lvl9pPr>
          </a:lstStyle>
          <a:p xmlns:a="http://schemas.openxmlformats.org/drawingml/2006/main">
            <a:pPr algn="r">
              <a:defRPr sz="900" b="0">
                <a:solidFill>
                  <a:srgbClr val="FAFAFA"/>
                </a:solidFill>
                <a:latin typeface="DM Sans"/>
                <a:ea typeface="DM Sans"/>
                <a:cs typeface="DM Sans"/>
              </a:defRPr>
            </a:pPr>
            <a:r>
              <a:rPr sz="900" b="0">
                <a:solidFill>
                  <a:srgbClr val="FAFAFA"/>
                </a:solidFill>
                <a:latin typeface="DM Sans"/>
                <a:ea typeface="DM Sans"/>
                <a:cs typeface="DM Sans"/>
              </a:rPr>
              <a:t>Orecast</a:t>
            </a:r>
          </a:p>
        </p:txBody>
      </p:sp>
      <p:sp>
        <p:nvSpPr>
          <p:cNvPr id="10" name="">
            <a:extLst xmlns:a="http://schemas.openxmlformats.org/drawingml/2006/main">
              <a:ext uri="{FF2B5EF4-FFF2-40B4-BE49-F238E27FC236}">
                <a16:creationId xmlns:a16="http://schemas.microsoft.com/office/drawing/2014/main" id="{B4F0396C-1DF5-4104-81AF-513B57D73C72}"/>
              </a:ext>
            </a:extLst>
          </p:cNvPr>
          <p:cNvSpPr>
            <a:spLocks xmlns:a="http://schemas.openxmlformats.org/drawingml/2006/main" noGrp="1"/>
          </p:cNvSpPr>
          <p:nvPr/>
        </p:nvSpPr>
        <p:spPr>
          <a:xfrm xmlns:a="http://schemas.openxmlformats.org/drawingml/2006/main" rot="0">
            <a:off x="400050" y="1724025"/>
            <a:ext cx="6334125"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FAFAFA"/>
                </a:solidFill>
                <a:latin typeface="DM Sans"/>
                <a:ea typeface="DM Sans"/>
                <a:cs typeface="DM Sans"/>
              </a:defRPr>
            </a:defPPr>
            <a:lvl1pPr algn="l">
              <a:defRPr sz="2850" b="0">
                <a:solidFill>
                  <a:srgbClr val="FAFAFA"/>
                </a:solidFill>
                <a:latin typeface="DM Sans"/>
                <a:ea typeface="DM Sans"/>
                <a:cs typeface="DM Sans"/>
              </a:defRPr>
            </a:lvl1pPr>
            <a:lvl2pPr algn="l">
              <a:defRPr sz="2850" b="0">
                <a:solidFill>
                  <a:srgbClr val="FAFAFA"/>
                </a:solidFill>
                <a:latin typeface="DM Sans"/>
                <a:ea typeface="DM Sans"/>
                <a:cs typeface="DM Sans"/>
              </a:defRPr>
            </a:lvl2pPr>
            <a:lvl3pPr algn="l">
              <a:defRPr sz="2850" b="0">
                <a:solidFill>
                  <a:srgbClr val="FAFAFA"/>
                </a:solidFill>
                <a:latin typeface="DM Sans"/>
                <a:ea typeface="DM Sans"/>
                <a:cs typeface="DM Sans"/>
              </a:defRPr>
            </a:lvl3pPr>
            <a:lvl4pPr algn="l">
              <a:defRPr sz="2850" b="0">
                <a:solidFill>
                  <a:srgbClr val="FAFAFA"/>
                </a:solidFill>
                <a:latin typeface="DM Sans"/>
                <a:ea typeface="DM Sans"/>
                <a:cs typeface="DM Sans"/>
              </a:defRPr>
            </a:lvl4pPr>
            <a:lvl5pPr algn="l">
              <a:defRPr sz="2850" b="0">
                <a:solidFill>
                  <a:srgbClr val="FAFAFA"/>
                </a:solidFill>
                <a:latin typeface="DM Sans"/>
                <a:ea typeface="DM Sans"/>
                <a:cs typeface="DM Sans"/>
              </a:defRPr>
            </a:lvl5pPr>
            <a:lvl6pPr algn="l">
              <a:defRPr sz="2850" b="0">
                <a:solidFill>
                  <a:srgbClr val="FAFAFA"/>
                </a:solidFill>
                <a:latin typeface="DM Sans"/>
                <a:ea typeface="DM Sans"/>
                <a:cs typeface="DM Sans"/>
              </a:defRPr>
            </a:lvl6pPr>
            <a:lvl7pPr algn="l">
              <a:defRPr sz="2850" b="0">
                <a:solidFill>
                  <a:srgbClr val="FAFAFA"/>
                </a:solidFill>
                <a:latin typeface="DM Sans"/>
                <a:ea typeface="DM Sans"/>
                <a:cs typeface="DM Sans"/>
              </a:defRPr>
            </a:lvl7pPr>
            <a:lvl8pPr algn="l">
              <a:defRPr sz="2850" b="0">
                <a:solidFill>
                  <a:srgbClr val="FAFAFA"/>
                </a:solidFill>
                <a:latin typeface="DM Sans"/>
                <a:ea typeface="DM Sans"/>
                <a:cs typeface="DM Sans"/>
              </a:defRPr>
            </a:lvl8pPr>
            <a:lvl9pPr algn="l">
              <a:defRPr sz="2850" b="0">
                <a:solidFill>
                  <a:srgbClr val="FAFAFA"/>
                </a:solidFill>
                <a:latin typeface="DM Sans"/>
                <a:ea typeface="DM Sans"/>
                <a:cs typeface="DM Sans"/>
              </a:defRPr>
            </a:lvl9pPr>
          </a:lstStyle>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Inspect how evidence,</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a scenario and time</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affect a mineral</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decision.</a:t>
            </a:r>
          </a:p>
        </p:txBody>
      </p:sp>
      <p:sp>
        <p:nvSpPr>
          <p:cNvPr id="11" name="">
            <a:extLst xmlns:a="http://schemas.openxmlformats.org/drawingml/2006/main">
              <a:ext uri="{FF2B5EF4-FFF2-40B4-BE49-F238E27FC236}">
                <a16:creationId xmlns:a16="http://schemas.microsoft.com/office/drawing/2014/main" id="{F235D4AA-D846-45CD-A29C-E1B87AEB3CC3}"/>
              </a:ext>
            </a:extLst>
          </p:cNvPr>
          <p:cNvSpPr>
            <a:spLocks xmlns:a="http://schemas.openxmlformats.org/drawingml/2006/main" noGrp="1"/>
          </p:cNvSpPr>
          <p:nvPr/>
        </p:nvSpPr>
        <p:spPr>
          <a:xfrm xmlns:a="http://schemas.openxmlformats.org/drawingml/2006/main" rot="0">
            <a:off x="400050" y="4086225"/>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AFAFA"/>
                </a:solidFill>
                <a:latin typeface="DM Sans"/>
                <a:ea typeface="DM Sans"/>
                <a:cs typeface="DM Sans"/>
              </a:defRPr>
            </a:defPPr>
            <a:lvl1pPr algn="l">
              <a:defRPr sz="1875" b="0">
                <a:solidFill>
                  <a:srgbClr val="FAFAFA"/>
                </a:solidFill>
                <a:latin typeface="DM Sans"/>
                <a:ea typeface="DM Sans"/>
                <a:cs typeface="DM Sans"/>
              </a:defRPr>
            </a:lvl1pPr>
            <a:lvl2pPr algn="l">
              <a:defRPr sz="1875" b="0">
                <a:solidFill>
                  <a:srgbClr val="FAFAFA"/>
                </a:solidFill>
                <a:latin typeface="DM Sans"/>
                <a:ea typeface="DM Sans"/>
                <a:cs typeface="DM Sans"/>
              </a:defRPr>
            </a:lvl2pPr>
            <a:lvl3pPr algn="l">
              <a:defRPr sz="1875" b="0">
                <a:solidFill>
                  <a:srgbClr val="FAFAFA"/>
                </a:solidFill>
                <a:latin typeface="DM Sans"/>
                <a:ea typeface="DM Sans"/>
                <a:cs typeface="DM Sans"/>
              </a:defRPr>
            </a:lvl3pPr>
            <a:lvl4pPr algn="l">
              <a:defRPr sz="1875" b="0">
                <a:solidFill>
                  <a:srgbClr val="FAFAFA"/>
                </a:solidFill>
                <a:latin typeface="DM Sans"/>
                <a:ea typeface="DM Sans"/>
                <a:cs typeface="DM Sans"/>
              </a:defRPr>
            </a:lvl4pPr>
            <a:lvl5pPr algn="l">
              <a:defRPr sz="1875" b="0">
                <a:solidFill>
                  <a:srgbClr val="FAFAFA"/>
                </a:solidFill>
                <a:latin typeface="DM Sans"/>
                <a:ea typeface="DM Sans"/>
                <a:cs typeface="DM Sans"/>
              </a:defRPr>
            </a:lvl5pPr>
            <a:lvl6pPr algn="l">
              <a:defRPr sz="1875" b="0">
                <a:solidFill>
                  <a:srgbClr val="FAFAFA"/>
                </a:solidFill>
                <a:latin typeface="DM Sans"/>
                <a:ea typeface="DM Sans"/>
                <a:cs typeface="DM Sans"/>
              </a:defRPr>
            </a:lvl6pPr>
            <a:lvl7pPr algn="l">
              <a:defRPr sz="1875" b="0">
                <a:solidFill>
                  <a:srgbClr val="FAFAFA"/>
                </a:solidFill>
                <a:latin typeface="DM Sans"/>
                <a:ea typeface="DM Sans"/>
                <a:cs typeface="DM Sans"/>
              </a:defRPr>
            </a:lvl7pPr>
            <a:lvl8pPr algn="l">
              <a:defRPr sz="1875" b="0">
                <a:solidFill>
                  <a:srgbClr val="FAFAFA"/>
                </a:solidFill>
                <a:latin typeface="DM Sans"/>
                <a:ea typeface="DM Sans"/>
                <a:cs typeface="DM Sans"/>
              </a:defRPr>
            </a:lvl8pPr>
            <a:lvl9pPr algn="l">
              <a:defRPr sz="1875" b="0">
                <a:solidFill>
                  <a:srgbClr val="FAFAFA"/>
                </a:solidFill>
                <a:latin typeface="DM Sans"/>
                <a:ea typeface="DM Sans"/>
                <a:cs typeface="DM Sans"/>
              </a:defRPr>
            </a:lvl9pPr>
          </a:lstStyle>
          <a:p xmlns:a="http://schemas.openxmlformats.org/drawingml/2006/main">
            <a:pPr algn="l">
              <a:defRPr sz="1875" b="0">
                <a:solidFill>
                  <a:srgbClr val="FAFAFA"/>
                </a:solidFill>
                <a:latin typeface="DM Sans"/>
                <a:ea typeface="DM Sans"/>
                <a:cs typeface="DM Sans"/>
              </a:defRPr>
            </a:pPr>
            <a:r>
              <a:rPr sz="1875" b="0">
                <a:solidFill>
                  <a:srgbClr val="FAFAFA"/>
                </a:solidFill>
                <a:latin typeface="DM Sans"/>
                <a:ea typeface="DM Sans"/>
                <a:cs typeface="DM Sans"/>
              </a:rPr>
              <a:t>Compare the trace. Then test it against</a:t>
            </a:r>
          </a:p>
          <a:p xmlns:a="http://schemas.openxmlformats.org/drawingml/2006/main">
            <a:pPr algn="l">
              <a:defRPr sz="1875" b="0">
                <a:solidFill>
                  <a:srgbClr val="FAFAFA"/>
                </a:solidFill>
                <a:latin typeface="DM Sans"/>
                <a:ea typeface="DM Sans"/>
                <a:cs typeface="DM Sans"/>
              </a:defRPr>
            </a:pPr>
            <a:r>
              <a:rPr sz="1875" b="0">
                <a:solidFill>
                  <a:srgbClr val="FAFAFA"/>
                </a:solidFill>
                <a:latin typeface="DM Sans"/>
                <a:ea typeface="DM Sans"/>
                <a:cs typeface="DM Sans"/>
              </a:rPr>
              <a:t>completed assignments and unsold cases.</a:t>
            </a:r>
          </a:p>
        </p:txBody>
      </p:sp>
      <p:sp>
        <p:nvSpPr>
          <p:cNvPr id="12" name="">
            <a:extLst xmlns:a="http://schemas.openxmlformats.org/drawingml/2006/main">
              <a:ext uri="{FF2B5EF4-FFF2-40B4-BE49-F238E27FC236}">
                <a16:creationId xmlns:a16="http://schemas.microsoft.com/office/drawing/2014/main" id="{056D7ECE-6A9A-4B59-B143-0055C92558FF}"/>
              </a:ext>
            </a:extLst>
          </p:cNvPr>
          <p:cNvSpPr>
            <a:spLocks xmlns:a="http://schemas.openxmlformats.org/drawingml/2006/main" noGrp="1"/>
          </p:cNvSpPr>
          <p:nvPr/>
        </p:nvSpPr>
        <p:spPr>
          <a:xfrm xmlns:a="http://schemas.openxmlformats.org/drawingml/2006/main">
            <a:off x="400050" y="5276850"/>
            <a:ext cx="1438275" cy="257175"/>
          </a:xfrm>
          <a:prstGeom xmlns:a="http://schemas.openxmlformats.org/drawingml/2006/main" prst="roundRect">
            <a:avLst>
              <a:gd name="adj" fmla="val 50000"/>
            </a:avLst>
          </a:prstGeom>
          <a:noFill xmlns:a="http://schemas.openxmlformats.org/drawingml/2006/main"/>
          <a:ln xmlns:a="http://schemas.openxmlformats.org/drawingml/2006/main" w="6668">
            <a:solidFill>
              <a:srgbClr val="FAFAFA"/>
            </a:solidFill>
            <a:prstDash val="solid"/>
          </a:ln>
        </p:spPr>
      </p:sp>
      <p:sp>
        <p:nvSpPr>
          <p:cNvPr id="13" name="">
            <a:extLst xmlns:a="http://schemas.openxmlformats.org/drawingml/2006/main">
              <a:ext uri="{FF2B5EF4-FFF2-40B4-BE49-F238E27FC236}">
                <a16:creationId xmlns:a16="http://schemas.microsoft.com/office/drawing/2014/main" id="{B8E1DD50-B149-4C4F-81A1-B8AE09E63BD3}"/>
              </a:ext>
            </a:extLst>
          </p:cNvPr>
          <p:cNvSpPr>
            <a:spLocks xmlns:a="http://schemas.openxmlformats.org/drawingml/2006/main" noGrp="1"/>
          </p:cNvSpPr>
          <p:nvPr/>
        </p:nvSpPr>
        <p:spPr>
          <a:xfrm xmlns:a="http://schemas.openxmlformats.org/drawingml/2006/main" rot="0">
            <a:off x="495300" y="5324475"/>
            <a:ext cx="1228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Live demonstration</a:t>
            </a:r>
          </a:p>
        </p:txBody>
      </p:sp>
      <p:sp>
        <p:nvSpPr>
          <p:cNvPr id="14" name="">
            <a:extLst xmlns:a="http://schemas.openxmlformats.org/drawingml/2006/main">
              <a:ext uri="{FF2B5EF4-FFF2-40B4-BE49-F238E27FC236}">
                <a16:creationId xmlns:a16="http://schemas.microsoft.com/office/drawing/2014/main" id="{E34C054C-8DD6-4680-B0F9-77E09736672C}"/>
              </a:ext>
            </a:extLst>
          </p:cNvPr>
          <p:cNvSpPr>
            <a:spLocks xmlns:a="http://schemas.openxmlformats.org/drawingml/2006/main" noGrp="1"/>
          </p:cNvSpPr>
          <p:nvPr/>
        </p:nvSpPr>
        <p:spPr>
          <a:xfrm xmlns:a="http://schemas.openxmlformats.org/drawingml/2006/main" rot="0">
            <a:off x="400050" y="601980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AFAFA"/>
                </a:solidFill>
                <a:latin typeface="DM Sans"/>
                <a:ea typeface="DM Sans"/>
                <a:cs typeface="DM Sans"/>
              </a:defRPr>
            </a:defPPr>
            <a:lvl1pPr algn="l">
              <a:defRPr sz="1050" b="0">
                <a:solidFill>
                  <a:srgbClr val="FAFAFA"/>
                </a:solidFill>
                <a:latin typeface="DM Sans"/>
                <a:ea typeface="DM Sans"/>
                <a:cs typeface="DM Sans"/>
              </a:defRPr>
            </a:lvl1pPr>
            <a:lvl2pPr algn="l">
              <a:defRPr sz="1050" b="0">
                <a:solidFill>
                  <a:srgbClr val="FAFAFA"/>
                </a:solidFill>
                <a:latin typeface="DM Sans"/>
                <a:ea typeface="DM Sans"/>
                <a:cs typeface="DM Sans"/>
              </a:defRPr>
            </a:lvl2pPr>
            <a:lvl3pPr algn="l">
              <a:defRPr sz="1050" b="0">
                <a:solidFill>
                  <a:srgbClr val="FAFAFA"/>
                </a:solidFill>
                <a:latin typeface="DM Sans"/>
                <a:ea typeface="DM Sans"/>
                <a:cs typeface="DM Sans"/>
              </a:defRPr>
            </a:lvl3pPr>
            <a:lvl4pPr algn="l">
              <a:defRPr sz="1050" b="0">
                <a:solidFill>
                  <a:srgbClr val="FAFAFA"/>
                </a:solidFill>
                <a:latin typeface="DM Sans"/>
                <a:ea typeface="DM Sans"/>
                <a:cs typeface="DM Sans"/>
              </a:defRPr>
            </a:lvl4pPr>
            <a:lvl5pPr algn="l">
              <a:defRPr sz="1050" b="0">
                <a:solidFill>
                  <a:srgbClr val="FAFAFA"/>
                </a:solidFill>
                <a:latin typeface="DM Sans"/>
                <a:ea typeface="DM Sans"/>
                <a:cs typeface="DM Sans"/>
              </a:defRPr>
            </a:lvl5pPr>
            <a:lvl6pPr algn="l">
              <a:defRPr sz="1050" b="0">
                <a:solidFill>
                  <a:srgbClr val="FAFAFA"/>
                </a:solidFill>
                <a:latin typeface="DM Sans"/>
                <a:ea typeface="DM Sans"/>
                <a:cs typeface="DM Sans"/>
              </a:defRPr>
            </a:lvl6pPr>
            <a:lvl7pPr algn="l">
              <a:defRPr sz="1050" b="0">
                <a:solidFill>
                  <a:srgbClr val="FAFAFA"/>
                </a:solidFill>
                <a:latin typeface="DM Sans"/>
                <a:ea typeface="DM Sans"/>
                <a:cs typeface="DM Sans"/>
              </a:defRPr>
            </a:lvl7pPr>
            <a:lvl8pPr algn="l">
              <a:defRPr sz="1050" b="0">
                <a:solidFill>
                  <a:srgbClr val="FAFAFA"/>
                </a:solidFill>
                <a:latin typeface="DM Sans"/>
                <a:ea typeface="DM Sans"/>
                <a:cs typeface="DM Sans"/>
              </a:defRPr>
            </a:lvl8pPr>
            <a:lvl9pPr algn="l">
              <a:defRPr sz="1050" b="0">
                <a:solidFill>
                  <a:srgbClr val="FAFAFA"/>
                </a:solidFill>
                <a:latin typeface="DM Sans"/>
                <a:ea typeface="DM Sans"/>
                <a:cs typeface="DM Sans"/>
              </a:defRPr>
            </a:lvl9pPr>
          </a:lstStyle>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Financial outputs are hypothetical.</a:t>
            </a:r>
          </a:p>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The pilot event adjustment did not beat baseline.</a:t>
            </a:r>
          </a:p>
        </p:txBody>
      </p:sp>
      <p:sp>
        <p:nvSpPr>
          <p:cNvPr id="15" name="">
            <a:extLst xmlns:a="http://schemas.openxmlformats.org/drawingml/2006/main">
              <a:ext uri="{FF2B5EF4-FFF2-40B4-BE49-F238E27FC236}">
                <a16:creationId xmlns:a16="http://schemas.microsoft.com/office/drawing/2014/main" id="{64A010B1-0507-40FD-A3B6-91450875A6D4}"/>
              </a:ext>
            </a:extLst>
          </p:cNvPr>
          <p:cNvSpPr>
            <a:spLocks xmlns:a="http://schemas.openxmlformats.org/drawingml/2006/main" noGrp="1"/>
          </p:cNvSpPr>
          <p:nvPr/>
        </p:nvSpPr>
        <p:spPr>
          <a:xfrm xmlns:a="http://schemas.openxmlformats.org/drawingml/2006/main" rot="0">
            <a:off x="400050" y="6486525"/>
            <a:ext cx="10953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Imagery: Esri, Maxar, Earthstar Geographics. Terrain: Mapzen.</a:t>
            </a:r>
          </a:p>
        </p:txBody>
      </p:sp>
    </p:spTree>
    <p:extLst>
      <p:ext uri="{BB962C8B-B14F-4D97-AF65-F5344CB8AC3E}">
        <p14:creationId xmlns:p14="http://schemas.microsoft.com/office/powerpoint/2010/main" val="181066906"/>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FD4E04E-99F1-44DB-B81C-A302256C6E60}"/>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8439508A-3D88-4DE8-94DB-C37C3AE47E22}"/>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537DB2E1-12FB-438A-8E11-FC89D71ACCBF}"/>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64D70419-486E-43B0-B135-04F27C044353}"/>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0CEF6CDA-1F35-4FA4-9F9F-EB39CF8AFA55}"/>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D7A1A1D4-F3ED-465F-B5BD-2F9BFFB633F9}"/>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Appendix</a:t>
            </a:r>
          </a:p>
        </p:txBody>
      </p:sp>
      <p:sp>
        <p:nvSpPr>
          <p:cNvPr id="7" name="">
            <a:extLst xmlns:a="http://schemas.openxmlformats.org/drawingml/2006/main">
              <a:ext uri="{FF2B5EF4-FFF2-40B4-BE49-F238E27FC236}">
                <a16:creationId xmlns:a16="http://schemas.microsoft.com/office/drawing/2014/main" id="{A357C55E-734B-4E1D-A6DD-CAD21E6E6463}"/>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E2DA9F3D-F61E-48FD-9819-F447F30CEDBB}"/>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Baseline cash and option return at 90 days</a:t>
            </a:r>
          </a:p>
        </p:txBody>
      </p:sp>
      <p:sp>
        <p:nvSpPr>
          <p:cNvPr id="9" name="">
            <a:extLst xmlns:a="http://schemas.openxmlformats.org/drawingml/2006/main">
              <a:ext uri="{FF2B5EF4-FFF2-40B4-BE49-F238E27FC236}">
                <a16:creationId xmlns:a16="http://schemas.microsoft.com/office/drawing/2014/main" id="{3FBFD950-3B6B-4DA6-9889-E17D0FB53523}"/>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Hypothetical cash branches after all entry and exit costs. All amounts USD.</a:t>
            </a:r>
          </a:p>
        </p:txBody>
      </p:sp>
      <p:graphicFrame>
        <p:nvGraphicFramePr>
          <p:cNvPr id="10" name="">
            <a:extLst xmlns:a="http://schemas.openxmlformats.org/drawingml/2006/main">
              <a:ext uri="{FF2B5EF4-FFF2-40B4-BE49-F238E27FC236}">
                <a16:creationId xmlns:a16="http://schemas.microsoft.com/office/drawing/2014/main" id="{146E47F5-BF63-4CBD-8F9B-B5434ED60C05}"/>
              </a:ext>
            </a:extLst>
          </p:cNvPr>
          <p:cNvGraphicFramePr/>
          <p:nvPr/>
        </p:nvGraphicFramePr>
        <p:xfrm>
          <a:off xmlns:a="http://schemas.openxmlformats.org/drawingml/2006/main" x="381000" y="1609725"/>
          <a:ext xmlns:a="http://schemas.openxmlformats.org/drawingml/2006/main" cx="11410950" cy="2286000"/>
        </p:xfrm>
        <a:graphic xmlns:a="http://schemas.openxmlformats.org/drawingml/2006/main">
          <a:graphicData uri="http://schemas.openxmlformats.org/drawingml/2006/table">
            <a:tbl>
              <a:tblPr firstRow="1" bandRow="0"/>
              <a:tblGrid>
                <a:gridCol w="5143500"/>
                <a:gridCol w="2000250"/>
                <a:gridCol w="2000250"/>
                <a:gridCol w="2266950"/>
              </a:tblGrid>
              <a:tr h="571500">
                <a:tc>
                  <a:txBody>
                    <a:bodyPr lIns="171450" tIns="95250" rIns="171450" bIns="95250">
                      <a:noAutofit/>
                    </a:bodyPr>
                    <a:lstStyle/>
                    <a:p>
                      <a:r>
                        <a:rPr sz="1050" b="0">
                          <a:solidFill>
                            <a:srgbClr val="FAFAFA"/>
                          </a:solidFill>
                          <a:latin typeface="DM Sans"/>
                          <a:ea typeface="DM Sans"/>
                          <a:cs typeface="DM Sans"/>
                        </a:rPr>
                        <a:t>Outcome by day 90</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Probability</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Net cash</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Weighted cash</a:t>
                      </a:r>
                    </a:p>
                  </a:txBody>
                  <a:tcPr marL="91440" marR="91440" marT="45720" marB="45720" anchor="ctr">
                    <a:lnR w="0">
                      <a:noFill/>
                      <a:prstDash val="solid"/>
                    </a:lnR>
                    <a:lnT w="0">
                      <a:noFill/>
                      <a:prstDash val="solid"/>
                    </a:lnT>
                    <a:lnB w="0">
                      <a:noFill/>
                      <a:prstDash val="solid"/>
                    </a:lnB>
                    <a:solidFill>
                      <a:srgbClr val="0A0A0A"/>
                    </a:solidFill>
                  </a:tcPr>
                </a:tc>
              </a:tr>
              <a:tr h="571500">
                <a:tc>
                  <a:txBody>
                    <a:bodyPr lIns="171450" tIns="95250" rIns="171450" bIns="95250">
                      <a:noAutofit/>
                    </a:bodyPr>
                    <a:lstStyle/>
                    <a:p>
                      <a:r>
                        <a:rPr sz="1350" b="0">
                          <a:solidFill>
                            <a:srgbClr val="0A0A0A"/>
                          </a:solidFill>
                          <a:latin typeface="DM Sans"/>
                          <a:ea typeface="DM Sans"/>
                          <a:cs typeface="DM Sans"/>
                        </a:rPr>
                        <a:t>Sale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48.8%</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+$750.00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+$366.00</a:t>
                      </a:r>
                    </a:p>
                  </a:txBody>
                  <a:tcPr marL="91440" marR="91440" marT="45720" marB="45720" anchor="ctr">
                    <a:lnR w="0">
                      <a:noFill/>
                      <a:prstDash val="solid"/>
                    </a:lnR>
                    <a:lnB w="0">
                      <a:noFill/>
                      <a:prstDash val="solid"/>
                    </a:lnB>
                    <a:solidFill>
                      <a:srgbClr val="FAFAFA"/>
                    </a:solidFill>
                  </a:tcPr>
                </a:tc>
              </a:tr>
              <a:tr h="571500">
                <a:tc>
                  <a:txBody>
                    <a:bodyPr lIns="171450" tIns="95250" rIns="171450" bIns="95250">
                      <a:noAutofit/>
                    </a:bodyPr>
                    <a:lstStyle/>
                    <a:p>
                      <a:r>
                        <a:rPr sz="1350" b="0">
                          <a:solidFill>
                            <a:srgbClr val="0A0A0A"/>
                          </a:solidFill>
                          <a:latin typeface="DM Sans"/>
                          <a:ea typeface="DM Sans"/>
                          <a:cs typeface="DM Sans"/>
                        </a:rPr>
                        <a:t>No sale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51.2%</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−$700.00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−$358.40</a:t>
                      </a:r>
                    </a:p>
                  </a:txBody>
                  <a:tcPr marL="91440" marR="91440" marT="45720" marB="45720" anchor="ctr">
                    <a:lnR w="0">
                      <a:noFill/>
                      <a:prstDash val="solid"/>
                    </a:lnR>
                    <a:lnB w="0">
                      <a:noFill/>
                      <a:prstDash val="solid"/>
                    </a:lnB>
                    <a:solidFill>
                      <a:srgbClr val="FAFAFA"/>
                    </a:solidFill>
                  </a:tcPr>
                </a:tc>
              </a:tr>
              <a:tr h="571500">
                <a:tc>
                  <a:txBody>
                    <a:bodyPr lIns="171450" tIns="95250" rIns="171450" bIns="95250">
                      <a:noAutofit/>
                    </a:bodyPr>
                    <a:lstStyle/>
                    <a:p>
                      <a:r>
                        <a:rPr sz="1350" b="1">
                          <a:solidFill>
                            <a:srgbClr val="0A0A0A"/>
                          </a:solidFill>
                          <a:latin typeface="DM Sans"/>
                          <a:ea typeface="DM Sans"/>
                          <a:cs typeface="DM Sans"/>
                        </a:rPr>
                        <a:t>Expected net cash</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100.0%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+$7.60</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094667DD-5D9B-47CE-877A-B6C6AB089C3C}"/>
              </a:ext>
            </a:extLst>
          </p:cNvPr>
          <p:cNvSpPr>
            <a:spLocks xmlns:a="http://schemas.openxmlformats.org/drawingml/2006/main" noGrp="1"/>
          </p:cNvSpPr>
          <p:nvPr/>
        </p:nvSpPr>
        <p:spPr>
          <a:xfrm xmlns:a="http://schemas.openxmlformats.org/drawingml/2006/main">
            <a:off x="571500" y="3295650"/>
            <a:ext cx="11010900" cy="95"/>
          </a:xfrm>
          <a:custGeom xmlns:a="http://schemas.openxmlformats.org/drawingml/2006/main">
            <a:pathLst>
              <a:path w="11010900" h="95">
                <a:moveTo>
                  <a:pt x="0" y="0"/>
                </a:moveTo>
                <a:lnTo>
                  <a:pt x="11010900" y="0"/>
                </a:lnTo>
              </a:path>
            </a:pathLst>
          </a:custGeom>
          <a:noFill xmlns:a="http://schemas.openxmlformats.org/drawingml/2006/main"/>
          <a:ln xmlns:a="http://schemas.openxmlformats.org/drawingml/2006/main" w="7620">
            <a:solidFill>
              <a:srgbClr val="0A0A0A"/>
            </a:solidFill>
            <a:prstDash val="solid"/>
          </a:ln>
        </p:spPr>
      </p:sp>
      <p:sp>
        <p:nvSpPr>
          <p:cNvPr id="12" name="">
            <a:extLst xmlns:a="http://schemas.openxmlformats.org/drawingml/2006/main">
              <a:ext uri="{FF2B5EF4-FFF2-40B4-BE49-F238E27FC236}">
                <a16:creationId xmlns:a16="http://schemas.microsoft.com/office/drawing/2014/main" id="{76DE2DDB-622A-4ACF-B7EC-6965883CE226}"/>
              </a:ext>
            </a:extLst>
          </p:cNvPr>
          <p:cNvSpPr>
            <a:spLocks xmlns:a="http://schemas.openxmlformats.org/drawingml/2006/main" noGrp="1"/>
          </p:cNvSpPr>
          <p:nvPr/>
        </p:nvSpPr>
        <p:spPr>
          <a:xfrm xmlns:a="http://schemas.openxmlformats.org/drawingml/2006/main">
            <a:off x="381000" y="389572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3" name="">
            <a:extLst xmlns:a="http://schemas.openxmlformats.org/drawingml/2006/main">
              <a:ext uri="{FF2B5EF4-FFF2-40B4-BE49-F238E27FC236}">
                <a16:creationId xmlns:a16="http://schemas.microsoft.com/office/drawing/2014/main" id="{6C5EEE35-F471-4978-82E7-689CCDA9B6D2}"/>
              </a:ext>
            </a:extLst>
          </p:cNvPr>
          <p:cNvSpPr>
            <a:spLocks xmlns:a="http://schemas.openxmlformats.org/drawingml/2006/main" noGrp="1"/>
          </p:cNvSpPr>
          <p:nvPr/>
        </p:nvSpPr>
        <p:spPr>
          <a:xfrm xmlns:a="http://schemas.openxmlformats.org/drawingml/2006/main" rot="0">
            <a:off x="571500" y="42481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A0A0A"/>
                </a:solidFill>
                <a:latin typeface="DM Sans"/>
                <a:ea typeface="DM Sans"/>
                <a:cs typeface="DM Sans"/>
              </a:defRPr>
            </a:defPPr>
            <a:lvl1pPr algn="l">
              <a:defRPr sz="1800" b="0">
                <a:solidFill>
                  <a:srgbClr val="0A0A0A"/>
                </a:solidFill>
                <a:latin typeface="DM Sans"/>
                <a:ea typeface="DM Sans"/>
                <a:cs typeface="DM Sans"/>
              </a:defRPr>
            </a:lvl1pPr>
            <a:lvl2pPr algn="l">
              <a:defRPr sz="1800" b="0">
                <a:solidFill>
                  <a:srgbClr val="0A0A0A"/>
                </a:solidFill>
                <a:latin typeface="DM Sans"/>
                <a:ea typeface="DM Sans"/>
                <a:cs typeface="DM Sans"/>
              </a:defRPr>
            </a:lvl2pPr>
            <a:lvl3pPr algn="l">
              <a:defRPr sz="1800" b="0">
                <a:solidFill>
                  <a:srgbClr val="0A0A0A"/>
                </a:solidFill>
                <a:latin typeface="DM Sans"/>
                <a:ea typeface="DM Sans"/>
                <a:cs typeface="DM Sans"/>
              </a:defRPr>
            </a:lvl3pPr>
            <a:lvl4pPr algn="l">
              <a:defRPr sz="1800" b="0">
                <a:solidFill>
                  <a:srgbClr val="0A0A0A"/>
                </a:solidFill>
                <a:latin typeface="DM Sans"/>
                <a:ea typeface="DM Sans"/>
                <a:cs typeface="DM Sans"/>
              </a:defRPr>
            </a:lvl4pPr>
            <a:lvl5pPr algn="l">
              <a:defRPr sz="1800" b="0">
                <a:solidFill>
                  <a:srgbClr val="0A0A0A"/>
                </a:solidFill>
                <a:latin typeface="DM Sans"/>
                <a:ea typeface="DM Sans"/>
                <a:cs typeface="DM Sans"/>
              </a:defRPr>
            </a:lvl5pPr>
            <a:lvl6pPr algn="l">
              <a:defRPr sz="1800" b="0">
                <a:solidFill>
                  <a:srgbClr val="0A0A0A"/>
                </a:solidFill>
                <a:latin typeface="DM Sans"/>
                <a:ea typeface="DM Sans"/>
                <a:cs typeface="DM Sans"/>
              </a:defRPr>
            </a:lvl6pPr>
            <a:lvl7pPr algn="l">
              <a:defRPr sz="1800" b="0">
                <a:solidFill>
                  <a:srgbClr val="0A0A0A"/>
                </a:solidFill>
                <a:latin typeface="DM Sans"/>
                <a:ea typeface="DM Sans"/>
                <a:cs typeface="DM Sans"/>
              </a:defRPr>
            </a:lvl7pPr>
            <a:lvl8pPr algn="l">
              <a:defRPr sz="1800" b="0">
                <a:solidFill>
                  <a:srgbClr val="0A0A0A"/>
                </a:solidFill>
                <a:latin typeface="DM Sans"/>
                <a:ea typeface="DM Sans"/>
                <a:cs typeface="DM Sans"/>
              </a:defRPr>
            </a:lvl8pPr>
            <a:lvl9pPr algn="l">
              <a:defRPr sz="1800" b="0">
                <a:solidFill>
                  <a:srgbClr val="0A0A0A"/>
                </a:solidFill>
                <a:latin typeface="DM Sans"/>
                <a:ea typeface="DM Sans"/>
                <a:cs typeface="DM Sans"/>
              </a:defRPr>
            </a:lvl9pPr>
          </a:lstStyle>
          <a:p xmlns:a="http://schemas.openxmlformats.org/drawingml/2006/main">
            <a:pPr algn="l">
              <a:defRPr sz="1800" b="0">
                <a:solidFill>
                  <a:srgbClr val="0A0A0A"/>
                </a:solidFill>
                <a:latin typeface="DM Sans"/>
                <a:ea typeface="DM Sans"/>
                <a:cs typeface="DM Sans"/>
              </a:defRPr>
            </a:pPr>
            <a:r>
              <a:rPr sz="1800" b="0">
                <a:solidFill>
                  <a:srgbClr val="0A0A0A"/>
                </a:solidFill>
                <a:latin typeface="DM Sans"/>
                <a:ea typeface="DM Sans"/>
                <a:cs typeface="DM Sans"/>
              </a:rPr>
              <a:t>0.488 × $750 + 0.512 × (−$700) = $7.60</a:t>
            </a:r>
          </a:p>
        </p:txBody>
      </p:sp>
      <p:sp>
        <p:nvSpPr>
          <p:cNvPr id="14" name="">
            <a:extLst xmlns:a="http://schemas.openxmlformats.org/drawingml/2006/main">
              <a:ext uri="{FF2B5EF4-FFF2-40B4-BE49-F238E27FC236}">
                <a16:creationId xmlns:a16="http://schemas.microsoft.com/office/drawing/2014/main" id="{175CEF4A-D382-47EF-A5FD-B4261455EAE9}"/>
              </a:ext>
            </a:extLst>
          </p:cNvPr>
          <p:cNvSpPr>
            <a:spLocks xmlns:a="http://schemas.openxmlformats.org/drawingml/2006/main" noGrp="1"/>
          </p:cNvSpPr>
          <p:nvPr/>
        </p:nvSpPr>
        <p:spPr>
          <a:xfrm xmlns:a="http://schemas.openxmlformats.org/drawingml/2006/main" rot="0">
            <a:off x="571500" y="47529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0A0A0A"/>
                </a:solidFill>
                <a:latin typeface="DM Sans"/>
                <a:ea typeface="DM Sans"/>
                <a:cs typeface="DM Sans"/>
              </a:defRPr>
            </a:defPPr>
            <a:lvl1pPr algn="l">
              <a:defRPr sz="1500" b="0">
                <a:solidFill>
                  <a:srgbClr val="0A0A0A"/>
                </a:solidFill>
                <a:latin typeface="DM Sans"/>
                <a:ea typeface="DM Sans"/>
                <a:cs typeface="DM Sans"/>
              </a:defRPr>
            </a:lvl1pPr>
            <a:lvl2pPr algn="l">
              <a:defRPr sz="1500" b="0">
                <a:solidFill>
                  <a:srgbClr val="0A0A0A"/>
                </a:solidFill>
                <a:latin typeface="DM Sans"/>
                <a:ea typeface="DM Sans"/>
                <a:cs typeface="DM Sans"/>
              </a:defRPr>
            </a:lvl2pPr>
            <a:lvl3pPr algn="l">
              <a:defRPr sz="1500" b="0">
                <a:solidFill>
                  <a:srgbClr val="0A0A0A"/>
                </a:solidFill>
                <a:latin typeface="DM Sans"/>
                <a:ea typeface="DM Sans"/>
                <a:cs typeface="DM Sans"/>
              </a:defRPr>
            </a:lvl3pPr>
            <a:lvl4pPr algn="l">
              <a:defRPr sz="1500" b="0">
                <a:solidFill>
                  <a:srgbClr val="0A0A0A"/>
                </a:solidFill>
                <a:latin typeface="DM Sans"/>
                <a:ea typeface="DM Sans"/>
                <a:cs typeface="DM Sans"/>
              </a:defRPr>
            </a:lvl4pPr>
            <a:lvl5pPr algn="l">
              <a:defRPr sz="1500" b="0">
                <a:solidFill>
                  <a:srgbClr val="0A0A0A"/>
                </a:solidFill>
                <a:latin typeface="DM Sans"/>
                <a:ea typeface="DM Sans"/>
                <a:cs typeface="DM Sans"/>
              </a:defRPr>
            </a:lvl5pPr>
            <a:lvl6pPr algn="l">
              <a:defRPr sz="1500" b="0">
                <a:solidFill>
                  <a:srgbClr val="0A0A0A"/>
                </a:solidFill>
                <a:latin typeface="DM Sans"/>
                <a:ea typeface="DM Sans"/>
                <a:cs typeface="DM Sans"/>
              </a:defRPr>
            </a:lvl6pPr>
            <a:lvl7pPr algn="l">
              <a:defRPr sz="1500" b="0">
                <a:solidFill>
                  <a:srgbClr val="0A0A0A"/>
                </a:solidFill>
                <a:latin typeface="DM Sans"/>
                <a:ea typeface="DM Sans"/>
                <a:cs typeface="DM Sans"/>
              </a:defRPr>
            </a:lvl7pPr>
            <a:lvl8pPr algn="l">
              <a:defRPr sz="1500" b="0">
                <a:solidFill>
                  <a:srgbClr val="0A0A0A"/>
                </a:solidFill>
                <a:latin typeface="DM Sans"/>
                <a:ea typeface="DM Sans"/>
                <a:cs typeface="DM Sans"/>
              </a:defRPr>
            </a:lvl8pPr>
            <a:lvl9pPr algn="l">
              <a:defRPr sz="1500" b="0">
                <a:solidFill>
                  <a:srgbClr val="0A0A0A"/>
                </a:solidFill>
                <a:latin typeface="DM Sans"/>
                <a:ea typeface="DM Sans"/>
                <a:cs typeface="DM Sans"/>
              </a:defRPr>
            </a:lvl9pPr>
          </a:lstStyle>
          <a:p xmlns:a="http://schemas.openxmlformats.org/drawingml/2006/main">
            <a:pPr algn="l">
              <a:defRPr sz="1500" b="0">
                <a:solidFill>
                  <a:srgbClr val="0A0A0A"/>
                </a:solidFill>
                <a:latin typeface="DM Sans"/>
                <a:ea typeface="DM Sans"/>
                <a:cs typeface="DM Sans"/>
              </a:defRPr>
            </a:pPr>
            <a:r>
              <a:rPr sz="1500" b="0">
                <a:solidFill>
                  <a:srgbClr val="0A0A0A"/>
                </a:solidFill>
                <a:latin typeface="DM Sans"/>
                <a:ea typeface="DM Sans"/>
                <a:cs typeface="DM Sans"/>
              </a:rPr>
              <a:t>Expected option return: $7.60 / $700 = 1.09%, non-annualized.</a:t>
            </a:r>
          </a:p>
        </p:txBody>
      </p:sp>
      <p:sp>
        <p:nvSpPr>
          <p:cNvPr id="15" name="">
            <a:extLst xmlns:a="http://schemas.openxmlformats.org/drawingml/2006/main">
              <a:ext uri="{FF2B5EF4-FFF2-40B4-BE49-F238E27FC236}">
                <a16:creationId xmlns:a16="http://schemas.microsoft.com/office/drawing/2014/main" id="{24EC14D4-9D66-4C99-A7AA-7302CB385D8F}"/>
              </a:ext>
            </a:extLst>
          </p:cNvPr>
          <p:cNvSpPr>
            <a:spLocks xmlns:a="http://schemas.openxmlformats.org/drawingml/2006/main" noGrp="1"/>
          </p:cNvSpPr>
          <p:nvPr/>
        </p:nvSpPr>
        <p:spPr>
          <a:xfrm xmlns:a="http://schemas.openxmlformats.org/drawingml/2006/main" rot="0">
            <a:off x="571500" y="5286375"/>
            <a:ext cx="1066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0A0A0A"/>
                </a:solidFill>
                <a:latin typeface="DM Sans"/>
                <a:ea typeface="DM Sans"/>
                <a:cs typeface="DM Sans"/>
              </a:defRPr>
            </a:defPPr>
            <a:lvl1pPr algn="l">
              <a:defRPr sz="1275" b="0">
                <a:solidFill>
                  <a:srgbClr val="0A0A0A"/>
                </a:solidFill>
                <a:latin typeface="DM Sans"/>
                <a:ea typeface="DM Sans"/>
                <a:cs typeface="DM Sans"/>
              </a:defRPr>
            </a:lvl1pPr>
            <a:lvl2pPr algn="l">
              <a:defRPr sz="1275" b="0">
                <a:solidFill>
                  <a:srgbClr val="0A0A0A"/>
                </a:solidFill>
                <a:latin typeface="DM Sans"/>
                <a:ea typeface="DM Sans"/>
                <a:cs typeface="DM Sans"/>
              </a:defRPr>
            </a:lvl2pPr>
            <a:lvl3pPr algn="l">
              <a:defRPr sz="1275" b="0">
                <a:solidFill>
                  <a:srgbClr val="0A0A0A"/>
                </a:solidFill>
                <a:latin typeface="DM Sans"/>
                <a:ea typeface="DM Sans"/>
                <a:cs typeface="DM Sans"/>
              </a:defRPr>
            </a:lvl3pPr>
            <a:lvl4pPr algn="l">
              <a:defRPr sz="1275" b="0">
                <a:solidFill>
                  <a:srgbClr val="0A0A0A"/>
                </a:solidFill>
                <a:latin typeface="DM Sans"/>
                <a:ea typeface="DM Sans"/>
                <a:cs typeface="DM Sans"/>
              </a:defRPr>
            </a:lvl4pPr>
            <a:lvl5pPr algn="l">
              <a:defRPr sz="1275" b="0">
                <a:solidFill>
                  <a:srgbClr val="0A0A0A"/>
                </a:solidFill>
                <a:latin typeface="DM Sans"/>
                <a:ea typeface="DM Sans"/>
                <a:cs typeface="DM Sans"/>
              </a:defRPr>
            </a:lvl5pPr>
            <a:lvl6pPr algn="l">
              <a:defRPr sz="1275" b="0">
                <a:solidFill>
                  <a:srgbClr val="0A0A0A"/>
                </a:solidFill>
                <a:latin typeface="DM Sans"/>
                <a:ea typeface="DM Sans"/>
                <a:cs typeface="DM Sans"/>
              </a:defRPr>
            </a:lvl6pPr>
            <a:lvl7pPr algn="l">
              <a:defRPr sz="1275" b="0">
                <a:solidFill>
                  <a:srgbClr val="0A0A0A"/>
                </a:solidFill>
                <a:latin typeface="DM Sans"/>
                <a:ea typeface="DM Sans"/>
                <a:cs typeface="DM Sans"/>
              </a:defRPr>
            </a:lvl7pPr>
            <a:lvl8pPr algn="l">
              <a:defRPr sz="1275" b="0">
                <a:solidFill>
                  <a:srgbClr val="0A0A0A"/>
                </a:solidFill>
                <a:latin typeface="DM Sans"/>
                <a:ea typeface="DM Sans"/>
                <a:cs typeface="DM Sans"/>
              </a:defRPr>
            </a:lvl8pPr>
            <a:lvl9pPr algn="l">
              <a:defRPr sz="1275" b="0">
                <a:solidFill>
                  <a:srgbClr val="0A0A0A"/>
                </a:solidFill>
                <a:latin typeface="DM Sans"/>
                <a:ea typeface="DM Sans"/>
                <a:cs typeface="DM Sans"/>
              </a:defRPr>
            </a:lvl9pPr>
          </a:lstStyle>
          <a:p xmlns:a="http://schemas.openxmlformats.org/drawingml/2006/main">
            <a:pPr algn="l">
              <a:defRPr sz="1275" b="0">
                <a:solidFill>
                  <a:srgbClr val="0A0A0A"/>
                </a:solidFill>
                <a:latin typeface="DM Sans"/>
                <a:ea typeface="DM Sans"/>
                <a:cs typeface="DM Sans"/>
              </a:defRPr>
            </a:pPr>
            <a:r>
              <a:rPr sz="1275" b="0">
                <a:solidFill>
                  <a:srgbClr val="0A0A0A"/>
                </a:solidFill>
                <a:latin typeface="DM Sans"/>
                <a:ea typeface="DM Sans"/>
                <a:cs typeface="DM Sans"/>
              </a:rPr>
              <a:t>Median cash: −$700. Break-even premium: $657.60.</a:t>
            </a:r>
          </a:p>
          <a:p xmlns:a="http://schemas.openxmlformats.org/drawingml/2006/main">
            <a:pPr algn="l">
              <a:defRPr sz="1275" b="0">
                <a:solidFill>
                  <a:srgbClr val="0A0A0A"/>
                </a:solidFill>
                <a:latin typeface="DM Sans"/>
                <a:ea typeface="DM Sans"/>
                <a:cs typeface="DM Sans"/>
              </a:defRPr>
            </a:pPr>
            <a:r>
              <a:rPr sz="1275" b="0">
                <a:solidFill>
                  <a:srgbClr val="0A0A0A"/>
                </a:solidFill>
                <a:latin typeface="DM Sans"/>
                <a:ea typeface="DM Sans"/>
                <a:cs typeface="DM Sans"/>
              </a:rPr>
              <a:t>A $660 premium changes expected cash to −$2.40 and the decision to skip.</a:t>
            </a:r>
          </a:p>
        </p:txBody>
      </p:sp>
    </p:spTree>
    <p:extLst>
      <p:ext uri="{BB962C8B-B14F-4D97-AF65-F5344CB8AC3E}">
        <p14:creationId xmlns:p14="http://schemas.microsoft.com/office/powerpoint/2010/main" val="312805855"/>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B452D96-7B5B-4DB8-907C-D36B454AEE2F}"/>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98C2A3C1-2377-45EC-9633-59E7F82D1AEC}"/>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21CD1EA6-885A-40C4-A76F-5F55527A3C5D}"/>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4C58E129-B777-4492-96AE-81E0B55C29F0}"/>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242A0731-21FC-4C94-B101-09B7B22867DF}"/>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5DD3B98B-231B-4259-B530-C6219327CC34}"/>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Appendix</a:t>
            </a:r>
          </a:p>
        </p:txBody>
      </p:sp>
      <p:sp>
        <p:nvSpPr>
          <p:cNvPr id="7" name="">
            <a:extLst xmlns:a="http://schemas.openxmlformats.org/drawingml/2006/main">
              <a:ext uri="{FF2B5EF4-FFF2-40B4-BE49-F238E27FC236}">
                <a16:creationId xmlns:a16="http://schemas.microsoft.com/office/drawing/2014/main" id="{729EDA88-F7D1-436D-A3C7-24C2767EFC9E}"/>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B5FA6BE7-8D5C-4367-8072-D2A5F6E96DC0}"/>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Historical pilot: the event adjustment did not beat baseline</a:t>
            </a:r>
          </a:p>
        </p:txBody>
      </p:sp>
      <p:sp>
        <p:nvSpPr>
          <p:cNvPr id="9" name="">
            <a:extLst xmlns:a="http://schemas.openxmlformats.org/drawingml/2006/main">
              <a:ext uri="{FF2B5EF4-FFF2-40B4-BE49-F238E27FC236}">
                <a16:creationId xmlns:a16="http://schemas.microsoft.com/office/drawing/2014/main" id="{F8643F1E-B2C0-4FD6-B61E-3F01480180A6}"/>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12 selected equity events. Five held-out observations per horizon, in distinct cohorts. Lower MAE is better.</a:t>
            </a:r>
          </a:p>
        </p:txBody>
      </p:sp>
      <p:graphicFrame>
        <p:nvGraphicFramePr>
          <p:cNvPr id="10" name="">
            <a:extLst xmlns:a="http://schemas.openxmlformats.org/drawingml/2006/main">
              <a:ext uri="{FF2B5EF4-FFF2-40B4-BE49-F238E27FC236}">
                <a16:creationId xmlns:a16="http://schemas.microsoft.com/office/drawing/2014/main" id="{99DAFF00-0774-419C-8A9A-7E65986A36C5}"/>
              </a:ext>
            </a:extLst>
          </p:cNvPr>
          <p:cNvGraphicFramePr/>
          <p:nvPr/>
        </p:nvGraphicFramePr>
        <p:xfrm>
          <a:off xmlns:a="http://schemas.openxmlformats.org/drawingml/2006/main" x="381000" y="1609725"/>
          <a:ext xmlns:a="http://schemas.openxmlformats.org/drawingml/2006/main" cx="11410950" cy="2305050"/>
        </p:xfrm>
        <a:graphic xmlns:a="http://schemas.openxmlformats.org/drawingml/2006/main">
          <a:graphicData uri="http://schemas.openxmlformats.org/drawingml/2006/table">
            <a:tbl>
              <a:tblPr firstRow="1" bandRow="0"/>
              <a:tblGrid>
                <a:gridCol w="5143500"/>
                <a:gridCol w="3133725"/>
                <a:gridCol w="3133725"/>
              </a:tblGrid>
              <a:tr h="576263">
                <a:tc>
                  <a:txBody>
                    <a:bodyPr lIns="171450" tIns="95250" rIns="171450" bIns="95250">
                      <a:noAutofit/>
                    </a:bodyPr>
                    <a:lstStyle/>
                    <a:p>
                      <a:r>
                        <a:rPr sz="1050" b="0">
                          <a:solidFill>
                            <a:srgbClr val="FAFAFA"/>
                          </a:solidFill>
                          <a:latin typeface="DM Sans"/>
                          <a:ea typeface="DM Sans"/>
                          <a:cs typeface="DM Sans"/>
                        </a:rPr>
                        <a:t>Model</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5-session MAE (pp)</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20-session MAE (pp)</a:t>
                      </a:r>
                    </a:p>
                  </a:txBody>
                  <a:tcPr marL="91440" marR="91440" marT="45720" marB="45720" anchor="ctr">
                    <a:lnR w="0">
                      <a:noFill/>
                      <a:prstDash val="solid"/>
                    </a:lnR>
                    <a:lnT w="0">
                      <a:noFill/>
                      <a:prstDash val="solid"/>
                    </a:lnT>
                    <a:lnB w="0">
                      <a:noFill/>
                      <a:prstDash val="solid"/>
                    </a:lnB>
                    <a:solidFill>
                      <a:srgbClr val="0A0A0A"/>
                    </a:solidFill>
                  </a:tcPr>
                </a:tc>
              </a:tr>
              <a:tr h="576263">
                <a:tc>
                  <a:txBody>
                    <a:bodyPr lIns="171450" tIns="95250" rIns="171450" bIns="95250">
                      <a:noAutofit/>
                    </a:bodyPr>
                    <a:lstStyle/>
                    <a:p>
                      <a:r>
                        <a:rPr sz="1350" b="0">
                          <a:solidFill>
                            <a:srgbClr val="0A0A0A"/>
                          </a:solidFill>
                          <a:latin typeface="DM Sans"/>
                          <a:ea typeface="DM Sans"/>
                          <a:cs typeface="DM Sans"/>
                        </a:rPr>
                        <a:t>No change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2.5562</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5.9474</a:t>
                      </a:r>
                    </a:p>
                  </a:txBody>
                  <a:tcPr marL="91440" marR="91440" marT="45720" marB="45720" anchor="ctr">
                    <a:lnR w="0">
                      <a:noFill/>
                      <a:prstDash val="solid"/>
                    </a:lnR>
                    <a:lnB w="0">
                      <a:noFill/>
                      <a:prstDash val="solid"/>
                    </a:lnB>
                    <a:solidFill>
                      <a:srgbClr val="FAFAFA"/>
                    </a:solidFill>
                  </a:tcPr>
                </a:tc>
              </a:tr>
              <a:tr h="576263">
                <a:tc>
                  <a:txBody>
                    <a:bodyPr lIns="171450" tIns="95250" rIns="171450" bIns="95250">
                      <a:noAutofit/>
                    </a:bodyPr>
                    <a:lstStyle/>
                    <a:p>
                      <a:r>
                        <a:rPr sz="1350" b="0">
                          <a:solidFill>
                            <a:srgbClr val="0A0A0A"/>
                          </a:solidFill>
                          <a:latin typeface="DM Sans"/>
                          <a:ea typeface="DM Sans"/>
                          <a:cs typeface="DM Sans"/>
                        </a:rPr>
                        <a:t>Gold-only</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3.1291</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7.5670</a:t>
                      </a:r>
                    </a:p>
                  </a:txBody>
                  <a:tcPr marL="91440" marR="91440" marT="45720" marB="45720" anchor="ctr">
                    <a:lnR w="0">
                      <a:noFill/>
                      <a:prstDash val="solid"/>
                    </a:lnR>
                    <a:lnB w="0">
                      <a:noFill/>
                      <a:prstDash val="solid"/>
                    </a:lnB>
                    <a:solidFill>
                      <a:srgbClr val="FAFAFA"/>
                    </a:solidFill>
                  </a:tcPr>
                </a:tc>
              </a:tr>
              <a:tr h="576263">
                <a:tc>
                  <a:txBody>
                    <a:bodyPr lIns="171450" tIns="95250" rIns="171450" bIns="95250">
                      <a:noAutofit/>
                    </a:bodyPr>
                    <a:lstStyle/>
                    <a:p>
                      <a:r>
                        <a:rPr sz="1350" b="0">
                          <a:solidFill>
                            <a:srgbClr val="0A0A0A"/>
                          </a:solidFill>
                          <a:latin typeface="DM Sans"/>
                          <a:ea typeface="DM Sans"/>
                          <a:cs typeface="DM Sans"/>
                        </a:rPr>
                        <a:t>Gold + event</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8.0596</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14.3108</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2670FBA3-AC4E-4742-BCD4-D101285B62C1}"/>
              </a:ext>
            </a:extLst>
          </p:cNvPr>
          <p:cNvSpPr>
            <a:spLocks xmlns:a="http://schemas.openxmlformats.org/drawingml/2006/main" noGrp="1"/>
          </p:cNvSpPr>
          <p:nvPr/>
        </p:nvSpPr>
        <p:spPr>
          <a:xfrm xmlns:a="http://schemas.openxmlformats.org/drawingml/2006/main">
            <a:off x="381000" y="391477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2" name="">
            <a:extLst xmlns:a="http://schemas.openxmlformats.org/drawingml/2006/main">
              <a:ext uri="{FF2B5EF4-FFF2-40B4-BE49-F238E27FC236}">
                <a16:creationId xmlns:a16="http://schemas.microsoft.com/office/drawing/2014/main" id="{0206CD82-D6C2-4D27-B9BD-E3A977E1261D}"/>
              </a:ext>
            </a:extLst>
          </p:cNvPr>
          <p:cNvSpPr>
            <a:spLocks xmlns:a="http://schemas.openxmlformats.org/drawingml/2006/main" noGrp="1"/>
          </p:cNvSpPr>
          <p:nvPr/>
        </p:nvSpPr>
        <p:spPr>
          <a:xfrm xmlns:a="http://schemas.openxmlformats.org/drawingml/2006/main" rot="0">
            <a:off x="571500" y="42672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Retrospective equity component test, not Tok option returns.</a:t>
            </a:r>
          </a:p>
        </p:txBody>
      </p:sp>
      <p:sp>
        <p:nvSpPr>
          <p:cNvPr id="13" name="">
            <a:extLst xmlns:a="http://schemas.openxmlformats.org/drawingml/2006/main">
              <a:ext uri="{FF2B5EF4-FFF2-40B4-BE49-F238E27FC236}">
                <a16:creationId xmlns:a16="http://schemas.microsoft.com/office/drawing/2014/main" id="{10FC24AC-6D05-4625-ADAF-08C5F2AF9689}"/>
              </a:ext>
            </a:extLst>
          </p:cNvPr>
          <p:cNvSpPr>
            <a:spLocks xmlns:a="http://schemas.openxmlformats.org/drawingml/2006/main" noGrp="1"/>
          </p:cNvSpPr>
          <p:nvPr/>
        </p:nvSpPr>
        <p:spPr>
          <a:xfrm xmlns:a="http://schemas.openxmlformats.org/drawingml/2006/main" rot="0">
            <a:off x="571500" y="477202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Event adjustment did not beat baseline.</a:t>
            </a:r>
          </a:p>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No paired historical swarm outcomes.</a:t>
            </a:r>
          </a:p>
        </p:txBody>
      </p:sp>
      <p:sp>
        <p:nvSpPr>
          <p:cNvPr id="14" name="">
            <a:extLst xmlns:a="http://schemas.openxmlformats.org/drawingml/2006/main">
              <a:ext uri="{FF2B5EF4-FFF2-40B4-BE49-F238E27FC236}">
                <a16:creationId xmlns:a16="http://schemas.microsoft.com/office/drawing/2014/main" id="{3A945CC2-1FD7-49C4-AC2C-D314678E2F1B}"/>
              </a:ext>
            </a:extLst>
          </p:cNvPr>
          <p:cNvSpPr>
            <a:spLocks xmlns:a="http://schemas.openxmlformats.org/drawingml/2006/main" noGrp="1"/>
          </p:cNvSpPr>
          <p:nvPr/>
        </p:nvSpPr>
        <p:spPr>
          <a:xfrm xmlns:a="http://schemas.openxmlformats.org/drawingml/2006/main" rot="0">
            <a:off x="571500" y="5648325"/>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737373"/>
                </a:solidFill>
                <a:latin typeface="DM Sans"/>
                <a:ea typeface="DM Sans"/>
                <a:cs typeface="DM Sans"/>
              </a:defRPr>
            </a:defPPr>
            <a:lvl1pPr algn="l">
              <a:defRPr sz="1125" b="0">
                <a:solidFill>
                  <a:srgbClr val="737373"/>
                </a:solidFill>
                <a:latin typeface="DM Sans"/>
                <a:ea typeface="DM Sans"/>
                <a:cs typeface="DM Sans"/>
              </a:defRPr>
            </a:lvl1pPr>
            <a:lvl2pPr algn="l">
              <a:defRPr sz="1125" b="0">
                <a:solidFill>
                  <a:srgbClr val="737373"/>
                </a:solidFill>
                <a:latin typeface="DM Sans"/>
                <a:ea typeface="DM Sans"/>
                <a:cs typeface="DM Sans"/>
              </a:defRPr>
            </a:lvl2pPr>
            <a:lvl3pPr algn="l">
              <a:defRPr sz="1125" b="0">
                <a:solidFill>
                  <a:srgbClr val="737373"/>
                </a:solidFill>
                <a:latin typeface="DM Sans"/>
                <a:ea typeface="DM Sans"/>
                <a:cs typeface="DM Sans"/>
              </a:defRPr>
            </a:lvl3pPr>
            <a:lvl4pPr algn="l">
              <a:defRPr sz="1125" b="0">
                <a:solidFill>
                  <a:srgbClr val="737373"/>
                </a:solidFill>
                <a:latin typeface="DM Sans"/>
                <a:ea typeface="DM Sans"/>
                <a:cs typeface="DM Sans"/>
              </a:defRPr>
            </a:lvl4pPr>
            <a:lvl5pPr algn="l">
              <a:defRPr sz="1125" b="0">
                <a:solidFill>
                  <a:srgbClr val="737373"/>
                </a:solidFill>
                <a:latin typeface="DM Sans"/>
                <a:ea typeface="DM Sans"/>
                <a:cs typeface="DM Sans"/>
              </a:defRPr>
            </a:lvl5pPr>
            <a:lvl6pPr algn="l">
              <a:defRPr sz="1125" b="0">
                <a:solidFill>
                  <a:srgbClr val="737373"/>
                </a:solidFill>
                <a:latin typeface="DM Sans"/>
                <a:ea typeface="DM Sans"/>
                <a:cs typeface="DM Sans"/>
              </a:defRPr>
            </a:lvl6pPr>
            <a:lvl7pPr algn="l">
              <a:defRPr sz="1125" b="0">
                <a:solidFill>
                  <a:srgbClr val="737373"/>
                </a:solidFill>
                <a:latin typeface="DM Sans"/>
                <a:ea typeface="DM Sans"/>
                <a:cs typeface="DM Sans"/>
              </a:defRPr>
            </a:lvl7pPr>
            <a:lvl8pPr algn="l">
              <a:defRPr sz="1125" b="0">
                <a:solidFill>
                  <a:srgbClr val="737373"/>
                </a:solidFill>
                <a:latin typeface="DM Sans"/>
                <a:ea typeface="DM Sans"/>
                <a:cs typeface="DM Sans"/>
              </a:defRPr>
            </a:lvl8pPr>
            <a:lvl9pPr algn="l">
              <a:defRPr sz="1125" b="0">
                <a:solidFill>
                  <a:srgbClr val="737373"/>
                </a:solidFill>
                <a:latin typeface="DM Sans"/>
                <a:ea typeface="DM Sans"/>
                <a:cs typeface="DM Sans"/>
              </a:defRPr>
            </a:lvl9pPr>
          </a:lstStyle>
          <a:p xmlns:a="http://schemas.openxmlformats.org/drawingml/2006/main">
            <a:pPr algn="l">
              <a:defRPr sz="1125" b="0">
                <a:solidFill>
                  <a:srgbClr val="737373"/>
                </a:solidFill>
                <a:latin typeface="DM Sans"/>
                <a:ea typeface="DM Sans"/>
                <a:cs typeface="DM Sans"/>
              </a:defRPr>
            </a:pPr>
            <a:r>
              <a:rPr sz="1125" b="0">
                <a:solidFill>
                  <a:srgbClr val="737373"/>
                </a:solidFill>
                <a:latin typeface="DM Sans"/>
                <a:ea typeface="DM Sans"/>
                <a:cs typeface="DM Sans"/>
              </a:rPr>
              <a:t>Next: paired prospective outcomes and calibrated assignment liquidity.</a:t>
            </a:r>
          </a:p>
        </p:txBody>
      </p:sp>
    </p:spTree>
    <p:extLst>
      <p:ext uri="{BB962C8B-B14F-4D97-AF65-F5344CB8AC3E}">
        <p14:creationId xmlns:p14="http://schemas.microsoft.com/office/powerpoint/2010/main" val="729803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2026-10-25T08:46:04.3070000Z</dcterms:created>
  <dcterms:modified xsi:type="dcterms:W3CDTF">2026-10-25T08:46:04.3070000Z</dcterms:modified>
</coreProperties>
</file>